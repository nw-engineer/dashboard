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Lst>
  <p:notesMasterIdLst>
    <p:notesMasterId r:id="rId4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notesMaster" Target="notesMasters/notesMaster1.xml"/><Relationship Id="rId44" Type="http://schemas.openxmlformats.org/officeDocument/2006/relationships/presProps" Target="presProps.xml"/><Relationship Id="rId45" Type="http://schemas.openxmlformats.org/officeDocument/2006/relationships/viewProps" Target="viewProps.xml"/><Relationship Id="rId46" Type="http://schemas.openxmlformats.org/officeDocument/2006/relationships/theme" Target="theme/theme1.xml"/><Relationship Id="rId4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1295C"/>
        </a:solidFill>
      </p:bgPr>
    </p:bg>
    <p:spTree>
      <p:nvGrpSpPr>
        <p:cNvPr id="1" name=""/>
        <p:cNvGrpSpPr/>
        <p:nvPr/>
      </p:nvGrpSpPr>
      <p:grpSpPr>
        <a:xfrm>
          <a:off x="0" y="0"/>
          <a:ext cx="0" cy="0"/>
          <a:chOff x="0" y="0"/>
          <a:chExt cx="0" cy="0"/>
        </a:xfrm>
      </p:grpSpPr>
      <p:sp>
        <p:nvSpPr>
          <p:cNvPr id="2" name="Shape 0"/>
          <p:cNvSpPr/>
          <p:nvPr/>
        </p:nvSpPr>
        <p:spPr>
          <a:xfrm>
            <a:off x="9692640" y="-1280160"/>
            <a:ext cx="3840480" cy="3840480"/>
          </a:xfrm>
          <a:prstGeom prst="ellipse">
            <a:avLst/>
          </a:prstGeom>
          <a:solidFill>
            <a:srgbClr val="065A82"/>
          </a:solidFill>
          <a:ln/>
        </p:spPr>
      </p:sp>
      <p:sp>
        <p:nvSpPr>
          <p:cNvPr id="3" name="Shape 1"/>
          <p:cNvSpPr/>
          <p:nvPr/>
        </p:nvSpPr>
        <p:spPr>
          <a:xfrm>
            <a:off x="-1463040" y="4754880"/>
            <a:ext cx="3108960" cy="3108960"/>
          </a:xfrm>
          <a:prstGeom prst="ellipse">
            <a:avLst/>
          </a:prstGeom>
          <a:solidFill>
            <a:srgbClr val="1C7293"/>
          </a:solidFill>
          <a:ln/>
        </p:spPr>
      </p:sp>
      <p:sp>
        <p:nvSpPr>
          <p:cNvPr id="4" name="Text 2"/>
          <p:cNvSpPr/>
          <p:nvPr/>
        </p:nvSpPr>
        <p:spPr>
          <a:xfrm>
            <a:off x="548640" y="1965960"/>
            <a:ext cx="9144000" cy="365760"/>
          </a:xfrm>
          <a:prstGeom prst="rect">
            <a:avLst/>
          </a:prstGeom>
          <a:noFill/>
          <a:ln/>
        </p:spPr>
        <p:txBody>
          <a:bodyPr wrap="square" lIns="0" tIns="0" rIns="0" bIns="0" rtlCol="0" anchor="ctr"/>
          <a:lstStyle/>
          <a:p>
            <a:pPr indent="0" marL="0">
              <a:buNone/>
            </a:pPr>
            <a:r>
              <a:rPr lang="en-US" sz="1400" b="1" spc="300" kern="0" dirty="0">
                <a:solidFill>
                  <a:srgbClr val="EAF2F6"/>
                </a:solidFill>
                <a:latin typeface="BIZ UDゴシック" pitchFamily="34" charset="0"/>
                <a:ea typeface="BIZ UDゴシック" pitchFamily="34" charset="-122"/>
                <a:cs typeface="BIZ UDゴシック" pitchFamily="34" charset="-120"/>
              </a:rPr>
              <a:t>OBSERVABILITY AI POC</a:t>
            </a:r>
            <a:endParaRPr lang="en-US" sz="1400" dirty="0"/>
          </a:p>
        </p:txBody>
      </p:sp>
      <p:sp>
        <p:nvSpPr>
          <p:cNvPr id="5" name="Text 3"/>
          <p:cNvSpPr/>
          <p:nvPr/>
        </p:nvSpPr>
        <p:spPr>
          <a:xfrm>
            <a:off x="548640" y="2331720"/>
            <a:ext cx="10515600" cy="1005840"/>
          </a:xfrm>
          <a:prstGeom prst="rect">
            <a:avLst/>
          </a:prstGeom>
          <a:noFill/>
          <a:ln/>
        </p:spPr>
        <p:txBody>
          <a:bodyPr wrap="square" lIns="0" tIns="0" rIns="0" bIns="0" rtlCol="0" anchor="ctr"/>
          <a:lstStyle/>
          <a:p>
            <a:pPr indent="0" marL="0">
              <a:buNone/>
            </a:pPr>
            <a:r>
              <a:rPr lang="en-US" sz="4400" b="1" dirty="0">
                <a:solidFill>
                  <a:srgbClr val="FFFFFF"/>
                </a:solidFill>
                <a:latin typeface="BIZ UDゴシック" pitchFamily="34" charset="0"/>
                <a:ea typeface="BIZ UDゴシック" pitchFamily="34" charset="-122"/>
                <a:cs typeface="BIZ UDゴシック" pitchFamily="34" charset="-120"/>
              </a:rPr>
              <a:t>Observability AI PoC</a:t>
            </a:r>
            <a:endParaRPr lang="en-US" sz="4400" dirty="0"/>
          </a:p>
        </p:txBody>
      </p:sp>
      <p:sp>
        <p:nvSpPr>
          <p:cNvPr id="6" name="Text 4"/>
          <p:cNvSpPr/>
          <p:nvPr/>
        </p:nvSpPr>
        <p:spPr>
          <a:xfrm>
            <a:off x="548640" y="3337560"/>
            <a:ext cx="10515600" cy="548640"/>
          </a:xfrm>
          <a:prstGeom prst="rect">
            <a:avLst/>
          </a:prstGeom>
          <a:noFill/>
          <a:ln/>
        </p:spPr>
        <p:txBody>
          <a:bodyPr wrap="square" lIns="0" tIns="0" rIns="0" bIns="0" rtlCol="0" anchor="ctr"/>
          <a:lstStyle/>
          <a:p>
            <a:pPr indent="0" marL="0">
              <a:buNone/>
            </a:pPr>
            <a:r>
              <a:rPr lang="en-US" sz="1900" dirty="0">
                <a:solidFill>
                  <a:srgbClr val="EAF2F6"/>
                </a:solidFill>
                <a:latin typeface="BIZ UDゴシック" pitchFamily="34" charset="0"/>
                <a:ea typeface="BIZ UDゴシック" pitchFamily="34" charset="-122"/>
                <a:cs typeface="BIZ UDゴシック" pitchFamily="34" charset="-120"/>
              </a:rPr>
              <a:t>Splunk / New Relic / LLM / A2UI / AG-UI 統合デモ設計・実装概要</a:t>
            </a:r>
            <a:endParaRPr lang="en-US" sz="1900" dirty="0"/>
          </a:p>
        </p:txBody>
      </p:sp>
      <p:sp>
        <p:nvSpPr>
          <p:cNvPr id="7" name="Shape 5"/>
          <p:cNvSpPr/>
          <p:nvPr/>
        </p:nvSpPr>
        <p:spPr>
          <a:xfrm>
            <a:off x="548640" y="4160520"/>
            <a:ext cx="2926080" cy="0"/>
          </a:xfrm>
          <a:prstGeom prst="line">
            <a:avLst/>
          </a:prstGeom>
          <a:noFill/>
          <a:ln w="25400">
            <a:solidFill>
              <a:srgbClr val="1C7293"/>
            </a:solidFill>
            <a:prstDash val="solid"/>
          </a:ln>
        </p:spPr>
      </p:sp>
      <p:sp>
        <p:nvSpPr>
          <p:cNvPr id="8" name="Text 6"/>
          <p:cNvSpPr/>
          <p:nvPr/>
        </p:nvSpPr>
        <p:spPr>
          <a:xfrm>
            <a:off x="548640" y="4389120"/>
            <a:ext cx="8229600" cy="1097280"/>
          </a:xfrm>
          <a:prstGeom prst="rect">
            <a:avLst/>
          </a:prstGeom>
          <a:noFill/>
          <a:ln/>
        </p:spPr>
        <p:txBody>
          <a:bodyPr wrap="square" lIns="0" tIns="0" rIns="0" bIns="0" rtlCol="0" anchor="ctr"/>
          <a:lstStyle/>
          <a:p>
            <a:pPr indent="0" marL="0">
              <a:lnSpc>
                <a:spcPct val="140000"/>
              </a:lnSpc>
              <a:buNone/>
            </a:pPr>
            <a:r>
              <a:rPr lang="en-US" sz="1300" dirty="0">
                <a:solidFill>
                  <a:srgbClr val="EAF2F6"/>
                </a:solidFill>
                <a:latin typeface="BIZ UDゴシック" pitchFamily="34" charset="0"/>
                <a:ea typeface="BIZ UDゴシック" pitchFamily="34" charset="-122"/>
                <a:cs typeface="BIZ UDゴシック" pitchFamily="34" charset="-120"/>
              </a:rPr>
              <a:t>対象バージョン：Proxy / Zscaler 対応 v12.0</a:t>
            </a:r>
            <a:endParaRPr lang="en-US" sz="1300" dirty="0"/>
          </a:p>
          <a:p>
            <a:pPr indent="0" marL="0">
              <a:lnSpc>
                <a:spcPct val="140000"/>
              </a:lnSpc>
              <a:buNone/>
            </a:pPr>
            <a:r>
              <a:rPr lang="en-US" sz="1300" dirty="0">
                <a:solidFill>
                  <a:srgbClr val="EAF2F6"/>
                </a:solidFill>
                <a:latin typeface="BIZ UDゴシック" pitchFamily="34" charset="0"/>
                <a:ea typeface="BIZ UDゴシック" pitchFamily="34" charset="-122"/>
                <a:cs typeface="BIZ UDゴシック" pitchFamily="34" charset="-120"/>
              </a:rPr>
              <a:t>用途：社内説明・技術発表・PowerPoint化のためのスライド原稿</a:t>
            </a:r>
            <a:endParaRPr lang="en-US" sz="1300" dirty="0"/>
          </a:p>
          <a:p>
            <a:pPr indent="0" marL="0">
              <a:lnSpc>
                <a:spcPct val="140000"/>
              </a:lnSpc>
              <a:buNone/>
            </a:pPr>
            <a:r>
              <a:rPr lang="en-US" sz="1300" dirty="0">
                <a:solidFill>
                  <a:srgbClr val="EAF2F6"/>
                </a:solidFill>
                <a:latin typeface="BIZ UDゴシック" pitchFamily="34" charset="0"/>
                <a:ea typeface="BIZ UDゴシック" pitchFamily="34" charset="-122"/>
                <a:cs typeface="BIZ UDゴシック" pitchFamily="34" charset="-120"/>
              </a:rPr>
              <a:t>作成日：2026-09-04</a:t>
            </a:r>
            <a:endParaRPr lang="en-US" sz="1300" dirty="0"/>
          </a:p>
        </p:txBody>
      </p:sp>
      <p:sp>
        <p:nvSpPr>
          <p:cNvPr id="9" name="Text 7"/>
          <p:cNvSpPr/>
          <p:nvPr/>
        </p:nvSpPr>
        <p:spPr>
          <a:xfrm>
            <a:off x="548640" y="6446520"/>
            <a:ext cx="4572000" cy="274320"/>
          </a:xfrm>
          <a:prstGeom prst="rect">
            <a:avLst/>
          </a:prstGeom>
          <a:noFill/>
          <a:ln/>
        </p:spPr>
        <p:txBody>
          <a:bodyPr wrap="square" lIns="0" tIns="0" rIns="0" bIns="0" rtlCol="0" anchor="ctr"/>
          <a:lstStyle/>
          <a:p>
            <a:pPr indent="0" marL="0">
              <a:buNone/>
            </a:pPr>
            <a:r>
              <a:rPr lang="en-US" sz="900" dirty="0">
                <a:solidFill>
                  <a:srgbClr val="5C6B73"/>
                </a:solidFill>
                <a:latin typeface="BIZ UDゴシック" pitchFamily="34" charset="0"/>
                <a:ea typeface="BIZ UDゴシック" pitchFamily="34" charset="-122"/>
                <a:cs typeface="BIZ UDゴシック" pitchFamily="34" charset="-120"/>
              </a:rPr>
              <a:t>Observability AI PoC</a:t>
            </a:r>
            <a:endParaRPr lang="en-US" sz="900" dirty="0"/>
          </a:p>
        </p:txBody>
      </p:sp>
      <p:sp>
        <p:nvSpPr>
          <p:cNvPr id="10" name="Text 8"/>
          <p:cNvSpPr/>
          <p:nvPr/>
        </p:nvSpPr>
        <p:spPr>
          <a:xfrm>
            <a:off x="9814255" y="6446520"/>
            <a:ext cx="1828800" cy="274320"/>
          </a:xfrm>
          <a:prstGeom prst="rect">
            <a:avLst/>
          </a:prstGeom>
          <a:noFill/>
          <a:ln/>
        </p:spPr>
        <p:txBody>
          <a:bodyPr wrap="square" lIns="0" tIns="0" rIns="0" bIns="0" rtlCol="0" anchor="ctr"/>
          <a:lstStyle/>
          <a:p>
            <a:pPr algn="r" indent="0" marL="0">
              <a:buNone/>
            </a:pP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21295C"/>
        </a:solidFill>
      </p:bgPr>
    </p:bg>
    <p:spTree>
      <p:nvGrpSpPr>
        <p:cNvPr id="1" name=""/>
        <p:cNvGrpSpPr/>
        <p:nvPr/>
      </p:nvGrpSpPr>
      <p:grpSpPr>
        <a:xfrm>
          <a:off x="0" y="0"/>
          <a:ext cx="0" cy="0"/>
          <a:chOff x="0" y="0"/>
          <a:chExt cx="0" cy="0"/>
        </a:xfrm>
      </p:grpSpPr>
      <p:sp>
        <p:nvSpPr>
          <p:cNvPr id="2" name="Shape 0"/>
          <p:cNvSpPr/>
          <p:nvPr/>
        </p:nvSpPr>
        <p:spPr>
          <a:xfrm>
            <a:off x="-1645920" y="-1645920"/>
            <a:ext cx="4023360" cy="4023360"/>
          </a:xfrm>
          <a:prstGeom prst="ellipse">
            <a:avLst/>
          </a:prstGeom>
          <a:solidFill>
            <a:srgbClr val="065A82"/>
          </a:solidFill>
          <a:ln/>
        </p:spPr>
      </p:sp>
      <p:sp>
        <p:nvSpPr>
          <p:cNvPr id="3" name="Text 1"/>
          <p:cNvSpPr/>
          <p:nvPr/>
        </p:nvSpPr>
        <p:spPr>
          <a:xfrm>
            <a:off x="548640" y="2468880"/>
            <a:ext cx="5486400" cy="365760"/>
          </a:xfrm>
          <a:prstGeom prst="rect">
            <a:avLst/>
          </a:prstGeom>
          <a:noFill/>
          <a:ln/>
        </p:spPr>
        <p:txBody>
          <a:bodyPr wrap="square" lIns="0" tIns="0" rIns="0" bIns="0" rtlCol="0" anchor="ctr"/>
          <a:lstStyle/>
          <a:p>
            <a:pPr indent="0" marL="0">
              <a:buNone/>
            </a:pPr>
            <a:r>
              <a:rPr lang="en-US" sz="1400" b="1" spc="300" kern="0" dirty="0">
                <a:solidFill>
                  <a:srgbClr val="1C7293"/>
                </a:solidFill>
                <a:latin typeface="BIZ UDゴシック" pitchFamily="34" charset="0"/>
                <a:ea typeface="BIZ UDゴシック" pitchFamily="34" charset="-122"/>
                <a:cs typeface="BIZ UDゴシック" pitchFamily="34" charset="-120"/>
              </a:rPr>
              <a:t>CHAPTER 1</a:t>
            </a:r>
            <a:endParaRPr lang="en-US" sz="1400" dirty="0"/>
          </a:p>
        </p:txBody>
      </p:sp>
      <p:sp>
        <p:nvSpPr>
          <p:cNvPr id="4" name="Text 2"/>
          <p:cNvSpPr/>
          <p:nvPr/>
        </p:nvSpPr>
        <p:spPr>
          <a:xfrm>
            <a:off x="548640" y="2834640"/>
            <a:ext cx="10515600" cy="914400"/>
          </a:xfrm>
          <a:prstGeom prst="rect">
            <a:avLst/>
          </a:prstGeom>
          <a:noFill/>
          <a:ln/>
        </p:spPr>
        <p:txBody>
          <a:bodyPr wrap="square" lIns="0" tIns="0" rIns="0" bIns="0" rtlCol="0" anchor="ctr"/>
          <a:lstStyle/>
          <a:p>
            <a:pPr indent="0" marL="0">
              <a:buNone/>
            </a:pPr>
            <a:r>
              <a:rPr lang="en-US" sz="3800" b="1" dirty="0">
                <a:solidFill>
                  <a:srgbClr val="FFFFFF"/>
                </a:solidFill>
                <a:latin typeface="BIZ UDゴシック" pitchFamily="34" charset="0"/>
                <a:ea typeface="BIZ UDゴシック" pitchFamily="34" charset="-122"/>
                <a:cs typeface="BIZ UDゴシック" pitchFamily="34" charset="-120"/>
              </a:rPr>
              <a:t>背景・目的</a:t>
            </a:r>
            <a:endParaRPr lang="en-US" sz="3800" dirty="0"/>
          </a:p>
        </p:txBody>
      </p:sp>
      <p:sp>
        <p:nvSpPr>
          <p:cNvPr id="5" name="Text 3"/>
          <p:cNvSpPr/>
          <p:nvPr/>
        </p:nvSpPr>
        <p:spPr>
          <a:xfrm>
            <a:off x="548640" y="3657600"/>
            <a:ext cx="10058400" cy="457200"/>
          </a:xfrm>
          <a:prstGeom prst="rect">
            <a:avLst/>
          </a:prstGeom>
          <a:noFill/>
          <a:ln/>
        </p:spPr>
        <p:txBody>
          <a:bodyPr wrap="square" lIns="0" tIns="0" rIns="0" bIns="0" rtlCol="0" anchor="ctr"/>
          <a:lstStyle/>
          <a:p>
            <a:pPr indent="0" marL="0">
              <a:buNone/>
            </a:pPr>
            <a:r>
              <a:rPr lang="en-US" sz="1500" dirty="0">
                <a:solidFill>
                  <a:srgbClr val="EAF2F6"/>
                </a:solidFill>
                <a:latin typeface="BIZ UDゴシック" pitchFamily="34" charset="0"/>
                <a:ea typeface="BIZ UDゴシック" pitchFamily="34" charset="-122"/>
                <a:cs typeface="BIZ UDゴシック" pitchFamily="34" charset="-120"/>
              </a:rPr>
              <a:t>Why — このPoCを行う理由</a:t>
            </a:r>
            <a:endParaRPr lang="en-US" sz="1500" dirty="0"/>
          </a:p>
        </p:txBody>
      </p:sp>
      <p:sp>
        <p:nvSpPr>
          <p:cNvPr id="6" name="Text 4"/>
          <p:cNvSpPr/>
          <p:nvPr/>
        </p:nvSpPr>
        <p:spPr>
          <a:xfrm>
            <a:off x="548640" y="4297680"/>
            <a:ext cx="8686800" cy="1828800"/>
          </a:xfrm>
          <a:prstGeom prst="rect">
            <a:avLst/>
          </a:prstGeom>
          <a:noFill/>
          <a:ln/>
        </p:spPr>
        <p:txBody>
          <a:bodyPr wrap="square" lIns="0" tIns="0" rIns="0" bIns="0" rtlCol="0" anchor="ctr"/>
          <a:lstStyle/>
          <a:p>
            <a:pPr marL="342900" indent="-342900">
              <a:spcAft>
                <a:spcPts val="600"/>
              </a:spcAft>
              <a:buSzPct val="100000"/>
              <a:buChar char="•"/>
            </a:pPr>
            <a:r>
              <a:rPr lang="en-US" sz="1350" dirty="0">
                <a:solidFill>
                  <a:srgbClr val="EAF2F6"/>
                </a:solidFill>
                <a:latin typeface="BIZ UDゴシック" pitchFamily="34" charset="0"/>
                <a:ea typeface="BIZ UDゴシック" pitchFamily="34" charset="-122"/>
                <a:cs typeface="BIZ UDゴシック" pitchFamily="34" charset="-120"/>
              </a:rPr>
              <a:t>固定ダッシュボードの限界と、Evidence-first / 動的UIというアプローチ</a:t>
            </a:r>
            <a:endParaRPr lang="en-US" sz="1350" dirty="0"/>
          </a:p>
        </p:txBody>
      </p:sp>
      <p:sp>
        <p:nvSpPr>
          <p:cNvPr id="7" name="Text 5"/>
          <p:cNvSpPr/>
          <p:nvPr/>
        </p:nvSpPr>
        <p:spPr>
          <a:xfrm>
            <a:off x="548640" y="6446520"/>
            <a:ext cx="4572000" cy="274320"/>
          </a:xfrm>
          <a:prstGeom prst="rect">
            <a:avLst/>
          </a:prstGeom>
          <a:noFill/>
          <a:ln/>
        </p:spPr>
        <p:txBody>
          <a:bodyPr wrap="square" lIns="0" tIns="0" rIns="0" bIns="0" rtlCol="0" anchor="ctr"/>
          <a:lstStyle/>
          <a:p>
            <a:pPr indent="0" marL="0">
              <a:buNone/>
            </a:pPr>
            <a:r>
              <a:rPr lang="en-US" sz="900" dirty="0">
                <a:solidFill>
                  <a:srgbClr val="5C6B73"/>
                </a:solidFill>
                <a:latin typeface="BIZ UDゴシック" pitchFamily="34" charset="0"/>
                <a:ea typeface="BIZ UDゴシック" pitchFamily="34" charset="-122"/>
                <a:cs typeface="BIZ UDゴシック" pitchFamily="34" charset="-120"/>
              </a:rPr>
              <a:t>Observability AI PoC</a:t>
            </a:r>
            <a:endParaRPr lang="en-US" sz="900" dirty="0"/>
          </a:p>
        </p:txBody>
      </p:sp>
      <p:sp>
        <p:nvSpPr>
          <p:cNvPr id="8" name="Text 6"/>
          <p:cNvSpPr/>
          <p:nvPr/>
        </p:nvSpPr>
        <p:spPr>
          <a:xfrm>
            <a:off x="9814255" y="6446520"/>
            <a:ext cx="1828800" cy="274320"/>
          </a:xfrm>
          <a:prstGeom prst="rect">
            <a:avLst/>
          </a:prstGeom>
          <a:noFill/>
          <a:ln/>
        </p:spPr>
        <p:txBody>
          <a:bodyPr wrap="square" lIns="0" tIns="0" rIns="0" bIns="0" rtlCol="0" anchor="ctr"/>
          <a:lstStyle/>
          <a:p>
            <a:pPr algn="r" indent="0" marL="0">
              <a:buNone/>
            </a:pP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502920"/>
            <a:ext cx="566928" cy="566928"/>
          </a:xfrm>
          <a:prstGeom prst="ellipse">
            <a:avLst/>
          </a:prstGeom>
          <a:solidFill>
            <a:srgbClr val="21295C"/>
          </a:solidFill>
          <a:ln/>
        </p:spPr>
      </p:sp>
      <p:sp>
        <p:nvSpPr>
          <p:cNvPr id="3" name="Text 1"/>
          <p:cNvSpPr/>
          <p:nvPr/>
        </p:nvSpPr>
        <p:spPr>
          <a:xfrm>
            <a:off x="548640" y="502920"/>
            <a:ext cx="566928" cy="566928"/>
          </a:xfrm>
          <a:prstGeom prst="rect">
            <a:avLst/>
          </a:prstGeom>
          <a:noFill/>
          <a:ln/>
        </p:spPr>
        <p:txBody>
          <a:bodyPr wrap="square" lIns="0" tIns="0" rIns="0" bIns="0" rtlCol="0" anchor="ctr"/>
          <a:lstStyle/>
          <a:p>
            <a:pPr algn="ctr" indent="0" marL="0">
              <a:buNone/>
            </a:pPr>
            <a:r>
              <a:rPr lang="en-US" sz="1500" b="1" dirty="0">
                <a:solidFill>
                  <a:srgbClr val="FFFFFF"/>
                </a:solidFill>
                <a:latin typeface="BIZ UDゴシック" pitchFamily="34" charset="0"/>
                <a:ea typeface="BIZ UDゴシック" pitchFamily="34" charset="-122"/>
                <a:cs typeface="BIZ UDゴシック" pitchFamily="34" charset="-120"/>
              </a:rPr>
              <a:t>01</a:t>
            </a:r>
            <a:endParaRPr lang="en-US" sz="1500" dirty="0"/>
          </a:p>
        </p:txBody>
      </p:sp>
      <p:sp>
        <p:nvSpPr>
          <p:cNvPr id="4" name="Text 2"/>
          <p:cNvSpPr/>
          <p:nvPr/>
        </p:nvSpPr>
        <p:spPr>
          <a:xfrm>
            <a:off x="1280160" y="438912"/>
            <a:ext cx="10362895" cy="274320"/>
          </a:xfrm>
          <a:prstGeom prst="rect">
            <a:avLst/>
          </a:prstGeom>
          <a:noFill/>
          <a:ln/>
        </p:spPr>
        <p:txBody>
          <a:bodyPr wrap="square" lIns="0" tIns="0" rIns="0" bIns="0" rtlCol="0" anchor="ctr"/>
          <a:lstStyle/>
          <a:p>
            <a:pPr indent="0" marL="0">
              <a:buNone/>
            </a:pPr>
            <a:r>
              <a:rPr lang="en-US" sz="1100" b="1" spc="100" kern="0" dirty="0">
                <a:solidFill>
                  <a:srgbClr val="1C7293"/>
                </a:solidFill>
                <a:latin typeface="BIZ UDゴシック" pitchFamily="34" charset="0"/>
                <a:ea typeface="BIZ UDゴシック" pitchFamily="34" charset="-122"/>
                <a:cs typeface="BIZ UDゴシック" pitchFamily="34" charset="-120"/>
              </a:rPr>
              <a:t>SECTION 1</a:t>
            </a:r>
            <a:endParaRPr lang="en-US" sz="1100" dirty="0"/>
          </a:p>
        </p:txBody>
      </p:sp>
      <p:sp>
        <p:nvSpPr>
          <p:cNvPr id="5" name="Text 3"/>
          <p:cNvSpPr/>
          <p:nvPr/>
        </p:nvSpPr>
        <p:spPr>
          <a:xfrm>
            <a:off x="1280160" y="713232"/>
            <a:ext cx="10362895" cy="566928"/>
          </a:xfrm>
          <a:prstGeom prst="rect">
            <a:avLst/>
          </a:prstGeom>
          <a:noFill/>
          <a:ln/>
        </p:spPr>
        <p:txBody>
          <a:bodyPr wrap="square" lIns="0" tIns="0" rIns="0" bIns="0" rtlCol="0" anchor="t"/>
          <a:lstStyle/>
          <a:p>
            <a:pPr indent="0" marL="0">
              <a:buNone/>
            </a:pPr>
            <a:r>
              <a:rPr lang="en-US" sz="2500" b="1" dirty="0">
                <a:solidFill>
                  <a:srgbClr val="1A1A2E"/>
                </a:solidFill>
                <a:latin typeface="BIZ UDゴシック" pitchFamily="34" charset="0"/>
                <a:ea typeface="BIZ UDゴシック" pitchFamily="34" charset="-122"/>
                <a:cs typeface="BIZ UDゴシック" pitchFamily="34" charset="-120"/>
              </a:rPr>
              <a:t>このPoCの目的</a:t>
            </a:r>
            <a:endParaRPr lang="en-US" sz="2500" dirty="0"/>
          </a:p>
        </p:txBody>
      </p:sp>
      <p:sp>
        <p:nvSpPr>
          <p:cNvPr id="6" name="Text 4"/>
          <p:cNvSpPr/>
          <p:nvPr/>
        </p:nvSpPr>
        <p:spPr>
          <a:xfrm>
            <a:off x="548640" y="6446520"/>
            <a:ext cx="4572000" cy="274320"/>
          </a:xfrm>
          <a:prstGeom prst="rect">
            <a:avLst/>
          </a:prstGeom>
          <a:noFill/>
          <a:ln/>
        </p:spPr>
        <p:txBody>
          <a:bodyPr wrap="square" lIns="0" tIns="0" rIns="0" bIns="0" rtlCol="0" anchor="ctr"/>
          <a:lstStyle/>
          <a:p>
            <a:pPr indent="0" marL="0">
              <a:buNone/>
            </a:pPr>
            <a:r>
              <a:rPr lang="en-US" sz="900" dirty="0">
                <a:solidFill>
                  <a:srgbClr val="5C6B73"/>
                </a:solidFill>
                <a:latin typeface="BIZ UDゴシック" pitchFamily="34" charset="0"/>
                <a:ea typeface="BIZ UDゴシック" pitchFamily="34" charset="-122"/>
                <a:cs typeface="BIZ UDゴシック" pitchFamily="34" charset="-120"/>
              </a:rPr>
              <a:t>Observability AI PoC</a:t>
            </a:r>
            <a:endParaRPr lang="en-US" sz="900" dirty="0"/>
          </a:p>
        </p:txBody>
      </p:sp>
      <p:sp>
        <p:nvSpPr>
          <p:cNvPr id="7" name="Text 5"/>
          <p:cNvSpPr/>
          <p:nvPr/>
        </p:nvSpPr>
        <p:spPr>
          <a:xfrm>
            <a:off x="9814255" y="6446520"/>
            <a:ext cx="1828800" cy="274320"/>
          </a:xfrm>
          <a:prstGeom prst="rect">
            <a:avLst/>
          </a:prstGeom>
          <a:noFill/>
          <a:ln/>
        </p:spPr>
        <p:txBody>
          <a:bodyPr wrap="square" lIns="0" tIns="0" rIns="0" bIns="0" rtlCol="0" anchor="ctr"/>
          <a:lstStyle/>
          <a:p>
            <a:pPr algn="r" indent="0" marL="0">
              <a:buNone/>
            </a:pPr>
            <a:r>
              <a:rPr lang="en-US" sz="900" dirty="0">
                <a:solidFill>
                  <a:srgbClr val="5C6B73"/>
                </a:solidFill>
                <a:latin typeface="BIZ UDゴシック" pitchFamily="34" charset="0"/>
                <a:ea typeface="BIZ UDゴシック" pitchFamily="34" charset="-122"/>
                <a:cs typeface="BIZ UDゴシック" pitchFamily="34" charset="-120"/>
              </a:rPr>
              <a:t>01</a:t>
            </a:r>
            <a:endParaRPr lang="en-US" sz="900" dirty="0"/>
          </a:p>
        </p:txBody>
      </p:sp>
      <p:sp>
        <p:nvSpPr>
          <p:cNvPr id="8" name="Text 6"/>
          <p:cNvSpPr/>
          <p:nvPr/>
        </p:nvSpPr>
        <p:spPr>
          <a:xfrm>
            <a:off x="1280160" y="1481328"/>
            <a:ext cx="10362895" cy="548640"/>
          </a:xfrm>
          <a:prstGeom prst="rect">
            <a:avLst/>
          </a:prstGeom>
          <a:noFill/>
          <a:ln/>
        </p:spPr>
        <p:txBody>
          <a:bodyPr wrap="square" lIns="0" tIns="0" rIns="0" bIns="0" rtlCol="0" anchor="t"/>
          <a:lstStyle/>
          <a:p>
            <a:pPr indent="0" marL="0">
              <a:lnSpc>
                <a:spcPct val="125000"/>
              </a:lnSpc>
              <a:buNone/>
            </a:pPr>
            <a:r>
              <a:rPr lang="en-US" sz="1500" dirty="0">
                <a:solidFill>
                  <a:srgbClr val="1A1A2E"/>
                </a:solidFill>
                <a:latin typeface="BIZ UDゴシック" pitchFamily="34" charset="0"/>
                <a:ea typeface="BIZ UDゴシック" pitchFamily="34" charset="-122"/>
                <a:cs typeface="BIZ UDゴシック" pitchFamily="34" charset="-120"/>
              </a:rPr>
              <a:t>監視ソフトから取得したアラート・ログ・APM情報を起点に、AIが現在の状況を分析し、必要な情報だけを動的なUIとして生成・可視化する仕組みを検証する。</a:t>
            </a:r>
            <a:endParaRPr lang="en-US" sz="1500" dirty="0"/>
          </a:p>
        </p:txBody>
      </p:sp>
      <p:sp>
        <p:nvSpPr>
          <p:cNvPr id="9" name="Shape 7"/>
          <p:cNvSpPr/>
          <p:nvPr/>
        </p:nvSpPr>
        <p:spPr>
          <a:xfrm>
            <a:off x="1280160" y="2331720"/>
            <a:ext cx="10362895" cy="1417320"/>
          </a:xfrm>
          <a:prstGeom prst="roundRect">
            <a:avLst>
              <a:gd name="adj" fmla="val 5161"/>
            </a:avLst>
          </a:prstGeom>
          <a:solidFill>
            <a:srgbClr val="EAF2F6"/>
          </a:solidFill>
          <a:ln/>
        </p:spPr>
      </p:sp>
      <p:sp>
        <p:nvSpPr>
          <p:cNvPr id="10" name="Text 8"/>
          <p:cNvSpPr/>
          <p:nvPr/>
        </p:nvSpPr>
        <p:spPr>
          <a:xfrm>
            <a:off x="1463040" y="2514600"/>
            <a:ext cx="9997135" cy="548640"/>
          </a:xfrm>
          <a:prstGeom prst="rect">
            <a:avLst/>
          </a:prstGeom>
          <a:noFill/>
          <a:ln/>
        </p:spPr>
        <p:txBody>
          <a:bodyPr wrap="square" lIns="0" tIns="0" rIns="0" bIns="0" rtlCol="0" anchor="t"/>
          <a:lstStyle/>
          <a:p>
            <a:pPr indent="0" marL="0">
              <a:lnSpc>
                <a:spcPct val="125000"/>
              </a:lnSpc>
              <a:buNone/>
            </a:pPr>
            <a:r>
              <a:rPr lang="en-US" sz="1300" dirty="0">
                <a:solidFill>
                  <a:srgbClr val="1A1A2E"/>
                </a:solidFill>
                <a:latin typeface="BIZ UDゴシック" pitchFamily="34" charset="0"/>
                <a:ea typeface="BIZ UDゴシック" pitchFamily="34" charset="-122"/>
                <a:cs typeface="BIZ UDゴシック" pitchFamily="34" charset="-120"/>
              </a:rPr>
              <a:t>従来の固定ダッシュボードではなく、障害・事象ごとに次の4点をAIが整理し、ユーザーへ提示することを目指す：</a:t>
            </a:r>
            <a:endParaRPr lang="en-US" sz="1300" dirty="0"/>
          </a:p>
        </p:txBody>
      </p:sp>
      <p:sp>
        <p:nvSpPr>
          <p:cNvPr id="11" name="Text 9"/>
          <p:cNvSpPr/>
          <p:nvPr/>
        </p:nvSpPr>
        <p:spPr>
          <a:xfrm>
            <a:off x="1463040" y="2971800"/>
            <a:ext cx="9997135" cy="640080"/>
          </a:xfrm>
          <a:prstGeom prst="rect">
            <a:avLst/>
          </a:prstGeom>
          <a:noFill/>
          <a:ln/>
        </p:spPr>
        <p:txBody>
          <a:bodyPr wrap="square" lIns="0" tIns="0" rIns="0" bIns="0" rtlCol="0" anchor="ctr"/>
          <a:lstStyle/>
          <a:p>
            <a:pPr indent="0" marL="0">
              <a:lnSpc>
                <a:spcPct val="140000"/>
              </a:lnSpc>
              <a:buNone/>
            </a:pPr>
            <a:r>
              <a:rPr lang="en-US" sz="1300" b="1" dirty="0">
                <a:solidFill>
                  <a:srgbClr val="065A82"/>
                </a:solidFill>
                <a:latin typeface="BIZ UDゴシック" pitchFamily="34" charset="0"/>
                <a:ea typeface="BIZ UDゴシック" pitchFamily="34" charset="-122"/>
                <a:cs typeface="BIZ UDゴシック" pitchFamily="34" charset="-120"/>
              </a:rPr>
              <a:t>何が起きているか　　　どの情報を根拠に判断したか　　　どのグラフ・メトリクスを見るべきか　　　次に何を確認すべきか</a:t>
            </a:r>
            <a:endParaRPr lang="en-US" sz="1300" dirty="0"/>
          </a:p>
        </p:txBody>
      </p:sp>
      <p:sp>
        <p:nvSpPr>
          <p:cNvPr id="12" name="Text 10"/>
          <p:cNvSpPr/>
          <p:nvPr/>
        </p:nvSpPr>
        <p:spPr>
          <a:xfrm>
            <a:off x="1280160" y="3977640"/>
            <a:ext cx="10362895" cy="548640"/>
          </a:xfrm>
          <a:prstGeom prst="rect">
            <a:avLst/>
          </a:prstGeom>
          <a:noFill/>
          <a:ln/>
        </p:spPr>
        <p:txBody>
          <a:bodyPr wrap="square" lIns="0" tIns="0" rIns="0" bIns="0" rtlCol="0" anchor="t"/>
          <a:lstStyle/>
          <a:p>
            <a:pPr indent="0" marL="0">
              <a:lnSpc>
                <a:spcPct val="125000"/>
              </a:lnSpc>
              <a:buNone/>
            </a:pPr>
            <a:r>
              <a:rPr lang="en-US" sz="1500" b="1" dirty="0">
                <a:solidFill>
                  <a:srgbClr val="21295C"/>
                </a:solidFill>
                <a:latin typeface="BIZ UDゴシック" pitchFamily="34" charset="0"/>
                <a:ea typeface="BIZ UDゴシック" pitchFamily="34" charset="-122"/>
                <a:cs typeface="BIZ UDゴシック" pitchFamily="34" charset="-120"/>
              </a:rPr>
              <a:t>このPoCで検証したいこと</a:t>
            </a:r>
            <a:endParaRPr lang="en-US" sz="1500" dirty="0"/>
          </a:p>
        </p:txBody>
      </p:sp>
      <p:sp>
        <p:nvSpPr>
          <p:cNvPr id="13" name="Text 11"/>
          <p:cNvSpPr/>
          <p:nvPr/>
        </p:nvSpPr>
        <p:spPr>
          <a:xfrm>
            <a:off x="1280160" y="4343400"/>
            <a:ext cx="5166360" cy="1920240"/>
          </a:xfrm>
          <a:prstGeom prst="rect">
            <a:avLst/>
          </a:prstGeom>
          <a:noFill/>
          <a:ln/>
        </p:spPr>
        <p:txBody>
          <a:bodyPr wrap="square" lIns="0" tIns="0" rIns="0" bIns="0" rtlCol="0" anchor="t"/>
          <a:lstStyle/>
          <a:p>
            <a:pPr indent="0" marL="0">
              <a:lnSpc>
                <a:spcPct val="115000"/>
              </a:lnSpc>
              <a:spcAft>
                <a:spcPts val="900"/>
              </a:spcAft>
              <a:buNone/>
            </a:pPr>
            <a:r>
              <a:rPr lang="en-US" sz="1200" dirty="0">
                <a:solidFill>
                  <a:srgbClr val="1A1A2E"/>
                </a:solidFill>
                <a:latin typeface="BIZ UDゴシック" pitchFamily="34" charset="0"/>
                <a:ea typeface="BIZ UDゴシック" pitchFamily="34" charset="-122"/>
                <a:cs typeface="BIZ UDゴシック" pitchFamily="34" charset="-120"/>
              </a:rPr>
              <a:t>01   Splunk / New Relic から監視データを取得できること</a:t>
            </a:r>
            <a:endParaRPr lang="en-US" sz="1200" dirty="0"/>
          </a:p>
          <a:p>
            <a:pPr indent="0" marL="0">
              <a:lnSpc>
                <a:spcPct val="115000"/>
              </a:lnSpc>
              <a:spcAft>
                <a:spcPts val="900"/>
              </a:spcAft>
              <a:buNone/>
            </a:pPr>
            <a:r>
              <a:rPr lang="en-US" sz="1200" dirty="0">
                <a:solidFill>
                  <a:srgbClr val="1A1A2E"/>
                </a:solidFill>
                <a:latin typeface="BIZ UDゴシック" pitchFamily="34" charset="0"/>
                <a:ea typeface="BIZ UDゴシック" pitchFamily="34" charset="-122"/>
                <a:cs typeface="BIZ UDゴシック" pitchFamily="34" charset="-120"/>
              </a:rPr>
              <a:t>02   複数の観測データを、request.id / trace.id で関連付けできること</a:t>
            </a:r>
            <a:endParaRPr lang="en-US" sz="1200" dirty="0"/>
          </a:p>
          <a:p>
            <a:pPr indent="0" marL="0">
              <a:lnSpc>
                <a:spcPct val="115000"/>
              </a:lnSpc>
              <a:spcAft>
                <a:spcPts val="900"/>
              </a:spcAft>
              <a:buNone/>
            </a:pPr>
            <a:r>
              <a:rPr lang="en-US" sz="1200" dirty="0">
                <a:solidFill>
                  <a:srgbClr val="1A1A2E"/>
                </a:solidFill>
                <a:latin typeface="BIZ UDゴシック" pitchFamily="34" charset="0"/>
                <a:ea typeface="BIZ UDゴシック" pitchFamily="34" charset="-122"/>
                <a:cs typeface="BIZ UDゴシック" pitchFamily="34" charset="-120"/>
              </a:rPr>
              <a:t>03   LLMが Evidence を根拠に障害状況を分析できること</a:t>
            </a:r>
            <a:endParaRPr lang="en-US" sz="1200" dirty="0"/>
          </a:p>
          <a:p>
            <a:pPr indent="0" marL="0">
              <a:lnSpc>
                <a:spcPct val="115000"/>
              </a:lnSpc>
              <a:spcAft>
                <a:spcPts val="900"/>
              </a:spcAft>
              <a:buNone/>
            </a:pPr>
            <a:r>
              <a:rPr lang="en-US" sz="1200" dirty="0">
                <a:solidFill>
                  <a:srgbClr val="1A1A2E"/>
                </a:solidFill>
                <a:latin typeface="BIZ UDゴシック" pitchFamily="34" charset="0"/>
                <a:ea typeface="BIZ UDゴシック" pitchFamily="34" charset="-122"/>
                <a:cs typeface="BIZ UDゴシック" pitchFamily="34" charset="-120"/>
              </a:rPr>
              <a:t>04   分析結果を AG-UI 経由でUIイベントとして扱えること</a:t>
            </a:r>
            <a:endParaRPr lang="en-US" sz="1200" dirty="0"/>
          </a:p>
        </p:txBody>
      </p:sp>
      <p:sp>
        <p:nvSpPr>
          <p:cNvPr id="14" name="Text 12"/>
          <p:cNvSpPr/>
          <p:nvPr/>
        </p:nvSpPr>
        <p:spPr>
          <a:xfrm>
            <a:off x="6766560" y="4343400"/>
            <a:ext cx="5212080" cy="1920240"/>
          </a:xfrm>
          <a:prstGeom prst="rect">
            <a:avLst/>
          </a:prstGeom>
          <a:noFill/>
          <a:ln/>
        </p:spPr>
        <p:txBody>
          <a:bodyPr wrap="square" lIns="0" tIns="0" rIns="0" bIns="0" rtlCol="0" anchor="t"/>
          <a:lstStyle/>
          <a:p>
            <a:pPr indent="0" marL="0">
              <a:lnSpc>
                <a:spcPct val="115000"/>
              </a:lnSpc>
              <a:spcAft>
                <a:spcPts val="900"/>
              </a:spcAft>
              <a:buNone/>
            </a:pPr>
            <a:r>
              <a:rPr lang="en-US" sz="1200" dirty="0">
                <a:solidFill>
                  <a:srgbClr val="1A1A2E"/>
                </a:solidFill>
                <a:latin typeface="BIZ UDゴシック" pitchFamily="34" charset="0"/>
                <a:ea typeface="BIZ UDゴシック" pitchFamily="34" charset="-122"/>
                <a:cs typeface="BIZ UDゴシック" pitchFamily="34" charset="-120"/>
              </a:rPr>
              <a:t>01   A2UIを使って、事象ごとに異なる画面を動的生成できること</a:t>
            </a:r>
            <a:endParaRPr lang="en-US" sz="1200" dirty="0"/>
          </a:p>
          <a:p>
            <a:pPr indent="0" marL="0">
              <a:lnSpc>
                <a:spcPct val="115000"/>
              </a:lnSpc>
              <a:spcAft>
                <a:spcPts val="900"/>
              </a:spcAft>
              <a:buNone/>
            </a:pPr>
            <a:r>
              <a:rPr lang="en-US" sz="1200" dirty="0">
                <a:solidFill>
                  <a:srgbClr val="1A1A2E"/>
                </a:solidFill>
                <a:latin typeface="BIZ UDゴシック" pitchFamily="34" charset="0"/>
                <a:ea typeface="BIZ UDゴシック" pitchFamily="34" charset="-122"/>
                <a:cs typeface="BIZ UDゴシック" pitchFamily="34" charset="-120"/>
              </a:rPr>
              <a:t>02   Proxy / Zscaler 環境でも動作可能な構成にできること</a:t>
            </a:r>
            <a:endParaRPr lang="en-US" sz="1200" dirty="0"/>
          </a:p>
          <a:p>
            <a:pPr indent="0" marL="0">
              <a:lnSpc>
                <a:spcPct val="115000"/>
              </a:lnSpc>
              <a:spcAft>
                <a:spcPts val="900"/>
              </a:spcAft>
              <a:buNone/>
            </a:pPr>
            <a:r>
              <a:rPr lang="en-US" sz="1200" dirty="0">
                <a:solidFill>
                  <a:srgbClr val="1A1A2E"/>
                </a:solidFill>
                <a:latin typeface="BIZ UDゴシック" pitchFamily="34" charset="0"/>
                <a:ea typeface="BIZ UDゴシック" pitchFamily="34" charset="-122"/>
                <a:cs typeface="BIZ UDゴシック" pitchFamily="34" charset="-120"/>
              </a:rPr>
              <a:t>03   AIが監視対象を勝手に変更しない Read-Only 設計にできること</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21295C"/>
        </a:solidFill>
      </p:bgPr>
    </p:bg>
    <p:spTree>
      <p:nvGrpSpPr>
        <p:cNvPr id="1" name=""/>
        <p:cNvGrpSpPr/>
        <p:nvPr/>
      </p:nvGrpSpPr>
      <p:grpSpPr>
        <a:xfrm>
          <a:off x="0" y="0"/>
          <a:ext cx="0" cy="0"/>
          <a:chOff x="0" y="0"/>
          <a:chExt cx="0" cy="0"/>
        </a:xfrm>
      </p:grpSpPr>
      <p:sp>
        <p:nvSpPr>
          <p:cNvPr id="2" name="Shape 0"/>
          <p:cNvSpPr/>
          <p:nvPr/>
        </p:nvSpPr>
        <p:spPr>
          <a:xfrm>
            <a:off x="-1645920" y="-1645920"/>
            <a:ext cx="4023360" cy="4023360"/>
          </a:xfrm>
          <a:prstGeom prst="ellipse">
            <a:avLst/>
          </a:prstGeom>
          <a:solidFill>
            <a:srgbClr val="065A82"/>
          </a:solidFill>
          <a:ln/>
        </p:spPr>
      </p:sp>
      <p:sp>
        <p:nvSpPr>
          <p:cNvPr id="3" name="Text 1"/>
          <p:cNvSpPr/>
          <p:nvPr/>
        </p:nvSpPr>
        <p:spPr>
          <a:xfrm>
            <a:off x="548640" y="2468880"/>
            <a:ext cx="5486400" cy="365760"/>
          </a:xfrm>
          <a:prstGeom prst="rect">
            <a:avLst/>
          </a:prstGeom>
          <a:noFill/>
          <a:ln/>
        </p:spPr>
        <p:txBody>
          <a:bodyPr wrap="square" lIns="0" tIns="0" rIns="0" bIns="0" rtlCol="0" anchor="ctr"/>
          <a:lstStyle/>
          <a:p>
            <a:pPr indent="0" marL="0">
              <a:buNone/>
            </a:pPr>
            <a:r>
              <a:rPr lang="en-US" sz="1400" b="1" spc="300" kern="0" dirty="0">
                <a:solidFill>
                  <a:srgbClr val="1C7293"/>
                </a:solidFill>
                <a:latin typeface="BIZ UDゴシック" pitchFamily="34" charset="0"/>
                <a:ea typeface="BIZ UDゴシック" pitchFamily="34" charset="-122"/>
                <a:cs typeface="BIZ UDゴシック" pitchFamily="34" charset="-120"/>
              </a:rPr>
              <a:t>CHAPTER 2</a:t>
            </a:r>
            <a:endParaRPr lang="en-US" sz="1400" dirty="0"/>
          </a:p>
        </p:txBody>
      </p:sp>
      <p:sp>
        <p:nvSpPr>
          <p:cNvPr id="4" name="Text 2"/>
          <p:cNvSpPr/>
          <p:nvPr/>
        </p:nvSpPr>
        <p:spPr>
          <a:xfrm>
            <a:off x="548640" y="2834640"/>
            <a:ext cx="10515600" cy="914400"/>
          </a:xfrm>
          <a:prstGeom prst="rect">
            <a:avLst/>
          </a:prstGeom>
          <a:noFill/>
          <a:ln/>
        </p:spPr>
        <p:txBody>
          <a:bodyPr wrap="square" lIns="0" tIns="0" rIns="0" bIns="0" rtlCol="0" anchor="ctr"/>
          <a:lstStyle/>
          <a:p>
            <a:pPr indent="0" marL="0">
              <a:buNone/>
            </a:pPr>
            <a:r>
              <a:rPr lang="en-US" sz="3800" b="1" dirty="0">
                <a:solidFill>
                  <a:srgbClr val="FFFFFF"/>
                </a:solidFill>
                <a:latin typeface="BIZ UDゴシック" pitchFamily="34" charset="0"/>
                <a:ea typeface="BIZ UDゴシック" pitchFamily="34" charset="-122"/>
                <a:cs typeface="BIZ UDゴシック" pitchFamily="34" charset="-120"/>
              </a:rPr>
              <a:t>アーキテクチャと実装</a:t>
            </a:r>
            <a:endParaRPr lang="en-US" sz="3800" dirty="0"/>
          </a:p>
        </p:txBody>
      </p:sp>
      <p:sp>
        <p:nvSpPr>
          <p:cNvPr id="5" name="Text 3"/>
          <p:cNvSpPr/>
          <p:nvPr/>
        </p:nvSpPr>
        <p:spPr>
          <a:xfrm>
            <a:off x="548640" y="3657600"/>
            <a:ext cx="10058400" cy="457200"/>
          </a:xfrm>
          <a:prstGeom prst="rect">
            <a:avLst/>
          </a:prstGeom>
          <a:noFill/>
          <a:ln/>
        </p:spPr>
        <p:txBody>
          <a:bodyPr wrap="square" lIns="0" tIns="0" rIns="0" bIns="0" rtlCol="0" anchor="ctr"/>
          <a:lstStyle/>
          <a:p>
            <a:pPr indent="0" marL="0">
              <a:buNone/>
            </a:pPr>
            <a:r>
              <a:rPr lang="en-US" sz="1500" dirty="0">
                <a:solidFill>
                  <a:srgbClr val="EAF2F6"/>
                </a:solidFill>
                <a:latin typeface="BIZ UDゴシック" pitchFamily="34" charset="0"/>
                <a:ea typeface="BIZ UDゴシック" pitchFamily="34" charset="-122"/>
                <a:cs typeface="BIZ UDゴシック" pitchFamily="34" charset="-120"/>
              </a:rPr>
              <a:t>How — どう実現するか</a:t>
            </a:r>
            <a:endParaRPr lang="en-US" sz="1500" dirty="0"/>
          </a:p>
        </p:txBody>
      </p:sp>
      <p:sp>
        <p:nvSpPr>
          <p:cNvPr id="6" name="Text 4"/>
          <p:cNvSpPr/>
          <p:nvPr/>
        </p:nvSpPr>
        <p:spPr>
          <a:xfrm>
            <a:off x="548640" y="4297680"/>
            <a:ext cx="8686800" cy="1828800"/>
          </a:xfrm>
          <a:prstGeom prst="rect">
            <a:avLst/>
          </a:prstGeom>
          <a:noFill/>
          <a:ln/>
        </p:spPr>
        <p:txBody>
          <a:bodyPr wrap="square" lIns="0" tIns="0" rIns="0" bIns="0" rtlCol="0" anchor="ctr"/>
          <a:lstStyle/>
          <a:p>
            <a:pPr marL="342900" indent="-342900">
              <a:spcAft>
                <a:spcPts val="600"/>
              </a:spcAft>
              <a:buSzPct val="100000"/>
              <a:buChar char="•"/>
            </a:pPr>
            <a:r>
              <a:rPr lang="en-US" sz="1350" dirty="0">
                <a:solidFill>
                  <a:srgbClr val="EAF2F6"/>
                </a:solidFill>
                <a:latin typeface="BIZ UDゴシック" pitchFamily="34" charset="0"/>
                <a:ea typeface="BIZ UDゴシック" pitchFamily="34" charset="-122"/>
                <a:cs typeface="BIZ UDゴシック" pitchFamily="34" charset="-120"/>
              </a:rPr>
              <a:t>全体像 / 3層構造 / コンテナ構成 / Evidence-first / LLM / Proxy対応</a:t>
            </a:r>
            <a:endParaRPr lang="en-US" sz="1350" dirty="0"/>
          </a:p>
        </p:txBody>
      </p:sp>
      <p:sp>
        <p:nvSpPr>
          <p:cNvPr id="7" name="Text 5"/>
          <p:cNvSpPr/>
          <p:nvPr/>
        </p:nvSpPr>
        <p:spPr>
          <a:xfrm>
            <a:off x="548640" y="6446520"/>
            <a:ext cx="4572000" cy="274320"/>
          </a:xfrm>
          <a:prstGeom prst="rect">
            <a:avLst/>
          </a:prstGeom>
          <a:noFill/>
          <a:ln/>
        </p:spPr>
        <p:txBody>
          <a:bodyPr wrap="square" lIns="0" tIns="0" rIns="0" bIns="0" rtlCol="0" anchor="ctr"/>
          <a:lstStyle/>
          <a:p>
            <a:pPr indent="0" marL="0">
              <a:buNone/>
            </a:pPr>
            <a:r>
              <a:rPr lang="en-US" sz="900" dirty="0">
                <a:solidFill>
                  <a:srgbClr val="5C6B73"/>
                </a:solidFill>
                <a:latin typeface="BIZ UDゴシック" pitchFamily="34" charset="0"/>
                <a:ea typeface="BIZ UDゴシック" pitchFamily="34" charset="-122"/>
                <a:cs typeface="BIZ UDゴシック" pitchFamily="34" charset="-120"/>
              </a:rPr>
              <a:t>Observability AI PoC</a:t>
            </a:r>
            <a:endParaRPr lang="en-US" sz="900" dirty="0"/>
          </a:p>
        </p:txBody>
      </p:sp>
      <p:sp>
        <p:nvSpPr>
          <p:cNvPr id="8" name="Text 6"/>
          <p:cNvSpPr/>
          <p:nvPr/>
        </p:nvSpPr>
        <p:spPr>
          <a:xfrm>
            <a:off x="9814255" y="6446520"/>
            <a:ext cx="1828800" cy="274320"/>
          </a:xfrm>
          <a:prstGeom prst="rect">
            <a:avLst/>
          </a:prstGeom>
          <a:noFill/>
          <a:ln/>
        </p:spPr>
        <p:txBody>
          <a:bodyPr wrap="square" lIns="0" tIns="0" rIns="0" bIns="0" rtlCol="0" anchor="ctr"/>
          <a:lstStyle/>
          <a:p>
            <a:pPr algn="r" indent="0" marL="0">
              <a:buNone/>
            </a:pP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502920"/>
            <a:ext cx="566928" cy="566928"/>
          </a:xfrm>
          <a:prstGeom prst="ellipse">
            <a:avLst/>
          </a:prstGeom>
          <a:solidFill>
            <a:srgbClr val="21295C"/>
          </a:solidFill>
          <a:ln/>
        </p:spPr>
      </p:sp>
      <p:sp>
        <p:nvSpPr>
          <p:cNvPr id="3" name="Text 1"/>
          <p:cNvSpPr/>
          <p:nvPr/>
        </p:nvSpPr>
        <p:spPr>
          <a:xfrm>
            <a:off x="548640" y="502920"/>
            <a:ext cx="566928" cy="566928"/>
          </a:xfrm>
          <a:prstGeom prst="rect">
            <a:avLst/>
          </a:prstGeom>
          <a:noFill/>
          <a:ln/>
        </p:spPr>
        <p:txBody>
          <a:bodyPr wrap="square" lIns="0" tIns="0" rIns="0" bIns="0" rtlCol="0" anchor="ctr"/>
          <a:lstStyle/>
          <a:p>
            <a:pPr algn="ctr" indent="0" marL="0">
              <a:buNone/>
            </a:pPr>
            <a:r>
              <a:rPr lang="en-US" sz="1500" b="1" dirty="0">
                <a:solidFill>
                  <a:srgbClr val="FFFFFF"/>
                </a:solidFill>
                <a:latin typeface="BIZ UDゴシック" pitchFamily="34" charset="0"/>
                <a:ea typeface="BIZ UDゴシック" pitchFamily="34" charset="-122"/>
                <a:cs typeface="BIZ UDゴシック" pitchFamily="34" charset="-120"/>
              </a:rPr>
              <a:t>02</a:t>
            </a:r>
            <a:endParaRPr lang="en-US" sz="1500" dirty="0"/>
          </a:p>
        </p:txBody>
      </p:sp>
      <p:sp>
        <p:nvSpPr>
          <p:cNvPr id="4" name="Text 2"/>
          <p:cNvSpPr/>
          <p:nvPr/>
        </p:nvSpPr>
        <p:spPr>
          <a:xfrm>
            <a:off x="1280160" y="438912"/>
            <a:ext cx="10362895" cy="274320"/>
          </a:xfrm>
          <a:prstGeom prst="rect">
            <a:avLst/>
          </a:prstGeom>
          <a:noFill/>
          <a:ln/>
        </p:spPr>
        <p:txBody>
          <a:bodyPr wrap="square" lIns="0" tIns="0" rIns="0" bIns="0" rtlCol="0" anchor="ctr"/>
          <a:lstStyle/>
          <a:p>
            <a:pPr indent="0" marL="0">
              <a:buNone/>
            </a:pPr>
            <a:r>
              <a:rPr lang="en-US" sz="1100" b="1" spc="100" kern="0" dirty="0">
                <a:solidFill>
                  <a:srgbClr val="1C7293"/>
                </a:solidFill>
                <a:latin typeface="BIZ UDゴシック" pitchFamily="34" charset="0"/>
                <a:ea typeface="BIZ UDゴシック" pitchFamily="34" charset="-122"/>
                <a:cs typeface="BIZ UDゴシック" pitchFamily="34" charset="-120"/>
              </a:rPr>
              <a:t>SECTION 2</a:t>
            </a:r>
            <a:endParaRPr lang="en-US" sz="1100" dirty="0"/>
          </a:p>
        </p:txBody>
      </p:sp>
      <p:sp>
        <p:nvSpPr>
          <p:cNvPr id="5" name="Text 3"/>
          <p:cNvSpPr/>
          <p:nvPr/>
        </p:nvSpPr>
        <p:spPr>
          <a:xfrm>
            <a:off x="1280160" y="713232"/>
            <a:ext cx="10362895" cy="566928"/>
          </a:xfrm>
          <a:prstGeom prst="rect">
            <a:avLst/>
          </a:prstGeom>
          <a:noFill/>
          <a:ln/>
        </p:spPr>
        <p:txBody>
          <a:bodyPr wrap="square" lIns="0" tIns="0" rIns="0" bIns="0" rtlCol="0" anchor="t"/>
          <a:lstStyle/>
          <a:p>
            <a:pPr indent="0" marL="0">
              <a:buNone/>
            </a:pPr>
            <a:r>
              <a:rPr lang="en-US" sz="2500" b="1" dirty="0">
                <a:solidFill>
                  <a:srgbClr val="1A1A2E"/>
                </a:solidFill>
                <a:latin typeface="BIZ UDゴシック" pitchFamily="34" charset="0"/>
                <a:ea typeface="BIZ UDゴシック" pitchFamily="34" charset="-122"/>
                <a:cs typeface="BIZ UDゴシック" pitchFamily="34" charset="-120"/>
              </a:rPr>
              <a:t>PoC全体像</a:t>
            </a:r>
            <a:endParaRPr lang="en-US" sz="2500" dirty="0"/>
          </a:p>
        </p:txBody>
      </p:sp>
      <p:sp>
        <p:nvSpPr>
          <p:cNvPr id="6" name="Text 4"/>
          <p:cNvSpPr/>
          <p:nvPr/>
        </p:nvSpPr>
        <p:spPr>
          <a:xfrm>
            <a:off x="548640" y="6446520"/>
            <a:ext cx="4572000" cy="274320"/>
          </a:xfrm>
          <a:prstGeom prst="rect">
            <a:avLst/>
          </a:prstGeom>
          <a:noFill/>
          <a:ln/>
        </p:spPr>
        <p:txBody>
          <a:bodyPr wrap="square" lIns="0" tIns="0" rIns="0" bIns="0" rtlCol="0" anchor="ctr"/>
          <a:lstStyle/>
          <a:p>
            <a:pPr indent="0" marL="0">
              <a:buNone/>
            </a:pPr>
            <a:r>
              <a:rPr lang="en-US" sz="900" dirty="0">
                <a:solidFill>
                  <a:srgbClr val="5C6B73"/>
                </a:solidFill>
                <a:latin typeface="BIZ UDゴシック" pitchFamily="34" charset="0"/>
                <a:ea typeface="BIZ UDゴシック" pitchFamily="34" charset="-122"/>
                <a:cs typeface="BIZ UDゴシック" pitchFamily="34" charset="-120"/>
              </a:rPr>
              <a:t>Observability AI PoC</a:t>
            </a:r>
            <a:endParaRPr lang="en-US" sz="900" dirty="0"/>
          </a:p>
        </p:txBody>
      </p:sp>
      <p:sp>
        <p:nvSpPr>
          <p:cNvPr id="7" name="Text 5"/>
          <p:cNvSpPr/>
          <p:nvPr/>
        </p:nvSpPr>
        <p:spPr>
          <a:xfrm>
            <a:off x="9814255" y="6446520"/>
            <a:ext cx="1828800" cy="274320"/>
          </a:xfrm>
          <a:prstGeom prst="rect">
            <a:avLst/>
          </a:prstGeom>
          <a:noFill/>
          <a:ln/>
        </p:spPr>
        <p:txBody>
          <a:bodyPr wrap="square" lIns="0" tIns="0" rIns="0" bIns="0" rtlCol="0" anchor="ctr"/>
          <a:lstStyle/>
          <a:p>
            <a:pPr algn="r" indent="0" marL="0">
              <a:buNone/>
            </a:pPr>
            <a:r>
              <a:rPr lang="en-US" sz="900" dirty="0">
                <a:solidFill>
                  <a:srgbClr val="5C6B73"/>
                </a:solidFill>
                <a:latin typeface="BIZ UDゴシック" pitchFamily="34" charset="0"/>
                <a:ea typeface="BIZ UDゴシック" pitchFamily="34" charset="-122"/>
                <a:cs typeface="BIZ UDゴシック" pitchFamily="34" charset="-120"/>
              </a:rPr>
              <a:t>02</a:t>
            </a:r>
            <a:endParaRPr lang="en-US" sz="900" dirty="0"/>
          </a:p>
        </p:txBody>
      </p:sp>
      <p:sp>
        <p:nvSpPr>
          <p:cNvPr id="8" name="Shape 6"/>
          <p:cNvSpPr/>
          <p:nvPr/>
        </p:nvSpPr>
        <p:spPr>
          <a:xfrm>
            <a:off x="1280160" y="1691640"/>
            <a:ext cx="1874520" cy="566928"/>
          </a:xfrm>
          <a:prstGeom prst="roundRect">
            <a:avLst>
              <a:gd name="adj" fmla="val 12903"/>
            </a:avLst>
          </a:prstGeom>
          <a:solidFill>
            <a:srgbClr val="065A82"/>
          </a:solidFill>
          <a:ln/>
        </p:spPr>
      </p:sp>
      <p:sp>
        <p:nvSpPr>
          <p:cNvPr id="9" name="Text 7"/>
          <p:cNvSpPr/>
          <p:nvPr/>
        </p:nvSpPr>
        <p:spPr>
          <a:xfrm>
            <a:off x="1280160" y="1691640"/>
            <a:ext cx="1874520" cy="566928"/>
          </a:xfrm>
          <a:prstGeom prst="rect">
            <a:avLst/>
          </a:prstGeom>
          <a:noFill/>
          <a:ln/>
        </p:spPr>
        <p:txBody>
          <a:bodyPr wrap="square" lIns="25400" tIns="25400" rIns="25400" bIns="25400" rtlCol="0" anchor="ctr"/>
          <a:lstStyle/>
          <a:p>
            <a:pPr algn="ctr" indent="0" marL="0">
              <a:lnSpc>
                <a:spcPct val="105000"/>
              </a:lnSpc>
              <a:buNone/>
            </a:pPr>
            <a:r>
              <a:rPr lang="en-US" sz="1100" b="1" dirty="0">
                <a:solidFill>
                  <a:srgbClr val="FFFFFF"/>
                </a:solidFill>
                <a:latin typeface="BIZ UDゴシック" pitchFamily="34" charset="0"/>
                <a:ea typeface="BIZ UDゴシック" pitchFamily="34" charset="-122"/>
                <a:cs typeface="BIZ UDゴシック" pitchFamily="34" charset="-120"/>
              </a:rPr>
              <a:t>ユーザー</a:t>
            </a:r>
            <a:endParaRPr lang="en-US" sz="1100" dirty="0"/>
          </a:p>
          <a:p>
            <a:pPr algn="ctr" indent="0" marL="0">
              <a:lnSpc>
                <a:spcPct val="105000"/>
              </a:lnSpc>
              <a:buNone/>
            </a:pPr>
            <a:r>
              <a:rPr lang="en-US" sz="1100" b="1" dirty="0">
                <a:solidFill>
                  <a:srgbClr val="FFFFFF"/>
                </a:solidFill>
                <a:latin typeface="BIZ UDゴシック" pitchFamily="34" charset="0"/>
                <a:ea typeface="BIZ UDゴシック" pitchFamily="34" charset="-122"/>
                <a:cs typeface="BIZ UDゴシック" pitchFamily="34" charset="-120"/>
              </a:rPr>
              <a:t>(React / A2UI UI)</a:t>
            </a:r>
            <a:endParaRPr lang="en-US" sz="1100" dirty="0"/>
          </a:p>
        </p:txBody>
      </p:sp>
      <p:sp>
        <p:nvSpPr>
          <p:cNvPr id="10" name="Shape 8"/>
          <p:cNvSpPr/>
          <p:nvPr/>
        </p:nvSpPr>
        <p:spPr>
          <a:xfrm>
            <a:off x="3154680" y="1892808"/>
            <a:ext cx="292608" cy="164592"/>
          </a:xfrm>
          <a:prstGeom prst="rightArrow">
            <a:avLst/>
          </a:prstGeom>
          <a:solidFill>
            <a:srgbClr val="5C6B73"/>
          </a:solidFill>
          <a:ln/>
        </p:spPr>
      </p:sp>
      <p:sp>
        <p:nvSpPr>
          <p:cNvPr id="11" name="Shape 9"/>
          <p:cNvSpPr/>
          <p:nvPr/>
        </p:nvSpPr>
        <p:spPr>
          <a:xfrm>
            <a:off x="3447288" y="1691640"/>
            <a:ext cx="1874520" cy="566928"/>
          </a:xfrm>
          <a:prstGeom prst="roundRect">
            <a:avLst>
              <a:gd name="adj" fmla="val 12903"/>
            </a:avLst>
          </a:prstGeom>
          <a:solidFill>
            <a:srgbClr val="1C7293"/>
          </a:solidFill>
          <a:ln/>
        </p:spPr>
      </p:sp>
      <p:sp>
        <p:nvSpPr>
          <p:cNvPr id="12" name="Text 10"/>
          <p:cNvSpPr/>
          <p:nvPr/>
        </p:nvSpPr>
        <p:spPr>
          <a:xfrm>
            <a:off x="3447288" y="1691640"/>
            <a:ext cx="1874520" cy="566928"/>
          </a:xfrm>
          <a:prstGeom prst="rect">
            <a:avLst/>
          </a:prstGeom>
          <a:noFill/>
          <a:ln/>
        </p:spPr>
        <p:txBody>
          <a:bodyPr wrap="square" lIns="25400" tIns="25400" rIns="25400" bIns="25400" rtlCol="0" anchor="ctr"/>
          <a:lstStyle/>
          <a:p>
            <a:pPr algn="ctr" indent="0" marL="0">
              <a:lnSpc>
                <a:spcPct val="105000"/>
              </a:lnSpc>
              <a:buNone/>
            </a:pPr>
            <a:r>
              <a:rPr lang="en-US" sz="1100" b="1" dirty="0">
                <a:solidFill>
                  <a:srgbClr val="FFFFFF"/>
                </a:solidFill>
                <a:latin typeface="BIZ UDゴシック" pitchFamily="34" charset="0"/>
                <a:ea typeface="BIZ UDゴシック" pitchFamily="34" charset="-122"/>
                <a:cs typeface="BIZ UDゴシック" pitchFamily="34" charset="-120"/>
              </a:rPr>
              <a:t>Console API</a:t>
            </a:r>
            <a:endParaRPr lang="en-US" sz="1100" dirty="0"/>
          </a:p>
        </p:txBody>
      </p:sp>
      <p:sp>
        <p:nvSpPr>
          <p:cNvPr id="13" name="Shape 11"/>
          <p:cNvSpPr/>
          <p:nvPr/>
        </p:nvSpPr>
        <p:spPr>
          <a:xfrm>
            <a:off x="5321808" y="1892808"/>
            <a:ext cx="292608" cy="164592"/>
          </a:xfrm>
          <a:prstGeom prst="rightArrow">
            <a:avLst/>
          </a:prstGeom>
          <a:solidFill>
            <a:srgbClr val="5C6B73"/>
          </a:solidFill>
          <a:ln/>
        </p:spPr>
      </p:sp>
      <p:sp>
        <p:nvSpPr>
          <p:cNvPr id="14" name="Shape 12"/>
          <p:cNvSpPr/>
          <p:nvPr/>
        </p:nvSpPr>
        <p:spPr>
          <a:xfrm>
            <a:off x="5614416" y="1691640"/>
            <a:ext cx="1874520" cy="566928"/>
          </a:xfrm>
          <a:prstGeom prst="roundRect">
            <a:avLst>
              <a:gd name="adj" fmla="val 12903"/>
            </a:avLst>
          </a:prstGeom>
          <a:solidFill>
            <a:srgbClr val="21295C"/>
          </a:solidFill>
          <a:ln/>
        </p:spPr>
      </p:sp>
      <p:sp>
        <p:nvSpPr>
          <p:cNvPr id="15" name="Text 13"/>
          <p:cNvSpPr/>
          <p:nvPr/>
        </p:nvSpPr>
        <p:spPr>
          <a:xfrm>
            <a:off x="5614416" y="1691640"/>
            <a:ext cx="1874520" cy="566928"/>
          </a:xfrm>
          <a:prstGeom prst="rect">
            <a:avLst/>
          </a:prstGeom>
          <a:noFill/>
          <a:ln/>
        </p:spPr>
        <p:txBody>
          <a:bodyPr wrap="square" lIns="25400" tIns="25400" rIns="25400" bIns="25400" rtlCol="0" anchor="ctr"/>
          <a:lstStyle/>
          <a:p>
            <a:pPr algn="ctr" indent="0" marL="0">
              <a:lnSpc>
                <a:spcPct val="105000"/>
              </a:lnSpc>
              <a:buNone/>
            </a:pPr>
            <a:r>
              <a:rPr lang="en-US" sz="1100" b="1" dirty="0">
                <a:solidFill>
                  <a:srgbClr val="FFFFFF"/>
                </a:solidFill>
                <a:latin typeface="BIZ UDゴシック" pitchFamily="34" charset="0"/>
                <a:ea typeface="BIZ UDゴシック" pitchFamily="34" charset="-122"/>
                <a:cs typeface="BIZ UDゴシック" pitchFamily="34" charset="-120"/>
              </a:rPr>
              <a:t>Evidence</a:t>
            </a:r>
            <a:endParaRPr lang="en-US" sz="1100" dirty="0"/>
          </a:p>
          <a:p>
            <a:pPr algn="ctr" indent="0" marL="0">
              <a:lnSpc>
                <a:spcPct val="105000"/>
              </a:lnSpc>
              <a:buNone/>
            </a:pPr>
            <a:r>
              <a:rPr lang="en-US" sz="1100" b="1" dirty="0">
                <a:solidFill>
                  <a:srgbClr val="FFFFFF"/>
                </a:solidFill>
                <a:latin typeface="BIZ UDゴシック" pitchFamily="34" charset="0"/>
                <a:ea typeface="BIZ UDゴシック" pitchFamily="34" charset="-122"/>
                <a:cs typeface="BIZ UDゴシック" pitchFamily="34" charset="-120"/>
              </a:rPr>
              <a:t>Bundle</a:t>
            </a:r>
            <a:endParaRPr lang="en-US" sz="1100" dirty="0"/>
          </a:p>
        </p:txBody>
      </p:sp>
      <p:sp>
        <p:nvSpPr>
          <p:cNvPr id="16" name="Shape 14"/>
          <p:cNvSpPr/>
          <p:nvPr/>
        </p:nvSpPr>
        <p:spPr>
          <a:xfrm>
            <a:off x="7488936" y="1892808"/>
            <a:ext cx="292608" cy="164592"/>
          </a:xfrm>
          <a:prstGeom prst="rightArrow">
            <a:avLst/>
          </a:prstGeom>
          <a:solidFill>
            <a:srgbClr val="5C6B73"/>
          </a:solidFill>
          <a:ln/>
        </p:spPr>
      </p:sp>
      <p:sp>
        <p:nvSpPr>
          <p:cNvPr id="17" name="Shape 15"/>
          <p:cNvSpPr/>
          <p:nvPr/>
        </p:nvSpPr>
        <p:spPr>
          <a:xfrm>
            <a:off x="7781544" y="1691640"/>
            <a:ext cx="1874520" cy="566928"/>
          </a:xfrm>
          <a:prstGeom prst="roundRect">
            <a:avLst>
              <a:gd name="adj" fmla="val 12903"/>
            </a:avLst>
          </a:prstGeom>
          <a:solidFill>
            <a:srgbClr val="065A82"/>
          </a:solidFill>
          <a:ln/>
        </p:spPr>
      </p:sp>
      <p:sp>
        <p:nvSpPr>
          <p:cNvPr id="18" name="Text 16"/>
          <p:cNvSpPr/>
          <p:nvPr/>
        </p:nvSpPr>
        <p:spPr>
          <a:xfrm>
            <a:off x="7781544" y="1691640"/>
            <a:ext cx="1874520" cy="566928"/>
          </a:xfrm>
          <a:prstGeom prst="rect">
            <a:avLst/>
          </a:prstGeom>
          <a:noFill/>
          <a:ln/>
        </p:spPr>
        <p:txBody>
          <a:bodyPr wrap="square" lIns="25400" tIns="25400" rIns="25400" bIns="25400" rtlCol="0" anchor="ctr"/>
          <a:lstStyle/>
          <a:p>
            <a:pPr algn="ctr" indent="0" marL="0">
              <a:lnSpc>
                <a:spcPct val="105000"/>
              </a:lnSpc>
              <a:buNone/>
            </a:pPr>
            <a:r>
              <a:rPr lang="en-US" sz="1100" b="1" dirty="0">
                <a:solidFill>
                  <a:srgbClr val="FFFFFF"/>
                </a:solidFill>
                <a:latin typeface="BIZ UDゴシック" pitchFamily="34" charset="0"/>
                <a:ea typeface="BIZ UDゴシック" pitchFamily="34" charset="-122"/>
                <a:cs typeface="BIZ UDゴシック" pitchFamily="34" charset="-120"/>
              </a:rPr>
              <a:t>LLM 分析</a:t>
            </a:r>
            <a:endParaRPr lang="en-US" sz="1100" dirty="0"/>
          </a:p>
          <a:p>
            <a:pPr algn="ctr" indent="0" marL="0">
              <a:lnSpc>
                <a:spcPct val="105000"/>
              </a:lnSpc>
              <a:buNone/>
            </a:pPr>
            <a:r>
              <a:rPr lang="en-US" sz="1100" b="1" dirty="0">
                <a:solidFill>
                  <a:srgbClr val="FFFFFF"/>
                </a:solidFill>
                <a:latin typeface="BIZ UDゴシック" pitchFamily="34" charset="0"/>
                <a:ea typeface="BIZ UDゴシック" pitchFamily="34" charset="-122"/>
                <a:cs typeface="BIZ UDゴシック" pitchFamily="34" charset="-120"/>
              </a:rPr>
              <a:t>(IncidentAnalysis)</a:t>
            </a:r>
            <a:endParaRPr lang="en-US" sz="1100" dirty="0"/>
          </a:p>
        </p:txBody>
      </p:sp>
      <p:sp>
        <p:nvSpPr>
          <p:cNvPr id="19" name="Shape 17"/>
          <p:cNvSpPr/>
          <p:nvPr/>
        </p:nvSpPr>
        <p:spPr>
          <a:xfrm>
            <a:off x="9656064" y="1892808"/>
            <a:ext cx="292608" cy="164592"/>
          </a:xfrm>
          <a:prstGeom prst="rightArrow">
            <a:avLst/>
          </a:prstGeom>
          <a:solidFill>
            <a:srgbClr val="5C6B73"/>
          </a:solidFill>
          <a:ln/>
        </p:spPr>
      </p:sp>
      <p:sp>
        <p:nvSpPr>
          <p:cNvPr id="20" name="Shape 18"/>
          <p:cNvSpPr/>
          <p:nvPr/>
        </p:nvSpPr>
        <p:spPr>
          <a:xfrm>
            <a:off x="9948672" y="1691640"/>
            <a:ext cx="1874520" cy="566928"/>
          </a:xfrm>
          <a:prstGeom prst="roundRect">
            <a:avLst>
              <a:gd name="adj" fmla="val 12903"/>
            </a:avLst>
          </a:prstGeom>
          <a:solidFill>
            <a:srgbClr val="1C7293"/>
          </a:solidFill>
          <a:ln/>
        </p:spPr>
      </p:sp>
      <p:sp>
        <p:nvSpPr>
          <p:cNvPr id="21" name="Text 19"/>
          <p:cNvSpPr/>
          <p:nvPr/>
        </p:nvSpPr>
        <p:spPr>
          <a:xfrm>
            <a:off x="9948672" y="1691640"/>
            <a:ext cx="1874520" cy="566928"/>
          </a:xfrm>
          <a:prstGeom prst="rect">
            <a:avLst/>
          </a:prstGeom>
          <a:noFill/>
          <a:ln/>
        </p:spPr>
        <p:txBody>
          <a:bodyPr wrap="square" lIns="25400" tIns="25400" rIns="25400" bIns="25400" rtlCol="0" anchor="ctr"/>
          <a:lstStyle/>
          <a:p>
            <a:pPr algn="ctr" indent="0" marL="0">
              <a:lnSpc>
                <a:spcPct val="105000"/>
              </a:lnSpc>
              <a:buNone/>
            </a:pPr>
            <a:r>
              <a:rPr lang="en-US" sz="1100" b="1" dirty="0">
                <a:solidFill>
                  <a:srgbClr val="FFFFFF"/>
                </a:solidFill>
                <a:latin typeface="BIZ UDゴシック" pitchFamily="34" charset="0"/>
                <a:ea typeface="BIZ UDゴシック" pitchFamily="34" charset="-122"/>
                <a:cs typeface="BIZ UDゴシック" pitchFamily="34" charset="-120"/>
              </a:rPr>
              <a:t>AG-UI Event</a:t>
            </a:r>
            <a:endParaRPr lang="en-US" sz="1100" dirty="0"/>
          </a:p>
          <a:p>
            <a:pPr algn="ctr" indent="0" marL="0">
              <a:lnSpc>
                <a:spcPct val="105000"/>
              </a:lnSpc>
              <a:buNone/>
            </a:pPr>
            <a:r>
              <a:rPr lang="en-US" sz="1100" b="1" dirty="0">
                <a:solidFill>
                  <a:srgbClr val="FFFFFF"/>
                </a:solidFill>
                <a:latin typeface="BIZ UDゴシック" pitchFamily="34" charset="0"/>
                <a:ea typeface="BIZ UDゴシック" pitchFamily="34" charset="-122"/>
                <a:cs typeface="BIZ UDゴシック" pitchFamily="34" charset="-120"/>
              </a:rPr>
              <a:t>→ UI更新</a:t>
            </a:r>
            <a:endParaRPr lang="en-US" sz="1100" dirty="0"/>
          </a:p>
        </p:txBody>
      </p:sp>
      <p:sp>
        <p:nvSpPr>
          <p:cNvPr id="22" name="Shape 20"/>
          <p:cNvSpPr/>
          <p:nvPr/>
        </p:nvSpPr>
        <p:spPr>
          <a:xfrm>
            <a:off x="1280160" y="2651760"/>
            <a:ext cx="10362895" cy="1691640"/>
          </a:xfrm>
          <a:prstGeom prst="roundRect">
            <a:avLst>
              <a:gd name="adj" fmla="val 4324"/>
            </a:avLst>
          </a:prstGeom>
          <a:solidFill>
            <a:srgbClr val="EAF2F6"/>
          </a:solidFill>
          <a:ln/>
        </p:spPr>
      </p:sp>
      <p:sp>
        <p:nvSpPr>
          <p:cNvPr id="23" name="Text 21"/>
          <p:cNvSpPr/>
          <p:nvPr/>
        </p:nvSpPr>
        <p:spPr>
          <a:xfrm>
            <a:off x="1463040" y="2788920"/>
            <a:ext cx="9997135" cy="548640"/>
          </a:xfrm>
          <a:prstGeom prst="rect">
            <a:avLst/>
          </a:prstGeom>
          <a:noFill/>
          <a:ln/>
        </p:spPr>
        <p:txBody>
          <a:bodyPr wrap="square" lIns="0" tIns="0" rIns="0" bIns="0" rtlCol="0" anchor="t"/>
          <a:lstStyle/>
          <a:p>
            <a:pPr indent="0" marL="0">
              <a:lnSpc>
                <a:spcPct val="125000"/>
              </a:lnSpc>
              <a:buNone/>
            </a:pPr>
            <a:r>
              <a:rPr lang="en-US" sz="1300" b="1" dirty="0">
                <a:solidFill>
                  <a:srgbClr val="21295C"/>
                </a:solidFill>
                <a:latin typeface="BIZ UDゴシック" pitchFamily="34" charset="0"/>
                <a:ea typeface="BIZ UDゴシック" pitchFamily="34" charset="-122"/>
                <a:cs typeface="BIZ UDゴシック" pitchFamily="34" charset="-120"/>
              </a:rPr>
              <a:t>データソース → 収集の流れ</a:t>
            </a:r>
            <a:endParaRPr lang="en-US" sz="1300" dirty="0"/>
          </a:p>
        </p:txBody>
      </p:sp>
      <p:sp>
        <p:nvSpPr>
          <p:cNvPr id="24" name="Text 22"/>
          <p:cNvSpPr/>
          <p:nvPr/>
        </p:nvSpPr>
        <p:spPr>
          <a:xfrm>
            <a:off x="1463040" y="3063240"/>
            <a:ext cx="9997135" cy="1234440"/>
          </a:xfrm>
          <a:prstGeom prst="rect">
            <a:avLst/>
          </a:prstGeom>
          <a:noFill/>
          <a:ln/>
        </p:spPr>
        <p:txBody>
          <a:bodyPr wrap="square" lIns="0" tIns="0" rIns="0" bIns="0" rtlCol="0" anchor="t"/>
          <a:lstStyle/>
          <a:p>
            <a:pPr marL="177800" indent="-177800">
              <a:lnSpc>
                <a:spcPct val="120000"/>
              </a:lnSpc>
              <a:spcAft>
                <a:spcPts val="600"/>
              </a:spcAft>
              <a:buSzPct val="100000"/>
              <a:buChar char="●"/>
            </a:pPr>
            <a:r>
              <a:rPr lang="en-US" sz="1250" dirty="0">
                <a:solidFill>
                  <a:srgbClr val="1A1A2E"/>
                </a:solidFill>
                <a:latin typeface="BIZ UDゴシック" pitchFamily="34" charset="0"/>
                <a:ea typeface="BIZ UDゴシック" pitchFamily="34" charset="-122"/>
                <a:cs typeface="BIZ UDゴシック" pitchFamily="34" charset="-120"/>
              </a:rPr>
              <a:t>Demo Commerce（マイクロサービス群）が Splunk へログを、New Relic APM へトレース・メトリクスを送信</a:t>
            </a:r>
            <a:endParaRPr lang="en-US" sz="1250" dirty="0"/>
          </a:p>
          <a:p>
            <a:pPr marL="177800" indent="-177800">
              <a:lnSpc>
                <a:spcPct val="120000"/>
              </a:lnSpc>
              <a:spcAft>
                <a:spcPts val="600"/>
              </a:spcAft>
              <a:buSzPct val="100000"/>
              <a:buChar char="●"/>
            </a:pPr>
            <a:r>
              <a:rPr lang="en-US" sz="1250" dirty="0">
                <a:solidFill>
                  <a:srgbClr val="1A1A2E"/>
                </a:solidFill>
                <a:latin typeface="BIZ UDゴシック" pitchFamily="34" charset="0"/>
                <a:ea typeface="BIZ UDゴシック" pitchFamily="34" charset="-122"/>
                <a:cs typeface="BIZ UDゴシック" pitchFamily="34" charset="-120"/>
              </a:rPr>
              <a:t>Console API が Splunk / New Relic MCP から証拠（Evidence）を収集し EvidenceBundle を生成</a:t>
            </a:r>
            <a:endParaRPr lang="en-US" sz="1250" dirty="0"/>
          </a:p>
          <a:p>
            <a:pPr marL="177800" indent="-177800">
              <a:lnSpc>
                <a:spcPct val="120000"/>
              </a:lnSpc>
              <a:spcAft>
                <a:spcPts val="600"/>
              </a:spcAft>
              <a:buSzPct val="100000"/>
              <a:buChar char="●"/>
            </a:pPr>
            <a:r>
              <a:rPr lang="en-US" sz="1250" dirty="0">
                <a:solidFill>
                  <a:srgbClr val="1A1A2E"/>
                </a:solidFill>
                <a:latin typeface="BIZ UDゴシック" pitchFamily="34" charset="0"/>
                <a:ea typeface="BIZ UDゴシック" pitchFamily="34" charset="-122"/>
                <a:cs typeface="BIZ UDゴシック" pitchFamily="34" charset="-120"/>
              </a:rPr>
              <a:t>Scenario Controller が Demo Commerce の障害シナリオを切り替える</a:t>
            </a:r>
            <a:endParaRPr lang="en-US" sz="1250" dirty="0"/>
          </a:p>
        </p:txBody>
      </p:sp>
      <p:sp>
        <p:nvSpPr>
          <p:cNvPr id="25" name="Text 23"/>
          <p:cNvSpPr/>
          <p:nvPr/>
        </p:nvSpPr>
        <p:spPr>
          <a:xfrm>
            <a:off x="1280160" y="4526280"/>
            <a:ext cx="10362895" cy="822960"/>
          </a:xfrm>
          <a:prstGeom prst="rect">
            <a:avLst/>
          </a:prstGeom>
          <a:noFill/>
          <a:ln/>
        </p:spPr>
        <p:txBody>
          <a:bodyPr wrap="square" lIns="0" tIns="0" rIns="0" bIns="0" rtlCol="0" anchor="t"/>
          <a:lstStyle/>
          <a:p>
            <a:pPr indent="0" marL="0">
              <a:lnSpc>
                <a:spcPct val="125000"/>
              </a:lnSpc>
              <a:buNone/>
            </a:pPr>
            <a:r>
              <a:rPr lang="en-US" sz="1350" i="1" dirty="0">
                <a:solidFill>
                  <a:srgbClr val="065A82"/>
                </a:solidFill>
                <a:latin typeface="BIZ UDゴシック" pitchFamily="34" charset="0"/>
                <a:ea typeface="BIZ UDゴシック" pitchFamily="34" charset="-122"/>
                <a:cs typeface="BIZ UDゴシック" pitchFamily="34" charset="-120"/>
              </a:rPr>
              <a:t>ポイント：固定ダッシュボードを先に作るのではなく、「監視データ → Evidence → AI分析 → UI生成」の順で画面を作る。そのため、発生した事象ごとに表示内容を変えられる。</a:t>
            </a:r>
            <a:endParaRPr lang="en-US" sz="13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502920"/>
            <a:ext cx="566928" cy="566928"/>
          </a:xfrm>
          <a:prstGeom prst="ellipse">
            <a:avLst/>
          </a:prstGeom>
          <a:solidFill>
            <a:srgbClr val="21295C"/>
          </a:solidFill>
          <a:ln/>
        </p:spPr>
      </p:sp>
      <p:sp>
        <p:nvSpPr>
          <p:cNvPr id="3" name="Text 1"/>
          <p:cNvSpPr/>
          <p:nvPr/>
        </p:nvSpPr>
        <p:spPr>
          <a:xfrm>
            <a:off x="548640" y="502920"/>
            <a:ext cx="566928" cy="566928"/>
          </a:xfrm>
          <a:prstGeom prst="rect">
            <a:avLst/>
          </a:prstGeom>
          <a:noFill/>
          <a:ln/>
        </p:spPr>
        <p:txBody>
          <a:bodyPr wrap="square" lIns="0" tIns="0" rIns="0" bIns="0" rtlCol="0" anchor="ctr"/>
          <a:lstStyle/>
          <a:p>
            <a:pPr algn="ctr" indent="0" marL="0">
              <a:buNone/>
            </a:pPr>
            <a:r>
              <a:rPr lang="en-US" sz="1500" b="1" dirty="0">
                <a:solidFill>
                  <a:srgbClr val="FFFFFF"/>
                </a:solidFill>
                <a:latin typeface="BIZ UDゴシック" pitchFamily="34" charset="0"/>
                <a:ea typeface="BIZ UDゴシック" pitchFamily="34" charset="-122"/>
                <a:cs typeface="BIZ UDゴシック" pitchFamily="34" charset="-120"/>
              </a:rPr>
              <a:t>03</a:t>
            </a:r>
            <a:endParaRPr lang="en-US" sz="1500" dirty="0"/>
          </a:p>
        </p:txBody>
      </p:sp>
      <p:sp>
        <p:nvSpPr>
          <p:cNvPr id="4" name="Text 2"/>
          <p:cNvSpPr/>
          <p:nvPr/>
        </p:nvSpPr>
        <p:spPr>
          <a:xfrm>
            <a:off x="1280160" y="438912"/>
            <a:ext cx="10362895" cy="274320"/>
          </a:xfrm>
          <a:prstGeom prst="rect">
            <a:avLst/>
          </a:prstGeom>
          <a:noFill/>
          <a:ln/>
        </p:spPr>
        <p:txBody>
          <a:bodyPr wrap="square" lIns="0" tIns="0" rIns="0" bIns="0" rtlCol="0" anchor="ctr"/>
          <a:lstStyle/>
          <a:p>
            <a:pPr indent="0" marL="0">
              <a:buNone/>
            </a:pPr>
            <a:r>
              <a:rPr lang="en-US" sz="1100" b="1" spc="100" kern="0" dirty="0">
                <a:solidFill>
                  <a:srgbClr val="1C7293"/>
                </a:solidFill>
                <a:latin typeface="BIZ UDゴシック" pitchFamily="34" charset="0"/>
                <a:ea typeface="BIZ UDゴシック" pitchFamily="34" charset="-122"/>
                <a:cs typeface="BIZ UDゴシック" pitchFamily="34" charset="-120"/>
              </a:rPr>
              <a:t>SECTION 3</a:t>
            </a:r>
            <a:endParaRPr lang="en-US" sz="1100" dirty="0"/>
          </a:p>
        </p:txBody>
      </p:sp>
      <p:sp>
        <p:nvSpPr>
          <p:cNvPr id="5" name="Text 3"/>
          <p:cNvSpPr/>
          <p:nvPr/>
        </p:nvSpPr>
        <p:spPr>
          <a:xfrm>
            <a:off x="1280160" y="713232"/>
            <a:ext cx="10362895" cy="566928"/>
          </a:xfrm>
          <a:prstGeom prst="rect">
            <a:avLst/>
          </a:prstGeom>
          <a:noFill/>
          <a:ln/>
        </p:spPr>
        <p:txBody>
          <a:bodyPr wrap="square" lIns="0" tIns="0" rIns="0" bIns="0" rtlCol="0" anchor="t"/>
          <a:lstStyle/>
          <a:p>
            <a:pPr indent="0" marL="0">
              <a:buNone/>
            </a:pPr>
            <a:r>
              <a:rPr lang="en-US" sz="2500" b="1" dirty="0">
                <a:solidFill>
                  <a:srgbClr val="1A1A2E"/>
                </a:solidFill>
                <a:latin typeface="BIZ UDゴシック" pitchFamily="34" charset="0"/>
                <a:ea typeface="BIZ UDゴシック" pitchFamily="34" charset="-122"/>
                <a:cs typeface="BIZ UDゴシック" pitchFamily="34" charset="-120"/>
              </a:rPr>
              <a:t>アーキテクチャの考え方 — 3層に分離</a:t>
            </a:r>
            <a:endParaRPr lang="en-US" sz="2500" dirty="0"/>
          </a:p>
        </p:txBody>
      </p:sp>
      <p:sp>
        <p:nvSpPr>
          <p:cNvPr id="6" name="Text 4"/>
          <p:cNvSpPr/>
          <p:nvPr/>
        </p:nvSpPr>
        <p:spPr>
          <a:xfrm>
            <a:off x="548640" y="6446520"/>
            <a:ext cx="4572000" cy="274320"/>
          </a:xfrm>
          <a:prstGeom prst="rect">
            <a:avLst/>
          </a:prstGeom>
          <a:noFill/>
          <a:ln/>
        </p:spPr>
        <p:txBody>
          <a:bodyPr wrap="square" lIns="0" tIns="0" rIns="0" bIns="0" rtlCol="0" anchor="ctr"/>
          <a:lstStyle/>
          <a:p>
            <a:pPr indent="0" marL="0">
              <a:buNone/>
            </a:pPr>
            <a:r>
              <a:rPr lang="en-US" sz="900" dirty="0">
                <a:solidFill>
                  <a:srgbClr val="5C6B73"/>
                </a:solidFill>
                <a:latin typeface="BIZ UDゴシック" pitchFamily="34" charset="0"/>
                <a:ea typeface="BIZ UDゴシック" pitchFamily="34" charset="-122"/>
                <a:cs typeface="BIZ UDゴシック" pitchFamily="34" charset="-120"/>
              </a:rPr>
              <a:t>Observability AI PoC</a:t>
            </a:r>
            <a:endParaRPr lang="en-US" sz="900" dirty="0"/>
          </a:p>
        </p:txBody>
      </p:sp>
      <p:sp>
        <p:nvSpPr>
          <p:cNvPr id="7" name="Text 5"/>
          <p:cNvSpPr/>
          <p:nvPr/>
        </p:nvSpPr>
        <p:spPr>
          <a:xfrm>
            <a:off x="9814255" y="6446520"/>
            <a:ext cx="1828800" cy="274320"/>
          </a:xfrm>
          <a:prstGeom prst="rect">
            <a:avLst/>
          </a:prstGeom>
          <a:noFill/>
          <a:ln/>
        </p:spPr>
        <p:txBody>
          <a:bodyPr wrap="square" lIns="0" tIns="0" rIns="0" bIns="0" rtlCol="0" anchor="ctr"/>
          <a:lstStyle/>
          <a:p>
            <a:pPr algn="r" indent="0" marL="0">
              <a:buNone/>
            </a:pPr>
            <a:r>
              <a:rPr lang="en-US" sz="900" dirty="0">
                <a:solidFill>
                  <a:srgbClr val="5C6B73"/>
                </a:solidFill>
                <a:latin typeface="BIZ UDゴシック" pitchFamily="34" charset="0"/>
                <a:ea typeface="BIZ UDゴシック" pitchFamily="34" charset="-122"/>
                <a:cs typeface="BIZ UDゴシック" pitchFamily="34" charset="-120"/>
              </a:rPr>
              <a:t>03</a:t>
            </a:r>
            <a:endParaRPr lang="en-US" sz="900" dirty="0"/>
          </a:p>
        </p:txBody>
      </p:sp>
      <p:sp>
        <p:nvSpPr>
          <p:cNvPr id="8" name="Shape 6"/>
          <p:cNvSpPr/>
          <p:nvPr/>
        </p:nvSpPr>
        <p:spPr>
          <a:xfrm>
            <a:off x="1280160" y="1508760"/>
            <a:ext cx="3271418" cy="2468880"/>
          </a:xfrm>
          <a:prstGeom prst="roundRect">
            <a:avLst>
              <a:gd name="adj" fmla="val 2963"/>
            </a:avLst>
          </a:prstGeom>
          <a:solidFill>
            <a:srgbClr val="EAF2F6"/>
          </a:solidFill>
          <a:ln/>
        </p:spPr>
      </p:sp>
      <p:sp>
        <p:nvSpPr>
          <p:cNvPr id="9" name="Shape 7"/>
          <p:cNvSpPr/>
          <p:nvPr/>
        </p:nvSpPr>
        <p:spPr>
          <a:xfrm>
            <a:off x="1280160" y="1508760"/>
            <a:ext cx="3271418" cy="502920"/>
          </a:xfrm>
          <a:prstGeom prst="roundRect">
            <a:avLst>
              <a:gd name="adj" fmla="val 14545"/>
            </a:avLst>
          </a:prstGeom>
          <a:solidFill>
            <a:srgbClr val="065A82"/>
          </a:solidFill>
          <a:ln/>
        </p:spPr>
      </p:sp>
      <p:sp>
        <p:nvSpPr>
          <p:cNvPr id="10" name="Text 8"/>
          <p:cNvSpPr/>
          <p:nvPr/>
        </p:nvSpPr>
        <p:spPr>
          <a:xfrm>
            <a:off x="1280160" y="1508760"/>
            <a:ext cx="3271418" cy="502920"/>
          </a:xfrm>
          <a:prstGeom prst="rect">
            <a:avLst/>
          </a:prstGeom>
          <a:noFill/>
          <a:ln/>
        </p:spPr>
        <p:txBody>
          <a:bodyPr wrap="square" lIns="0" tIns="0" rIns="0" bIns="0" rtlCol="0" anchor="ctr"/>
          <a:lstStyle/>
          <a:p>
            <a:pPr algn="ctr" indent="0" marL="0">
              <a:buNone/>
            </a:pPr>
            <a:r>
              <a:rPr lang="en-US" sz="1350" b="1" dirty="0">
                <a:solidFill>
                  <a:srgbClr val="FFFFFF"/>
                </a:solidFill>
                <a:latin typeface="BIZ UDゴシック" pitchFamily="34" charset="0"/>
                <a:ea typeface="BIZ UDゴシック" pitchFamily="34" charset="-122"/>
                <a:cs typeface="BIZ UDゴシック" pitchFamily="34" charset="-120"/>
              </a:rPr>
              <a:t>1. Observability 層</a:t>
            </a:r>
            <a:endParaRPr lang="en-US" sz="1350" dirty="0"/>
          </a:p>
        </p:txBody>
      </p:sp>
      <p:sp>
        <p:nvSpPr>
          <p:cNvPr id="11" name="Text 9"/>
          <p:cNvSpPr/>
          <p:nvPr/>
        </p:nvSpPr>
        <p:spPr>
          <a:xfrm>
            <a:off x="1463040" y="2148840"/>
            <a:ext cx="2905658" cy="1737360"/>
          </a:xfrm>
          <a:prstGeom prst="rect">
            <a:avLst/>
          </a:prstGeom>
          <a:noFill/>
          <a:ln/>
        </p:spPr>
        <p:txBody>
          <a:bodyPr wrap="square" lIns="0" tIns="0" rIns="0" bIns="0" rtlCol="0" anchor="t"/>
          <a:lstStyle/>
          <a:p>
            <a:pPr marL="177800" indent="-177800">
              <a:lnSpc>
                <a:spcPct val="120000"/>
              </a:lnSpc>
              <a:spcAft>
                <a:spcPts val="800"/>
              </a:spcAft>
              <a:buSzPct val="100000"/>
              <a:buChar char="●"/>
            </a:pPr>
            <a:r>
              <a:rPr lang="en-US" sz="1300" dirty="0">
                <a:solidFill>
                  <a:srgbClr val="1A1A2E"/>
                </a:solidFill>
                <a:latin typeface="BIZ UDゴシック" pitchFamily="34" charset="0"/>
                <a:ea typeface="BIZ UDゴシック" pitchFamily="34" charset="-122"/>
                <a:cs typeface="BIZ UDゴシック" pitchFamily="34" charset="-120"/>
              </a:rPr>
              <a:t>Splunk</a:t>
            </a:r>
            <a:endParaRPr lang="en-US" sz="1300" dirty="0"/>
          </a:p>
          <a:p>
            <a:pPr marL="177800" indent="-177800">
              <a:lnSpc>
                <a:spcPct val="120000"/>
              </a:lnSpc>
              <a:spcAft>
                <a:spcPts val="800"/>
              </a:spcAft>
              <a:buSzPct val="100000"/>
              <a:buChar char="●"/>
            </a:pPr>
            <a:r>
              <a:rPr lang="en-US" sz="1300" dirty="0">
                <a:solidFill>
                  <a:srgbClr val="1A1A2E"/>
                </a:solidFill>
                <a:latin typeface="BIZ UDゴシック" pitchFamily="34" charset="0"/>
                <a:ea typeface="BIZ UDゴシック" pitchFamily="34" charset="-122"/>
                <a:cs typeface="BIZ UDゴシック" pitchFamily="34" charset="-120"/>
              </a:rPr>
              <a:t>New Relic APM</a:t>
            </a:r>
            <a:endParaRPr lang="en-US" sz="1300" dirty="0"/>
          </a:p>
          <a:p>
            <a:pPr marL="177800" indent="-177800">
              <a:lnSpc>
                <a:spcPct val="120000"/>
              </a:lnSpc>
              <a:spcAft>
                <a:spcPts val="800"/>
              </a:spcAft>
              <a:buSzPct val="100000"/>
              <a:buChar char="●"/>
            </a:pPr>
            <a:r>
              <a:rPr lang="en-US" sz="1300" dirty="0">
                <a:solidFill>
                  <a:srgbClr val="1A1A2E"/>
                </a:solidFill>
                <a:latin typeface="BIZ UDゴシック" pitchFamily="34" charset="0"/>
                <a:ea typeface="BIZ UDゴシック" pitchFamily="34" charset="-122"/>
                <a:cs typeface="BIZ UDゴシック" pitchFamily="34" charset="-120"/>
              </a:rPr>
              <a:t>New Relic MCP</a:t>
            </a:r>
            <a:endParaRPr lang="en-US" sz="1300" dirty="0"/>
          </a:p>
        </p:txBody>
      </p:sp>
      <p:sp>
        <p:nvSpPr>
          <p:cNvPr id="12" name="Shape 10"/>
          <p:cNvSpPr/>
          <p:nvPr/>
        </p:nvSpPr>
        <p:spPr>
          <a:xfrm>
            <a:off x="4825898" y="1508760"/>
            <a:ext cx="3271418" cy="2468880"/>
          </a:xfrm>
          <a:prstGeom prst="roundRect">
            <a:avLst>
              <a:gd name="adj" fmla="val 2963"/>
            </a:avLst>
          </a:prstGeom>
          <a:solidFill>
            <a:srgbClr val="EAF2F6"/>
          </a:solidFill>
          <a:ln/>
        </p:spPr>
      </p:sp>
      <p:sp>
        <p:nvSpPr>
          <p:cNvPr id="13" name="Shape 11"/>
          <p:cNvSpPr/>
          <p:nvPr/>
        </p:nvSpPr>
        <p:spPr>
          <a:xfrm>
            <a:off x="4825898" y="1508760"/>
            <a:ext cx="3271418" cy="502920"/>
          </a:xfrm>
          <a:prstGeom prst="roundRect">
            <a:avLst>
              <a:gd name="adj" fmla="val 14545"/>
            </a:avLst>
          </a:prstGeom>
          <a:solidFill>
            <a:srgbClr val="1C7293"/>
          </a:solidFill>
          <a:ln/>
        </p:spPr>
      </p:sp>
      <p:sp>
        <p:nvSpPr>
          <p:cNvPr id="14" name="Text 12"/>
          <p:cNvSpPr/>
          <p:nvPr/>
        </p:nvSpPr>
        <p:spPr>
          <a:xfrm>
            <a:off x="4825898" y="1508760"/>
            <a:ext cx="3271418" cy="502920"/>
          </a:xfrm>
          <a:prstGeom prst="rect">
            <a:avLst/>
          </a:prstGeom>
          <a:noFill/>
          <a:ln/>
        </p:spPr>
        <p:txBody>
          <a:bodyPr wrap="square" lIns="0" tIns="0" rIns="0" bIns="0" rtlCol="0" anchor="ctr"/>
          <a:lstStyle/>
          <a:p>
            <a:pPr algn="ctr" indent="0" marL="0">
              <a:buNone/>
            </a:pPr>
            <a:r>
              <a:rPr lang="en-US" sz="1350" b="1" dirty="0">
                <a:solidFill>
                  <a:srgbClr val="FFFFFF"/>
                </a:solidFill>
                <a:latin typeface="BIZ UDゴシック" pitchFamily="34" charset="0"/>
                <a:ea typeface="BIZ UDゴシック" pitchFamily="34" charset="-122"/>
                <a:cs typeface="BIZ UDゴシック" pitchFamily="34" charset="-120"/>
              </a:rPr>
              <a:t>2. AI / Orchestration 層</a:t>
            </a:r>
            <a:endParaRPr lang="en-US" sz="1350" dirty="0"/>
          </a:p>
        </p:txBody>
      </p:sp>
      <p:sp>
        <p:nvSpPr>
          <p:cNvPr id="15" name="Text 13"/>
          <p:cNvSpPr/>
          <p:nvPr/>
        </p:nvSpPr>
        <p:spPr>
          <a:xfrm>
            <a:off x="5008778" y="2148840"/>
            <a:ext cx="2905658" cy="1737360"/>
          </a:xfrm>
          <a:prstGeom prst="rect">
            <a:avLst/>
          </a:prstGeom>
          <a:noFill/>
          <a:ln/>
        </p:spPr>
        <p:txBody>
          <a:bodyPr wrap="square" lIns="0" tIns="0" rIns="0" bIns="0" rtlCol="0" anchor="t"/>
          <a:lstStyle/>
          <a:p>
            <a:pPr marL="177800" indent="-177800">
              <a:lnSpc>
                <a:spcPct val="120000"/>
              </a:lnSpc>
              <a:spcAft>
                <a:spcPts val="800"/>
              </a:spcAft>
              <a:buSzPct val="100000"/>
              <a:buChar char="●"/>
            </a:pPr>
            <a:r>
              <a:rPr lang="en-US" sz="1300" dirty="0">
                <a:solidFill>
                  <a:srgbClr val="1A1A2E"/>
                </a:solidFill>
                <a:latin typeface="BIZ UDゴシック" pitchFamily="34" charset="0"/>
                <a:ea typeface="BIZ UDゴシック" pitchFamily="34" charset="-122"/>
                <a:cs typeface="BIZ UDゴシック" pitchFamily="34" charset="-120"/>
              </a:rPr>
              <a:t>Console API</a:t>
            </a:r>
            <a:endParaRPr lang="en-US" sz="1300" dirty="0"/>
          </a:p>
          <a:p>
            <a:pPr marL="177800" indent="-177800">
              <a:lnSpc>
                <a:spcPct val="120000"/>
              </a:lnSpc>
              <a:spcAft>
                <a:spcPts val="800"/>
              </a:spcAft>
              <a:buSzPct val="100000"/>
              <a:buChar char="●"/>
            </a:pPr>
            <a:r>
              <a:rPr lang="en-US" sz="1300" dirty="0">
                <a:solidFill>
                  <a:srgbClr val="1A1A2E"/>
                </a:solidFill>
                <a:latin typeface="BIZ UDゴシック" pitchFamily="34" charset="0"/>
                <a:ea typeface="BIZ UDゴシック" pitchFamily="34" charset="-122"/>
                <a:cs typeface="BIZ UDゴシック" pitchFamily="34" charset="-120"/>
              </a:rPr>
              <a:t>EvidenceBundle</a:t>
            </a:r>
            <a:endParaRPr lang="en-US" sz="1300" dirty="0"/>
          </a:p>
          <a:p>
            <a:pPr marL="177800" indent="-177800">
              <a:lnSpc>
                <a:spcPct val="120000"/>
              </a:lnSpc>
              <a:spcAft>
                <a:spcPts val="800"/>
              </a:spcAft>
              <a:buSzPct val="100000"/>
              <a:buChar char="●"/>
            </a:pPr>
            <a:r>
              <a:rPr lang="en-US" sz="1300" dirty="0">
                <a:solidFill>
                  <a:srgbClr val="1A1A2E"/>
                </a:solidFill>
                <a:latin typeface="BIZ UDゴシック" pitchFamily="34" charset="0"/>
                <a:ea typeface="BIZ UDゴシック" pitchFamily="34" charset="-122"/>
                <a:cs typeface="BIZ UDゴシック" pitchFamily="34" charset="-120"/>
              </a:rPr>
              <a:t>IncidentAnalysis</a:t>
            </a:r>
            <a:endParaRPr lang="en-US" sz="1300" dirty="0"/>
          </a:p>
          <a:p>
            <a:pPr marL="177800" indent="-177800">
              <a:lnSpc>
                <a:spcPct val="120000"/>
              </a:lnSpc>
              <a:spcAft>
                <a:spcPts val="800"/>
              </a:spcAft>
              <a:buSzPct val="100000"/>
              <a:buChar char="●"/>
            </a:pPr>
            <a:r>
              <a:rPr lang="en-US" sz="1300" dirty="0">
                <a:solidFill>
                  <a:srgbClr val="1A1A2E"/>
                </a:solidFill>
                <a:latin typeface="BIZ UDゴシック" pitchFamily="34" charset="0"/>
                <a:ea typeface="BIZ UDゴシック" pitchFamily="34" charset="-122"/>
                <a:cs typeface="BIZ UDゴシック" pitchFamily="34" charset="-120"/>
              </a:rPr>
              <a:t>LLM</a:t>
            </a:r>
            <a:endParaRPr lang="en-US" sz="1300" dirty="0"/>
          </a:p>
        </p:txBody>
      </p:sp>
      <p:sp>
        <p:nvSpPr>
          <p:cNvPr id="16" name="Shape 14"/>
          <p:cNvSpPr/>
          <p:nvPr/>
        </p:nvSpPr>
        <p:spPr>
          <a:xfrm>
            <a:off x="8371637" y="1508760"/>
            <a:ext cx="3271418" cy="2468880"/>
          </a:xfrm>
          <a:prstGeom prst="roundRect">
            <a:avLst>
              <a:gd name="adj" fmla="val 2963"/>
            </a:avLst>
          </a:prstGeom>
          <a:solidFill>
            <a:srgbClr val="EAF2F6"/>
          </a:solidFill>
          <a:ln/>
        </p:spPr>
      </p:sp>
      <p:sp>
        <p:nvSpPr>
          <p:cNvPr id="17" name="Shape 15"/>
          <p:cNvSpPr/>
          <p:nvPr/>
        </p:nvSpPr>
        <p:spPr>
          <a:xfrm>
            <a:off x="8371637" y="1508760"/>
            <a:ext cx="3271418" cy="502920"/>
          </a:xfrm>
          <a:prstGeom prst="roundRect">
            <a:avLst>
              <a:gd name="adj" fmla="val 14545"/>
            </a:avLst>
          </a:prstGeom>
          <a:solidFill>
            <a:srgbClr val="21295C"/>
          </a:solidFill>
          <a:ln/>
        </p:spPr>
      </p:sp>
      <p:sp>
        <p:nvSpPr>
          <p:cNvPr id="18" name="Text 16"/>
          <p:cNvSpPr/>
          <p:nvPr/>
        </p:nvSpPr>
        <p:spPr>
          <a:xfrm>
            <a:off x="8371637" y="1508760"/>
            <a:ext cx="3271418" cy="502920"/>
          </a:xfrm>
          <a:prstGeom prst="rect">
            <a:avLst/>
          </a:prstGeom>
          <a:noFill/>
          <a:ln/>
        </p:spPr>
        <p:txBody>
          <a:bodyPr wrap="square" lIns="0" tIns="0" rIns="0" bIns="0" rtlCol="0" anchor="ctr"/>
          <a:lstStyle/>
          <a:p>
            <a:pPr algn="ctr" indent="0" marL="0">
              <a:buNone/>
            </a:pPr>
            <a:r>
              <a:rPr lang="en-US" sz="1350" b="1" dirty="0">
                <a:solidFill>
                  <a:srgbClr val="FFFFFF"/>
                </a:solidFill>
                <a:latin typeface="BIZ UDゴシック" pitchFamily="34" charset="0"/>
                <a:ea typeface="BIZ UDゴシック" pitchFamily="34" charset="-122"/>
                <a:cs typeface="BIZ UDゴシック" pitchFamily="34" charset="-120"/>
              </a:rPr>
              <a:t>3. Presentation 層</a:t>
            </a:r>
            <a:endParaRPr lang="en-US" sz="1350" dirty="0"/>
          </a:p>
        </p:txBody>
      </p:sp>
      <p:sp>
        <p:nvSpPr>
          <p:cNvPr id="19" name="Text 17"/>
          <p:cNvSpPr/>
          <p:nvPr/>
        </p:nvSpPr>
        <p:spPr>
          <a:xfrm>
            <a:off x="8554517" y="2148840"/>
            <a:ext cx="2905658" cy="1737360"/>
          </a:xfrm>
          <a:prstGeom prst="rect">
            <a:avLst/>
          </a:prstGeom>
          <a:noFill/>
          <a:ln/>
        </p:spPr>
        <p:txBody>
          <a:bodyPr wrap="square" lIns="0" tIns="0" rIns="0" bIns="0" rtlCol="0" anchor="t"/>
          <a:lstStyle/>
          <a:p>
            <a:pPr marL="177800" indent="-177800">
              <a:lnSpc>
                <a:spcPct val="120000"/>
              </a:lnSpc>
              <a:spcAft>
                <a:spcPts val="800"/>
              </a:spcAft>
              <a:buSzPct val="100000"/>
              <a:buChar char="●"/>
            </a:pPr>
            <a:r>
              <a:rPr lang="en-US" sz="1300" dirty="0">
                <a:solidFill>
                  <a:srgbClr val="1A1A2E"/>
                </a:solidFill>
                <a:latin typeface="BIZ UDゴシック" pitchFamily="34" charset="0"/>
                <a:ea typeface="BIZ UDゴシック" pitchFamily="34" charset="-122"/>
                <a:cs typeface="BIZ UDゴシック" pitchFamily="34" charset="-120"/>
              </a:rPr>
              <a:t>AG-UI</a:t>
            </a:r>
            <a:endParaRPr lang="en-US" sz="1300" dirty="0"/>
          </a:p>
          <a:p>
            <a:pPr marL="177800" indent="-177800">
              <a:lnSpc>
                <a:spcPct val="120000"/>
              </a:lnSpc>
              <a:spcAft>
                <a:spcPts val="800"/>
              </a:spcAft>
              <a:buSzPct val="100000"/>
              <a:buChar char="●"/>
            </a:pPr>
            <a:r>
              <a:rPr lang="en-US" sz="1300" dirty="0">
                <a:solidFill>
                  <a:srgbClr val="1A1A2E"/>
                </a:solidFill>
                <a:latin typeface="BIZ UDゴシック" pitchFamily="34" charset="0"/>
                <a:ea typeface="BIZ UDゴシック" pitchFamily="34" charset="-122"/>
                <a:cs typeface="BIZ UDゴシック" pitchFamily="34" charset="-120"/>
              </a:rPr>
              <a:t>A2UI</a:t>
            </a:r>
            <a:endParaRPr lang="en-US" sz="1300" dirty="0"/>
          </a:p>
          <a:p>
            <a:pPr marL="177800" indent="-177800">
              <a:lnSpc>
                <a:spcPct val="120000"/>
              </a:lnSpc>
              <a:spcAft>
                <a:spcPts val="800"/>
              </a:spcAft>
              <a:buSzPct val="100000"/>
              <a:buChar char="●"/>
            </a:pPr>
            <a:r>
              <a:rPr lang="en-US" sz="1300" dirty="0">
                <a:solidFill>
                  <a:srgbClr val="1A1A2E"/>
                </a:solidFill>
                <a:latin typeface="BIZ UDゴシック" pitchFamily="34" charset="0"/>
                <a:ea typeface="BIZ UDゴシック" pitchFamily="34" charset="-122"/>
                <a:cs typeface="BIZ UDゴシック" pitchFamily="34" charset="-120"/>
              </a:rPr>
              <a:t>React UI</a:t>
            </a:r>
            <a:endParaRPr lang="en-US" sz="1300" dirty="0"/>
          </a:p>
        </p:txBody>
      </p:sp>
      <p:sp>
        <p:nvSpPr>
          <p:cNvPr id="20" name="Text 18"/>
          <p:cNvSpPr/>
          <p:nvPr/>
        </p:nvSpPr>
        <p:spPr>
          <a:xfrm>
            <a:off x="1280160" y="4160520"/>
            <a:ext cx="10362895" cy="548640"/>
          </a:xfrm>
          <a:prstGeom prst="rect">
            <a:avLst/>
          </a:prstGeom>
          <a:noFill/>
          <a:ln/>
        </p:spPr>
        <p:txBody>
          <a:bodyPr wrap="square" lIns="0" tIns="0" rIns="0" bIns="0" rtlCol="0" anchor="t"/>
          <a:lstStyle/>
          <a:p>
            <a:pPr indent="0" marL="0">
              <a:lnSpc>
                <a:spcPct val="125000"/>
              </a:lnSpc>
              <a:buNone/>
            </a:pPr>
            <a:r>
              <a:rPr lang="en-US" sz="1500" b="1" dirty="0">
                <a:solidFill>
                  <a:srgbClr val="21295C"/>
                </a:solidFill>
                <a:latin typeface="BIZ UDゴシック" pitchFamily="34" charset="0"/>
                <a:ea typeface="BIZ UDゴシック" pitchFamily="34" charset="-122"/>
                <a:cs typeface="BIZ UDゴシック" pitchFamily="34" charset="-120"/>
              </a:rPr>
              <a:t>この分離の意義</a:t>
            </a:r>
            <a:endParaRPr lang="en-US" sz="1500" dirty="0"/>
          </a:p>
        </p:txBody>
      </p:sp>
      <p:sp>
        <p:nvSpPr>
          <p:cNvPr id="21" name="Text 19"/>
          <p:cNvSpPr/>
          <p:nvPr/>
        </p:nvSpPr>
        <p:spPr>
          <a:xfrm>
            <a:off x="1280160" y="4526280"/>
            <a:ext cx="10362895" cy="1280160"/>
          </a:xfrm>
          <a:prstGeom prst="rect">
            <a:avLst/>
          </a:prstGeom>
          <a:noFill/>
          <a:ln/>
        </p:spPr>
        <p:txBody>
          <a:bodyPr wrap="square" lIns="0" tIns="0" rIns="0" bIns="0" rtlCol="0" anchor="t"/>
          <a:lstStyle/>
          <a:p>
            <a:pPr indent="0" marL="0">
              <a:lnSpc>
                <a:spcPct val="125000"/>
              </a:lnSpc>
              <a:buNone/>
            </a:pPr>
            <a:r>
              <a:rPr lang="en-US" sz="1350" dirty="0">
                <a:solidFill>
                  <a:srgbClr val="1A1A2E"/>
                </a:solidFill>
                <a:latin typeface="BIZ UDゴシック" pitchFamily="34" charset="0"/>
                <a:ea typeface="BIZ UDゴシック" pitchFamily="34" charset="-122"/>
                <a:cs typeface="BIZ UDゴシック" pitchFamily="34" charset="-120"/>
              </a:rPr>
              <a:t>監視製品、LLM、UIを直接結合しない。これにより、Splunkを別製品へ変更／New Relic以外のAPMを追加／LLMプロバイダー変更／UIコンポーネント追加といった変更を、比較的小さい影響範囲で行える。</a:t>
            </a:r>
            <a:endParaRPr lang="en-US" sz="13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502920"/>
            <a:ext cx="566928" cy="566928"/>
          </a:xfrm>
          <a:prstGeom prst="ellipse">
            <a:avLst/>
          </a:prstGeom>
          <a:solidFill>
            <a:srgbClr val="21295C"/>
          </a:solidFill>
          <a:ln/>
        </p:spPr>
      </p:sp>
      <p:sp>
        <p:nvSpPr>
          <p:cNvPr id="3" name="Text 1"/>
          <p:cNvSpPr/>
          <p:nvPr/>
        </p:nvSpPr>
        <p:spPr>
          <a:xfrm>
            <a:off x="548640" y="502920"/>
            <a:ext cx="566928" cy="566928"/>
          </a:xfrm>
          <a:prstGeom prst="rect">
            <a:avLst/>
          </a:prstGeom>
          <a:noFill/>
          <a:ln/>
        </p:spPr>
        <p:txBody>
          <a:bodyPr wrap="square" lIns="0" tIns="0" rIns="0" bIns="0" rtlCol="0" anchor="ctr"/>
          <a:lstStyle/>
          <a:p>
            <a:pPr algn="ctr" indent="0" marL="0">
              <a:buNone/>
            </a:pPr>
            <a:r>
              <a:rPr lang="en-US" sz="1500" b="1" dirty="0">
                <a:solidFill>
                  <a:srgbClr val="FFFFFF"/>
                </a:solidFill>
                <a:latin typeface="BIZ UDゴシック" pitchFamily="34" charset="0"/>
                <a:ea typeface="BIZ UDゴシック" pitchFamily="34" charset="-122"/>
                <a:cs typeface="BIZ UDゴシック" pitchFamily="34" charset="-120"/>
              </a:rPr>
              <a:t>04</a:t>
            </a:r>
            <a:endParaRPr lang="en-US" sz="1500" dirty="0"/>
          </a:p>
        </p:txBody>
      </p:sp>
      <p:sp>
        <p:nvSpPr>
          <p:cNvPr id="4" name="Text 2"/>
          <p:cNvSpPr/>
          <p:nvPr/>
        </p:nvSpPr>
        <p:spPr>
          <a:xfrm>
            <a:off x="1280160" y="438912"/>
            <a:ext cx="10362895" cy="274320"/>
          </a:xfrm>
          <a:prstGeom prst="rect">
            <a:avLst/>
          </a:prstGeom>
          <a:noFill/>
          <a:ln/>
        </p:spPr>
        <p:txBody>
          <a:bodyPr wrap="square" lIns="0" tIns="0" rIns="0" bIns="0" rtlCol="0" anchor="ctr"/>
          <a:lstStyle/>
          <a:p>
            <a:pPr indent="0" marL="0">
              <a:buNone/>
            </a:pPr>
            <a:r>
              <a:rPr lang="en-US" sz="1100" b="1" spc="100" kern="0" dirty="0">
                <a:solidFill>
                  <a:srgbClr val="1C7293"/>
                </a:solidFill>
                <a:latin typeface="BIZ UDゴシック" pitchFamily="34" charset="0"/>
                <a:ea typeface="BIZ UDゴシック" pitchFamily="34" charset="-122"/>
                <a:cs typeface="BIZ UDゴシック" pitchFamily="34" charset="-120"/>
              </a:rPr>
              <a:t>SECTION 4</a:t>
            </a:r>
            <a:endParaRPr lang="en-US" sz="1100" dirty="0"/>
          </a:p>
        </p:txBody>
      </p:sp>
      <p:sp>
        <p:nvSpPr>
          <p:cNvPr id="5" name="Text 3"/>
          <p:cNvSpPr/>
          <p:nvPr/>
        </p:nvSpPr>
        <p:spPr>
          <a:xfrm>
            <a:off x="1280160" y="713232"/>
            <a:ext cx="10362895" cy="566928"/>
          </a:xfrm>
          <a:prstGeom prst="rect">
            <a:avLst/>
          </a:prstGeom>
          <a:noFill/>
          <a:ln/>
        </p:spPr>
        <p:txBody>
          <a:bodyPr wrap="square" lIns="0" tIns="0" rIns="0" bIns="0" rtlCol="0" anchor="t"/>
          <a:lstStyle/>
          <a:p>
            <a:pPr indent="0" marL="0">
              <a:buNone/>
            </a:pPr>
            <a:r>
              <a:rPr lang="en-US" sz="2500" b="1" dirty="0">
                <a:solidFill>
                  <a:srgbClr val="1A1A2E"/>
                </a:solidFill>
                <a:latin typeface="BIZ UDゴシック" pitchFamily="34" charset="0"/>
                <a:ea typeface="BIZ UDゴシック" pitchFamily="34" charset="-122"/>
                <a:cs typeface="BIZ UDゴシック" pitchFamily="34" charset="-120"/>
              </a:rPr>
              <a:t>実装方法 — 基本フロー</a:t>
            </a:r>
            <a:endParaRPr lang="en-US" sz="2500" dirty="0"/>
          </a:p>
        </p:txBody>
      </p:sp>
      <p:sp>
        <p:nvSpPr>
          <p:cNvPr id="6" name="Text 4"/>
          <p:cNvSpPr/>
          <p:nvPr/>
        </p:nvSpPr>
        <p:spPr>
          <a:xfrm>
            <a:off x="548640" y="6446520"/>
            <a:ext cx="4572000" cy="274320"/>
          </a:xfrm>
          <a:prstGeom prst="rect">
            <a:avLst/>
          </a:prstGeom>
          <a:noFill/>
          <a:ln/>
        </p:spPr>
        <p:txBody>
          <a:bodyPr wrap="square" lIns="0" tIns="0" rIns="0" bIns="0" rtlCol="0" anchor="ctr"/>
          <a:lstStyle/>
          <a:p>
            <a:pPr indent="0" marL="0">
              <a:buNone/>
            </a:pPr>
            <a:r>
              <a:rPr lang="en-US" sz="900" dirty="0">
                <a:solidFill>
                  <a:srgbClr val="5C6B73"/>
                </a:solidFill>
                <a:latin typeface="BIZ UDゴシック" pitchFamily="34" charset="0"/>
                <a:ea typeface="BIZ UDゴシック" pitchFamily="34" charset="-122"/>
                <a:cs typeface="BIZ UDゴシック" pitchFamily="34" charset="-120"/>
              </a:rPr>
              <a:t>Observability AI PoC</a:t>
            </a:r>
            <a:endParaRPr lang="en-US" sz="900" dirty="0"/>
          </a:p>
        </p:txBody>
      </p:sp>
      <p:sp>
        <p:nvSpPr>
          <p:cNvPr id="7" name="Text 5"/>
          <p:cNvSpPr/>
          <p:nvPr/>
        </p:nvSpPr>
        <p:spPr>
          <a:xfrm>
            <a:off x="9814255" y="6446520"/>
            <a:ext cx="1828800" cy="274320"/>
          </a:xfrm>
          <a:prstGeom prst="rect">
            <a:avLst/>
          </a:prstGeom>
          <a:noFill/>
          <a:ln/>
        </p:spPr>
        <p:txBody>
          <a:bodyPr wrap="square" lIns="0" tIns="0" rIns="0" bIns="0" rtlCol="0" anchor="ctr"/>
          <a:lstStyle/>
          <a:p>
            <a:pPr algn="r" indent="0" marL="0">
              <a:buNone/>
            </a:pPr>
            <a:r>
              <a:rPr lang="en-US" sz="900" dirty="0">
                <a:solidFill>
                  <a:srgbClr val="5C6B73"/>
                </a:solidFill>
                <a:latin typeface="BIZ UDゴシック" pitchFamily="34" charset="0"/>
                <a:ea typeface="BIZ UDゴシック" pitchFamily="34" charset="-122"/>
                <a:cs typeface="BIZ UDゴシック" pitchFamily="34" charset="-120"/>
              </a:rPr>
              <a:t>04</a:t>
            </a:r>
            <a:endParaRPr lang="en-US" sz="900" dirty="0"/>
          </a:p>
        </p:txBody>
      </p:sp>
      <p:sp>
        <p:nvSpPr>
          <p:cNvPr id="8" name="Text 6"/>
          <p:cNvSpPr/>
          <p:nvPr/>
        </p:nvSpPr>
        <p:spPr>
          <a:xfrm>
            <a:off x="1280160" y="1554480"/>
            <a:ext cx="5166360" cy="3931920"/>
          </a:xfrm>
          <a:prstGeom prst="rect">
            <a:avLst/>
          </a:prstGeom>
          <a:noFill/>
          <a:ln/>
        </p:spPr>
        <p:txBody>
          <a:bodyPr wrap="square" lIns="0" tIns="0" rIns="0" bIns="0" rtlCol="0" anchor="t"/>
          <a:lstStyle/>
          <a:p>
            <a:pPr indent="0" marL="0">
              <a:lnSpc>
                <a:spcPct val="115000"/>
              </a:lnSpc>
              <a:spcAft>
                <a:spcPts val="1300"/>
              </a:spcAft>
              <a:buNone/>
            </a:pPr>
            <a:r>
              <a:rPr lang="en-US" sz="1300" dirty="0">
                <a:solidFill>
                  <a:srgbClr val="1A1A2E"/>
                </a:solidFill>
                <a:latin typeface="BIZ UDゴシック" pitchFamily="34" charset="0"/>
                <a:ea typeface="BIZ UDゴシック" pitchFamily="34" charset="-122"/>
                <a:cs typeface="BIZ UDゴシック" pitchFamily="34" charset="-120"/>
              </a:rPr>
              <a:t>01   Demo Commerceで疑似障害を発生</a:t>
            </a:r>
            <a:endParaRPr lang="en-US" sz="1300" dirty="0"/>
          </a:p>
          <a:p>
            <a:pPr indent="0" marL="0">
              <a:lnSpc>
                <a:spcPct val="115000"/>
              </a:lnSpc>
              <a:spcAft>
                <a:spcPts val="1300"/>
              </a:spcAft>
              <a:buNone/>
            </a:pPr>
            <a:r>
              <a:rPr lang="en-US" sz="1300" dirty="0">
                <a:solidFill>
                  <a:srgbClr val="1A1A2E"/>
                </a:solidFill>
                <a:latin typeface="BIZ UDゴシック" pitchFamily="34" charset="0"/>
                <a:ea typeface="BIZ UDゴシック" pitchFamily="34" charset="-122"/>
                <a:cs typeface="BIZ UDゴシック" pitchFamily="34" charset="-120"/>
              </a:rPr>
              <a:t>02   Splunkへ構造化ログを送信</a:t>
            </a:r>
            <a:endParaRPr lang="en-US" sz="1300" dirty="0"/>
          </a:p>
          <a:p>
            <a:pPr indent="0" marL="0">
              <a:lnSpc>
                <a:spcPct val="115000"/>
              </a:lnSpc>
              <a:spcAft>
                <a:spcPts val="1300"/>
              </a:spcAft>
              <a:buNone/>
            </a:pPr>
            <a:r>
              <a:rPr lang="en-US" sz="1300" dirty="0">
                <a:solidFill>
                  <a:srgbClr val="1A1A2E"/>
                </a:solidFill>
                <a:latin typeface="BIZ UDゴシック" pitchFamily="34" charset="0"/>
                <a:ea typeface="BIZ UDゴシック" pitchFamily="34" charset="-122"/>
                <a:cs typeface="BIZ UDゴシック" pitchFamily="34" charset="-120"/>
              </a:rPr>
              <a:t>03   New Relic APMへトレース・メトリクスを送信</a:t>
            </a:r>
            <a:endParaRPr lang="en-US" sz="1300" dirty="0"/>
          </a:p>
          <a:p>
            <a:pPr indent="0" marL="0">
              <a:lnSpc>
                <a:spcPct val="115000"/>
              </a:lnSpc>
              <a:spcAft>
                <a:spcPts val="1300"/>
              </a:spcAft>
              <a:buNone/>
            </a:pPr>
            <a:r>
              <a:rPr lang="en-US" sz="1300" dirty="0">
                <a:solidFill>
                  <a:srgbClr val="1A1A2E"/>
                </a:solidFill>
                <a:latin typeface="BIZ UDゴシック" pitchFamily="34" charset="0"/>
                <a:ea typeface="BIZ UDゴシック" pitchFamily="34" charset="-122"/>
                <a:cs typeface="BIZ UDゴシック" pitchFamily="34" charset="-120"/>
              </a:rPr>
              <a:t>04   Console APIがSplunk / New Relicから証拠を収集</a:t>
            </a:r>
            <a:endParaRPr lang="en-US" sz="1300" dirty="0"/>
          </a:p>
          <a:p>
            <a:pPr indent="0" marL="0">
              <a:lnSpc>
                <a:spcPct val="115000"/>
              </a:lnSpc>
              <a:spcAft>
                <a:spcPts val="1300"/>
              </a:spcAft>
              <a:buNone/>
            </a:pPr>
            <a:r>
              <a:rPr lang="en-US" sz="1300" dirty="0">
                <a:solidFill>
                  <a:srgbClr val="1A1A2E"/>
                </a:solidFill>
                <a:latin typeface="BIZ UDゴシック" pitchFamily="34" charset="0"/>
                <a:ea typeface="BIZ UDゴシック" pitchFamily="34" charset="-122"/>
                <a:cs typeface="BIZ UDゴシック" pitchFamily="34" charset="-120"/>
              </a:rPr>
              <a:t>05   request.id / trace.id をキーに情報を関連付け</a:t>
            </a:r>
            <a:endParaRPr lang="en-US" sz="1300" dirty="0"/>
          </a:p>
          <a:p>
            <a:pPr indent="0" marL="0">
              <a:lnSpc>
                <a:spcPct val="115000"/>
              </a:lnSpc>
              <a:spcAft>
                <a:spcPts val="1300"/>
              </a:spcAft>
              <a:buNone/>
            </a:pPr>
            <a:r>
              <a:rPr lang="en-US" sz="1300" dirty="0">
                <a:solidFill>
                  <a:srgbClr val="1A1A2E"/>
                </a:solidFill>
                <a:latin typeface="BIZ UDゴシック" pitchFamily="34" charset="0"/>
                <a:ea typeface="BIZ UDゴシック" pitchFamily="34" charset="-122"/>
                <a:cs typeface="BIZ UDゴシック" pitchFamily="34" charset="-120"/>
              </a:rPr>
              <a:t>06   EvidenceBundleを生成</a:t>
            </a:r>
            <a:endParaRPr lang="en-US" sz="1300" dirty="0"/>
          </a:p>
        </p:txBody>
      </p:sp>
      <p:sp>
        <p:nvSpPr>
          <p:cNvPr id="9" name="Text 7"/>
          <p:cNvSpPr/>
          <p:nvPr/>
        </p:nvSpPr>
        <p:spPr>
          <a:xfrm>
            <a:off x="6766560" y="1554480"/>
            <a:ext cx="5212080" cy="3931920"/>
          </a:xfrm>
          <a:prstGeom prst="rect">
            <a:avLst/>
          </a:prstGeom>
          <a:noFill/>
          <a:ln/>
        </p:spPr>
        <p:txBody>
          <a:bodyPr wrap="square" lIns="0" tIns="0" rIns="0" bIns="0" rtlCol="0" anchor="t"/>
          <a:lstStyle/>
          <a:p>
            <a:pPr indent="0" marL="0">
              <a:lnSpc>
                <a:spcPct val="115000"/>
              </a:lnSpc>
              <a:spcAft>
                <a:spcPts val="1300"/>
              </a:spcAft>
              <a:buNone/>
            </a:pPr>
            <a:r>
              <a:rPr lang="en-US" sz="1300" dirty="0">
                <a:solidFill>
                  <a:srgbClr val="1A1A2E"/>
                </a:solidFill>
                <a:latin typeface="BIZ UDゴシック" pitchFamily="34" charset="0"/>
                <a:ea typeface="BIZ UDゴシック" pitchFamily="34" charset="-122"/>
                <a:cs typeface="BIZ UDゴシック" pitchFamily="34" charset="-120"/>
              </a:rPr>
              <a:t>07   LLMへEvidenceBundleを入力</a:t>
            </a:r>
            <a:endParaRPr lang="en-US" sz="1300" dirty="0"/>
          </a:p>
          <a:p>
            <a:pPr indent="0" marL="0">
              <a:lnSpc>
                <a:spcPct val="115000"/>
              </a:lnSpc>
              <a:spcAft>
                <a:spcPts val="1300"/>
              </a:spcAft>
              <a:buNone/>
            </a:pPr>
            <a:r>
              <a:rPr lang="en-US" sz="1300" dirty="0">
                <a:solidFill>
                  <a:srgbClr val="1A1A2E"/>
                </a:solidFill>
                <a:latin typeface="BIZ UDゴシック" pitchFamily="34" charset="0"/>
                <a:ea typeface="BIZ UDゴシック" pitchFamily="34" charset="-122"/>
                <a:cs typeface="BIZ UDゴシック" pitchFamily="34" charset="-120"/>
              </a:rPr>
              <a:t>08   LLMがIncidentAnalysisを生成</a:t>
            </a:r>
            <a:endParaRPr lang="en-US" sz="1300" dirty="0"/>
          </a:p>
          <a:p>
            <a:pPr indent="0" marL="0">
              <a:lnSpc>
                <a:spcPct val="115000"/>
              </a:lnSpc>
              <a:spcAft>
                <a:spcPts val="1300"/>
              </a:spcAft>
              <a:buNone/>
            </a:pPr>
            <a:r>
              <a:rPr lang="en-US" sz="1300" dirty="0">
                <a:solidFill>
                  <a:srgbClr val="1A1A2E"/>
                </a:solidFill>
                <a:latin typeface="BIZ UDゴシック" pitchFamily="34" charset="0"/>
                <a:ea typeface="BIZ UDゴシック" pitchFamily="34" charset="-122"/>
                <a:cs typeface="BIZ UDゴシック" pitchFamily="34" charset="-120"/>
              </a:rPr>
              <a:t>09   Pydanticで構造・参照整合性を検証</a:t>
            </a:r>
            <a:endParaRPr lang="en-US" sz="1300" dirty="0"/>
          </a:p>
          <a:p>
            <a:pPr indent="0" marL="0">
              <a:lnSpc>
                <a:spcPct val="115000"/>
              </a:lnSpc>
              <a:spcAft>
                <a:spcPts val="1300"/>
              </a:spcAft>
              <a:buNone/>
            </a:pPr>
            <a:r>
              <a:rPr lang="en-US" sz="1300" dirty="0">
                <a:solidFill>
                  <a:srgbClr val="1A1A2E"/>
                </a:solidFill>
                <a:latin typeface="BIZ UDゴシック" pitchFamily="34" charset="0"/>
                <a:ea typeface="BIZ UDゴシック" pitchFamily="34" charset="-122"/>
                <a:cs typeface="BIZ UDゴシック" pitchFamily="34" charset="-120"/>
              </a:rPr>
              <a:t>10   AG-UIイベントへ変換</a:t>
            </a:r>
            <a:endParaRPr lang="en-US" sz="1300" dirty="0"/>
          </a:p>
          <a:p>
            <a:pPr indent="0" marL="0">
              <a:lnSpc>
                <a:spcPct val="115000"/>
              </a:lnSpc>
              <a:spcAft>
                <a:spcPts val="1300"/>
              </a:spcAft>
              <a:buNone/>
            </a:pPr>
            <a:r>
              <a:rPr lang="en-US" sz="1300" dirty="0">
                <a:solidFill>
                  <a:srgbClr val="1A1A2E"/>
                </a:solidFill>
                <a:latin typeface="BIZ UDゴシック" pitchFamily="34" charset="0"/>
                <a:ea typeface="BIZ UDゴシック" pitchFamily="34" charset="-122"/>
                <a:cs typeface="BIZ UDゴシック" pitchFamily="34" charset="-120"/>
              </a:rPr>
              <a:t>11   A2UIで画面構成を決定</a:t>
            </a:r>
            <a:endParaRPr lang="en-US" sz="1300" dirty="0"/>
          </a:p>
          <a:p>
            <a:pPr indent="0" marL="0">
              <a:lnSpc>
                <a:spcPct val="115000"/>
              </a:lnSpc>
              <a:spcAft>
                <a:spcPts val="1300"/>
              </a:spcAft>
              <a:buNone/>
            </a:pPr>
            <a:r>
              <a:rPr lang="en-US" sz="1300" dirty="0">
                <a:solidFill>
                  <a:srgbClr val="1A1A2E"/>
                </a:solidFill>
                <a:latin typeface="BIZ UDゴシック" pitchFamily="34" charset="0"/>
                <a:ea typeface="BIZ UDゴシック" pitchFamily="34" charset="-122"/>
                <a:cs typeface="BIZ UDゴシック" pitchFamily="34" charset="-120"/>
              </a:rPr>
              <a:t>12   React UI上で分析結果・証拠・グラフを表示</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502920"/>
            <a:ext cx="566928" cy="566928"/>
          </a:xfrm>
          <a:prstGeom prst="ellipse">
            <a:avLst/>
          </a:prstGeom>
          <a:solidFill>
            <a:srgbClr val="21295C"/>
          </a:solidFill>
          <a:ln/>
        </p:spPr>
      </p:sp>
      <p:sp>
        <p:nvSpPr>
          <p:cNvPr id="3" name="Text 1"/>
          <p:cNvSpPr/>
          <p:nvPr/>
        </p:nvSpPr>
        <p:spPr>
          <a:xfrm>
            <a:off x="548640" y="502920"/>
            <a:ext cx="566928" cy="566928"/>
          </a:xfrm>
          <a:prstGeom prst="rect">
            <a:avLst/>
          </a:prstGeom>
          <a:noFill/>
          <a:ln/>
        </p:spPr>
        <p:txBody>
          <a:bodyPr wrap="square" lIns="0" tIns="0" rIns="0" bIns="0" rtlCol="0" anchor="ctr"/>
          <a:lstStyle/>
          <a:p>
            <a:pPr algn="ctr" indent="0" marL="0">
              <a:buNone/>
            </a:pPr>
            <a:r>
              <a:rPr lang="en-US" sz="1500" b="1" dirty="0">
                <a:solidFill>
                  <a:srgbClr val="FFFFFF"/>
                </a:solidFill>
                <a:latin typeface="BIZ UDゴシック" pitchFamily="34" charset="0"/>
                <a:ea typeface="BIZ UDゴシック" pitchFamily="34" charset="-122"/>
                <a:cs typeface="BIZ UDゴシック" pitchFamily="34" charset="-120"/>
              </a:rPr>
              <a:t>05</a:t>
            </a:r>
            <a:endParaRPr lang="en-US" sz="1500" dirty="0"/>
          </a:p>
        </p:txBody>
      </p:sp>
      <p:sp>
        <p:nvSpPr>
          <p:cNvPr id="4" name="Text 2"/>
          <p:cNvSpPr/>
          <p:nvPr/>
        </p:nvSpPr>
        <p:spPr>
          <a:xfrm>
            <a:off x="1280160" y="438912"/>
            <a:ext cx="10362895" cy="274320"/>
          </a:xfrm>
          <a:prstGeom prst="rect">
            <a:avLst/>
          </a:prstGeom>
          <a:noFill/>
          <a:ln/>
        </p:spPr>
        <p:txBody>
          <a:bodyPr wrap="square" lIns="0" tIns="0" rIns="0" bIns="0" rtlCol="0" anchor="ctr"/>
          <a:lstStyle/>
          <a:p>
            <a:pPr indent="0" marL="0">
              <a:buNone/>
            </a:pPr>
            <a:r>
              <a:rPr lang="en-US" sz="1100" b="1" spc="100" kern="0" dirty="0">
                <a:solidFill>
                  <a:srgbClr val="1C7293"/>
                </a:solidFill>
                <a:latin typeface="BIZ UDゴシック" pitchFamily="34" charset="0"/>
                <a:ea typeface="BIZ UDゴシック" pitchFamily="34" charset="-122"/>
                <a:cs typeface="BIZ UDゴシック" pitchFamily="34" charset="-120"/>
              </a:rPr>
              <a:t>SECTION 5</a:t>
            </a:r>
            <a:endParaRPr lang="en-US" sz="1100" dirty="0"/>
          </a:p>
        </p:txBody>
      </p:sp>
      <p:sp>
        <p:nvSpPr>
          <p:cNvPr id="5" name="Text 3"/>
          <p:cNvSpPr/>
          <p:nvPr/>
        </p:nvSpPr>
        <p:spPr>
          <a:xfrm>
            <a:off x="1280160" y="713232"/>
            <a:ext cx="10362895" cy="566928"/>
          </a:xfrm>
          <a:prstGeom prst="rect">
            <a:avLst/>
          </a:prstGeom>
          <a:noFill/>
          <a:ln/>
        </p:spPr>
        <p:txBody>
          <a:bodyPr wrap="square" lIns="0" tIns="0" rIns="0" bIns="0" rtlCol="0" anchor="t"/>
          <a:lstStyle/>
          <a:p>
            <a:pPr indent="0" marL="0">
              <a:buNone/>
            </a:pPr>
            <a:r>
              <a:rPr lang="en-US" sz="2500" b="1" dirty="0">
                <a:solidFill>
                  <a:srgbClr val="1A1A2E"/>
                </a:solidFill>
                <a:latin typeface="BIZ UDゴシック" pitchFamily="34" charset="0"/>
                <a:ea typeface="BIZ UDゴシック" pitchFamily="34" charset="-122"/>
                <a:cs typeface="BIZ UDゴシック" pitchFamily="34" charset="-120"/>
              </a:rPr>
              <a:t>Evidence-first 設計</a:t>
            </a:r>
            <a:endParaRPr lang="en-US" sz="2500" dirty="0"/>
          </a:p>
        </p:txBody>
      </p:sp>
      <p:sp>
        <p:nvSpPr>
          <p:cNvPr id="6" name="Text 4"/>
          <p:cNvSpPr/>
          <p:nvPr/>
        </p:nvSpPr>
        <p:spPr>
          <a:xfrm>
            <a:off x="548640" y="6446520"/>
            <a:ext cx="4572000" cy="274320"/>
          </a:xfrm>
          <a:prstGeom prst="rect">
            <a:avLst/>
          </a:prstGeom>
          <a:noFill/>
          <a:ln/>
        </p:spPr>
        <p:txBody>
          <a:bodyPr wrap="square" lIns="0" tIns="0" rIns="0" bIns="0" rtlCol="0" anchor="ctr"/>
          <a:lstStyle/>
          <a:p>
            <a:pPr indent="0" marL="0">
              <a:buNone/>
            </a:pPr>
            <a:r>
              <a:rPr lang="en-US" sz="900" dirty="0">
                <a:solidFill>
                  <a:srgbClr val="5C6B73"/>
                </a:solidFill>
                <a:latin typeface="BIZ UDゴシック" pitchFamily="34" charset="0"/>
                <a:ea typeface="BIZ UDゴシック" pitchFamily="34" charset="-122"/>
                <a:cs typeface="BIZ UDゴシック" pitchFamily="34" charset="-120"/>
              </a:rPr>
              <a:t>Observability AI PoC</a:t>
            </a:r>
            <a:endParaRPr lang="en-US" sz="900" dirty="0"/>
          </a:p>
        </p:txBody>
      </p:sp>
      <p:sp>
        <p:nvSpPr>
          <p:cNvPr id="7" name="Text 5"/>
          <p:cNvSpPr/>
          <p:nvPr/>
        </p:nvSpPr>
        <p:spPr>
          <a:xfrm>
            <a:off x="9814255" y="6446520"/>
            <a:ext cx="1828800" cy="274320"/>
          </a:xfrm>
          <a:prstGeom prst="rect">
            <a:avLst/>
          </a:prstGeom>
          <a:noFill/>
          <a:ln/>
        </p:spPr>
        <p:txBody>
          <a:bodyPr wrap="square" lIns="0" tIns="0" rIns="0" bIns="0" rtlCol="0" anchor="ctr"/>
          <a:lstStyle/>
          <a:p>
            <a:pPr algn="r" indent="0" marL="0">
              <a:buNone/>
            </a:pPr>
            <a:r>
              <a:rPr lang="en-US" sz="900" dirty="0">
                <a:solidFill>
                  <a:srgbClr val="5C6B73"/>
                </a:solidFill>
                <a:latin typeface="BIZ UDゴシック" pitchFamily="34" charset="0"/>
                <a:ea typeface="BIZ UDゴシック" pitchFamily="34" charset="-122"/>
                <a:cs typeface="BIZ UDゴシック" pitchFamily="34" charset="-120"/>
              </a:rPr>
              <a:t>05</a:t>
            </a:r>
            <a:endParaRPr lang="en-US" sz="900" dirty="0"/>
          </a:p>
        </p:txBody>
      </p:sp>
      <p:sp>
        <p:nvSpPr>
          <p:cNvPr id="8" name="Text 6"/>
          <p:cNvSpPr/>
          <p:nvPr/>
        </p:nvSpPr>
        <p:spPr>
          <a:xfrm>
            <a:off x="1280160" y="1536192"/>
            <a:ext cx="10362895" cy="640080"/>
          </a:xfrm>
          <a:prstGeom prst="rect">
            <a:avLst/>
          </a:prstGeom>
          <a:noFill/>
          <a:ln/>
        </p:spPr>
        <p:txBody>
          <a:bodyPr wrap="square" lIns="0" tIns="0" rIns="0" bIns="0" rtlCol="0" anchor="t"/>
          <a:lstStyle/>
          <a:p>
            <a:pPr indent="0" marL="0">
              <a:lnSpc>
                <a:spcPct val="125000"/>
              </a:lnSpc>
              <a:buNone/>
            </a:pPr>
            <a:r>
              <a:rPr lang="en-US" sz="1500" dirty="0">
                <a:solidFill>
                  <a:srgbClr val="1A1A2E"/>
                </a:solidFill>
                <a:latin typeface="BIZ UDゴシック" pitchFamily="34" charset="0"/>
                <a:ea typeface="BIZ UDゴシック" pitchFamily="34" charset="-122"/>
                <a:cs typeface="BIZ UDゴシック" pitchFamily="34" charset="-120"/>
              </a:rPr>
              <a:t>AIに直接「原因を考えさせる」構成ではない。AIに渡す前に、監視データを EvidenceBundle として整理する。</a:t>
            </a:r>
            <a:endParaRPr lang="en-US" sz="1500" dirty="0"/>
          </a:p>
        </p:txBody>
      </p:sp>
      <p:sp>
        <p:nvSpPr>
          <p:cNvPr id="9" name="Shape 7"/>
          <p:cNvSpPr/>
          <p:nvPr/>
        </p:nvSpPr>
        <p:spPr>
          <a:xfrm>
            <a:off x="1280160" y="2240280"/>
            <a:ext cx="5699592" cy="2651760"/>
          </a:xfrm>
          <a:prstGeom prst="roundRect">
            <a:avLst>
              <a:gd name="adj" fmla="val 2759"/>
            </a:avLst>
          </a:prstGeom>
          <a:solidFill>
            <a:srgbClr val="EAF2F6"/>
          </a:solidFill>
          <a:ln/>
        </p:spPr>
      </p:sp>
      <p:sp>
        <p:nvSpPr>
          <p:cNvPr id="10" name="Text 8"/>
          <p:cNvSpPr/>
          <p:nvPr/>
        </p:nvSpPr>
        <p:spPr>
          <a:xfrm>
            <a:off x="1463040" y="2395728"/>
            <a:ext cx="5333832" cy="548640"/>
          </a:xfrm>
          <a:prstGeom prst="rect">
            <a:avLst/>
          </a:prstGeom>
          <a:noFill/>
          <a:ln/>
        </p:spPr>
        <p:txBody>
          <a:bodyPr wrap="square" lIns="0" tIns="0" rIns="0" bIns="0" rtlCol="0" anchor="t"/>
          <a:lstStyle/>
          <a:p>
            <a:pPr indent="0" marL="0">
              <a:lnSpc>
                <a:spcPct val="125000"/>
              </a:lnSpc>
              <a:buNone/>
            </a:pPr>
            <a:r>
              <a:rPr lang="en-US" sz="1400" b="1" dirty="0">
                <a:solidFill>
                  <a:srgbClr val="21295C"/>
                </a:solidFill>
                <a:latin typeface="BIZ UDゴシック" pitchFamily="34" charset="0"/>
                <a:ea typeface="BIZ UDゴシック" pitchFamily="34" charset="-122"/>
                <a:cs typeface="BIZ UDゴシック" pitchFamily="34" charset="-120"/>
              </a:rPr>
              <a:t>Evidence の例</a:t>
            </a:r>
            <a:endParaRPr lang="en-US" sz="1400" dirty="0"/>
          </a:p>
        </p:txBody>
      </p:sp>
      <p:sp>
        <p:nvSpPr>
          <p:cNvPr id="11" name="Text 9"/>
          <p:cNvSpPr/>
          <p:nvPr/>
        </p:nvSpPr>
        <p:spPr>
          <a:xfrm>
            <a:off x="1463040" y="2788920"/>
            <a:ext cx="5333832" cy="1920240"/>
          </a:xfrm>
          <a:prstGeom prst="rect">
            <a:avLst/>
          </a:prstGeom>
          <a:noFill/>
          <a:ln/>
        </p:spPr>
        <p:txBody>
          <a:bodyPr wrap="square" lIns="0" tIns="0" rIns="0" bIns="0" rtlCol="0" anchor="t"/>
          <a:lstStyle/>
          <a:p>
            <a:pPr marL="177800" indent="-177800">
              <a:lnSpc>
                <a:spcPct val="120000"/>
              </a:lnSpc>
              <a:spcAft>
                <a:spcPts val="1000"/>
              </a:spcAft>
              <a:buSzPct val="100000"/>
              <a:buChar char="●"/>
            </a:pPr>
            <a:r>
              <a:rPr lang="en-US" sz="1300" dirty="0">
                <a:solidFill>
                  <a:srgbClr val="1A1A2E"/>
                </a:solidFill>
                <a:latin typeface="BIZ UDゴシック" pitchFamily="34" charset="0"/>
                <a:ea typeface="BIZ UDゴシック" pitchFamily="34" charset="-122"/>
                <a:cs typeface="BIZ UDゴシック" pitchFamily="34" charset="-120"/>
              </a:rPr>
              <a:t>Splunkログ</a:t>
            </a:r>
            <a:endParaRPr lang="en-US" sz="1300" dirty="0"/>
          </a:p>
          <a:p>
            <a:pPr marL="177800" indent="-177800">
              <a:lnSpc>
                <a:spcPct val="120000"/>
              </a:lnSpc>
              <a:spcAft>
                <a:spcPts val="1000"/>
              </a:spcAft>
              <a:buSzPct val="100000"/>
              <a:buChar char="●"/>
            </a:pPr>
            <a:r>
              <a:rPr lang="en-US" sz="1300" dirty="0">
                <a:solidFill>
                  <a:srgbClr val="1A1A2E"/>
                </a:solidFill>
                <a:latin typeface="BIZ UDゴシック" pitchFamily="34" charset="0"/>
                <a:ea typeface="BIZ UDゴシック" pitchFamily="34" charset="-122"/>
                <a:cs typeface="BIZ UDゴシック" pitchFamily="34" charset="-120"/>
              </a:rPr>
              <a:t>New Relic transaction</a:t>
            </a:r>
            <a:endParaRPr lang="en-US" sz="1300" dirty="0"/>
          </a:p>
          <a:p>
            <a:pPr marL="177800" indent="-177800">
              <a:lnSpc>
                <a:spcPct val="120000"/>
              </a:lnSpc>
              <a:spcAft>
                <a:spcPts val="1000"/>
              </a:spcAft>
              <a:buSzPct val="100000"/>
              <a:buChar char="●"/>
            </a:pPr>
            <a:r>
              <a:rPr lang="en-US" sz="1300" dirty="0">
                <a:solidFill>
                  <a:srgbClr val="1A1A2E"/>
                </a:solidFill>
                <a:latin typeface="BIZ UDゴシック" pitchFamily="34" charset="0"/>
                <a:ea typeface="BIZ UDゴシック" pitchFamily="34" charset="-122"/>
                <a:cs typeface="BIZ UDゴシック" pitchFamily="34" charset="-120"/>
              </a:rPr>
              <a:t>エラー率 / レスポンスタイム</a:t>
            </a:r>
            <a:endParaRPr lang="en-US" sz="1300" dirty="0"/>
          </a:p>
          <a:p>
            <a:pPr marL="177800" indent="-177800">
              <a:lnSpc>
                <a:spcPct val="120000"/>
              </a:lnSpc>
              <a:spcAft>
                <a:spcPts val="1000"/>
              </a:spcAft>
              <a:buSzPct val="100000"/>
              <a:buChar char="●"/>
            </a:pPr>
            <a:r>
              <a:rPr lang="en-US" sz="1300" dirty="0">
                <a:solidFill>
                  <a:srgbClr val="1A1A2E"/>
                </a:solidFill>
                <a:latin typeface="BIZ UDゴシック" pitchFamily="34" charset="0"/>
                <a:ea typeface="BIZ UDゴシック" pitchFamily="34" charset="-122"/>
                <a:cs typeface="BIZ UDゴシック" pitchFamily="34" charset="-120"/>
              </a:rPr>
              <a:t>trace.id / request.id</a:t>
            </a:r>
            <a:endParaRPr lang="en-US" sz="1300" dirty="0"/>
          </a:p>
          <a:p>
            <a:pPr marL="177800" indent="-177800">
              <a:lnSpc>
                <a:spcPct val="120000"/>
              </a:lnSpc>
              <a:spcAft>
                <a:spcPts val="1000"/>
              </a:spcAft>
              <a:buSzPct val="100000"/>
              <a:buChar char="●"/>
            </a:pPr>
            <a:r>
              <a:rPr lang="en-US" sz="1300" dirty="0">
                <a:solidFill>
                  <a:srgbClr val="1A1A2E"/>
                </a:solidFill>
                <a:latin typeface="BIZ UDゴシック" pitchFamily="34" charset="0"/>
                <a:ea typeface="BIZ UDゴシック" pitchFamily="34" charset="-122"/>
                <a:cs typeface="BIZ UDゴシック" pitchFamily="34" charset="-120"/>
              </a:rPr>
              <a:t>サービス名 / 時刻 / 発生イベント</a:t>
            </a:r>
            <a:endParaRPr lang="en-US" sz="1300" dirty="0"/>
          </a:p>
        </p:txBody>
      </p:sp>
      <p:sp>
        <p:nvSpPr>
          <p:cNvPr id="12" name="Shape 10"/>
          <p:cNvSpPr/>
          <p:nvPr/>
        </p:nvSpPr>
        <p:spPr>
          <a:xfrm>
            <a:off x="7299792" y="2240280"/>
            <a:ext cx="4343263" cy="2651760"/>
          </a:xfrm>
          <a:prstGeom prst="roundRect">
            <a:avLst>
              <a:gd name="adj" fmla="val 2759"/>
            </a:avLst>
          </a:prstGeom>
          <a:solidFill>
            <a:srgbClr val="21295C"/>
          </a:solidFill>
          <a:ln/>
        </p:spPr>
      </p:sp>
      <p:sp>
        <p:nvSpPr>
          <p:cNvPr id="13" name="Text 11"/>
          <p:cNvSpPr/>
          <p:nvPr/>
        </p:nvSpPr>
        <p:spPr>
          <a:xfrm>
            <a:off x="7528392" y="2423160"/>
            <a:ext cx="3886063" cy="320040"/>
          </a:xfrm>
          <a:prstGeom prst="rect">
            <a:avLst/>
          </a:prstGeom>
          <a:noFill/>
          <a:ln/>
        </p:spPr>
        <p:txBody>
          <a:bodyPr wrap="square" lIns="0" tIns="0" rIns="0" bIns="0" rtlCol="0" anchor="ctr"/>
          <a:lstStyle/>
          <a:p>
            <a:pPr indent="0" marL="0">
              <a:buNone/>
            </a:pPr>
            <a:r>
              <a:rPr lang="en-US" sz="1400" b="1" dirty="0">
                <a:solidFill>
                  <a:srgbClr val="FFFFFF"/>
                </a:solidFill>
                <a:latin typeface="BIZ UDゴシック" pitchFamily="34" charset="0"/>
                <a:ea typeface="BIZ UDゴシック" pitchFamily="34" charset="-122"/>
                <a:cs typeface="BIZ UDゴシック" pitchFamily="34" charset="-120"/>
              </a:rPr>
              <a:t>意義</a:t>
            </a:r>
            <a:endParaRPr lang="en-US" sz="1400" dirty="0"/>
          </a:p>
        </p:txBody>
      </p:sp>
      <p:sp>
        <p:nvSpPr>
          <p:cNvPr id="14" name="Text 12"/>
          <p:cNvSpPr/>
          <p:nvPr/>
        </p:nvSpPr>
        <p:spPr>
          <a:xfrm>
            <a:off x="7528392" y="2788920"/>
            <a:ext cx="3886063" cy="914400"/>
          </a:xfrm>
          <a:prstGeom prst="rect">
            <a:avLst/>
          </a:prstGeom>
          <a:noFill/>
          <a:ln/>
        </p:spPr>
        <p:txBody>
          <a:bodyPr wrap="square" lIns="0" tIns="0" rIns="0" bIns="0" rtlCol="0" anchor="ctr"/>
          <a:lstStyle/>
          <a:p>
            <a:pPr indent="0" marL="0">
              <a:lnSpc>
                <a:spcPct val="130000"/>
              </a:lnSpc>
              <a:buNone/>
            </a:pPr>
            <a:r>
              <a:rPr lang="en-US" sz="1400" i="1" dirty="0">
                <a:solidFill>
                  <a:srgbClr val="EAF2F6"/>
                </a:solidFill>
                <a:latin typeface="BIZ UDゴシック" pitchFamily="34" charset="0"/>
                <a:ea typeface="BIZ UDゴシック" pitchFamily="34" charset="-122"/>
                <a:cs typeface="BIZ UDゴシック" pitchFamily="34" charset="-120"/>
              </a:rPr>
              <a:t>「どの観測データから、その判断を行ったのか」を追跡可能にする。</a:t>
            </a:r>
            <a:endParaRPr lang="en-US" sz="1400" dirty="0"/>
          </a:p>
        </p:txBody>
      </p:sp>
      <p:sp>
        <p:nvSpPr>
          <p:cNvPr id="15" name="Text 13"/>
          <p:cNvSpPr/>
          <p:nvPr/>
        </p:nvSpPr>
        <p:spPr>
          <a:xfrm>
            <a:off x="7528392" y="3749040"/>
            <a:ext cx="3886063" cy="914400"/>
          </a:xfrm>
          <a:prstGeom prst="rect">
            <a:avLst/>
          </a:prstGeom>
          <a:noFill/>
          <a:ln/>
        </p:spPr>
        <p:txBody>
          <a:bodyPr wrap="square" lIns="0" tIns="0" rIns="0" bIns="0" rtlCol="0" anchor="ctr"/>
          <a:lstStyle/>
          <a:p>
            <a:pPr indent="0" marL="0">
              <a:lnSpc>
                <a:spcPct val="130000"/>
              </a:lnSpc>
              <a:buNone/>
            </a:pPr>
            <a:r>
              <a:rPr lang="en-US" sz="1300" dirty="0">
                <a:solidFill>
                  <a:srgbClr val="EAF2F6"/>
                </a:solidFill>
                <a:latin typeface="BIZ UDゴシック" pitchFamily="34" charset="0"/>
                <a:ea typeface="BIZ UDゴシック" pitchFamily="34" charset="-122"/>
                <a:cs typeface="BIZ UDゴシック" pitchFamily="34" charset="-120"/>
              </a:rPr>
              <a:t>LLMが自由に推測する範囲を減らす。</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502920"/>
            <a:ext cx="566928" cy="566928"/>
          </a:xfrm>
          <a:prstGeom prst="ellipse">
            <a:avLst/>
          </a:prstGeom>
          <a:solidFill>
            <a:srgbClr val="21295C"/>
          </a:solidFill>
          <a:ln/>
        </p:spPr>
      </p:sp>
      <p:sp>
        <p:nvSpPr>
          <p:cNvPr id="3" name="Text 1"/>
          <p:cNvSpPr/>
          <p:nvPr/>
        </p:nvSpPr>
        <p:spPr>
          <a:xfrm>
            <a:off x="548640" y="502920"/>
            <a:ext cx="566928" cy="566928"/>
          </a:xfrm>
          <a:prstGeom prst="rect">
            <a:avLst/>
          </a:prstGeom>
          <a:noFill/>
          <a:ln/>
        </p:spPr>
        <p:txBody>
          <a:bodyPr wrap="square" lIns="0" tIns="0" rIns="0" bIns="0" rtlCol="0" anchor="ctr"/>
          <a:lstStyle/>
          <a:p>
            <a:pPr algn="ctr" indent="0" marL="0">
              <a:buNone/>
            </a:pPr>
            <a:r>
              <a:rPr lang="en-US" sz="1500" b="1" dirty="0">
                <a:solidFill>
                  <a:srgbClr val="FFFFFF"/>
                </a:solidFill>
                <a:latin typeface="BIZ UDゴシック" pitchFamily="34" charset="0"/>
                <a:ea typeface="BIZ UDゴシック" pitchFamily="34" charset="-122"/>
                <a:cs typeface="BIZ UDゴシック" pitchFamily="34" charset="-120"/>
              </a:rPr>
              <a:t>06</a:t>
            </a:r>
            <a:endParaRPr lang="en-US" sz="1500" dirty="0"/>
          </a:p>
        </p:txBody>
      </p:sp>
      <p:sp>
        <p:nvSpPr>
          <p:cNvPr id="4" name="Text 2"/>
          <p:cNvSpPr/>
          <p:nvPr/>
        </p:nvSpPr>
        <p:spPr>
          <a:xfrm>
            <a:off x="1280160" y="438912"/>
            <a:ext cx="10362895" cy="274320"/>
          </a:xfrm>
          <a:prstGeom prst="rect">
            <a:avLst/>
          </a:prstGeom>
          <a:noFill/>
          <a:ln/>
        </p:spPr>
        <p:txBody>
          <a:bodyPr wrap="square" lIns="0" tIns="0" rIns="0" bIns="0" rtlCol="0" anchor="ctr"/>
          <a:lstStyle/>
          <a:p>
            <a:pPr indent="0" marL="0">
              <a:buNone/>
            </a:pPr>
            <a:r>
              <a:rPr lang="en-US" sz="1100" b="1" spc="100" kern="0" dirty="0">
                <a:solidFill>
                  <a:srgbClr val="1C7293"/>
                </a:solidFill>
                <a:latin typeface="BIZ UDゴシック" pitchFamily="34" charset="0"/>
                <a:ea typeface="BIZ UDゴシック" pitchFamily="34" charset="-122"/>
                <a:cs typeface="BIZ UDゴシック" pitchFamily="34" charset="-120"/>
              </a:rPr>
              <a:t>SECTION 6</a:t>
            </a:r>
            <a:endParaRPr lang="en-US" sz="1100" dirty="0"/>
          </a:p>
        </p:txBody>
      </p:sp>
      <p:sp>
        <p:nvSpPr>
          <p:cNvPr id="5" name="Text 3"/>
          <p:cNvSpPr/>
          <p:nvPr/>
        </p:nvSpPr>
        <p:spPr>
          <a:xfrm>
            <a:off x="1280160" y="713232"/>
            <a:ext cx="10362895" cy="566928"/>
          </a:xfrm>
          <a:prstGeom prst="rect">
            <a:avLst/>
          </a:prstGeom>
          <a:noFill/>
          <a:ln/>
        </p:spPr>
        <p:txBody>
          <a:bodyPr wrap="square" lIns="0" tIns="0" rIns="0" bIns="0" rtlCol="0" anchor="t"/>
          <a:lstStyle/>
          <a:p>
            <a:pPr indent="0" marL="0">
              <a:buNone/>
            </a:pPr>
            <a:r>
              <a:rPr lang="en-US" sz="2500" b="1" dirty="0">
                <a:solidFill>
                  <a:srgbClr val="1A1A2E"/>
                </a:solidFill>
                <a:latin typeface="BIZ UDゴシック" pitchFamily="34" charset="0"/>
                <a:ea typeface="BIZ UDゴシック" pitchFamily="34" charset="-122"/>
                <a:cs typeface="BIZ UDゴシック" pitchFamily="34" charset="-120"/>
              </a:rPr>
              <a:t>Correlation と Causation を分離</a:t>
            </a:r>
            <a:endParaRPr lang="en-US" sz="2500" dirty="0"/>
          </a:p>
        </p:txBody>
      </p:sp>
      <p:sp>
        <p:nvSpPr>
          <p:cNvPr id="6" name="Text 4"/>
          <p:cNvSpPr/>
          <p:nvPr/>
        </p:nvSpPr>
        <p:spPr>
          <a:xfrm>
            <a:off x="548640" y="6446520"/>
            <a:ext cx="4572000" cy="274320"/>
          </a:xfrm>
          <a:prstGeom prst="rect">
            <a:avLst/>
          </a:prstGeom>
          <a:noFill/>
          <a:ln/>
        </p:spPr>
        <p:txBody>
          <a:bodyPr wrap="square" lIns="0" tIns="0" rIns="0" bIns="0" rtlCol="0" anchor="ctr"/>
          <a:lstStyle/>
          <a:p>
            <a:pPr indent="0" marL="0">
              <a:buNone/>
            </a:pPr>
            <a:r>
              <a:rPr lang="en-US" sz="900" dirty="0">
                <a:solidFill>
                  <a:srgbClr val="5C6B73"/>
                </a:solidFill>
                <a:latin typeface="BIZ UDゴシック" pitchFamily="34" charset="0"/>
                <a:ea typeface="BIZ UDゴシック" pitchFamily="34" charset="-122"/>
                <a:cs typeface="BIZ UDゴシック" pitchFamily="34" charset="-120"/>
              </a:rPr>
              <a:t>Observability AI PoC</a:t>
            </a:r>
            <a:endParaRPr lang="en-US" sz="900" dirty="0"/>
          </a:p>
        </p:txBody>
      </p:sp>
      <p:sp>
        <p:nvSpPr>
          <p:cNvPr id="7" name="Text 5"/>
          <p:cNvSpPr/>
          <p:nvPr/>
        </p:nvSpPr>
        <p:spPr>
          <a:xfrm>
            <a:off x="9814255" y="6446520"/>
            <a:ext cx="1828800" cy="274320"/>
          </a:xfrm>
          <a:prstGeom prst="rect">
            <a:avLst/>
          </a:prstGeom>
          <a:noFill/>
          <a:ln/>
        </p:spPr>
        <p:txBody>
          <a:bodyPr wrap="square" lIns="0" tIns="0" rIns="0" bIns="0" rtlCol="0" anchor="ctr"/>
          <a:lstStyle/>
          <a:p>
            <a:pPr algn="r" indent="0" marL="0">
              <a:buNone/>
            </a:pPr>
            <a:r>
              <a:rPr lang="en-US" sz="900" dirty="0">
                <a:solidFill>
                  <a:srgbClr val="5C6B73"/>
                </a:solidFill>
                <a:latin typeface="BIZ UDゴシック" pitchFamily="34" charset="0"/>
                <a:ea typeface="BIZ UDゴシック" pitchFamily="34" charset="-122"/>
                <a:cs typeface="BIZ UDゴシック" pitchFamily="34" charset="-120"/>
              </a:rPr>
              <a:t>06</a:t>
            </a:r>
            <a:endParaRPr lang="en-US" sz="900" dirty="0"/>
          </a:p>
        </p:txBody>
      </p:sp>
      <p:sp>
        <p:nvSpPr>
          <p:cNvPr id="8" name="Text 6"/>
          <p:cNvSpPr/>
          <p:nvPr/>
        </p:nvSpPr>
        <p:spPr>
          <a:xfrm>
            <a:off x="1280160" y="1536192"/>
            <a:ext cx="10362895" cy="457200"/>
          </a:xfrm>
          <a:prstGeom prst="rect">
            <a:avLst/>
          </a:prstGeom>
          <a:noFill/>
          <a:ln/>
        </p:spPr>
        <p:txBody>
          <a:bodyPr wrap="square" lIns="0" tIns="0" rIns="0" bIns="0" rtlCol="0" anchor="t"/>
          <a:lstStyle/>
          <a:p>
            <a:pPr indent="0" marL="0">
              <a:lnSpc>
                <a:spcPct val="125000"/>
              </a:lnSpc>
              <a:buNone/>
            </a:pPr>
            <a:r>
              <a:rPr lang="en-US" sz="1500" b="1" dirty="0">
                <a:solidFill>
                  <a:srgbClr val="21295C"/>
                </a:solidFill>
                <a:latin typeface="BIZ UDゴシック" pitchFamily="34" charset="0"/>
                <a:ea typeface="BIZ UDゴシック" pitchFamily="34" charset="-122"/>
                <a:cs typeface="BIZ UDゴシック" pitchFamily="34" charset="-120"/>
              </a:rPr>
              <a:t>重要な設計方針：「同じ時刻に起きた」ことと「原因である」ことを区別する。</a:t>
            </a:r>
            <a:endParaRPr lang="en-US" sz="1500" dirty="0"/>
          </a:p>
        </p:txBody>
      </p:sp>
      <p:sp>
        <p:nvSpPr>
          <p:cNvPr id="9" name="Shape 7"/>
          <p:cNvSpPr/>
          <p:nvPr/>
        </p:nvSpPr>
        <p:spPr>
          <a:xfrm>
            <a:off x="1280160" y="2103120"/>
            <a:ext cx="10362895" cy="1371600"/>
          </a:xfrm>
          <a:prstGeom prst="roundRect">
            <a:avLst>
              <a:gd name="adj" fmla="val 5333"/>
            </a:avLst>
          </a:prstGeom>
          <a:solidFill>
            <a:srgbClr val="EAF2F6"/>
          </a:solidFill>
          <a:ln/>
        </p:spPr>
      </p:sp>
      <p:sp>
        <p:nvSpPr>
          <p:cNvPr id="10" name="Text 8"/>
          <p:cNvSpPr/>
          <p:nvPr/>
        </p:nvSpPr>
        <p:spPr>
          <a:xfrm>
            <a:off x="1463040" y="2286000"/>
            <a:ext cx="9997135" cy="457200"/>
          </a:xfrm>
          <a:prstGeom prst="rect">
            <a:avLst/>
          </a:prstGeom>
          <a:noFill/>
          <a:ln/>
        </p:spPr>
        <p:txBody>
          <a:bodyPr wrap="square" lIns="0" tIns="0" rIns="0" bIns="0" rtlCol="0" anchor="t"/>
          <a:lstStyle/>
          <a:p>
            <a:pPr indent="0" marL="0">
              <a:lnSpc>
                <a:spcPct val="125000"/>
              </a:lnSpc>
              <a:buNone/>
            </a:pPr>
            <a:r>
              <a:rPr lang="en-US" sz="1350" dirty="0">
                <a:solidFill>
                  <a:srgbClr val="1A1A2E"/>
                </a:solidFill>
                <a:latin typeface="BIZ UDゴシック" pitchFamily="34" charset="0"/>
                <a:ea typeface="BIZ UDゴシック" pitchFamily="34" charset="-122"/>
                <a:cs typeface="BIZ UDゴシック" pitchFamily="34" charset="-120"/>
              </a:rPr>
              <a:t>例：Payment Serviceで500エラーが増加。同時刻にInventory Serviceのレイテンシも増加。</a:t>
            </a:r>
            <a:endParaRPr lang="en-US" sz="1350" dirty="0"/>
          </a:p>
        </p:txBody>
      </p:sp>
      <p:sp>
        <p:nvSpPr>
          <p:cNvPr id="11" name="Shape 9"/>
          <p:cNvSpPr/>
          <p:nvPr/>
        </p:nvSpPr>
        <p:spPr>
          <a:xfrm>
            <a:off x="1463040" y="2788920"/>
            <a:ext cx="4907128" cy="548640"/>
          </a:xfrm>
          <a:prstGeom prst="roundRect">
            <a:avLst>
              <a:gd name="adj" fmla="val 10000"/>
            </a:avLst>
          </a:prstGeom>
          <a:solidFill>
            <a:srgbClr val="1C7293"/>
          </a:solidFill>
          <a:ln/>
        </p:spPr>
      </p:sp>
      <p:sp>
        <p:nvSpPr>
          <p:cNvPr id="12" name="Text 10"/>
          <p:cNvSpPr/>
          <p:nvPr/>
        </p:nvSpPr>
        <p:spPr>
          <a:xfrm>
            <a:off x="1463040" y="2788920"/>
            <a:ext cx="4907128" cy="548640"/>
          </a:xfrm>
          <a:prstGeom prst="rect">
            <a:avLst/>
          </a:prstGeom>
          <a:noFill/>
          <a:ln/>
        </p:spPr>
        <p:txBody>
          <a:bodyPr wrap="square" lIns="50800" tIns="50800" rIns="50800" bIns="50800" rtlCol="0" anchor="ctr"/>
          <a:lstStyle/>
          <a:p>
            <a:pPr algn="ctr" indent="0" marL="0">
              <a:buNone/>
            </a:pPr>
            <a:r>
              <a:rPr lang="en-US" sz="1250" b="1" dirty="0">
                <a:solidFill>
                  <a:srgbClr val="FFFFFF"/>
                </a:solidFill>
                <a:latin typeface="BIZ UDゴシック" pitchFamily="34" charset="0"/>
                <a:ea typeface="BIZ UDゴシック" pitchFamily="34" charset="-122"/>
                <a:cs typeface="BIZ UDゴシック" pitchFamily="34" charset="-120"/>
              </a:rPr>
              <a:t>Correlation：同時に発生している</a:t>
            </a:r>
            <a:endParaRPr lang="en-US" sz="1250" dirty="0"/>
          </a:p>
        </p:txBody>
      </p:sp>
      <p:sp>
        <p:nvSpPr>
          <p:cNvPr id="13" name="Shape 11"/>
          <p:cNvSpPr/>
          <p:nvPr/>
        </p:nvSpPr>
        <p:spPr>
          <a:xfrm>
            <a:off x="6553048" y="2788920"/>
            <a:ext cx="4907128" cy="548640"/>
          </a:xfrm>
          <a:prstGeom prst="roundRect">
            <a:avLst>
              <a:gd name="adj" fmla="val 10000"/>
            </a:avLst>
          </a:prstGeom>
          <a:solidFill>
            <a:srgbClr val="B85042"/>
          </a:solidFill>
          <a:ln/>
        </p:spPr>
      </p:sp>
      <p:sp>
        <p:nvSpPr>
          <p:cNvPr id="14" name="Text 12"/>
          <p:cNvSpPr/>
          <p:nvPr/>
        </p:nvSpPr>
        <p:spPr>
          <a:xfrm>
            <a:off x="6553048" y="2788920"/>
            <a:ext cx="4907128" cy="548640"/>
          </a:xfrm>
          <a:prstGeom prst="rect">
            <a:avLst/>
          </a:prstGeom>
          <a:noFill/>
          <a:ln/>
        </p:spPr>
        <p:txBody>
          <a:bodyPr wrap="square" lIns="50800" tIns="50800" rIns="50800" bIns="50800" rtlCol="0" anchor="ctr"/>
          <a:lstStyle/>
          <a:p>
            <a:pPr algn="ctr" indent="0" marL="0">
              <a:buNone/>
            </a:pPr>
            <a:r>
              <a:rPr lang="en-US" sz="1250" b="1" dirty="0">
                <a:solidFill>
                  <a:srgbClr val="FFFFFF"/>
                </a:solidFill>
                <a:latin typeface="BIZ UDゴシック" pitchFamily="34" charset="0"/>
                <a:ea typeface="BIZ UDゴシック" pitchFamily="34" charset="-122"/>
                <a:cs typeface="BIZ UDゴシック" pitchFamily="34" charset="-120"/>
              </a:rPr>
              <a:t>Causation：Inventoryが原因　とは限らない</a:t>
            </a:r>
            <a:endParaRPr lang="en-US" sz="1250" dirty="0"/>
          </a:p>
        </p:txBody>
      </p:sp>
      <p:sp>
        <p:nvSpPr>
          <p:cNvPr id="15" name="Text 13"/>
          <p:cNvSpPr/>
          <p:nvPr/>
        </p:nvSpPr>
        <p:spPr>
          <a:xfrm>
            <a:off x="1280160" y="3794760"/>
            <a:ext cx="10362895" cy="548640"/>
          </a:xfrm>
          <a:prstGeom prst="rect">
            <a:avLst/>
          </a:prstGeom>
          <a:noFill/>
          <a:ln/>
        </p:spPr>
        <p:txBody>
          <a:bodyPr wrap="square" lIns="0" tIns="0" rIns="0" bIns="0" rtlCol="0" anchor="t"/>
          <a:lstStyle/>
          <a:p>
            <a:pPr indent="0" marL="0">
              <a:lnSpc>
                <a:spcPct val="125000"/>
              </a:lnSpc>
              <a:buNone/>
            </a:pPr>
            <a:r>
              <a:rPr lang="en-US" sz="1500" b="1" dirty="0">
                <a:solidFill>
                  <a:srgbClr val="21295C"/>
                </a:solidFill>
                <a:latin typeface="BIZ UDゴシック" pitchFamily="34" charset="0"/>
                <a:ea typeface="BIZ UDゴシック" pitchFamily="34" charset="-122"/>
                <a:cs typeface="BIZ UDゴシック" pitchFamily="34" charset="-120"/>
              </a:rPr>
              <a:t>UI上でも明確に分離</a:t>
            </a:r>
            <a:endParaRPr lang="en-US" sz="1500" dirty="0"/>
          </a:p>
        </p:txBody>
      </p:sp>
      <p:sp>
        <p:nvSpPr>
          <p:cNvPr id="16" name="Text 14"/>
          <p:cNvSpPr/>
          <p:nvPr/>
        </p:nvSpPr>
        <p:spPr>
          <a:xfrm>
            <a:off x="1280160" y="4160520"/>
            <a:ext cx="10362895" cy="365760"/>
          </a:xfrm>
          <a:prstGeom prst="rect">
            <a:avLst/>
          </a:prstGeom>
          <a:noFill/>
          <a:ln/>
        </p:spPr>
        <p:txBody>
          <a:bodyPr wrap="square" lIns="0" tIns="0" rIns="0" bIns="0" rtlCol="0" anchor="t"/>
          <a:lstStyle/>
          <a:p>
            <a:pPr indent="0" marL="0">
              <a:lnSpc>
                <a:spcPct val="125000"/>
              </a:lnSpc>
              <a:buNone/>
            </a:pPr>
            <a:r>
              <a:rPr lang="en-US" sz="1300" dirty="0">
                <a:solidFill>
                  <a:srgbClr val="1A1A2E"/>
                </a:solidFill>
                <a:latin typeface="BIZ UDゴシック" pitchFamily="34" charset="0"/>
                <a:ea typeface="BIZ UDゴシック" pitchFamily="34" charset="-122"/>
                <a:cs typeface="BIZ UDゴシック" pitchFamily="34" charset="-120"/>
              </a:rPr>
              <a:t>AIの出力では、次の4区分を分けて表示する：</a:t>
            </a:r>
            <a:endParaRPr lang="en-US" sz="1300" dirty="0"/>
          </a:p>
        </p:txBody>
      </p:sp>
      <p:sp>
        <p:nvSpPr>
          <p:cNvPr id="17" name="Text 15"/>
          <p:cNvSpPr/>
          <p:nvPr/>
        </p:nvSpPr>
        <p:spPr>
          <a:xfrm>
            <a:off x="1280160" y="4572000"/>
            <a:ext cx="10362895" cy="1371600"/>
          </a:xfrm>
          <a:prstGeom prst="rect">
            <a:avLst/>
          </a:prstGeom>
          <a:noFill/>
          <a:ln/>
        </p:spPr>
        <p:txBody>
          <a:bodyPr wrap="square" lIns="0" tIns="0" rIns="0" bIns="0" rtlCol="0" anchor="t"/>
          <a:lstStyle/>
          <a:p>
            <a:pPr marL="177800" indent="-177800">
              <a:lnSpc>
                <a:spcPct val="120000"/>
              </a:lnSpc>
              <a:spcAft>
                <a:spcPts val="600"/>
              </a:spcAft>
              <a:buSzPct val="100000"/>
              <a:buChar char="●"/>
            </a:pPr>
            <a:r>
              <a:rPr lang="en-US" sz="1300" dirty="0">
                <a:solidFill>
                  <a:srgbClr val="1A1A2E"/>
                </a:solidFill>
                <a:latin typeface="BIZ UDゴシック" pitchFamily="34" charset="0"/>
                <a:ea typeface="BIZ UDゴシック" pitchFamily="34" charset="-122"/>
                <a:cs typeface="BIZ UDゴシック" pitchFamily="34" charset="-120"/>
              </a:rPr>
              <a:t>確認できた事実（Observed Fact）</a:t>
            </a:r>
            <a:endParaRPr lang="en-US" sz="1300" dirty="0"/>
          </a:p>
          <a:p>
            <a:pPr marL="177800" indent="-177800">
              <a:lnSpc>
                <a:spcPct val="120000"/>
              </a:lnSpc>
              <a:spcAft>
                <a:spcPts val="600"/>
              </a:spcAft>
              <a:buSzPct val="100000"/>
              <a:buChar char="●"/>
            </a:pPr>
            <a:r>
              <a:rPr lang="en-US" sz="1300" dirty="0">
                <a:solidFill>
                  <a:srgbClr val="1A1A2E"/>
                </a:solidFill>
                <a:latin typeface="BIZ UDゴシック" pitchFamily="34" charset="0"/>
                <a:ea typeface="BIZ UDゴシック" pitchFamily="34" charset="-122"/>
                <a:cs typeface="BIZ UDゴシック" pitchFamily="34" charset="-120"/>
              </a:rPr>
              <a:t>相関している情報（Correlation）</a:t>
            </a:r>
            <a:endParaRPr lang="en-US" sz="1300" dirty="0"/>
          </a:p>
          <a:p>
            <a:pPr marL="177800" indent="-177800">
              <a:lnSpc>
                <a:spcPct val="120000"/>
              </a:lnSpc>
              <a:spcAft>
                <a:spcPts val="600"/>
              </a:spcAft>
              <a:buSzPct val="100000"/>
              <a:buChar char="●"/>
            </a:pPr>
            <a:r>
              <a:rPr lang="en-US" sz="1300" dirty="0">
                <a:solidFill>
                  <a:srgbClr val="1A1A2E"/>
                </a:solidFill>
                <a:latin typeface="BIZ UDゴシック" pitchFamily="34" charset="0"/>
                <a:ea typeface="BIZ UDゴシック" pitchFamily="34" charset="-122"/>
                <a:cs typeface="BIZ UDゴシック" pitchFamily="34" charset="-120"/>
              </a:rPr>
              <a:t>推定（Hypothesis）</a:t>
            </a:r>
            <a:endParaRPr lang="en-US" sz="1300" dirty="0"/>
          </a:p>
          <a:p>
            <a:pPr marL="177800" indent="-177800">
              <a:lnSpc>
                <a:spcPct val="120000"/>
              </a:lnSpc>
              <a:spcAft>
                <a:spcPts val="600"/>
              </a:spcAft>
              <a:buSzPct val="100000"/>
              <a:buChar char="●"/>
            </a:pPr>
            <a:r>
              <a:rPr lang="en-US" sz="1300" dirty="0">
                <a:solidFill>
                  <a:srgbClr val="1A1A2E"/>
                </a:solidFill>
                <a:latin typeface="BIZ UDゴシック" pitchFamily="34" charset="0"/>
                <a:ea typeface="BIZ UDゴシック" pitchFamily="34" charset="-122"/>
                <a:cs typeface="BIZ UDゴシック" pitchFamily="34" charset="-120"/>
              </a:rPr>
              <a:t>Evidence不足（Evidence Gap）</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502920"/>
            <a:ext cx="566928" cy="566928"/>
          </a:xfrm>
          <a:prstGeom prst="ellipse">
            <a:avLst/>
          </a:prstGeom>
          <a:solidFill>
            <a:srgbClr val="21295C"/>
          </a:solidFill>
          <a:ln/>
        </p:spPr>
      </p:sp>
      <p:sp>
        <p:nvSpPr>
          <p:cNvPr id="3" name="Text 1"/>
          <p:cNvSpPr/>
          <p:nvPr/>
        </p:nvSpPr>
        <p:spPr>
          <a:xfrm>
            <a:off x="548640" y="502920"/>
            <a:ext cx="566928" cy="566928"/>
          </a:xfrm>
          <a:prstGeom prst="rect">
            <a:avLst/>
          </a:prstGeom>
          <a:noFill/>
          <a:ln/>
        </p:spPr>
        <p:txBody>
          <a:bodyPr wrap="square" lIns="0" tIns="0" rIns="0" bIns="0" rtlCol="0" anchor="ctr"/>
          <a:lstStyle/>
          <a:p>
            <a:pPr algn="ctr" indent="0" marL="0">
              <a:buNone/>
            </a:pPr>
            <a:r>
              <a:rPr lang="en-US" sz="1500" b="1" dirty="0">
                <a:solidFill>
                  <a:srgbClr val="FFFFFF"/>
                </a:solidFill>
                <a:latin typeface="BIZ UDゴシック" pitchFamily="34" charset="0"/>
                <a:ea typeface="BIZ UDゴシック" pitchFamily="34" charset="-122"/>
                <a:cs typeface="BIZ UDゴシック" pitchFamily="34" charset="-120"/>
              </a:rPr>
              <a:t>07</a:t>
            </a:r>
            <a:endParaRPr lang="en-US" sz="1500" dirty="0"/>
          </a:p>
        </p:txBody>
      </p:sp>
      <p:sp>
        <p:nvSpPr>
          <p:cNvPr id="4" name="Text 2"/>
          <p:cNvSpPr/>
          <p:nvPr/>
        </p:nvSpPr>
        <p:spPr>
          <a:xfrm>
            <a:off x="1280160" y="438912"/>
            <a:ext cx="10362895" cy="274320"/>
          </a:xfrm>
          <a:prstGeom prst="rect">
            <a:avLst/>
          </a:prstGeom>
          <a:noFill/>
          <a:ln/>
        </p:spPr>
        <p:txBody>
          <a:bodyPr wrap="square" lIns="0" tIns="0" rIns="0" bIns="0" rtlCol="0" anchor="ctr"/>
          <a:lstStyle/>
          <a:p>
            <a:pPr indent="0" marL="0">
              <a:buNone/>
            </a:pPr>
            <a:r>
              <a:rPr lang="en-US" sz="1100" b="1" spc="100" kern="0" dirty="0">
                <a:solidFill>
                  <a:srgbClr val="1C7293"/>
                </a:solidFill>
                <a:latin typeface="BIZ UDゴシック" pitchFamily="34" charset="0"/>
                <a:ea typeface="BIZ UDゴシック" pitchFamily="34" charset="-122"/>
                <a:cs typeface="BIZ UDゴシック" pitchFamily="34" charset="-120"/>
              </a:rPr>
              <a:t>SECTION 7</a:t>
            </a:r>
            <a:endParaRPr lang="en-US" sz="1100" dirty="0"/>
          </a:p>
        </p:txBody>
      </p:sp>
      <p:sp>
        <p:nvSpPr>
          <p:cNvPr id="5" name="Text 3"/>
          <p:cNvSpPr/>
          <p:nvPr/>
        </p:nvSpPr>
        <p:spPr>
          <a:xfrm>
            <a:off x="1280160" y="713232"/>
            <a:ext cx="10362895" cy="566928"/>
          </a:xfrm>
          <a:prstGeom prst="rect">
            <a:avLst/>
          </a:prstGeom>
          <a:noFill/>
          <a:ln/>
        </p:spPr>
        <p:txBody>
          <a:bodyPr wrap="square" lIns="0" tIns="0" rIns="0" bIns="0" rtlCol="0" anchor="t"/>
          <a:lstStyle/>
          <a:p>
            <a:pPr indent="0" marL="0">
              <a:buNone/>
            </a:pPr>
            <a:r>
              <a:rPr lang="en-US" sz="2500" b="1" dirty="0">
                <a:solidFill>
                  <a:srgbClr val="1A1A2E"/>
                </a:solidFill>
                <a:latin typeface="BIZ UDゴシック" pitchFamily="34" charset="0"/>
                <a:ea typeface="BIZ UDゴシック" pitchFamily="34" charset="-122"/>
                <a:cs typeface="BIZ UDゴシック" pitchFamily="34" charset="-120"/>
              </a:rPr>
              <a:t>作成した主要コンテナ</a:t>
            </a:r>
            <a:endParaRPr lang="en-US" sz="2500" dirty="0"/>
          </a:p>
        </p:txBody>
      </p:sp>
      <p:sp>
        <p:nvSpPr>
          <p:cNvPr id="6" name="Text 4"/>
          <p:cNvSpPr/>
          <p:nvPr/>
        </p:nvSpPr>
        <p:spPr>
          <a:xfrm>
            <a:off x="548640" y="6446520"/>
            <a:ext cx="4572000" cy="274320"/>
          </a:xfrm>
          <a:prstGeom prst="rect">
            <a:avLst/>
          </a:prstGeom>
          <a:noFill/>
          <a:ln/>
        </p:spPr>
        <p:txBody>
          <a:bodyPr wrap="square" lIns="0" tIns="0" rIns="0" bIns="0" rtlCol="0" anchor="ctr"/>
          <a:lstStyle/>
          <a:p>
            <a:pPr indent="0" marL="0">
              <a:buNone/>
            </a:pPr>
            <a:r>
              <a:rPr lang="en-US" sz="900" dirty="0">
                <a:solidFill>
                  <a:srgbClr val="5C6B73"/>
                </a:solidFill>
                <a:latin typeface="BIZ UDゴシック" pitchFamily="34" charset="0"/>
                <a:ea typeface="BIZ UDゴシック" pitchFamily="34" charset="-122"/>
                <a:cs typeface="BIZ UDゴシック" pitchFamily="34" charset="-120"/>
              </a:rPr>
              <a:t>Observability AI PoC</a:t>
            </a:r>
            <a:endParaRPr lang="en-US" sz="900" dirty="0"/>
          </a:p>
        </p:txBody>
      </p:sp>
      <p:sp>
        <p:nvSpPr>
          <p:cNvPr id="7" name="Text 5"/>
          <p:cNvSpPr/>
          <p:nvPr/>
        </p:nvSpPr>
        <p:spPr>
          <a:xfrm>
            <a:off x="9814255" y="6446520"/>
            <a:ext cx="1828800" cy="274320"/>
          </a:xfrm>
          <a:prstGeom prst="rect">
            <a:avLst/>
          </a:prstGeom>
          <a:noFill/>
          <a:ln/>
        </p:spPr>
        <p:txBody>
          <a:bodyPr wrap="square" lIns="0" tIns="0" rIns="0" bIns="0" rtlCol="0" anchor="ctr"/>
          <a:lstStyle/>
          <a:p>
            <a:pPr algn="r" indent="0" marL="0">
              <a:buNone/>
            </a:pPr>
            <a:r>
              <a:rPr lang="en-US" sz="900" dirty="0">
                <a:solidFill>
                  <a:srgbClr val="5C6B73"/>
                </a:solidFill>
                <a:latin typeface="BIZ UDゴシック" pitchFamily="34" charset="0"/>
                <a:ea typeface="BIZ UDゴシック" pitchFamily="34" charset="-122"/>
                <a:cs typeface="BIZ UDゴシック" pitchFamily="34" charset="-120"/>
              </a:rPr>
              <a:t>07</a:t>
            </a:r>
            <a:endParaRPr lang="en-US" sz="9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1280160" y="1481328"/>
          <a:ext cx="10362895" cy="914400"/>
        </p:xfrm>
        <a:graphic>
          <a:graphicData uri="http://schemas.openxmlformats.org/drawingml/2006/table">
            <a:tbl>
              <a:tblPr/>
              <a:tblGrid>
                <a:gridCol w="2743200"/>
                <a:gridCol w="2834640"/>
                <a:gridCol w="4785055"/>
              </a:tblGrid>
              <a:tr h="379476">
                <a:tc>
                  <a:txBody>
                    <a:bodyPr/>
                    <a:lstStyle/>
                    <a:p>
                      <a:pPr indent="0" marL="0">
                        <a:buNone/>
                      </a:pPr>
                      <a:r>
                        <a:rPr lang="en-US" sz="1050" b="1" dirty="0">
                          <a:solidFill>
                            <a:srgbClr val="FFFFFF"/>
                          </a:solidFill>
                          <a:latin typeface="BIZ UDゴシック" pitchFamily="34" charset="0"/>
                          <a:ea typeface="BIZ UDゴシック" pitchFamily="34" charset="-122"/>
                          <a:cs typeface="BIZ UDゴシック" pitchFamily="34" charset="-120"/>
                        </a:rPr>
                        <a:t>コンテナ</a:t>
                      </a:r>
                      <a:endParaRPr lang="en-US" sz="1050" dirty="0">
                        <a:latin typeface="BIZ UDゴシック" charset="0"/>
                        <a:ea typeface="BIZ UDゴシック" charset="0"/>
                        <a:cs typeface="BIZ UDゴシック" charset="0"/>
                      </a:endParaRPr>
                    </a:p>
                  </a:txBody>
                  <a:tcPr marL="91440" marR="91440" marT="45720" marB="45720" anchor="ctr">
                    <a:lnL w="9525" cap="flat" cmpd="sng" algn="ctr">
                      <a:solidFill>
                        <a:srgbClr val="D6E3E8"/>
                      </a:solidFill>
                      <a:prstDash val="solid"/>
                      <a:round/>
                      <a:headEnd type="none" w="med" len="med"/>
                      <a:tailEnd type="none" w="med" len="med"/>
                    </a:lnL>
                    <a:lnR w="9525" cap="flat" cmpd="sng" algn="ctr">
                      <a:solidFill>
                        <a:srgbClr val="D6E3E8"/>
                      </a:solidFill>
                      <a:prstDash val="solid"/>
                      <a:round/>
                      <a:headEnd type="none" w="med" len="med"/>
                      <a:tailEnd type="none" w="med" len="med"/>
                    </a:lnR>
                    <a:lnT w="9525" cap="flat" cmpd="sng" algn="ctr">
                      <a:solidFill>
                        <a:srgbClr val="D6E3E8"/>
                      </a:solidFill>
                      <a:prstDash val="solid"/>
                      <a:round/>
                      <a:headEnd type="none" w="med" len="med"/>
                      <a:tailEnd type="none" w="med" len="med"/>
                    </a:lnT>
                    <a:lnB w="9525" cap="flat" cmpd="sng" algn="ctr">
                      <a:solidFill>
                        <a:srgbClr val="D6E3E8"/>
                      </a:solidFill>
                      <a:prstDash val="solid"/>
                      <a:round/>
                      <a:headEnd type="none" w="med" len="med"/>
                      <a:tailEnd type="none" w="med" len="med"/>
                    </a:lnB>
                    <a:solidFill>
                      <a:srgbClr val="21295C"/>
                    </a:solidFill>
                  </a:tcPr>
                </a:tc>
                <a:tc>
                  <a:txBody>
                    <a:bodyPr/>
                    <a:lstStyle/>
                    <a:p>
                      <a:pPr indent="0" marL="0">
                        <a:buNone/>
                      </a:pPr>
                      <a:r>
                        <a:rPr lang="en-US" sz="1050" b="1" dirty="0">
                          <a:solidFill>
                            <a:srgbClr val="FFFFFF"/>
                          </a:solidFill>
                          <a:latin typeface="BIZ UDゴシック" pitchFamily="34" charset="0"/>
                          <a:ea typeface="BIZ UDゴシック" pitchFamily="34" charset="-122"/>
                          <a:cs typeface="BIZ UDゴシック" pitchFamily="34" charset="-120"/>
                        </a:rPr>
                        <a:t>役割</a:t>
                      </a:r>
                      <a:endParaRPr lang="en-US" sz="1050" dirty="0">
                        <a:latin typeface="BIZ UDゴシック" charset="0"/>
                        <a:ea typeface="BIZ UDゴシック" charset="0"/>
                        <a:cs typeface="BIZ UDゴシック" charset="0"/>
                      </a:endParaRPr>
                    </a:p>
                  </a:txBody>
                  <a:tcPr marL="91440" marR="91440" marT="45720" marB="45720" anchor="ctr">
                    <a:lnL w="9525" cap="flat" cmpd="sng" algn="ctr">
                      <a:solidFill>
                        <a:srgbClr val="D6E3E8"/>
                      </a:solidFill>
                      <a:prstDash val="solid"/>
                      <a:round/>
                      <a:headEnd type="none" w="med" len="med"/>
                      <a:tailEnd type="none" w="med" len="med"/>
                    </a:lnL>
                    <a:lnR w="9525" cap="flat" cmpd="sng" algn="ctr">
                      <a:solidFill>
                        <a:srgbClr val="D6E3E8"/>
                      </a:solidFill>
                      <a:prstDash val="solid"/>
                      <a:round/>
                      <a:headEnd type="none" w="med" len="med"/>
                      <a:tailEnd type="none" w="med" len="med"/>
                    </a:lnR>
                    <a:lnT w="9525" cap="flat" cmpd="sng" algn="ctr">
                      <a:solidFill>
                        <a:srgbClr val="D6E3E8"/>
                      </a:solidFill>
                      <a:prstDash val="solid"/>
                      <a:round/>
                      <a:headEnd type="none" w="med" len="med"/>
                      <a:tailEnd type="none" w="med" len="med"/>
                    </a:lnT>
                    <a:lnB w="9525" cap="flat" cmpd="sng" algn="ctr">
                      <a:solidFill>
                        <a:srgbClr val="D6E3E8"/>
                      </a:solidFill>
                      <a:prstDash val="solid"/>
                      <a:round/>
                      <a:headEnd type="none" w="med" len="med"/>
                      <a:tailEnd type="none" w="med" len="med"/>
                    </a:lnB>
                    <a:solidFill>
                      <a:srgbClr val="21295C"/>
                    </a:solidFill>
                  </a:tcPr>
                </a:tc>
                <a:tc>
                  <a:txBody>
                    <a:bodyPr/>
                    <a:lstStyle/>
                    <a:p>
                      <a:pPr indent="0" marL="0">
                        <a:buNone/>
                      </a:pPr>
                      <a:r>
                        <a:rPr lang="en-US" sz="1050" b="1" dirty="0">
                          <a:solidFill>
                            <a:srgbClr val="FFFFFF"/>
                          </a:solidFill>
                          <a:latin typeface="BIZ UDゴシック" pitchFamily="34" charset="0"/>
                          <a:ea typeface="BIZ UDゴシック" pitchFamily="34" charset="-122"/>
                          <a:cs typeface="BIZ UDゴシック" pitchFamily="34" charset="-120"/>
                        </a:rPr>
                        <a:t>このPoCでの意義</a:t>
                      </a:r>
                      <a:endParaRPr lang="en-US" sz="1050" dirty="0">
                        <a:latin typeface="BIZ UDゴシック" charset="0"/>
                        <a:ea typeface="BIZ UDゴシック" charset="0"/>
                        <a:cs typeface="BIZ UDゴシック" charset="0"/>
                      </a:endParaRPr>
                    </a:p>
                  </a:txBody>
                  <a:tcPr marL="91440" marR="91440" marT="45720" marB="45720" anchor="ctr">
                    <a:lnL w="9525" cap="flat" cmpd="sng" algn="ctr">
                      <a:solidFill>
                        <a:srgbClr val="D6E3E8"/>
                      </a:solidFill>
                      <a:prstDash val="solid"/>
                      <a:round/>
                      <a:headEnd type="none" w="med" len="med"/>
                      <a:tailEnd type="none" w="med" len="med"/>
                    </a:lnL>
                    <a:lnR w="9525" cap="flat" cmpd="sng" algn="ctr">
                      <a:solidFill>
                        <a:srgbClr val="D6E3E8"/>
                      </a:solidFill>
                      <a:prstDash val="solid"/>
                      <a:round/>
                      <a:headEnd type="none" w="med" len="med"/>
                      <a:tailEnd type="none" w="med" len="med"/>
                    </a:lnR>
                    <a:lnT w="9525" cap="flat" cmpd="sng" algn="ctr">
                      <a:solidFill>
                        <a:srgbClr val="D6E3E8"/>
                      </a:solidFill>
                      <a:prstDash val="solid"/>
                      <a:round/>
                      <a:headEnd type="none" w="med" len="med"/>
                      <a:tailEnd type="none" w="med" len="med"/>
                    </a:lnT>
                    <a:lnB w="9525" cap="flat" cmpd="sng" algn="ctr">
                      <a:solidFill>
                        <a:srgbClr val="D6E3E8"/>
                      </a:solidFill>
                      <a:prstDash val="solid"/>
                      <a:round/>
                      <a:headEnd type="none" w="med" len="med"/>
                      <a:tailEnd type="none" w="med" len="med"/>
                    </a:lnB>
                    <a:solidFill>
                      <a:srgbClr val="21295C"/>
                    </a:solidFill>
                  </a:tcPr>
                </a:tc>
              </a:tr>
              <a:tr h="379476">
                <a:tc>
                  <a:txBody>
                    <a:bodyPr/>
                    <a:lstStyle/>
                    <a:p>
                      <a:pPr indent="0" marL="0">
                        <a:buNone/>
                      </a:pPr>
                      <a:r>
                        <a:rPr lang="en-US" sz="1050" dirty="0">
                          <a:solidFill>
                            <a:srgbClr val="1A1A2E"/>
                          </a:solidFill>
                          <a:latin typeface="BIZ UDゴシック" pitchFamily="34" charset="0"/>
                          <a:ea typeface="BIZ UDゴシック" pitchFamily="34" charset="-122"/>
                          <a:cs typeface="BIZ UDゴシック" pitchFamily="34" charset="-120"/>
                        </a:rPr>
                        <a:t>Splunk</a:t>
                      </a:r>
                      <a:endParaRPr lang="en-US" sz="1050" dirty="0">
                        <a:latin typeface="BIZ UDゴシック" charset="0"/>
                        <a:ea typeface="BIZ UDゴシック" charset="0"/>
                        <a:cs typeface="BIZ UDゴシック" charset="0"/>
                      </a:endParaRPr>
                    </a:p>
                  </a:txBody>
                  <a:tcPr marL="91440" marR="91440" marT="45720" marB="45720" anchor="ctr">
                    <a:lnL w="9525" cap="flat" cmpd="sng" algn="ctr">
                      <a:solidFill>
                        <a:srgbClr val="D6E3E8"/>
                      </a:solidFill>
                      <a:prstDash val="solid"/>
                      <a:round/>
                      <a:headEnd type="none" w="med" len="med"/>
                      <a:tailEnd type="none" w="med" len="med"/>
                    </a:lnL>
                    <a:lnR w="9525" cap="flat" cmpd="sng" algn="ctr">
                      <a:solidFill>
                        <a:srgbClr val="D6E3E8"/>
                      </a:solidFill>
                      <a:prstDash val="solid"/>
                      <a:round/>
                      <a:headEnd type="none" w="med" len="med"/>
                      <a:tailEnd type="none" w="med" len="med"/>
                    </a:lnR>
                    <a:lnT w="9525" cap="flat" cmpd="sng" algn="ctr">
                      <a:solidFill>
                        <a:srgbClr val="D6E3E8"/>
                      </a:solidFill>
                      <a:prstDash val="solid"/>
                      <a:round/>
                      <a:headEnd type="none" w="med" len="med"/>
                      <a:tailEnd type="none" w="med" len="med"/>
                    </a:lnT>
                    <a:lnB w="9525" cap="flat" cmpd="sng" algn="ctr">
                      <a:solidFill>
                        <a:srgbClr val="D6E3E8"/>
                      </a:solidFill>
                      <a:prstDash val="solid"/>
                      <a:round/>
                      <a:headEnd type="none" w="med" len="med"/>
                      <a:tailEnd type="none" w="med" len="med"/>
                    </a:lnB>
                    <a:solidFill>
                      <a:srgbClr val="EAF2F6"/>
                    </a:solidFill>
                  </a:tcPr>
                </a:tc>
                <a:tc>
                  <a:txBody>
                    <a:bodyPr/>
                    <a:lstStyle/>
                    <a:p>
                      <a:pPr indent="0" marL="0">
                        <a:buNone/>
                      </a:pPr>
                      <a:r>
                        <a:rPr lang="en-US" sz="1050" dirty="0">
                          <a:solidFill>
                            <a:srgbClr val="1A1A2E"/>
                          </a:solidFill>
                          <a:latin typeface="BIZ UDゴシック" pitchFamily="34" charset="0"/>
                          <a:ea typeface="BIZ UDゴシック" pitchFamily="34" charset="-122"/>
                          <a:cs typeface="BIZ UDゴシック" pitchFamily="34" charset="-120"/>
                        </a:rPr>
                        <a:t>ログ検索・蓄積</a:t>
                      </a:r>
                      <a:endParaRPr lang="en-US" sz="1050" dirty="0">
                        <a:latin typeface="BIZ UDゴシック" charset="0"/>
                        <a:ea typeface="BIZ UDゴシック" charset="0"/>
                        <a:cs typeface="BIZ UDゴシック" charset="0"/>
                      </a:endParaRPr>
                    </a:p>
                  </a:txBody>
                  <a:tcPr marL="91440" marR="91440" marT="45720" marB="45720" anchor="ctr">
                    <a:lnL w="9525" cap="flat" cmpd="sng" algn="ctr">
                      <a:solidFill>
                        <a:srgbClr val="D6E3E8"/>
                      </a:solidFill>
                      <a:prstDash val="solid"/>
                      <a:round/>
                      <a:headEnd type="none" w="med" len="med"/>
                      <a:tailEnd type="none" w="med" len="med"/>
                    </a:lnL>
                    <a:lnR w="9525" cap="flat" cmpd="sng" algn="ctr">
                      <a:solidFill>
                        <a:srgbClr val="D6E3E8"/>
                      </a:solidFill>
                      <a:prstDash val="solid"/>
                      <a:round/>
                      <a:headEnd type="none" w="med" len="med"/>
                      <a:tailEnd type="none" w="med" len="med"/>
                    </a:lnR>
                    <a:lnT w="9525" cap="flat" cmpd="sng" algn="ctr">
                      <a:solidFill>
                        <a:srgbClr val="D6E3E8"/>
                      </a:solidFill>
                      <a:prstDash val="solid"/>
                      <a:round/>
                      <a:headEnd type="none" w="med" len="med"/>
                      <a:tailEnd type="none" w="med" len="med"/>
                    </a:lnT>
                    <a:lnB w="9525" cap="flat" cmpd="sng" algn="ctr">
                      <a:solidFill>
                        <a:srgbClr val="D6E3E8"/>
                      </a:solidFill>
                      <a:prstDash val="solid"/>
                      <a:round/>
                      <a:headEnd type="none" w="med" len="med"/>
                      <a:tailEnd type="none" w="med" len="med"/>
                    </a:lnB>
                    <a:solidFill>
                      <a:srgbClr val="EAF2F6"/>
                    </a:solidFill>
                  </a:tcPr>
                </a:tc>
                <a:tc>
                  <a:txBody>
                    <a:bodyPr/>
                    <a:lstStyle/>
                    <a:p>
                      <a:pPr indent="0" marL="0">
                        <a:buNone/>
                      </a:pPr>
                      <a:r>
                        <a:rPr lang="en-US" sz="1050" dirty="0">
                          <a:solidFill>
                            <a:srgbClr val="1A1A2E"/>
                          </a:solidFill>
                          <a:latin typeface="BIZ UDゴシック" pitchFamily="34" charset="0"/>
                          <a:ea typeface="BIZ UDゴシック" pitchFamily="34" charset="-122"/>
                          <a:cs typeface="BIZ UDゴシック" pitchFamily="34" charset="-120"/>
                        </a:rPr>
                        <a:t>障害発生時のログEvidence取得</a:t>
                      </a:r>
                      <a:endParaRPr lang="en-US" sz="1050" dirty="0">
                        <a:latin typeface="BIZ UDゴシック" charset="0"/>
                        <a:ea typeface="BIZ UDゴシック" charset="0"/>
                        <a:cs typeface="BIZ UDゴシック" charset="0"/>
                      </a:endParaRPr>
                    </a:p>
                  </a:txBody>
                  <a:tcPr marL="91440" marR="91440" marT="45720" marB="45720" anchor="ctr">
                    <a:lnL w="9525" cap="flat" cmpd="sng" algn="ctr">
                      <a:solidFill>
                        <a:srgbClr val="D6E3E8"/>
                      </a:solidFill>
                      <a:prstDash val="solid"/>
                      <a:round/>
                      <a:headEnd type="none" w="med" len="med"/>
                      <a:tailEnd type="none" w="med" len="med"/>
                    </a:lnL>
                    <a:lnR w="9525" cap="flat" cmpd="sng" algn="ctr">
                      <a:solidFill>
                        <a:srgbClr val="D6E3E8"/>
                      </a:solidFill>
                      <a:prstDash val="solid"/>
                      <a:round/>
                      <a:headEnd type="none" w="med" len="med"/>
                      <a:tailEnd type="none" w="med" len="med"/>
                    </a:lnR>
                    <a:lnT w="9525" cap="flat" cmpd="sng" algn="ctr">
                      <a:solidFill>
                        <a:srgbClr val="D6E3E8"/>
                      </a:solidFill>
                      <a:prstDash val="solid"/>
                      <a:round/>
                      <a:headEnd type="none" w="med" len="med"/>
                      <a:tailEnd type="none" w="med" len="med"/>
                    </a:lnT>
                    <a:lnB w="9525" cap="flat" cmpd="sng" algn="ctr">
                      <a:solidFill>
                        <a:srgbClr val="D6E3E8"/>
                      </a:solidFill>
                      <a:prstDash val="solid"/>
                      <a:round/>
                      <a:headEnd type="none" w="med" len="med"/>
                      <a:tailEnd type="none" w="med" len="med"/>
                    </a:lnB>
                    <a:solidFill>
                      <a:srgbClr val="EAF2F6"/>
                    </a:solidFill>
                  </a:tcPr>
                </a:tc>
              </a:tr>
              <a:tr h="379476">
                <a:tc>
                  <a:txBody>
                    <a:bodyPr/>
                    <a:lstStyle/>
                    <a:p>
                      <a:pPr indent="0" marL="0">
                        <a:buNone/>
                      </a:pPr>
                      <a:r>
                        <a:rPr lang="en-US" sz="1050" dirty="0">
                          <a:solidFill>
                            <a:srgbClr val="1A1A2E"/>
                          </a:solidFill>
                          <a:latin typeface="BIZ UDゴシック" pitchFamily="34" charset="0"/>
                          <a:ea typeface="BIZ UDゴシック" pitchFamily="34" charset="-122"/>
                          <a:cs typeface="BIZ UDゴシック" pitchFamily="34" charset="-120"/>
                        </a:rPr>
                        <a:t>Scenario Controller</a:t>
                      </a:r>
                      <a:endParaRPr lang="en-US" sz="1050" dirty="0">
                        <a:latin typeface="BIZ UDゴシック" charset="0"/>
                        <a:ea typeface="BIZ UDゴシック" charset="0"/>
                        <a:cs typeface="BIZ UDゴシック" charset="0"/>
                      </a:endParaRPr>
                    </a:p>
                  </a:txBody>
                  <a:tcPr marL="91440" marR="91440" marT="45720" marB="45720" anchor="ctr">
                    <a:lnL w="9525" cap="flat" cmpd="sng" algn="ctr">
                      <a:solidFill>
                        <a:srgbClr val="D6E3E8"/>
                      </a:solidFill>
                      <a:prstDash val="solid"/>
                      <a:round/>
                      <a:headEnd type="none" w="med" len="med"/>
                      <a:tailEnd type="none" w="med" len="med"/>
                    </a:lnL>
                    <a:lnR w="9525" cap="flat" cmpd="sng" algn="ctr">
                      <a:solidFill>
                        <a:srgbClr val="D6E3E8"/>
                      </a:solidFill>
                      <a:prstDash val="solid"/>
                      <a:round/>
                      <a:headEnd type="none" w="med" len="med"/>
                      <a:tailEnd type="none" w="med" len="med"/>
                    </a:lnR>
                    <a:lnT w="9525" cap="flat" cmpd="sng" algn="ctr">
                      <a:solidFill>
                        <a:srgbClr val="D6E3E8"/>
                      </a:solidFill>
                      <a:prstDash val="solid"/>
                      <a:round/>
                      <a:headEnd type="none" w="med" len="med"/>
                      <a:tailEnd type="none" w="med" len="med"/>
                    </a:lnT>
                    <a:lnB w="9525" cap="flat" cmpd="sng" algn="ctr">
                      <a:solidFill>
                        <a:srgbClr val="D6E3E8"/>
                      </a:solidFill>
                      <a:prstDash val="solid"/>
                      <a:round/>
                      <a:headEnd type="none" w="med" len="med"/>
                      <a:tailEnd type="none" w="med" len="med"/>
                    </a:lnB>
                    <a:solidFill>
                      <a:srgbClr val="FFFFFF"/>
                    </a:solidFill>
                  </a:tcPr>
                </a:tc>
                <a:tc>
                  <a:txBody>
                    <a:bodyPr/>
                    <a:lstStyle/>
                    <a:p>
                      <a:pPr indent="0" marL="0">
                        <a:buNone/>
                      </a:pPr>
                      <a:r>
                        <a:rPr lang="en-US" sz="1050" dirty="0">
                          <a:solidFill>
                            <a:srgbClr val="1A1A2E"/>
                          </a:solidFill>
                          <a:latin typeface="BIZ UDゴシック" pitchFamily="34" charset="0"/>
                          <a:ea typeface="BIZ UDゴシック" pitchFamily="34" charset="-122"/>
                          <a:cs typeface="BIZ UDゴシック" pitchFamily="34" charset="-120"/>
                        </a:rPr>
                        <a:t>障害シナリオ切替</a:t>
                      </a:r>
                      <a:endParaRPr lang="en-US" sz="1050" dirty="0">
                        <a:latin typeface="BIZ UDゴシック" charset="0"/>
                        <a:ea typeface="BIZ UDゴシック" charset="0"/>
                        <a:cs typeface="BIZ UDゴシック" charset="0"/>
                      </a:endParaRPr>
                    </a:p>
                  </a:txBody>
                  <a:tcPr marL="91440" marR="91440" marT="45720" marB="45720" anchor="ctr">
                    <a:lnL w="9525" cap="flat" cmpd="sng" algn="ctr">
                      <a:solidFill>
                        <a:srgbClr val="D6E3E8"/>
                      </a:solidFill>
                      <a:prstDash val="solid"/>
                      <a:round/>
                      <a:headEnd type="none" w="med" len="med"/>
                      <a:tailEnd type="none" w="med" len="med"/>
                    </a:lnL>
                    <a:lnR w="9525" cap="flat" cmpd="sng" algn="ctr">
                      <a:solidFill>
                        <a:srgbClr val="D6E3E8"/>
                      </a:solidFill>
                      <a:prstDash val="solid"/>
                      <a:round/>
                      <a:headEnd type="none" w="med" len="med"/>
                      <a:tailEnd type="none" w="med" len="med"/>
                    </a:lnR>
                    <a:lnT w="9525" cap="flat" cmpd="sng" algn="ctr">
                      <a:solidFill>
                        <a:srgbClr val="D6E3E8"/>
                      </a:solidFill>
                      <a:prstDash val="solid"/>
                      <a:round/>
                      <a:headEnd type="none" w="med" len="med"/>
                      <a:tailEnd type="none" w="med" len="med"/>
                    </a:lnT>
                    <a:lnB w="9525" cap="flat" cmpd="sng" algn="ctr">
                      <a:solidFill>
                        <a:srgbClr val="D6E3E8"/>
                      </a:solidFill>
                      <a:prstDash val="solid"/>
                      <a:round/>
                      <a:headEnd type="none" w="med" len="med"/>
                      <a:tailEnd type="none" w="med" len="med"/>
                    </a:lnB>
                    <a:solidFill>
                      <a:srgbClr val="FFFFFF"/>
                    </a:solidFill>
                  </a:tcPr>
                </a:tc>
                <a:tc>
                  <a:txBody>
                    <a:bodyPr/>
                    <a:lstStyle/>
                    <a:p>
                      <a:pPr indent="0" marL="0">
                        <a:buNone/>
                      </a:pPr>
                      <a:r>
                        <a:rPr lang="en-US" sz="1050" dirty="0">
                          <a:solidFill>
                            <a:srgbClr val="1A1A2E"/>
                          </a:solidFill>
                          <a:latin typeface="BIZ UDゴシック" pitchFamily="34" charset="0"/>
                          <a:ea typeface="BIZ UDゴシック" pitchFamily="34" charset="-122"/>
                          <a:cs typeface="BIZ UDゴシック" pitchFamily="34" charset="-120"/>
                        </a:rPr>
                        <a:t>NORMAL / 異常系を再現</a:t>
                      </a:r>
                      <a:endParaRPr lang="en-US" sz="1050" dirty="0">
                        <a:latin typeface="BIZ UDゴシック" charset="0"/>
                        <a:ea typeface="BIZ UDゴシック" charset="0"/>
                        <a:cs typeface="BIZ UDゴシック" charset="0"/>
                      </a:endParaRPr>
                    </a:p>
                  </a:txBody>
                  <a:tcPr marL="91440" marR="91440" marT="45720" marB="45720" anchor="ctr">
                    <a:lnL w="9525" cap="flat" cmpd="sng" algn="ctr">
                      <a:solidFill>
                        <a:srgbClr val="D6E3E8"/>
                      </a:solidFill>
                      <a:prstDash val="solid"/>
                      <a:round/>
                      <a:headEnd type="none" w="med" len="med"/>
                      <a:tailEnd type="none" w="med" len="med"/>
                    </a:lnL>
                    <a:lnR w="9525" cap="flat" cmpd="sng" algn="ctr">
                      <a:solidFill>
                        <a:srgbClr val="D6E3E8"/>
                      </a:solidFill>
                      <a:prstDash val="solid"/>
                      <a:round/>
                      <a:headEnd type="none" w="med" len="med"/>
                      <a:tailEnd type="none" w="med" len="med"/>
                    </a:lnR>
                    <a:lnT w="9525" cap="flat" cmpd="sng" algn="ctr">
                      <a:solidFill>
                        <a:srgbClr val="D6E3E8"/>
                      </a:solidFill>
                      <a:prstDash val="solid"/>
                      <a:round/>
                      <a:headEnd type="none" w="med" len="med"/>
                      <a:tailEnd type="none" w="med" len="med"/>
                    </a:lnT>
                    <a:lnB w="9525" cap="flat" cmpd="sng" algn="ctr">
                      <a:solidFill>
                        <a:srgbClr val="D6E3E8"/>
                      </a:solidFill>
                      <a:prstDash val="solid"/>
                      <a:round/>
                      <a:headEnd type="none" w="med" len="med"/>
                      <a:tailEnd type="none" w="med" len="med"/>
                    </a:lnB>
                    <a:solidFill>
                      <a:srgbClr val="FFFFFF"/>
                    </a:solidFill>
                  </a:tcPr>
                </a:tc>
              </a:tr>
              <a:tr h="379476">
                <a:tc>
                  <a:txBody>
                    <a:bodyPr/>
                    <a:lstStyle/>
                    <a:p>
                      <a:pPr indent="0" marL="0">
                        <a:buNone/>
                      </a:pPr>
                      <a:r>
                        <a:rPr lang="en-US" sz="1050" dirty="0">
                          <a:solidFill>
                            <a:srgbClr val="1A1A2E"/>
                          </a:solidFill>
                          <a:latin typeface="BIZ UDゴシック" pitchFamily="34" charset="0"/>
                          <a:ea typeface="BIZ UDゴシック" pitchFamily="34" charset="-122"/>
                          <a:cs typeface="BIZ UDゴシック" pitchFamily="34" charset="-120"/>
                        </a:rPr>
                        <a:t>API Gateway</a:t>
                      </a:r>
                      <a:endParaRPr lang="en-US" sz="1050" dirty="0">
                        <a:latin typeface="BIZ UDゴシック" charset="0"/>
                        <a:ea typeface="BIZ UDゴシック" charset="0"/>
                        <a:cs typeface="BIZ UDゴシック" charset="0"/>
                      </a:endParaRPr>
                    </a:p>
                  </a:txBody>
                  <a:tcPr marL="91440" marR="91440" marT="45720" marB="45720" anchor="ctr">
                    <a:lnL w="9525" cap="flat" cmpd="sng" algn="ctr">
                      <a:solidFill>
                        <a:srgbClr val="D6E3E8"/>
                      </a:solidFill>
                      <a:prstDash val="solid"/>
                      <a:round/>
                      <a:headEnd type="none" w="med" len="med"/>
                      <a:tailEnd type="none" w="med" len="med"/>
                    </a:lnL>
                    <a:lnR w="9525" cap="flat" cmpd="sng" algn="ctr">
                      <a:solidFill>
                        <a:srgbClr val="D6E3E8"/>
                      </a:solidFill>
                      <a:prstDash val="solid"/>
                      <a:round/>
                      <a:headEnd type="none" w="med" len="med"/>
                      <a:tailEnd type="none" w="med" len="med"/>
                    </a:lnR>
                    <a:lnT w="9525" cap="flat" cmpd="sng" algn="ctr">
                      <a:solidFill>
                        <a:srgbClr val="D6E3E8"/>
                      </a:solidFill>
                      <a:prstDash val="solid"/>
                      <a:round/>
                      <a:headEnd type="none" w="med" len="med"/>
                      <a:tailEnd type="none" w="med" len="med"/>
                    </a:lnT>
                    <a:lnB w="9525" cap="flat" cmpd="sng" algn="ctr">
                      <a:solidFill>
                        <a:srgbClr val="D6E3E8"/>
                      </a:solidFill>
                      <a:prstDash val="solid"/>
                      <a:round/>
                      <a:headEnd type="none" w="med" len="med"/>
                      <a:tailEnd type="none" w="med" len="med"/>
                    </a:lnB>
                    <a:solidFill>
                      <a:srgbClr val="EAF2F6"/>
                    </a:solidFill>
                  </a:tcPr>
                </a:tc>
                <a:tc>
                  <a:txBody>
                    <a:bodyPr/>
                    <a:lstStyle/>
                    <a:p>
                      <a:pPr indent="0" marL="0">
                        <a:buNone/>
                      </a:pPr>
                      <a:r>
                        <a:rPr lang="en-US" sz="1050" dirty="0">
                          <a:solidFill>
                            <a:srgbClr val="1A1A2E"/>
                          </a:solidFill>
                          <a:latin typeface="BIZ UDゴシック" pitchFamily="34" charset="0"/>
                          <a:ea typeface="BIZ UDゴシック" pitchFamily="34" charset="-122"/>
                          <a:cs typeface="BIZ UDゴシック" pitchFamily="34" charset="-120"/>
                        </a:rPr>
                        <a:t>外部入口</a:t>
                      </a:r>
                      <a:endParaRPr lang="en-US" sz="1050" dirty="0">
                        <a:latin typeface="BIZ UDゴシック" charset="0"/>
                        <a:ea typeface="BIZ UDゴシック" charset="0"/>
                        <a:cs typeface="BIZ UDゴシック" charset="0"/>
                      </a:endParaRPr>
                    </a:p>
                  </a:txBody>
                  <a:tcPr marL="91440" marR="91440" marT="45720" marB="45720" anchor="ctr">
                    <a:lnL w="9525" cap="flat" cmpd="sng" algn="ctr">
                      <a:solidFill>
                        <a:srgbClr val="D6E3E8"/>
                      </a:solidFill>
                      <a:prstDash val="solid"/>
                      <a:round/>
                      <a:headEnd type="none" w="med" len="med"/>
                      <a:tailEnd type="none" w="med" len="med"/>
                    </a:lnL>
                    <a:lnR w="9525" cap="flat" cmpd="sng" algn="ctr">
                      <a:solidFill>
                        <a:srgbClr val="D6E3E8"/>
                      </a:solidFill>
                      <a:prstDash val="solid"/>
                      <a:round/>
                      <a:headEnd type="none" w="med" len="med"/>
                      <a:tailEnd type="none" w="med" len="med"/>
                    </a:lnR>
                    <a:lnT w="9525" cap="flat" cmpd="sng" algn="ctr">
                      <a:solidFill>
                        <a:srgbClr val="D6E3E8"/>
                      </a:solidFill>
                      <a:prstDash val="solid"/>
                      <a:round/>
                      <a:headEnd type="none" w="med" len="med"/>
                      <a:tailEnd type="none" w="med" len="med"/>
                    </a:lnT>
                    <a:lnB w="9525" cap="flat" cmpd="sng" algn="ctr">
                      <a:solidFill>
                        <a:srgbClr val="D6E3E8"/>
                      </a:solidFill>
                      <a:prstDash val="solid"/>
                      <a:round/>
                      <a:headEnd type="none" w="med" len="med"/>
                      <a:tailEnd type="none" w="med" len="med"/>
                    </a:lnB>
                    <a:solidFill>
                      <a:srgbClr val="EAF2F6"/>
                    </a:solidFill>
                  </a:tcPr>
                </a:tc>
                <a:tc>
                  <a:txBody>
                    <a:bodyPr/>
                    <a:lstStyle/>
                    <a:p>
                      <a:pPr indent="0" marL="0">
                        <a:buNone/>
                      </a:pPr>
                      <a:r>
                        <a:rPr lang="en-US" sz="1050" dirty="0">
                          <a:solidFill>
                            <a:srgbClr val="1A1A2E"/>
                          </a:solidFill>
                          <a:latin typeface="BIZ UDゴシック" pitchFamily="34" charset="0"/>
                          <a:ea typeface="BIZ UDゴシック" pitchFamily="34" charset="-122"/>
                          <a:cs typeface="BIZ UDゴシック" pitchFamily="34" charset="-120"/>
                        </a:rPr>
                        <a:t>request.idを含むリクエスト生成</a:t>
                      </a:r>
                      <a:endParaRPr lang="en-US" sz="1050" dirty="0">
                        <a:latin typeface="BIZ UDゴシック" charset="0"/>
                        <a:ea typeface="BIZ UDゴシック" charset="0"/>
                        <a:cs typeface="BIZ UDゴシック" charset="0"/>
                      </a:endParaRPr>
                    </a:p>
                  </a:txBody>
                  <a:tcPr marL="91440" marR="91440" marT="45720" marB="45720" anchor="ctr">
                    <a:lnL w="9525" cap="flat" cmpd="sng" algn="ctr">
                      <a:solidFill>
                        <a:srgbClr val="D6E3E8"/>
                      </a:solidFill>
                      <a:prstDash val="solid"/>
                      <a:round/>
                      <a:headEnd type="none" w="med" len="med"/>
                      <a:tailEnd type="none" w="med" len="med"/>
                    </a:lnL>
                    <a:lnR w="9525" cap="flat" cmpd="sng" algn="ctr">
                      <a:solidFill>
                        <a:srgbClr val="D6E3E8"/>
                      </a:solidFill>
                      <a:prstDash val="solid"/>
                      <a:round/>
                      <a:headEnd type="none" w="med" len="med"/>
                      <a:tailEnd type="none" w="med" len="med"/>
                    </a:lnR>
                    <a:lnT w="9525" cap="flat" cmpd="sng" algn="ctr">
                      <a:solidFill>
                        <a:srgbClr val="D6E3E8"/>
                      </a:solidFill>
                      <a:prstDash val="solid"/>
                      <a:round/>
                      <a:headEnd type="none" w="med" len="med"/>
                      <a:tailEnd type="none" w="med" len="med"/>
                    </a:lnT>
                    <a:lnB w="9525" cap="flat" cmpd="sng" algn="ctr">
                      <a:solidFill>
                        <a:srgbClr val="D6E3E8"/>
                      </a:solidFill>
                      <a:prstDash val="solid"/>
                      <a:round/>
                      <a:headEnd type="none" w="med" len="med"/>
                      <a:tailEnd type="none" w="med" len="med"/>
                    </a:lnB>
                    <a:solidFill>
                      <a:srgbClr val="EAF2F6"/>
                    </a:solidFill>
                  </a:tcPr>
                </a:tc>
              </a:tr>
              <a:tr h="379476">
                <a:tc>
                  <a:txBody>
                    <a:bodyPr/>
                    <a:lstStyle/>
                    <a:p>
                      <a:pPr indent="0" marL="0">
                        <a:buNone/>
                      </a:pPr>
                      <a:r>
                        <a:rPr lang="en-US" sz="1050" dirty="0">
                          <a:solidFill>
                            <a:srgbClr val="1A1A2E"/>
                          </a:solidFill>
                          <a:latin typeface="BIZ UDゴシック" pitchFamily="34" charset="0"/>
                          <a:ea typeface="BIZ UDゴシック" pitchFamily="34" charset="-122"/>
                          <a:cs typeface="BIZ UDゴシック" pitchFamily="34" charset="-120"/>
                        </a:rPr>
                        <a:t>Order Service</a:t>
                      </a:r>
                      <a:endParaRPr lang="en-US" sz="1050" dirty="0">
                        <a:latin typeface="BIZ UDゴシック" charset="0"/>
                        <a:ea typeface="BIZ UDゴシック" charset="0"/>
                        <a:cs typeface="BIZ UDゴシック" charset="0"/>
                      </a:endParaRPr>
                    </a:p>
                  </a:txBody>
                  <a:tcPr marL="91440" marR="91440" marT="45720" marB="45720" anchor="ctr">
                    <a:lnL w="9525" cap="flat" cmpd="sng" algn="ctr">
                      <a:solidFill>
                        <a:srgbClr val="D6E3E8"/>
                      </a:solidFill>
                      <a:prstDash val="solid"/>
                      <a:round/>
                      <a:headEnd type="none" w="med" len="med"/>
                      <a:tailEnd type="none" w="med" len="med"/>
                    </a:lnL>
                    <a:lnR w="9525" cap="flat" cmpd="sng" algn="ctr">
                      <a:solidFill>
                        <a:srgbClr val="D6E3E8"/>
                      </a:solidFill>
                      <a:prstDash val="solid"/>
                      <a:round/>
                      <a:headEnd type="none" w="med" len="med"/>
                      <a:tailEnd type="none" w="med" len="med"/>
                    </a:lnR>
                    <a:lnT w="9525" cap="flat" cmpd="sng" algn="ctr">
                      <a:solidFill>
                        <a:srgbClr val="D6E3E8"/>
                      </a:solidFill>
                      <a:prstDash val="solid"/>
                      <a:round/>
                      <a:headEnd type="none" w="med" len="med"/>
                      <a:tailEnd type="none" w="med" len="med"/>
                    </a:lnT>
                    <a:lnB w="9525" cap="flat" cmpd="sng" algn="ctr">
                      <a:solidFill>
                        <a:srgbClr val="D6E3E8"/>
                      </a:solidFill>
                      <a:prstDash val="solid"/>
                      <a:round/>
                      <a:headEnd type="none" w="med" len="med"/>
                      <a:tailEnd type="none" w="med" len="med"/>
                    </a:lnB>
                    <a:solidFill>
                      <a:srgbClr val="FFFFFF"/>
                    </a:solidFill>
                  </a:tcPr>
                </a:tc>
                <a:tc>
                  <a:txBody>
                    <a:bodyPr/>
                    <a:lstStyle/>
                    <a:p>
                      <a:pPr indent="0" marL="0">
                        <a:buNone/>
                      </a:pPr>
                      <a:r>
                        <a:rPr lang="en-US" sz="1050" dirty="0">
                          <a:solidFill>
                            <a:srgbClr val="1A1A2E"/>
                          </a:solidFill>
                          <a:latin typeface="BIZ UDゴシック" pitchFamily="34" charset="0"/>
                          <a:ea typeface="BIZ UDゴシック" pitchFamily="34" charset="-122"/>
                          <a:cs typeface="BIZ UDゴシック" pitchFamily="34" charset="-120"/>
                        </a:rPr>
                        <a:t>注文処理</a:t>
                      </a:r>
                      <a:endParaRPr lang="en-US" sz="1050" dirty="0">
                        <a:latin typeface="BIZ UDゴシック" charset="0"/>
                        <a:ea typeface="BIZ UDゴシック" charset="0"/>
                        <a:cs typeface="BIZ UDゴシック" charset="0"/>
                      </a:endParaRPr>
                    </a:p>
                  </a:txBody>
                  <a:tcPr marL="91440" marR="91440" marT="45720" marB="45720" anchor="ctr">
                    <a:lnL w="9525" cap="flat" cmpd="sng" algn="ctr">
                      <a:solidFill>
                        <a:srgbClr val="D6E3E8"/>
                      </a:solidFill>
                      <a:prstDash val="solid"/>
                      <a:round/>
                      <a:headEnd type="none" w="med" len="med"/>
                      <a:tailEnd type="none" w="med" len="med"/>
                    </a:lnL>
                    <a:lnR w="9525" cap="flat" cmpd="sng" algn="ctr">
                      <a:solidFill>
                        <a:srgbClr val="D6E3E8"/>
                      </a:solidFill>
                      <a:prstDash val="solid"/>
                      <a:round/>
                      <a:headEnd type="none" w="med" len="med"/>
                      <a:tailEnd type="none" w="med" len="med"/>
                    </a:lnR>
                    <a:lnT w="9525" cap="flat" cmpd="sng" algn="ctr">
                      <a:solidFill>
                        <a:srgbClr val="D6E3E8"/>
                      </a:solidFill>
                      <a:prstDash val="solid"/>
                      <a:round/>
                      <a:headEnd type="none" w="med" len="med"/>
                      <a:tailEnd type="none" w="med" len="med"/>
                    </a:lnT>
                    <a:lnB w="9525" cap="flat" cmpd="sng" algn="ctr">
                      <a:solidFill>
                        <a:srgbClr val="D6E3E8"/>
                      </a:solidFill>
                      <a:prstDash val="solid"/>
                      <a:round/>
                      <a:headEnd type="none" w="med" len="med"/>
                      <a:tailEnd type="none" w="med" len="med"/>
                    </a:lnB>
                    <a:solidFill>
                      <a:srgbClr val="FFFFFF"/>
                    </a:solidFill>
                  </a:tcPr>
                </a:tc>
                <a:tc>
                  <a:txBody>
                    <a:bodyPr/>
                    <a:lstStyle/>
                    <a:p>
                      <a:pPr indent="0" marL="0">
                        <a:buNone/>
                      </a:pPr>
                      <a:r>
                        <a:rPr lang="en-US" sz="1050" dirty="0">
                          <a:solidFill>
                            <a:srgbClr val="1A1A2E"/>
                          </a:solidFill>
                          <a:latin typeface="BIZ UDゴシック" pitchFamily="34" charset="0"/>
                          <a:ea typeface="BIZ UDゴシック" pitchFamily="34" charset="-122"/>
                          <a:cs typeface="BIZ UDゴシック" pitchFamily="34" charset="-120"/>
                        </a:rPr>
                        <a:t>分散トレース対象</a:t>
                      </a:r>
                      <a:endParaRPr lang="en-US" sz="1050" dirty="0">
                        <a:latin typeface="BIZ UDゴシック" charset="0"/>
                        <a:ea typeface="BIZ UDゴシック" charset="0"/>
                        <a:cs typeface="BIZ UDゴシック" charset="0"/>
                      </a:endParaRPr>
                    </a:p>
                  </a:txBody>
                  <a:tcPr marL="91440" marR="91440" marT="45720" marB="45720" anchor="ctr">
                    <a:lnL w="9525" cap="flat" cmpd="sng" algn="ctr">
                      <a:solidFill>
                        <a:srgbClr val="D6E3E8"/>
                      </a:solidFill>
                      <a:prstDash val="solid"/>
                      <a:round/>
                      <a:headEnd type="none" w="med" len="med"/>
                      <a:tailEnd type="none" w="med" len="med"/>
                    </a:lnL>
                    <a:lnR w="9525" cap="flat" cmpd="sng" algn="ctr">
                      <a:solidFill>
                        <a:srgbClr val="D6E3E8"/>
                      </a:solidFill>
                      <a:prstDash val="solid"/>
                      <a:round/>
                      <a:headEnd type="none" w="med" len="med"/>
                      <a:tailEnd type="none" w="med" len="med"/>
                    </a:lnR>
                    <a:lnT w="9525" cap="flat" cmpd="sng" algn="ctr">
                      <a:solidFill>
                        <a:srgbClr val="D6E3E8"/>
                      </a:solidFill>
                      <a:prstDash val="solid"/>
                      <a:round/>
                      <a:headEnd type="none" w="med" len="med"/>
                      <a:tailEnd type="none" w="med" len="med"/>
                    </a:lnT>
                    <a:lnB w="9525" cap="flat" cmpd="sng" algn="ctr">
                      <a:solidFill>
                        <a:srgbClr val="D6E3E8"/>
                      </a:solidFill>
                      <a:prstDash val="solid"/>
                      <a:round/>
                      <a:headEnd type="none" w="med" len="med"/>
                      <a:tailEnd type="none" w="med" len="med"/>
                    </a:lnB>
                    <a:solidFill>
                      <a:srgbClr val="FFFFFF"/>
                    </a:solidFill>
                  </a:tcPr>
                </a:tc>
              </a:tr>
              <a:tr h="379476">
                <a:tc>
                  <a:txBody>
                    <a:bodyPr/>
                    <a:lstStyle/>
                    <a:p>
                      <a:pPr indent="0" marL="0">
                        <a:buNone/>
                      </a:pPr>
                      <a:r>
                        <a:rPr lang="en-US" sz="1050" dirty="0">
                          <a:solidFill>
                            <a:srgbClr val="1A1A2E"/>
                          </a:solidFill>
                          <a:latin typeface="BIZ UDゴシック" pitchFamily="34" charset="0"/>
                          <a:ea typeface="BIZ UDゴシック" pitchFamily="34" charset="-122"/>
                          <a:cs typeface="BIZ UDゴシック" pitchFamily="34" charset="-120"/>
                        </a:rPr>
                        <a:t>Inventory Service</a:t>
                      </a:r>
                      <a:endParaRPr lang="en-US" sz="1050" dirty="0">
                        <a:latin typeface="BIZ UDゴシック" charset="0"/>
                        <a:ea typeface="BIZ UDゴシック" charset="0"/>
                        <a:cs typeface="BIZ UDゴシック" charset="0"/>
                      </a:endParaRPr>
                    </a:p>
                  </a:txBody>
                  <a:tcPr marL="91440" marR="91440" marT="45720" marB="45720" anchor="ctr">
                    <a:lnL w="9525" cap="flat" cmpd="sng" algn="ctr">
                      <a:solidFill>
                        <a:srgbClr val="D6E3E8"/>
                      </a:solidFill>
                      <a:prstDash val="solid"/>
                      <a:round/>
                      <a:headEnd type="none" w="med" len="med"/>
                      <a:tailEnd type="none" w="med" len="med"/>
                    </a:lnL>
                    <a:lnR w="9525" cap="flat" cmpd="sng" algn="ctr">
                      <a:solidFill>
                        <a:srgbClr val="D6E3E8"/>
                      </a:solidFill>
                      <a:prstDash val="solid"/>
                      <a:round/>
                      <a:headEnd type="none" w="med" len="med"/>
                      <a:tailEnd type="none" w="med" len="med"/>
                    </a:lnR>
                    <a:lnT w="9525" cap="flat" cmpd="sng" algn="ctr">
                      <a:solidFill>
                        <a:srgbClr val="D6E3E8"/>
                      </a:solidFill>
                      <a:prstDash val="solid"/>
                      <a:round/>
                      <a:headEnd type="none" w="med" len="med"/>
                      <a:tailEnd type="none" w="med" len="med"/>
                    </a:lnT>
                    <a:lnB w="9525" cap="flat" cmpd="sng" algn="ctr">
                      <a:solidFill>
                        <a:srgbClr val="D6E3E8"/>
                      </a:solidFill>
                      <a:prstDash val="solid"/>
                      <a:round/>
                      <a:headEnd type="none" w="med" len="med"/>
                      <a:tailEnd type="none" w="med" len="med"/>
                    </a:lnB>
                    <a:solidFill>
                      <a:srgbClr val="EAF2F6"/>
                    </a:solidFill>
                  </a:tcPr>
                </a:tc>
                <a:tc>
                  <a:txBody>
                    <a:bodyPr/>
                    <a:lstStyle/>
                    <a:p>
                      <a:pPr indent="0" marL="0">
                        <a:buNone/>
                      </a:pPr>
                      <a:r>
                        <a:rPr lang="en-US" sz="1050" dirty="0">
                          <a:solidFill>
                            <a:srgbClr val="1A1A2E"/>
                          </a:solidFill>
                          <a:latin typeface="BIZ UDゴシック" pitchFamily="34" charset="0"/>
                          <a:ea typeface="BIZ UDゴシック" pitchFamily="34" charset="-122"/>
                          <a:cs typeface="BIZ UDゴシック" pitchFamily="34" charset="-120"/>
                        </a:rPr>
                        <a:t>在庫処理</a:t>
                      </a:r>
                      <a:endParaRPr lang="en-US" sz="1050" dirty="0">
                        <a:latin typeface="BIZ UDゴシック" charset="0"/>
                        <a:ea typeface="BIZ UDゴシック" charset="0"/>
                        <a:cs typeface="BIZ UDゴシック" charset="0"/>
                      </a:endParaRPr>
                    </a:p>
                  </a:txBody>
                  <a:tcPr marL="91440" marR="91440" marT="45720" marB="45720" anchor="ctr">
                    <a:lnL w="9525" cap="flat" cmpd="sng" algn="ctr">
                      <a:solidFill>
                        <a:srgbClr val="D6E3E8"/>
                      </a:solidFill>
                      <a:prstDash val="solid"/>
                      <a:round/>
                      <a:headEnd type="none" w="med" len="med"/>
                      <a:tailEnd type="none" w="med" len="med"/>
                    </a:lnL>
                    <a:lnR w="9525" cap="flat" cmpd="sng" algn="ctr">
                      <a:solidFill>
                        <a:srgbClr val="D6E3E8"/>
                      </a:solidFill>
                      <a:prstDash val="solid"/>
                      <a:round/>
                      <a:headEnd type="none" w="med" len="med"/>
                      <a:tailEnd type="none" w="med" len="med"/>
                    </a:lnR>
                    <a:lnT w="9525" cap="flat" cmpd="sng" algn="ctr">
                      <a:solidFill>
                        <a:srgbClr val="D6E3E8"/>
                      </a:solidFill>
                      <a:prstDash val="solid"/>
                      <a:round/>
                      <a:headEnd type="none" w="med" len="med"/>
                      <a:tailEnd type="none" w="med" len="med"/>
                    </a:lnT>
                    <a:lnB w="9525" cap="flat" cmpd="sng" algn="ctr">
                      <a:solidFill>
                        <a:srgbClr val="D6E3E8"/>
                      </a:solidFill>
                      <a:prstDash val="solid"/>
                      <a:round/>
                      <a:headEnd type="none" w="med" len="med"/>
                      <a:tailEnd type="none" w="med" len="med"/>
                    </a:lnB>
                    <a:solidFill>
                      <a:srgbClr val="EAF2F6"/>
                    </a:solidFill>
                  </a:tcPr>
                </a:tc>
                <a:tc>
                  <a:txBody>
                    <a:bodyPr/>
                    <a:lstStyle/>
                    <a:p>
                      <a:pPr indent="0" marL="0">
                        <a:buNone/>
                      </a:pPr>
                      <a:r>
                        <a:rPr lang="en-US" sz="1050" dirty="0">
                          <a:solidFill>
                            <a:srgbClr val="1A1A2E"/>
                          </a:solidFill>
                          <a:latin typeface="BIZ UDゴシック" pitchFamily="34" charset="0"/>
                          <a:ea typeface="BIZ UDゴシック" pitchFamily="34" charset="-122"/>
                          <a:cs typeface="BIZ UDゴシック" pitchFamily="34" charset="-120"/>
                        </a:rPr>
                        <a:t>サービス間依存関係の再現</a:t>
                      </a:r>
                      <a:endParaRPr lang="en-US" sz="1050" dirty="0">
                        <a:latin typeface="BIZ UDゴシック" charset="0"/>
                        <a:ea typeface="BIZ UDゴシック" charset="0"/>
                        <a:cs typeface="BIZ UDゴシック" charset="0"/>
                      </a:endParaRPr>
                    </a:p>
                  </a:txBody>
                  <a:tcPr marL="91440" marR="91440" marT="45720" marB="45720" anchor="ctr">
                    <a:lnL w="9525" cap="flat" cmpd="sng" algn="ctr">
                      <a:solidFill>
                        <a:srgbClr val="D6E3E8"/>
                      </a:solidFill>
                      <a:prstDash val="solid"/>
                      <a:round/>
                      <a:headEnd type="none" w="med" len="med"/>
                      <a:tailEnd type="none" w="med" len="med"/>
                    </a:lnL>
                    <a:lnR w="9525" cap="flat" cmpd="sng" algn="ctr">
                      <a:solidFill>
                        <a:srgbClr val="D6E3E8"/>
                      </a:solidFill>
                      <a:prstDash val="solid"/>
                      <a:round/>
                      <a:headEnd type="none" w="med" len="med"/>
                      <a:tailEnd type="none" w="med" len="med"/>
                    </a:lnR>
                    <a:lnT w="9525" cap="flat" cmpd="sng" algn="ctr">
                      <a:solidFill>
                        <a:srgbClr val="D6E3E8"/>
                      </a:solidFill>
                      <a:prstDash val="solid"/>
                      <a:round/>
                      <a:headEnd type="none" w="med" len="med"/>
                      <a:tailEnd type="none" w="med" len="med"/>
                    </a:lnT>
                    <a:lnB w="9525" cap="flat" cmpd="sng" algn="ctr">
                      <a:solidFill>
                        <a:srgbClr val="D6E3E8"/>
                      </a:solidFill>
                      <a:prstDash val="solid"/>
                      <a:round/>
                      <a:headEnd type="none" w="med" len="med"/>
                      <a:tailEnd type="none" w="med" len="med"/>
                    </a:lnB>
                    <a:solidFill>
                      <a:srgbClr val="EAF2F6"/>
                    </a:solidFill>
                  </a:tcPr>
                </a:tc>
              </a:tr>
              <a:tr h="379476">
                <a:tc>
                  <a:txBody>
                    <a:bodyPr/>
                    <a:lstStyle/>
                    <a:p>
                      <a:pPr indent="0" marL="0">
                        <a:buNone/>
                      </a:pPr>
                      <a:r>
                        <a:rPr lang="en-US" sz="1050" dirty="0">
                          <a:solidFill>
                            <a:srgbClr val="1A1A2E"/>
                          </a:solidFill>
                          <a:latin typeface="BIZ UDゴシック" pitchFamily="34" charset="0"/>
                          <a:ea typeface="BIZ UDゴシック" pitchFamily="34" charset="-122"/>
                          <a:cs typeface="BIZ UDゴシック" pitchFamily="34" charset="-120"/>
                        </a:rPr>
                        <a:t>Payment Service</a:t>
                      </a:r>
                      <a:endParaRPr lang="en-US" sz="1050" dirty="0">
                        <a:latin typeface="BIZ UDゴシック" charset="0"/>
                        <a:ea typeface="BIZ UDゴシック" charset="0"/>
                        <a:cs typeface="BIZ UDゴシック" charset="0"/>
                      </a:endParaRPr>
                    </a:p>
                  </a:txBody>
                  <a:tcPr marL="91440" marR="91440" marT="45720" marB="45720" anchor="ctr">
                    <a:lnL w="9525" cap="flat" cmpd="sng" algn="ctr">
                      <a:solidFill>
                        <a:srgbClr val="D6E3E8"/>
                      </a:solidFill>
                      <a:prstDash val="solid"/>
                      <a:round/>
                      <a:headEnd type="none" w="med" len="med"/>
                      <a:tailEnd type="none" w="med" len="med"/>
                    </a:lnL>
                    <a:lnR w="9525" cap="flat" cmpd="sng" algn="ctr">
                      <a:solidFill>
                        <a:srgbClr val="D6E3E8"/>
                      </a:solidFill>
                      <a:prstDash val="solid"/>
                      <a:round/>
                      <a:headEnd type="none" w="med" len="med"/>
                      <a:tailEnd type="none" w="med" len="med"/>
                    </a:lnR>
                    <a:lnT w="9525" cap="flat" cmpd="sng" algn="ctr">
                      <a:solidFill>
                        <a:srgbClr val="D6E3E8"/>
                      </a:solidFill>
                      <a:prstDash val="solid"/>
                      <a:round/>
                      <a:headEnd type="none" w="med" len="med"/>
                      <a:tailEnd type="none" w="med" len="med"/>
                    </a:lnT>
                    <a:lnB w="9525" cap="flat" cmpd="sng" algn="ctr">
                      <a:solidFill>
                        <a:srgbClr val="D6E3E8"/>
                      </a:solidFill>
                      <a:prstDash val="solid"/>
                      <a:round/>
                      <a:headEnd type="none" w="med" len="med"/>
                      <a:tailEnd type="none" w="med" len="med"/>
                    </a:lnB>
                    <a:solidFill>
                      <a:srgbClr val="FFFFFF"/>
                    </a:solidFill>
                  </a:tcPr>
                </a:tc>
                <a:tc>
                  <a:txBody>
                    <a:bodyPr/>
                    <a:lstStyle/>
                    <a:p>
                      <a:pPr indent="0" marL="0">
                        <a:buNone/>
                      </a:pPr>
                      <a:r>
                        <a:rPr lang="en-US" sz="1050" dirty="0">
                          <a:solidFill>
                            <a:srgbClr val="1A1A2E"/>
                          </a:solidFill>
                          <a:latin typeface="BIZ UDゴシック" pitchFamily="34" charset="0"/>
                          <a:ea typeface="BIZ UDゴシック" pitchFamily="34" charset="-122"/>
                          <a:cs typeface="BIZ UDゴシック" pitchFamily="34" charset="-120"/>
                        </a:rPr>
                        <a:t>決済処理</a:t>
                      </a:r>
                      <a:endParaRPr lang="en-US" sz="1050" dirty="0">
                        <a:latin typeface="BIZ UDゴシック" charset="0"/>
                        <a:ea typeface="BIZ UDゴシック" charset="0"/>
                        <a:cs typeface="BIZ UDゴシック" charset="0"/>
                      </a:endParaRPr>
                    </a:p>
                  </a:txBody>
                  <a:tcPr marL="91440" marR="91440" marT="45720" marB="45720" anchor="ctr">
                    <a:lnL w="9525" cap="flat" cmpd="sng" algn="ctr">
                      <a:solidFill>
                        <a:srgbClr val="D6E3E8"/>
                      </a:solidFill>
                      <a:prstDash val="solid"/>
                      <a:round/>
                      <a:headEnd type="none" w="med" len="med"/>
                      <a:tailEnd type="none" w="med" len="med"/>
                    </a:lnL>
                    <a:lnR w="9525" cap="flat" cmpd="sng" algn="ctr">
                      <a:solidFill>
                        <a:srgbClr val="D6E3E8"/>
                      </a:solidFill>
                      <a:prstDash val="solid"/>
                      <a:round/>
                      <a:headEnd type="none" w="med" len="med"/>
                      <a:tailEnd type="none" w="med" len="med"/>
                    </a:lnR>
                    <a:lnT w="9525" cap="flat" cmpd="sng" algn="ctr">
                      <a:solidFill>
                        <a:srgbClr val="D6E3E8"/>
                      </a:solidFill>
                      <a:prstDash val="solid"/>
                      <a:round/>
                      <a:headEnd type="none" w="med" len="med"/>
                      <a:tailEnd type="none" w="med" len="med"/>
                    </a:lnT>
                    <a:lnB w="9525" cap="flat" cmpd="sng" algn="ctr">
                      <a:solidFill>
                        <a:srgbClr val="D6E3E8"/>
                      </a:solidFill>
                      <a:prstDash val="solid"/>
                      <a:round/>
                      <a:headEnd type="none" w="med" len="med"/>
                      <a:tailEnd type="none" w="med" len="med"/>
                    </a:lnB>
                    <a:solidFill>
                      <a:srgbClr val="FFFFFF"/>
                    </a:solidFill>
                  </a:tcPr>
                </a:tc>
                <a:tc>
                  <a:txBody>
                    <a:bodyPr/>
                    <a:lstStyle/>
                    <a:p>
                      <a:pPr indent="0" marL="0">
                        <a:buNone/>
                      </a:pPr>
                      <a:r>
                        <a:rPr lang="en-US" sz="1050" dirty="0">
                          <a:solidFill>
                            <a:srgbClr val="1A1A2E"/>
                          </a:solidFill>
                          <a:latin typeface="BIZ UDゴシック" pitchFamily="34" charset="0"/>
                          <a:ea typeface="BIZ UDゴシック" pitchFamily="34" charset="-122"/>
                          <a:cs typeface="BIZ UDゴシック" pitchFamily="34" charset="-120"/>
                        </a:rPr>
                        <a:t>障害・遅延シナリオの再現</a:t>
                      </a:r>
                      <a:endParaRPr lang="en-US" sz="1050" dirty="0">
                        <a:latin typeface="BIZ UDゴシック" charset="0"/>
                        <a:ea typeface="BIZ UDゴシック" charset="0"/>
                        <a:cs typeface="BIZ UDゴシック" charset="0"/>
                      </a:endParaRPr>
                    </a:p>
                  </a:txBody>
                  <a:tcPr marL="91440" marR="91440" marT="45720" marB="45720" anchor="ctr">
                    <a:lnL w="9525" cap="flat" cmpd="sng" algn="ctr">
                      <a:solidFill>
                        <a:srgbClr val="D6E3E8"/>
                      </a:solidFill>
                      <a:prstDash val="solid"/>
                      <a:round/>
                      <a:headEnd type="none" w="med" len="med"/>
                      <a:tailEnd type="none" w="med" len="med"/>
                    </a:lnL>
                    <a:lnR w="9525" cap="flat" cmpd="sng" algn="ctr">
                      <a:solidFill>
                        <a:srgbClr val="D6E3E8"/>
                      </a:solidFill>
                      <a:prstDash val="solid"/>
                      <a:round/>
                      <a:headEnd type="none" w="med" len="med"/>
                      <a:tailEnd type="none" w="med" len="med"/>
                    </a:lnR>
                    <a:lnT w="9525" cap="flat" cmpd="sng" algn="ctr">
                      <a:solidFill>
                        <a:srgbClr val="D6E3E8"/>
                      </a:solidFill>
                      <a:prstDash val="solid"/>
                      <a:round/>
                      <a:headEnd type="none" w="med" len="med"/>
                      <a:tailEnd type="none" w="med" len="med"/>
                    </a:lnT>
                    <a:lnB w="9525" cap="flat" cmpd="sng" algn="ctr">
                      <a:solidFill>
                        <a:srgbClr val="D6E3E8"/>
                      </a:solidFill>
                      <a:prstDash val="solid"/>
                      <a:round/>
                      <a:headEnd type="none" w="med" len="med"/>
                      <a:tailEnd type="none" w="med" len="med"/>
                    </a:lnB>
                    <a:solidFill>
                      <a:srgbClr val="FFFFFF"/>
                    </a:solidFill>
                  </a:tcPr>
                </a:tc>
              </a:tr>
              <a:tr h="379476">
                <a:tc>
                  <a:txBody>
                    <a:bodyPr/>
                    <a:lstStyle/>
                    <a:p>
                      <a:pPr indent="0" marL="0">
                        <a:buNone/>
                      </a:pPr>
                      <a:r>
                        <a:rPr lang="en-US" sz="1050" dirty="0">
                          <a:solidFill>
                            <a:srgbClr val="1A1A2E"/>
                          </a:solidFill>
                          <a:latin typeface="BIZ UDゴシック" pitchFamily="34" charset="0"/>
                          <a:ea typeface="BIZ UDゴシック" pitchFamily="34" charset="-122"/>
                          <a:cs typeface="BIZ UDゴシック" pitchFamily="34" charset="-120"/>
                        </a:rPr>
                        <a:t>Payment Mock</a:t>
                      </a:r>
                      <a:endParaRPr lang="en-US" sz="1050" dirty="0">
                        <a:latin typeface="BIZ UDゴシック" charset="0"/>
                        <a:ea typeface="BIZ UDゴシック" charset="0"/>
                        <a:cs typeface="BIZ UDゴシック" charset="0"/>
                      </a:endParaRPr>
                    </a:p>
                  </a:txBody>
                  <a:tcPr marL="91440" marR="91440" marT="45720" marB="45720" anchor="ctr">
                    <a:lnL w="9525" cap="flat" cmpd="sng" algn="ctr">
                      <a:solidFill>
                        <a:srgbClr val="D6E3E8"/>
                      </a:solidFill>
                      <a:prstDash val="solid"/>
                      <a:round/>
                      <a:headEnd type="none" w="med" len="med"/>
                      <a:tailEnd type="none" w="med" len="med"/>
                    </a:lnL>
                    <a:lnR w="9525" cap="flat" cmpd="sng" algn="ctr">
                      <a:solidFill>
                        <a:srgbClr val="D6E3E8"/>
                      </a:solidFill>
                      <a:prstDash val="solid"/>
                      <a:round/>
                      <a:headEnd type="none" w="med" len="med"/>
                      <a:tailEnd type="none" w="med" len="med"/>
                    </a:lnR>
                    <a:lnT w="9525" cap="flat" cmpd="sng" algn="ctr">
                      <a:solidFill>
                        <a:srgbClr val="D6E3E8"/>
                      </a:solidFill>
                      <a:prstDash val="solid"/>
                      <a:round/>
                      <a:headEnd type="none" w="med" len="med"/>
                      <a:tailEnd type="none" w="med" len="med"/>
                    </a:lnT>
                    <a:lnB w="9525" cap="flat" cmpd="sng" algn="ctr">
                      <a:solidFill>
                        <a:srgbClr val="D6E3E8"/>
                      </a:solidFill>
                      <a:prstDash val="solid"/>
                      <a:round/>
                      <a:headEnd type="none" w="med" len="med"/>
                      <a:tailEnd type="none" w="med" len="med"/>
                    </a:lnB>
                    <a:solidFill>
                      <a:srgbClr val="EAF2F6"/>
                    </a:solidFill>
                  </a:tcPr>
                </a:tc>
                <a:tc>
                  <a:txBody>
                    <a:bodyPr/>
                    <a:lstStyle/>
                    <a:p>
                      <a:pPr indent="0" marL="0">
                        <a:buNone/>
                      </a:pPr>
                      <a:r>
                        <a:rPr lang="en-US" sz="1050" dirty="0">
                          <a:solidFill>
                            <a:srgbClr val="1A1A2E"/>
                          </a:solidFill>
                          <a:latin typeface="BIZ UDゴシック" pitchFamily="34" charset="0"/>
                          <a:ea typeface="BIZ UDゴシック" pitchFamily="34" charset="-122"/>
                          <a:cs typeface="BIZ UDゴシック" pitchFamily="34" charset="-120"/>
                        </a:rPr>
                        <a:t>外部決済API模擬</a:t>
                      </a:r>
                      <a:endParaRPr lang="en-US" sz="1050" dirty="0">
                        <a:latin typeface="BIZ UDゴシック" charset="0"/>
                        <a:ea typeface="BIZ UDゴシック" charset="0"/>
                        <a:cs typeface="BIZ UDゴシック" charset="0"/>
                      </a:endParaRPr>
                    </a:p>
                  </a:txBody>
                  <a:tcPr marL="91440" marR="91440" marT="45720" marB="45720" anchor="ctr">
                    <a:lnL w="9525" cap="flat" cmpd="sng" algn="ctr">
                      <a:solidFill>
                        <a:srgbClr val="D6E3E8"/>
                      </a:solidFill>
                      <a:prstDash val="solid"/>
                      <a:round/>
                      <a:headEnd type="none" w="med" len="med"/>
                      <a:tailEnd type="none" w="med" len="med"/>
                    </a:lnL>
                    <a:lnR w="9525" cap="flat" cmpd="sng" algn="ctr">
                      <a:solidFill>
                        <a:srgbClr val="D6E3E8"/>
                      </a:solidFill>
                      <a:prstDash val="solid"/>
                      <a:round/>
                      <a:headEnd type="none" w="med" len="med"/>
                      <a:tailEnd type="none" w="med" len="med"/>
                    </a:lnR>
                    <a:lnT w="9525" cap="flat" cmpd="sng" algn="ctr">
                      <a:solidFill>
                        <a:srgbClr val="D6E3E8"/>
                      </a:solidFill>
                      <a:prstDash val="solid"/>
                      <a:round/>
                      <a:headEnd type="none" w="med" len="med"/>
                      <a:tailEnd type="none" w="med" len="med"/>
                    </a:lnT>
                    <a:lnB w="9525" cap="flat" cmpd="sng" algn="ctr">
                      <a:solidFill>
                        <a:srgbClr val="D6E3E8"/>
                      </a:solidFill>
                      <a:prstDash val="solid"/>
                      <a:round/>
                      <a:headEnd type="none" w="med" len="med"/>
                      <a:tailEnd type="none" w="med" len="med"/>
                    </a:lnB>
                    <a:solidFill>
                      <a:srgbClr val="EAF2F6"/>
                    </a:solidFill>
                  </a:tcPr>
                </a:tc>
                <a:tc>
                  <a:txBody>
                    <a:bodyPr/>
                    <a:lstStyle/>
                    <a:p>
                      <a:pPr indent="0" marL="0">
                        <a:buNone/>
                      </a:pPr>
                      <a:r>
                        <a:rPr lang="en-US" sz="1050" dirty="0">
                          <a:solidFill>
                            <a:srgbClr val="1A1A2E"/>
                          </a:solidFill>
                          <a:latin typeface="BIZ UDゴシック" pitchFamily="34" charset="0"/>
                          <a:ea typeface="BIZ UDゴシック" pitchFamily="34" charset="-122"/>
                          <a:cs typeface="BIZ UDゴシック" pitchFamily="34" charset="-120"/>
                        </a:rPr>
                        <a:t>外部依存障害の再現</a:t>
                      </a:r>
                      <a:endParaRPr lang="en-US" sz="1050" dirty="0">
                        <a:latin typeface="BIZ UDゴシック" charset="0"/>
                        <a:ea typeface="BIZ UDゴシック" charset="0"/>
                        <a:cs typeface="BIZ UDゴシック" charset="0"/>
                      </a:endParaRPr>
                    </a:p>
                  </a:txBody>
                  <a:tcPr marL="91440" marR="91440" marT="45720" marB="45720" anchor="ctr">
                    <a:lnL w="9525" cap="flat" cmpd="sng" algn="ctr">
                      <a:solidFill>
                        <a:srgbClr val="D6E3E8"/>
                      </a:solidFill>
                      <a:prstDash val="solid"/>
                      <a:round/>
                      <a:headEnd type="none" w="med" len="med"/>
                      <a:tailEnd type="none" w="med" len="med"/>
                    </a:lnL>
                    <a:lnR w="9525" cap="flat" cmpd="sng" algn="ctr">
                      <a:solidFill>
                        <a:srgbClr val="D6E3E8"/>
                      </a:solidFill>
                      <a:prstDash val="solid"/>
                      <a:round/>
                      <a:headEnd type="none" w="med" len="med"/>
                      <a:tailEnd type="none" w="med" len="med"/>
                    </a:lnR>
                    <a:lnT w="9525" cap="flat" cmpd="sng" algn="ctr">
                      <a:solidFill>
                        <a:srgbClr val="D6E3E8"/>
                      </a:solidFill>
                      <a:prstDash val="solid"/>
                      <a:round/>
                      <a:headEnd type="none" w="med" len="med"/>
                      <a:tailEnd type="none" w="med" len="med"/>
                    </a:lnT>
                    <a:lnB w="9525" cap="flat" cmpd="sng" algn="ctr">
                      <a:solidFill>
                        <a:srgbClr val="D6E3E8"/>
                      </a:solidFill>
                      <a:prstDash val="solid"/>
                      <a:round/>
                      <a:headEnd type="none" w="med" len="med"/>
                      <a:tailEnd type="none" w="med" len="med"/>
                    </a:lnB>
                    <a:solidFill>
                      <a:srgbClr val="EAF2F6"/>
                    </a:solidFill>
                  </a:tcPr>
                </a:tc>
              </a:tr>
              <a:tr h="379476">
                <a:tc>
                  <a:txBody>
                    <a:bodyPr/>
                    <a:lstStyle/>
                    <a:p>
                      <a:pPr indent="0" marL="0">
                        <a:buNone/>
                      </a:pPr>
                      <a:r>
                        <a:rPr lang="en-US" sz="1050" dirty="0">
                          <a:solidFill>
                            <a:srgbClr val="1A1A2E"/>
                          </a:solidFill>
                          <a:latin typeface="BIZ UDゴシック" pitchFamily="34" charset="0"/>
                          <a:ea typeface="BIZ UDゴシック" pitchFamily="34" charset="-122"/>
                          <a:cs typeface="BIZ UDゴシック" pitchFamily="34" charset="-120"/>
                        </a:rPr>
                        <a:t>Load Generator</a:t>
                      </a:r>
                      <a:endParaRPr lang="en-US" sz="1050" dirty="0">
                        <a:latin typeface="BIZ UDゴシック" charset="0"/>
                        <a:ea typeface="BIZ UDゴシック" charset="0"/>
                        <a:cs typeface="BIZ UDゴシック" charset="0"/>
                      </a:endParaRPr>
                    </a:p>
                  </a:txBody>
                  <a:tcPr marL="91440" marR="91440" marT="45720" marB="45720" anchor="ctr">
                    <a:lnL w="9525" cap="flat" cmpd="sng" algn="ctr">
                      <a:solidFill>
                        <a:srgbClr val="D6E3E8"/>
                      </a:solidFill>
                      <a:prstDash val="solid"/>
                      <a:round/>
                      <a:headEnd type="none" w="med" len="med"/>
                      <a:tailEnd type="none" w="med" len="med"/>
                    </a:lnL>
                    <a:lnR w="9525" cap="flat" cmpd="sng" algn="ctr">
                      <a:solidFill>
                        <a:srgbClr val="D6E3E8"/>
                      </a:solidFill>
                      <a:prstDash val="solid"/>
                      <a:round/>
                      <a:headEnd type="none" w="med" len="med"/>
                      <a:tailEnd type="none" w="med" len="med"/>
                    </a:lnR>
                    <a:lnT w="9525" cap="flat" cmpd="sng" algn="ctr">
                      <a:solidFill>
                        <a:srgbClr val="D6E3E8"/>
                      </a:solidFill>
                      <a:prstDash val="solid"/>
                      <a:round/>
                      <a:headEnd type="none" w="med" len="med"/>
                      <a:tailEnd type="none" w="med" len="med"/>
                    </a:lnT>
                    <a:lnB w="9525" cap="flat" cmpd="sng" algn="ctr">
                      <a:solidFill>
                        <a:srgbClr val="D6E3E8"/>
                      </a:solidFill>
                      <a:prstDash val="solid"/>
                      <a:round/>
                      <a:headEnd type="none" w="med" len="med"/>
                      <a:tailEnd type="none" w="med" len="med"/>
                    </a:lnB>
                    <a:solidFill>
                      <a:srgbClr val="FFFFFF"/>
                    </a:solidFill>
                  </a:tcPr>
                </a:tc>
                <a:tc>
                  <a:txBody>
                    <a:bodyPr/>
                    <a:lstStyle/>
                    <a:p>
                      <a:pPr indent="0" marL="0">
                        <a:buNone/>
                      </a:pPr>
                      <a:r>
                        <a:rPr lang="en-US" sz="1050" dirty="0">
                          <a:solidFill>
                            <a:srgbClr val="1A1A2E"/>
                          </a:solidFill>
                          <a:latin typeface="BIZ UDゴシック" pitchFamily="34" charset="0"/>
                          <a:ea typeface="BIZ UDゴシック" pitchFamily="34" charset="-122"/>
                          <a:cs typeface="BIZ UDゴシック" pitchFamily="34" charset="-120"/>
                        </a:rPr>
                        <a:t>リクエスト生成</a:t>
                      </a:r>
                      <a:endParaRPr lang="en-US" sz="1050" dirty="0">
                        <a:latin typeface="BIZ UDゴシック" charset="0"/>
                        <a:ea typeface="BIZ UDゴシック" charset="0"/>
                        <a:cs typeface="BIZ UDゴシック" charset="0"/>
                      </a:endParaRPr>
                    </a:p>
                  </a:txBody>
                  <a:tcPr marL="91440" marR="91440" marT="45720" marB="45720" anchor="ctr">
                    <a:lnL w="9525" cap="flat" cmpd="sng" algn="ctr">
                      <a:solidFill>
                        <a:srgbClr val="D6E3E8"/>
                      </a:solidFill>
                      <a:prstDash val="solid"/>
                      <a:round/>
                      <a:headEnd type="none" w="med" len="med"/>
                      <a:tailEnd type="none" w="med" len="med"/>
                    </a:lnL>
                    <a:lnR w="9525" cap="flat" cmpd="sng" algn="ctr">
                      <a:solidFill>
                        <a:srgbClr val="D6E3E8"/>
                      </a:solidFill>
                      <a:prstDash val="solid"/>
                      <a:round/>
                      <a:headEnd type="none" w="med" len="med"/>
                      <a:tailEnd type="none" w="med" len="med"/>
                    </a:lnR>
                    <a:lnT w="9525" cap="flat" cmpd="sng" algn="ctr">
                      <a:solidFill>
                        <a:srgbClr val="D6E3E8"/>
                      </a:solidFill>
                      <a:prstDash val="solid"/>
                      <a:round/>
                      <a:headEnd type="none" w="med" len="med"/>
                      <a:tailEnd type="none" w="med" len="med"/>
                    </a:lnT>
                    <a:lnB w="9525" cap="flat" cmpd="sng" algn="ctr">
                      <a:solidFill>
                        <a:srgbClr val="D6E3E8"/>
                      </a:solidFill>
                      <a:prstDash val="solid"/>
                      <a:round/>
                      <a:headEnd type="none" w="med" len="med"/>
                      <a:tailEnd type="none" w="med" len="med"/>
                    </a:lnB>
                    <a:solidFill>
                      <a:srgbClr val="FFFFFF"/>
                    </a:solidFill>
                  </a:tcPr>
                </a:tc>
                <a:tc>
                  <a:txBody>
                    <a:bodyPr/>
                    <a:lstStyle/>
                    <a:p>
                      <a:pPr indent="0" marL="0">
                        <a:buNone/>
                      </a:pPr>
                      <a:r>
                        <a:rPr lang="en-US" sz="1050" dirty="0">
                          <a:solidFill>
                            <a:srgbClr val="1A1A2E"/>
                          </a:solidFill>
                          <a:latin typeface="BIZ UDゴシック" pitchFamily="34" charset="0"/>
                          <a:ea typeface="BIZ UDゴシック" pitchFamily="34" charset="-122"/>
                          <a:cs typeface="BIZ UDゴシック" pitchFamily="34" charset="-120"/>
                        </a:rPr>
                        <a:t>負荷・障害状況の再現</a:t>
                      </a:r>
                      <a:endParaRPr lang="en-US" sz="1050" dirty="0">
                        <a:latin typeface="BIZ UDゴシック" charset="0"/>
                        <a:ea typeface="BIZ UDゴシック" charset="0"/>
                        <a:cs typeface="BIZ UDゴシック" charset="0"/>
                      </a:endParaRPr>
                    </a:p>
                  </a:txBody>
                  <a:tcPr marL="91440" marR="91440" marT="45720" marB="45720" anchor="ctr">
                    <a:lnL w="9525" cap="flat" cmpd="sng" algn="ctr">
                      <a:solidFill>
                        <a:srgbClr val="D6E3E8"/>
                      </a:solidFill>
                      <a:prstDash val="solid"/>
                      <a:round/>
                      <a:headEnd type="none" w="med" len="med"/>
                      <a:tailEnd type="none" w="med" len="med"/>
                    </a:lnL>
                    <a:lnR w="9525" cap="flat" cmpd="sng" algn="ctr">
                      <a:solidFill>
                        <a:srgbClr val="D6E3E8"/>
                      </a:solidFill>
                      <a:prstDash val="solid"/>
                      <a:round/>
                      <a:headEnd type="none" w="med" len="med"/>
                      <a:tailEnd type="none" w="med" len="med"/>
                    </a:lnR>
                    <a:lnT w="9525" cap="flat" cmpd="sng" algn="ctr">
                      <a:solidFill>
                        <a:srgbClr val="D6E3E8"/>
                      </a:solidFill>
                      <a:prstDash val="solid"/>
                      <a:round/>
                      <a:headEnd type="none" w="med" len="med"/>
                      <a:tailEnd type="none" w="med" len="med"/>
                    </a:lnT>
                    <a:lnB w="9525" cap="flat" cmpd="sng" algn="ctr">
                      <a:solidFill>
                        <a:srgbClr val="D6E3E8"/>
                      </a:solidFill>
                      <a:prstDash val="solid"/>
                      <a:round/>
                      <a:headEnd type="none" w="med" len="med"/>
                      <a:tailEnd type="none" w="med" len="med"/>
                    </a:lnB>
                    <a:solidFill>
                      <a:srgbClr val="FFFFFF"/>
                    </a:solidFill>
                  </a:tcPr>
                </a:tc>
              </a:tr>
              <a:tr h="379476">
                <a:tc>
                  <a:txBody>
                    <a:bodyPr/>
                    <a:lstStyle/>
                    <a:p>
                      <a:pPr indent="0" marL="0">
                        <a:buNone/>
                      </a:pPr>
                      <a:r>
                        <a:rPr lang="en-US" sz="1050" dirty="0">
                          <a:solidFill>
                            <a:srgbClr val="1A1A2E"/>
                          </a:solidFill>
                          <a:latin typeface="BIZ UDゴシック" pitchFamily="34" charset="0"/>
                          <a:ea typeface="BIZ UDゴシック" pitchFamily="34" charset="-122"/>
                          <a:cs typeface="BIZ UDゴシック" pitchFamily="34" charset="-120"/>
                        </a:rPr>
                        <a:t>New Relic MCP</a:t>
                      </a:r>
                      <a:endParaRPr lang="en-US" sz="1050" dirty="0">
                        <a:latin typeface="BIZ UDゴシック" charset="0"/>
                        <a:ea typeface="BIZ UDゴシック" charset="0"/>
                        <a:cs typeface="BIZ UDゴシック" charset="0"/>
                      </a:endParaRPr>
                    </a:p>
                  </a:txBody>
                  <a:tcPr marL="91440" marR="91440" marT="45720" marB="45720" anchor="ctr">
                    <a:lnL w="9525" cap="flat" cmpd="sng" algn="ctr">
                      <a:solidFill>
                        <a:srgbClr val="D6E3E8"/>
                      </a:solidFill>
                      <a:prstDash val="solid"/>
                      <a:round/>
                      <a:headEnd type="none" w="med" len="med"/>
                      <a:tailEnd type="none" w="med" len="med"/>
                    </a:lnL>
                    <a:lnR w="9525" cap="flat" cmpd="sng" algn="ctr">
                      <a:solidFill>
                        <a:srgbClr val="D6E3E8"/>
                      </a:solidFill>
                      <a:prstDash val="solid"/>
                      <a:round/>
                      <a:headEnd type="none" w="med" len="med"/>
                      <a:tailEnd type="none" w="med" len="med"/>
                    </a:lnR>
                    <a:lnT w="9525" cap="flat" cmpd="sng" algn="ctr">
                      <a:solidFill>
                        <a:srgbClr val="D6E3E8"/>
                      </a:solidFill>
                      <a:prstDash val="solid"/>
                      <a:round/>
                      <a:headEnd type="none" w="med" len="med"/>
                      <a:tailEnd type="none" w="med" len="med"/>
                    </a:lnT>
                    <a:lnB w="9525" cap="flat" cmpd="sng" algn="ctr">
                      <a:solidFill>
                        <a:srgbClr val="D6E3E8"/>
                      </a:solidFill>
                      <a:prstDash val="solid"/>
                      <a:round/>
                      <a:headEnd type="none" w="med" len="med"/>
                      <a:tailEnd type="none" w="med" len="med"/>
                    </a:lnB>
                    <a:solidFill>
                      <a:srgbClr val="EAF2F6"/>
                    </a:solidFill>
                  </a:tcPr>
                </a:tc>
                <a:tc>
                  <a:txBody>
                    <a:bodyPr/>
                    <a:lstStyle/>
                    <a:p>
                      <a:pPr indent="0" marL="0">
                        <a:buNone/>
                      </a:pPr>
                      <a:r>
                        <a:rPr lang="en-US" sz="1050" dirty="0">
                          <a:solidFill>
                            <a:srgbClr val="1A1A2E"/>
                          </a:solidFill>
                          <a:latin typeface="BIZ UDゴシック" pitchFamily="34" charset="0"/>
                          <a:ea typeface="BIZ UDゴシック" pitchFamily="34" charset="-122"/>
                          <a:cs typeface="BIZ UDゴシック" pitchFamily="34" charset="-120"/>
                        </a:rPr>
                        <a:t>New Relic検索</a:t>
                      </a:r>
                      <a:endParaRPr lang="en-US" sz="1050" dirty="0">
                        <a:latin typeface="BIZ UDゴシック" charset="0"/>
                        <a:ea typeface="BIZ UDゴシック" charset="0"/>
                        <a:cs typeface="BIZ UDゴシック" charset="0"/>
                      </a:endParaRPr>
                    </a:p>
                  </a:txBody>
                  <a:tcPr marL="91440" marR="91440" marT="45720" marB="45720" anchor="ctr">
                    <a:lnL w="9525" cap="flat" cmpd="sng" algn="ctr">
                      <a:solidFill>
                        <a:srgbClr val="D6E3E8"/>
                      </a:solidFill>
                      <a:prstDash val="solid"/>
                      <a:round/>
                      <a:headEnd type="none" w="med" len="med"/>
                      <a:tailEnd type="none" w="med" len="med"/>
                    </a:lnL>
                    <a:lnR w="9525" cap="flat" cmpd="sng" algn="ctr">
                      <a:solidFill>
                        <a:srgbClr val="D6E3E8"/>
                      </a:solidFill>
                      <a:prstDash val="solid"/>
                      <a:round/>
                      <a:headEnd type="none" w="med" len="med"/>
                      <a:tailEnd type="none" w="med" len="med"/>
                    </a:lnR>
                    <a:lnT w="9525" cap="flat" cmpd="sng" algn="ctr">
                      <a:solidFill>
                        <a:srgbClr val="D6E3E8"/>
                      </a:solidFill>
                      <a:prstDash val="solid"/>
                      <a:round/>
                      <a:headEnd type="none" w="med" len="med"/>
                      <a:tailEnd type="none" w="med" len="med"/>
                    </a:lnT>
                    <a:lnB w="9525" cap="flat" cmpd="sng" algn="ctr">
                      <a:solidFill>
                        <a:srgbClr val="D6E3E8"/>
                      </a:solidFill>
                      <a:prstDash val="solid"/>
                      <a:round/>
                      <a:headEnd type="none" w="med" len="med"/>
                      <a:tailEnd type="none" w="med" len="med"/>
                    </a:lnB>
                    <a:solidFill>
                      <a:srgbClr val="EAF2F6"/>
                    </a:solidFill>
                  </a:tcPr>
                </a:tc>
                <a:tc>
                  <a:txBody>
                    <a:bodyPr/>
                    <a:lstStyle/>
                    <a:p>
                      <a:pPr indent="0" marL="0">
                        <a:buNone/>
                      </a:pPr>
                      <a:r>
                        <a:rPr lang="en-US" sz="1050" dirty="0">
                          <a:solidFill>
                            <a:srgbClr val="1A1A2E"/>
                          </a:solidFill>
                          <a:latin typeface="BIZ UDゴシック" pitchFamily="34" charset="0"/>
                          <a:ea typeface="BIZ UDゴシック" pitchFamily="34" charset="-122"/>
                          <a:cs typeface="BIZ UDゴシック" pitchFamily="34" charset="-120"/>
                        </a:rPr>
                        <a:t>LLM側からAPM情報へ安全にアクセス</a:t>
                      </a:r>
                      <a:endParaRPr lang="en-US" sz="1050" dirty="0">
                        <a:latin typeface="BIZ UDゴシック" charset="0"/>
                        <a:ea typeface="BIZ UDゴシック" charset="0"/>
                        <a:cs typeface="BIZ UDゴシック" charset="0"/>
                      </a:endParaRPr>
                    </a:p>
                  </a:txBody>
                  <a:tcPr marL="91440" marR="91440" marT="45720" marB="45720" anchor="ctr">
                    <a:lnL w="9525" cap="flat" cmpd="sng" algn="ctr">
                      <a:solidFill>
                        <a:srgbClr val="D6E3E8"/>
                      </a:solidFill>
                      <a:prstDash val="solid"/>
                      <a:round/>
                      <a:headEnd type="none" w="med" len="med"/>
                      <a:tailEnd type="none" w="med" len="med"/>
                    </a:lnL>
                    <a:lnR w="9525" cap="flat" cmpd="sng" algn="ctr">
                      <a:solidFill>
                        <a:srgbClr val="D6E3E8"/>
                      </a:solidFill>
                      <a:prstDash val="solid"/>
                      <a:round/>
                      <a:headEnd type="none" w="med" len="med"/>
                      <a:tailEnd type="none" w="med" len="med"/>
                    </a:lnR>
                    <a:lnT w="9525" cap="flat" cmpd="sng" algn="ctr">
                      <a:solidFill>
                        <a:srgbClr val="D6E3E8"/>
                      </a:solidFill>
                      <a:prstDash val="solid"/>
                      <a:round/>
                      <a:headEnd type="none" w="med" len="med"/>
                      <a:tailEnd type="none" w="med" len="med"/>
                    </a:lnT>
                    <a:lnB w="9525" cap="flat" cmpd="sng" algn="ctr">
                      <a:solidFill>
                        <a:srgbClr val="D6E3E8"/>
                      </a:solidFill>
                      <a:prstDash val="solid"/>
                      <a:round/>
                      <a:headEnd type="none" w="med" len="med"/>
                      <a:tailEnd type="none" w="med" len="med"/>
                    </a:lnB>
                    <a:solidFill>
                      <a:srgbClr val="EAF2F6"/>
                    </a:solidFill>
                  </a:tcPr>
                </a:tc>
              </a:tr>
              <a:tr h="379476">
                <a:tc>
                  <a:txBody>
                    <a:bodyPr/>
                    <a:lstStyle/>
                    <a:p>
                      <a:pPr indent="0" marL="0">
                        <a:buNone/>
                      </a:pPr>
                      <a:r>
                        <a:rPr lang="en-US" sz="1050" dirty="0">
                          <a:solidFill>
                            <a:srgbClr val="1A1A2E"/>
                          </a:solidFill>
                          <a:latin typeface="BIZ UDゴシック" pitchFamily="34" charset="0"/>
                          <a:ea typeface="BIZ UDゴシック" pitchFamily="34" charset="-122"/>
                          <a:cs typeface="BIZ UDゴシック" pitchFamily="34" charset="-120"/>
                        </a:rPr>
                        <a:t>Console API</a:t>
                      </a:r>
                      <a:endParaRPr lang="en-US" sz="1050" dirty="0">
                        <a:latin typeface="BIZ UDゴシック" charset="0"/>
                        <a:ea typeface="BIZ UDゴシック" charset="0"/>
                        <a:cs typeface="BIZ UDゴシック" charset="0"/>
                      </a:endParaRPr>
                    </a:p>
                  </a:txBody>
                  <a:tcPr marL="91440" marR="91440" marT="45720" marB="45720" anchor="ctr">
                    <a:lnL w="9525" cap="flat" cmpd="sng" algn="ctr">
                      <a:solidFill>
                        <a:srgbClr val="D6E3E8"/>
                      </a:solidFill>
                      <a:prstDash val="solid"/>
                      <a:round/>
                      <a:headEnd type="none" w="med" len="med"/>
                      <a:tailEnd type="none" w="med" len="med"/>
                    </a:lnL>
                    <a:lnR w="9525" cap="flat" cmpd="sng" algn="ctr">
                      <a:solidFill>
                        <a:srgbClr val="D6E3E8"/>
                      </a:solidFill>
                      <a:prstDash val="solid"/>
                      <a:round/>
                      <a:headEnd type="none" w="med" len="med"/>
                      <a:tailEnd type="none" w="med" len="med"/>
                    </a:lnR>
                    <a:lnT w="9525" cap="flat" cmpd="sng" algn="ctr">
                      <a:solidFill>
                        <a:srgbClr val="D6E3E8"/>
                      </a:solidFill>
                      <a:prstDash val="solid"/>
                      <a:round/>
                      <a:headEnd type="none" w="med" len="med"/>
                      <a:tailEnd type="none" w="med" len="med"/>
                    </a:lnT>
                    <a:lnB w="9525" cap="flat" cmpd="sng" algn="ctr">
                      <a:solidFill>
                        <a:srgbClr val="D6E3E8"/>
                      </a:solidFill>
                      <a:prstDash val="solid"/>
                      <a:round/>
                      <a:headEnd type="none" w="med" len="med"/>
                      <a:tailEnd type="none" w="med" len="med"/>
                    </a:lnB>
                    <a:solidFill>
                      <a:srgbClr val="FFFFFF"/>
                    </a:solidFill>
                  </a:tcPr>
                </a:tc>
                <a:tc>
                  <a:txBody>
                    <a:bodyPr/>
                    <a:lstStyle/>
                    <a:p>
                      <a:pPr indent="0" marL="0">
                        <a:buNone/>
                      </a:pPr>
                      <a:r>
                        <a:rPr lang="en-US" sz="1050" dirty="0">
                          <a:solidFill>
                            <a:srgbClr val="1A1A2E"/>
                          </a:solidFill>
                          <a:latin typeface="BIZ UDゴシック" pitchFamily="34" charset="0"/>
                          <a:ea typeface="BIZ UDゴシック" pitchFamily="34" charset="-122"/>
                          <a:cs typeface="BIZ UDゴシック" pitchFamily="34" charset="-120"/>
                        </a:rPr>
                        <a:t>AIオーケストレーション</a:t>
                      </a:r>
                      <a:endParaRPr lang="en-US" sz="1050" dirty="0">
                        <a:latin typeface="BIZ UDゴシック" charset="0"/>
                        <a:ea typeface="BIZ UDゴシック" charset="0"/>
                        <a:cs typeface="BIZ UDゴシック" charset="0"/>
                      </a:endParaRPr>
                    </a:p>
                  </a:txBody>
                  <a:tcPr marL="91440" marR="91440" marT="45720" marB="45720" anchor="ctr">
                    <a:lnL w="9525" cap="flat" cmpd="sng" algn="ctr">
                      <a:solidFill>
                        <a:srgbClr val="D6E3E8"/>
                      </a:solidFill>
                      <a:prstDash val="solid"/>
                      <a:round/>
                      <a:headEnd type="none" w="med" len="med"/>
                      <a:tailEnd type="none" w="med" len="med"/>
                    </a:lnL>
                    <a:lnR w="9525" cap="flat" cmpd="sng" algn="ctr">
                      <a:solidFill>
                        <a:srgbClr val="D6E3E8"/>
                      </a:solidFill>
                      <a:prstDash val="solid"/>
                      <a:round/>
                      <a:headEnd type="none" w="med" len="med"/>
                      <a:tailEnd type="none" w="med" len="med"/>
                    </a:lnR>
                    <a:lnT w="9525" cap="flat" cmpd="sng" algn="ctr">
                      <a:solidFill>
                        <a:srgbClr val="D6E3E8"/>
                      </a:solidFill>
                      <a:prstDash val="solid"/>
                      <a:round/>
                      <a:headEnd type="none" w="med" len="med"/>
                      <a:tailEnd type="none" w="med" len="med"/>
                    </a:lnT>
                    <a:lnB w="9525" cap="flat" cmpd="sng" algn="ctr">
                      <a:solidFill>
                        <a:srgbClr val="D6E3E8"/>
                      </a:solidFill>
                      <a:prstDash val="solid"/>
                      <a:round/>
                      <a:headEnd type="none" w="med" len="med"/>
                      <a:tailEnd type="none" w="med" len="med"/>
                    </a:lnB>
                    <a:solidFill>
                      <a:srgbClr val="FFFFFF"/>
                    </a:solidFill>
                  </a:tcPr>
                </a:tc>
                <a:tc>
                  <a:txBody>
                    <a:bodyPr/>
                    <a:lstStyle/>
                    <a:p>
                      <a:pPr indent="0" marL="0">
                        <a:buNone/>
                      </a:pPr>
                      <a:r>
                        <a:rPr lang="en-US" sz="1050" dirty="0">
                          <a:solidFill>
                            <a:srgbClr val="1A1A2E"/>
                          </a:solidFill>
                          <a:latin typeface="BIZ UDゴシック" pitchFamily="34" charset="0"/>
                          <a:ea typeface="BIZ UDゴシック" pitchFamily="34" charset="-122"/>
                          <a:cs typeface="BIZ UDゴシック" pitchFamily="34" charset="-120"/>
                        </a:rPr>
                        <a:t>Evidence収集・LLM・AG-UI変換</a:t>
                      </a:r>
                      <a:endParaRPr lang="en-US" sz="1050" dirty="0">
                        <a:latin typeface="BIZ UDゴシック" charset="0"/>
                        <a:ea typeface="BIZ UDゴシック" charset="0"/>
                        <a:cs typeface="BIZ UDゴシック" charset="0"/>
                      </a:endParaRPr>
                    </a:p>
                  </a:txBody>
                  <a:tcPr marL="91440" marR="91440" marT="45720" marB="45720" anchor="ctr">
                    <a:lnL w="9525" cap="flat" cmpd="sng" algn="ctr">
                      <a:solidFill>
                        <a:srgbClr val="D6E3E8"/>
                      </a:solidFill>
                      <a:prstDash val="solid"/>
                      <a:round/>
                      <a:headEnd type="none" w="med" len="med"/>
                      <a:tailEnd type="none" w="med" len="med"/>
                    </a:lnL>
                    <a:lnR w="9525" cap="flat" cmpd="sng" algn="ctr">
                      <a:solidFill>
                        <a:srgbClr val="D6E3E8"/>
                      </a:solidFill>
                      <a:prstDash val="solid"/>
                      <a:round/>
                      <a:headEnd type="none" w="med" len="med"/>
                      <a:tailEnd type="none" w="med" len="med"/>
                    </a:lnR>
                    <a:lnT w="9525" cap="flat" cmpd="sng" algn="ctr">
                      <a:solidFill>
                        <a:srgbClr val="D6E3E8"/>
                      </a:solidFill>
                      <a:prstDash val="solid"/>
                      <a:round/>
                      <a:headEnd type="none" w="med" len="med"/>
                      <a:tailEnd type="none" w="med" len="med"/>
                    </a:lnT>
                    <a:lnB w="9525" cap="flat" cmpd="sng" algn="ctr">
                      <a:solidFill>
                        <a:srgbClr val="D6E3E8"/>
                      </a:solidFill>
                      <a:prstDash val="solid"/>
                      <a:round/>
                      <a:headEnd type="none" w="med" len="med"/>
                      <a:tailEnd type="none" w="med" len="med"/>
                    </a:lnB>
                    <a:solidFill>
                      <a:srgbClr val="FFFFFF"/>
                    </a:solidFill>
                  </a:tcPr>
                </a:tc>
              </a:tr>
              <a:tr h="379476">
                <a:tc>
                  <a:txBody>
                    <a:bodyPr/>
                    <a:lstStyle/>
                    <a:p>
                      <a:pPr indent="0" marL="0">
                        <a:buNone/>
                      </a:pPr>
                      <a:r>
                        <a:rPr lang="en-US" sz="1050" dirty="0">
                          <a:solidFill>
                            <a:srgbClr val="1A1A2E"/>
                          </a:solidFill>
                          <a:latin typeface="BIZ UDゴシック" pitchFamily="34" charset="0"/>
                          <a:ea typeface="BIZ UDゴシック" pitchFamily="34" charset="-122"/>
                          <a:cs typeface="BIZ UDゴシック" pitchFamily="34" charset="-120"/>
                        </a:rPr>
                        <a:t>Console UI</a:t>
                      </a:r>
                      <a:endParaRPr lang="en-US" sz="1050" dirty="0">
                        <a:latin typeface="BIZ UDゴシック" charset="0"/>
                        <a:ea typeface="BIZ UDゴシック" charset="0"/>
                        <a:cs typeface="BIZ UDゴシック" charset="0"/>
                      </a:endParaRPr>
                    </a:p>
                  </a:txBody>
                  <a:tcPr marL="91440" marR="91440" marT="45720" marB="45720" anchor="ctr">
                    <a:lnL w="9525" cap="flat" cmpd="sng" algn="ctr">
                      <a:solidFill>
                        <a:srgbClr val="D6E3E8"/>
                      </a:solidFill>
                      <a:prstDash val="solid"/>
                      <a:round/>
                      <a:headEnd type="none" w="med" len="med"/>
                      <a:tailEnd type="none" w="med" len="med"/>
                    </a:lnL>
                    <a:lnR w="9525" cap="flat" cmpd="sng" algn="ctr">
                      <a:solidFill>
                        <a:srgbClr val="D6E3E8"/>
                      </a:solidFill>
                      <a:prstDash val="solid"/>
                      <a:round/>
                      <a:headEnd type="none" w="med" len="med"/>
                      <a:tailEnd type="none" w="med" len="med"/>
                    </a:lnR>
                    <a:lnT w="9525" cap="flat" cmpd="sng" algn="ctr">
                      <a:solidFill>
                        <a:srgbClr val="D6E3E8"/>
                      </a:solidFill>
                      <a:prstDash val="solid"/>
                      <a:round/>
                      <a:headEnd type="none" w="med" len="med"/>
                      <a:tailEnd type="none" w="med" len="med"/>
                    </a:lnT>
                    <a:lnB w="9525" cap="flat" cmpd="sng" algn="ctr">
                      <a:solidFill>
                        <a:srgbClr val="D6E3E8"/>
                      </a:solidFill>
                      <a:prstDash val="solid"/>
                      <a:round/>
                      <a:headEnd type="none" w="med" len="med"/>
                      <a:tailEnd type="none" w="med" len="med"/>
                    </a:lnB>
                    <a:solidFill>
                      <a:srgbClr val="EAF2F6"/>
                    </a:solidFill>
                  </a:tcPr>
                </a:tc>
                <a:tc>
                  <a:txBody>
                    <a:bodyPr/>
                    <a:lstStyle/>
                    <a:p>
                      <a:pPr indent="0" marL="0">
                        <a:buNone/>
                      </a:pPr>
                      <a:r>
                        <a:rPr lang="en-US" sz="1050" dirty="0">
                          <a:solidFill>
                            <a:srgbClr val="1A1A2E"/>
                          </a:solidFill>
                          <a:latin typeface="BIZ UDゴシック" pitchFamily="34" charset="0"/>
                          <a:ea typeface="BIZ UDゴシック" pitchFamily="34" charset="-122"/>
                          <a:cs typeface="BIZ UDゴシック" pitchFamily="34" charset="-120"/>
                        </a:rPr>
                        <a:t>React UI</a:t>
                      </a:r>
                      <a:endParaRPr lang="en-US" sz="1050" dirty="0">
                        <a:latin typeface="BIZ UDゴシック" charset="0"/>
                        <a:ea typeface="BIZ UDゴシック" charset="0"/>
                        <a:cs typeface="BIZ UDゴシック" charset="0"/>
                      </a:endParaRPr>
                    </a:p>
                  </a:txBody>
                  <a:tcPr marL="91440" marR="91440" marT="45720" marB="45720" anchor="ctr">
                    <a:lnL w="9525" cap="flat" cmpd="sng" algn="ctr">
                      <a:solidFill>
                        <a:srgbClr val="D6E3E8"/>
                      </a:solidFill>
                      <a:prstDash val="solid"/>
                      <a:round/>
                      <a:headEnd type="none" w="med" len="med"/>
                      <a:tailEnd type="none" w="med" len="med"/>
                    </a:lnL>
                    <a:lnR w="9525" cap="flat" cmpd="sng" algn="ctr">
                      <a:solidFill>
                        <a:srgbClr val="D6E3E8"/>
                      </a:solidFill>
                      <a:prstDash val="solid"/>
                      <a:round/>
                      <a:headEnd type="none" w="med" len="med"/>
                      <a:tailEnd type="none" w="med" len="med"/>
                    </a:lnR>
                    <a:lnT w="9525" cap="flat" cmpd="sng" algn="ctr">
                      <a:solidFill>
                        <a:srgbClr val="D6E3E8"/>
                      </a:solidFill>
                      <a:prstDash val="solid"/>
                      <a:round/>
                      <a:headEnd type="none" w="med" len="med"/>
                      <a:tailEnd type="none" w="med" len="med"/>
                    </a:lnT>
                    <a:lnB w="9525" cap="flat" cmpd="sng" algn="ctr">
                      <a:solidFill>
                        <a:srgbClr val="D6E3E8"/>
                      </a:solidFill>
                      <a:prstDash val="solid"/>
                      <a:round/>
                      <a:headEnd type="none" w="med" len="med"/>
                      <a:tailEnd type="none" w="med" len="med"/>
                    </a:lnB>
                    <a:solidFill>
                      <a:srgbClr val="EAF2F6"/>
                    </a:solidFill>
                  </a:tcPr>
                </a:tc>
                <a:tc>
                  <a:txBody>
                    <a:bodyPr/>
                    <a:lstStyle/>
                    <a:p>
                      <a:pPr indent="0" marL="0">
                        <a:buNone/>
                      </a:pPr>
                      <a:r>
                        <a:rPr lang="en-US" sz="1050" dirty="0">
                          <a:solidFill>
                            <a:srgbClr val="1A1A2E"/>
                          </a:solidFill>
                          <a:latin typeface="BIZ UDゴシック" pitchFamily="34" charset="0"/>
                          <a:ea typeface="BIZ UDゴシック" pitchFamily="34" charset="-122"/>
                          <a:cs typeface="BIZ UDゴシック" pitchFamily="34" charset="-120"/>
                        </a:rPr>
                        <a:t>A2UIによる動的画面表示</a:t>
                      </a:r>
                      <a:endParaRPr lang="en-US" sz="1050" dirty="0">
                        <a:latin typeface="BIZ UDゴシック" charset="0"/>
                        <a:ea typeface="BIZ UDゴシック" charset="0"/>
                        <a:cs typeface="BIZ UDゴシック" charset="0"/>
                      </a:endParaRPr>
                    </a:p>
                  </a:txBody>
                  <a:tcPr marL="91440" marR="91440" marT="45720" marB="45720" anchor="ctr">
                    <a:lnL w="9525" cap="flat" cmpd="sng" algn="ctr">
                      <a:solidFill>
                        <a:srgbClr val="D6E3E8"/>
                      </a:solidFill>
                      <a:prstDash val="solid"/>
                      <a:round/>
                      <a:headEnd type="none" w="med" len="med"/>
                      <a:tailEnd type="none" w="med" len="med"/>
                    </a:lnL>
                    <a:lnR w="9525" cap="flat" cmpd="sng" algn="ctr">
                      <a:solidFill>
                        <a:srgbClr val="D6E3E8"/>
                      </a:solidFill>
                      <a:prstDash val="solid"/>
                      <a:round/>
                      <a:headEnd type="none" w="med" len="med"/>
                      <a:tailEnd type="none" w="med" len="med"/>
                    </a:lnR>
                    <a:lnT w="9525" cap="flat" cmpd="sng" algn="ctr">
                      <a:solidFill>
                        <a:srgbClr val="D6E3E8"/>
                      </a:solidFill>
                      <a:prstDash val="solid"/>
                      <a:round/>
                      <a:headEnd type="none" w="med" len="med"/>
                      <a:tailEnd type="none" w="med" len="med"/>
                    </a:lnT>
                    <a:lnB w="9525" cap="flat" cmpd="sng" algn="ctr">
                      <a:solidFill>
                        <a:srgbClr val="D6E3E8"/>
                      </a:solidFill>
                      <a:prstDash val="solid"/>
                      <a:round/>
                      <a:headEnd type="none" w="med" len="med"/>
                      <a:tailEnd type="none" w="med" len="med"/>
                    </a:lnB>
                    <a:solidFill>
                      <a:srgbClr val="EAF2F6"/>
                    </a:solidFill>
                  </a:tcPr>
                </a:tc>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502920"/>
            <a:ext cx="566928" cy="566928"/>
          </a:xfrm>
          <a:prstGeom prst="ellipse">
            <a:avLst/>
          </a:prstGeom>
          <a:solidFill>
            <a:srgbClr val="21295C"/>
          </a:solidFill>
          <a:ln/>
        </p:spPr>
      </p:sp>
      <p:sp>
        <p:nvSpPr>
          <p:cNvPr id="3" name="Text 1"/>
          <p:cNvSpPr/>
          <p:nvPr/>
        </p:nvSpPr>
        <p:spPr>
          <a:xfrm>
            <a:off x="548640" y="502920"/>
            <a:ext cx="566928" cy="566928"/>
          </a:xfrm>
          <a:prstGeom prst="rect">
            <a:avLst/>
          </a:prstGeom>
          <a:noFill/>
          <a:ln/>
        </p:spPr>
        <p:txBody>
          <a:bodyPr wrap="square" lIns="0" tIns="0" rIns="0" bIns="0" rtlCol="0" anchor="ctr"/>
          <a:lstStyle/>
          <a:p>
            <a:pPr algn="ctr" indent="0" marL="0">
              <a:buNone/>
            </a:pPr>
            <a:r>
              <a:rPr lang="en-US" sz="1500" b="1" dirty="0">
                <a:solidFill>
                  <a:srgbClr val="FFFFFF"/>
                </a:solidFill>
                <a:latin typeface="BIZ UDゴシック" pitchFamily="34" charset="0"/>
                <a:ea typeface="BIZ UDゴシック" pitchFamily="34" charset="-122"/>
                <a:cs typeface="BIZ UDゴシック" pitchFamily="34" charset="-120"/>
              </a:rPr>
              <a:t>08</a:t>
            </a:r>
            <a:endParaRPr lang="en-US" sz="1500" dirty="0"/>
          </a:p>
        </p:txBody>
      </p:sp>
      <p:sp>
        <p:nvSpPr>
          <p:cNvPr id="4" name="Text 2"/>
          <p:cNvSpPr/>
          <p:nvPr/>
        </p:nvSpPr>
        <p:spPr>
          <a:xfrm>
            <a:off x="1280160" y="438912"/>
            <a:ext cx="10362895" cy="274320"/>
          </a:xfrm>
          <a:prstGeom prst="rect">
            <a:avLst/>
          </a:prstGeom>
          <a:noFill/>
          <a:ln/>
        </p:spPr>
        <p:txBody>
          <a:bodyPr wrap="square" lIns="0" tIns="0" rIns="0" bIns="0" rtlCol="0" anchor="ctr"/>
          <a:lstStyle/>
          <a:p>
            <a:pPr indent="0" marL="0">
              <a:buNone/>
            </a:pPr>
            <a:r>
              <a:rPr lang="en-US" sz="1100" b="1" spc="100" kern="0" dirty="0">
                <a:solidFill>
                  <a:srgbClr val="1C7293"/>
                </a:solidFill>
                <a:latin typeface="BIZ UDゴシック" pitchFamily="34" charset="0"/>
                <a:ea typeface="BIZ UDゴシック" pitchFamily="34" charset="-122"/>
                <a:cs typeface="BIZ UDゴシック" pitchFamily="34" charset="-120"/>
              </a:rPr>
              <a:t>SECTION 8</a:t>
            </a:r>
            <a:endParaRPr lang="en-US" sz="1100" dirty="0"/>
          </a:p>
        </p:txBody>
      </p:sp>
      <p:sp>
        <p:nvSpPr>
          <p:cNvPr id="5" name="Text 3"/>
          <p:cNvSpPr/>
          <p:nvPr/>
        </p:nvSpPr>
        <p:spPr>
          <a:xfrm>
            <a:off x="1280160" y="713232"/>
            <a:ext cx="10362895" cy="566928"/>
          </a:xfrm>
          <a:prstGeom prst="rect">
            <a:avLst/>
          </a:prstGeom>
          <a:noFill/>
          <a:ln/>
        </p:spPr>
        <p:txBody>
          <a:bodyPr wrap="square" lIns="0" tIns="0" rIns="0" bIns="0" rtlCol="0" anchor="t"/>
          <a:lstStyle/>
          <a:p>
            <a:pPr indent="0" marL="0">
              <a:buNone/>
            </a:pPr>
            <a:r>
              <a:rPr lang="en-US" sz="2500" b="1" dirty="0">
                <a:solidFill>
                  <a:srgbClr val="1A1A2E"/>
                </a:solidFill>
                <a:latin typeface="BIZ UDゴシック" pitchFamily="34" charset="0"/>
                <a:ea typeface="BIZ UDゴシック" pitchFamily="34" charset="-122"/>
                <a:cs typeface="BIZ UDゴシック" pitchFamily="34" charset="-120"/>
              </a:rPr>
              <a:t>Splunkコンテナの意義</a:t>
            </a:r>
            <a:endParaRPr lang="en-US" sz="2500" dirty="0"/>
          </a:p>
        </p:txBody>
      </p:sp>
      <p:sp>
        <p:nvSpPr>
          <p:cNvPr id="6" name="Text 4"/>
          <p:cNvSpPr/>
          <p:nvPr/>
        </p:nvSpPr>
        <p:spPr>
          <a:xfrm>
            <a:off x="548640" y="6446520"/>
            <a:ext cx="4572000" cy="274320"/>
          </a:xfrm>
          <a:prstGeom prst="rect">
            <a:avLst/>
          </a:prstGeom>
          <a:noFill/>
          <a:ln/>
        </p:spPr>
        <p:txBody>
          <a:bodyPr wrap="square" lIns="0" tIns="0" rIns="0" bIns="0" rtlCol="0" anchor="ctr"/>
          <a:lstStyle/>
          <a:p>
            <a:pPr indent="0" marL="0">
              <a:buNone/>
            </a:pPr>
            <a:r>
              <a:rPr lang="en-US" sz="900" dirty="0">
                <a:solidFill>
                  <a:srgbClr val="5C6B73"/>
                </a:solidFill>
                <a:latin typeface="BIZ UDゴシック" pitchFamily="34" charset="0"/>
                <a:ea typeface="BIZ UDゴシック" pitchFamily="34" charset="-122"/>
                <a:cs typeface="BIZ UDゴシック" pitchFamily="34" charset="-120"/>
              </a:rPr>
              <a:t>Observability AI PoC</a:t>
            </a:r>
            <a:endParaRPr lang="en-US" sz="900" dirty="0"/>
          </a:p>
        </p:txBody>
      </p:sp>
      <p:sp>
        <p:nvSpPr>
          <p:cNvPr id="7" name="Text 5"/>
          <p:cNvSpPr/>
          <p:nvPr/>
        </p:nvSpPr>
        <p:spPr>
          <a:xfrm>
            <a:off x="9814255" y="6446520"/>
            <a:ext cx="1828800" cy="274320"/>
          </a:xfrm>
          <a:prstGeom prst="rect">
            <a:avLst/>
          </a:prstGeom>
          <a:noFill/>
          <a:ln/>
        </p:spPr>
        <p:txBody>
          <a:bodyPr wrap="square" lIns="0" tIns="0" rIns="0" bIns="0" rtlCol="0" anchor="ctr"/>
          <a:lstStyle/>
          <a:p>
            <a:pPr algn="r" indent="0" marL="0">
              <a:buNone/>
            </a:pPr>
            <a:r>
              <a:rPr lang="en-US" sz="900" dirty="0">
                <a:solidFill>
                  <a:srgbClr val="5C6B73"/>
                </a:solidFill>
                <a:latin typeface="BIZ UDゴシック" pitchFamily="34" charset="0"/>
                <a:ea typeface="BIZ UDゴシック" pitchFamily="34" charset="-122"/>
                <a:cs typeface="BIZ UDゴシック" pitchFamily="34" charset="-120"/>
              </a:rPr>
              <a:t>08</a:t>
            </a:r>
            <a:endParaRPr lang="en-US" sz="900" dirty="0"/>
          </a:p>
        </p:txBody>
      </p:sp>
      <p:sp>
        <p:nvSpPr>
          <p:cNvPr id="8" name="Text 6"/>
          <p:cNvSpPr/>
          <p:nvPr/>
        </p:nvSpPr>
        <p:spPr>
          <a:xfrm>
            <a:off x="1280160" y="1536192"/>
            <a:ext cx="10362895" cy="685800"/>
          </a:xfrm>
          <a:prstGeom prst="rect">
            <a:avLst/>
          </a:prstGeom>
          <a:noFill/>
          <a:ln/>
        </p:spPr>
        <p:txBody>
          <a:bodyPr wrap="square" lIns="0" tIns="0" rIns="0" bIns="0" rtlCol="0" anchor="t"/>
          <a:lstStyle/>
          <a:p>
            <a:pPr indent="0" marL="0">
              <a:lnSpc>
                <a:spcPct val="125000"/>
              </a:lnSpc>
              <a:buNone/>
            </a:pPr>
            <a:r>
              <a:rPr lang="en-US" sz="1500" dirty="0">
                <a:solidFill>
                  <a:srgbClr val="1A1A2E"/>
                </a:solidFill>
                <a:latin typeface="BIZ UDゴシック" pitchFamily="34" charset="0"/>
                <a:ea typeface="BIZ UDゴシック" pitchFamily="34" charset="-122"/>
                <a:cs typeface="BIZ UDゴシック" pitchFamily="34" charset="-120"/>
              </a:rPr>
              <a:t>Splunkを単なるログ保管として使わない。PoCではSplunkを、「AIが参照可能なログEvidenceのデータソース」として利用する。</a:t>
            </a:r>
            <a:endParaRPr lang="en-US" sz="1500" dirty="0"/>
          </a:p>
        </p:txBody>
      </p:sp>
      <p:sp>
        <p:nvSpPr>
          <p:cNvPr id="9" name="Shape 7"/>
          <p:cNvSpPr/>
          <p:nvPr/>
        </p:nvSpPr>
        <p:spPr>
          <a:xfrm>
            <a:off x="1280160" y="2377440"/>
            <a:ext cx="10362895" cy="1920240"/>
          </a:xfrm>
          <a:prstGeom prst="roundRect">
            <a:avLst>
              <a:gd name="adj" fmla="val 3810"/>
            </a:avLst>
          </a:prstGeom>
          <a:solidFill>
            <a:srgbClr val="EAF2F6"/>
          </a:solidFill>
          <a:ln/>
        </p:spPr>
      </p:sp>
      <p:sp>
        <p:nvSpPr>
          <p:cNvPr id="10" name="Text 8"/>
          <p:cNvSpPr/>
          <p:nvPr/>
        </p:nvSpPr>
        <p:spPr>
          <a:xfrm>
            <a:off x="1508760" y="2560320"/>
            <a:ext cx="9905695" cy="365760"/>
          </a:xfrm>
          <a:prstGeom prst="rect">
            <a:avLst/>
          </a:prstGeom>
          <a:noFill/>
          <a:ln/>
        </p:spPr>
        <p:txBody>
          <a:bodyPr wrap="square" lIns="0" tIns="0" rIns="0" bIns="0" rtlCol="0" anchor="ctr"/>
          <a:lstStyle/>
          <a:p>
            <a:pPr indent="0" marL="0">
              <a:buNone/>
            </a:pPr>
            <a:r>
              <a:rPr lang="en-US" sz="1500" b="1" dirty="0">
                <a:solidFill>
                  <a:srgbClr val="21295C"/>
                </a:solidFill>
                <a:latin typeface="BIZ UDゴシック" pitchFamily="34" charset="0"/>
                <a:ea typeface="BIZ UDゴシック" pitchFamily="34" charset="-122"/>
                <a:cs typeface="BIZ UDゴシック" pitchFamily="34" charset="-120"/>
              </a:rPr>
              <a:t>Read-Only ユーザー（AI用）</a:t>
            </a:r>
            <a:endParaRPr lang="en-US" sz="1500" dirty="0"/>
          </a:p>
        </p:txBody>
      </p:sp>
      <p:sp>
        <p:nvSpPr>
          <p:cNvPr id="11" name="Shape 9"/>
          <p:cNvSpPr/>
          <p:nvPr/>
        </p:nvSpPr>
        <p:spPr>
          <a:xfrm>
            <a:off x="1508760" y="3063240"/>
            <a:ext cx="905256" cy="310896"/>
          </a:xfrm>
          <a:prstGeom prst="roundRect">
            <a:avLst>
              <a:gd name="adj" fmla="val 17647"/>
            </a:avLst>
          </a:prstGeom>
          <a:solidFill>
            <a:srgbClr val="065A82"/>
          </a:solidFill>
          <a:ln/>
        </p:spPr>
      </p:sp>
      <p:sp>
        <p:nvSpPr>
          <p:cNvPr id="12" name="Text 10"/>
          <p:cNvSpPr/>
          <p:nvPr/>
        </p:nvSpPr>
        <p:spPr>
          <a:xfrm>
            <a:off x="1508760" y="3063240"/>
            <a:ext cx="90525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BIZ UDゴシック" pitchFamily="34" charset="0"/>
                <a:ea typeface="BIZ UDゴシック" pitchFamily="34" charset="-122"/>
                <a:cs typeface="BIZ UDゴシック" pitchFamily="34" charset="-120"/>
              </a:rPr>
              <a:t>Role</a:t>
            </a:r>
            <a:endParaRPr lang="en-US" sz="1100" dirty="0"/>
          </a:p>
        </p:txBody>
      </p:sp>
      <p:sp>
        <p:nvSpPr>
          <p:cNvPr id="13" name="Text 11"/>
          <p:cNvSpPr/>
          <p:nvPr/>
        </p:nvSpPr>
        <p:spPr>
          <a:xfrm>
            <a:off x="1508760" y="3456432"/>
            <a:ext cx="1463040" cy="365760"/>
          </a:xfrm>
          <a:prstGeom prst="rect">
            <a:avLst/>
          </a:prstGeom>
          <a:noFill/>
          <a:ln/>
        </p:spPr>
        <p:txBody>
          <a:bodyPr wrap="square" lIns="0" tIns="0" rIns="0" bIns="0" rtlCol="0" anchor="ctr"/>
          <a:lstStyle/>
          <a:p>
            <a:pPr algn="ctr" indent="0" marL="0">
              <a:buNone/>
            </a:pPr>
            <a:r>
              <a:rPr lang="en-US" sz="1300" dirty="0">
                <a:solidFill>
                  <a:srgbClr val="1A1A2E"/>
                </a:solidFill>
                <a:latin typeface="BIZ UDゴシック" pitchFamily="34" charset="0"/>
                <a:ea typeface="BIZ UDゴシック" pitchFamily="34" charset="-122"/>
                <a:cs typeface="BIZ UDゴシック" pitchFamily="34" charset="-120"/>
              </a:rPr>
              <a:t>poc_ai_search</a:t>
            </a:r>
            <a:endParaRPr lang="en-US" sz="1300" dirty="0"/>
          </a:p>
        </p:txBody>
      </p:sp>
      <p:sp>
        <p:nvSpPr>
          <p:cNvPr id="14" name="Shape 12"/>
          <p:cNvSpPr/>
          <p:nvPr/>
        </p:nvSpPr>
        <p:spPr>
          <a:xfrm>
            <a:off x="3246120" y="3063240"/>
            <a:ext cx="905256" cy="310896"/>
          </a:xfrm>
          <a:prstGeom prst="roundRect">
            <a:avLst>
              <a:gd name="adj" fmla="val 17647"/>
            </a:avLst>
          </a:prstGeom>
          <a:solidFill>
            <a:srgbClr val="065A82"/>
          </a:solidFill>
          <a:ln/>
        </p:spPr>
      </p:sp>
      <p:sp>
        <p:nvSpPr>
          <p:cNvPr id="15" name="Text 13"/>
          <p:cNvSpPr/>
          <p:nvPr/>
        </p:nvSpPr>
        <p:spPr>
          <a:xfrm>
            <a:off x="3246120" y="3063240"/>
            <a:ext cx="90525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BIZ UDゴシック" pitchFamily="34" charset="0"/>
                <a:ea typeface="BIZ UDゴシック" pitchFamily="34" charset="-122"/>
                <a:cs typeface="BIZ UDゴシック" pitchFamily="34" charset="-120"/>
              </a:rPr>
              <a:t>User</a:t>
            </a:r>
            <a:endParaRPr lang="en-US" sz="1100" dirty="0"/>
          </a:p>
        </p:txBody>
      </p:sp>
      <p:sp>
        <p:nvSpPr>
          <p:cNvPr id="16" name="Text 14"/>
          <p:cNvSpPr/>
          <p:nvPr/>
        </p:nvSpPr>
        <p:spPr>
          <a:xfrm>
            <a:off x="3246120" y="3456432"/>
            <a:ext cx="1463040" cy="365760"/>
          </a:xfrm>
          <a:prstGeom prst="rect">
            <a:avLst/>
          </a:prstGeom>
          <a:noFill/>
          <a:ln/>
        </p:spPr>
        <p:txBody>
          <a:bodyPr wrap="square" lIns="0" tIns="0" rIns="0" bIns="0" rtlCol="0" anchor="ctr"/>
          <a:lstStyle/>
          <a:p>
            <a:pPr algn="ctr" indent="0" marL="0">
              <a:buNone/>
            </a:pPr>
            <a:r>
              <a:rPr lang="en-US" sz="1300" dirty="0">
                <a:solidFill>
                  <a:srgbClr val="1A1A2E"/>
                </a:solidFill>
                <a:latin typeface="BIZ UDゴシック" pitchFamily="34" charset="0"/>
                <a:ea typeface="BIZ UDゴシック" pitchFamily="34" charset="-122"/>
                <a:cs typeface="BIZ UDゴシック" pitchFamily="34" charset="-120"/>
              </a:rPr>
              <a:t>ai_search</a:t>
            </a:r>
            <a:endParaRPr lang="en-US" sz="1300" dirty="0"/>
          </a:p>
        </p:txBody>
      </p:sp>
      <p:sp>
        <p:nvSpPr>
          <p:cNvPr id="17" name="Shape 15"/>
          <p:cNvSpPr/>
          <p:nvPr/>
        </p:nvSpPr>
        <p:spPr>
          <a:xfrm>
            <a:off x="4983480" y="3063240"/>
            <a:ext cx="1344168" cy="310896"/>
          </a:xfrm>
          <a:prstGeom prst="roundRect">
            <a:avLst>
              <a:gd name="adj" fmla="val 17647"/>
            </a:avLst>
          </a:prstGeom>
          <a:solidFill>
            <a:srgbClr val="065A82"/>
          </a:solidFill>
          <a:ln/>
        </p:spPr>
      </p:sp>
      <p:sp>
        <p:nvSpPr>
          <p:cNvPr id="18" name="Text 16"/>
          <p:cNvSpPr/>
          <p:nvPr/>
        </p:nvSpPr>
        <p:spPr>
          <a:xfrm>
            <a:off x="4983480" y="3063240"/>
            <a:ext cx="1344168"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BIZ UDゴシック" pitchFamily="34" charset="0"/>
                <a:ea typeface="BIZ UDゴシック" pitchFamily="34" charset="-122"/>
                <a:cs typeface="BIZ UDゴシック" pitchFamily="34" charset="-120"/>
              </a:rPr>
              <a:t>対象Index</a:t>
            </a:r>
            <a:endParaRPr lang="en-US" sz="1100" dirty="0"/>
          </a:p>
        </p:txBody>
      </p:sp>
      <p:sp>
        <p:nvSpPr>
          <p:cNvPr id="19" name="Text 17"/>
          <p:cNvSpPr/>
          <p:nvPr/>
        </p:nvSpPr>
        <p:spPr>
          <a:xfrm>
            <a:off x="4983480" y="3456432"/>
            <a:ext cx="1463040" cy="365760"/>
          </a:xfrm>
          <a:prstGeom prst="rect">
            <a:avLst/>
          </a:prstGeom>
          <a:noFill/>
          <a:ln/>
        </p:spPr>
        <p:txBody>
          <a:bodyPr wrap="square" lIns="0" tIns="0" rIns="0" bIns="0" rtlCol="0" anchor="ctr"/>
          <a:lstStyle/>
          <a:p>
            <a:pPr algn="ctr" indent="0" marL="0">
              <a:buNone/>
            </a:pPr>
            <a:r>
              <a:rPr lang="en-US" sz="1300" dirty="0">
                <a:solidFill>
                  <a:srgbClr val="1A1A2E"/>
                </a:solidFill>
                <a:latin typeface="BIZ UDゴシック" pitchFamily="34" charset="0"/>
                <a:ea typeface="BIZ UDゴシック" pitchFamily="34" charset="-122"/>
                <a:cs typeface="BIZ UDゴシック" pitchFamily="34" charset="-120"/>
              </a:rPr>
              <a:t>poc_observability</a:t>
            </a:r>
            <a:endParaRPr lang="en-US" sz="1300" dirty="0"/>
          </a:p>
        </p:txBody>
      </p:sp>
      <p:sp>
        <p:nvSpPr>
          <p:cNvPr id="20" name="Shape 18"/>
          <p:cNvSpPr/>
          <p:nvPr/>
        </p:nvSpPr>
        <p:spPr>
          <a:xfrm>
            <a:off x="6720840" y="3063240"/>
            <a:ext cx="822960" cy="310896"/>
          </a:xfrm>
          <a:prstGeom prst="roundRect">
            <a:avLst>
              <a:gd name="adj" fmla="val 17647"/>
            </a:avLst>
          </a:prstGeom>
          <a:solidFill>
            <a:srgbClr val="065A82"/>
          </a:solidFill>
          <a:ln/>
        </p:spPr>
      </p:sp>
      <p:sp>
        <p:nvSpPr>
          <p:cNvPr id="21" name="Text 19"/>
          <p:cNvSpPr/>
          <p:nvPr/>
        </p:nvSpPr>
        <p:spPr>
          <a:xfrm>
            <a:off x="6720840" y="3063240"/>
            <a:ext cx="822960"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BIZ UDゴシック" pitchFamily="34" charset="0"/>
                <a:ea typeface="BIZ UDゴシック" pitchFamily="34" charset="-122"/>
                <a:cs typeface="BIZ UDゴシック" pitchFamily="34" charset="-120"/>
              </a:rPr>
              <a:t>権限</a:t>
            </a:r>
            <a:endParaRPr lang="en-US" sz="1100" dirty="0"/>
          </a:p>
        </p:txBody>
      </p:sp>
      <p:sp>
        <p:nvSpPr>
          <p:cNvPr id="22" name="Text 20"/>
          <p:cNvSpPr/>
          <p:nvPr/>
        </p:nvSpPr>
        <p:spPr>
          <a:xfrm>
            <a:off x="6720840" y="3456432"/>
            <a:ext cx="1463040" cy="365760"/>
          </a:xfrm>
          <a:prstGeom prst="rect">
            <a:avLst/>
          </a:prstGeom>
          <a:noFill/>
          <a:ln/>
        </p:spPr>
        <p:txBody>
          <a:bodyPr wrap="square" lIns="0" tIns="0" rIns="0" bIns="0" rtlCol="0" anchor="ctr"/>
          <a:lstStyle/>
          <a:p>
            <a:pPr algn="ctr" indent="0" marL="0">
              <a:buNone/>
            </a:pPr>
            <a:r>
              <a:rPr lang="en-US" sz="1300" dirty="0">
                <a:solidFill>
                  <a:srgbClr val="1A1A2E"/>
                </a:solidFill>
                <a:latin typeface="BIZ UDゴシック" pitchFamily="34" charset="0"/>
                <a:ea typeface="BIZ UDゴシック" pitchFamily="34" charset="-122"/>
                <a:cs typeface="BIZ UDゴシック" pitchFamily="34" charset="-120"/>
              </a:rPr>
              <a:t>検索のみ</a:t>
            </a:r>
            <a:endParaRPr lang="en-US" sz="1300" dirty="0"/>
          </a:p>
        </p:txBody>
      </p:sp>
      <p:sp>
        <p:nvSpPr>
          <p:cNvPr id="23" name="Text 21"/>
          <p:cNvSpPr/>
          <p:nvPr/>
        </p:nvSpPr>
        <p:spPr>
          <a:xfrm>
            <a:off x="1280160" y="4572000"/>
            <a:ext cx="10362895" cy="548640"/>
          </a:xfrm>
          <a:prstGeom prst="rect">
            <a:avLst/>
          </a:prstGeom>
          <a:noFill/>
          <a:ln/>
        </p:spPr>
        <p:txBody>
          <a:bodyPr wrap="square" lIns="0" tIns="0" rIns="0" bIns="0" rtlCol="0" anchor="t"/>
          <a:lstStyle/>
          <a:p>
            <a:pPr indent="0" marL="0">
              <a:lnSpc>
                <a:spcPct val="125000"/>
              </a:lnSpc>
              <a:buNone/>
            </a:pPr>
            <a:r>
              <a:rPr lang="en-US" sz="1500" b="1" dirty="0">
                <a:solidFill>
                  <a:srgbClr val="21295C"/>
                </a:solidFill>
                <a:latin typeface="BIZ UDゴシック" pitchFamily="34" charset="0"/>
                <a:ea typeface="BIZ UDゴシック" pitchFamily="34" charset="-122"/>
                <a:cs typeface="BIZ UDゴシック" pitchFamily="34" charset="-120"/>
              </a:rPr>
              <a:t>意義</a:t>
            </a:r>
            <a:endParaRPr lang="en-US" sz="1500" dirty="0"/>
          </a:p>
        </p:txBody>
      </p:sp>
      <p:sp>
        <p:nvSpPr>
          <p:cNvPr id="24" name="Text 22"/>
          <p:cNvSpPr/>
          <p:nvPr/>
        </p:nvSpPr>
        <p:spPr>
          <a:xfrm>
            <a:off x="1280160" y="4937760"/>
            <a:ext cx="10362895" cy="731520"/>
          </a:xfrm>
          <a:prstGeom prst="rect">
            <a:avLst/>
          </a:prstGeom>
          <a:noFill/>
          <a:ln/>
        </p:spPr>
        <p:txBody>
          <a:bodyPr wrap="square" lIns="0" tIns="0" rIns="0" bIns="0" rtlCol="0" anchor="t"/>
          <a:lstStyle/>
          <a:p>
            <a:pPr indent="0" marL="0">
              <a:lnSpc>
                <a:spcPct val="125000"/>
              </a:lnSpc>
              <a:buNone/>
            </a:pPr>
            <a:r>
              <a:rPr lang="en-US" sz="1400" dirty="0">
                <a:solidFill>
                  <a:srgbClr val="1A1A2E"/>
                </a:solidFill>
                <a:latin typeface="BIZ UDゴシック" pitchFamily="34" charset="0"/>
                <a:ea typeface="BIZ UDゴシック" pitchFamily="34" charset="-122"/>
                <a:cs typeface="BIZ UDゴシック" pitchFamily="34" charset="-120"/>
              </a:rPr>
              <a:t>AIからSplunkへアクセスしても、設定変更・Index削除・管理操作を行えない構成にする。</a:t>
            </a:r>
            <a:endParaRPr lang="en-US" sz="14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502920"/>
            <a:ext cx="566928" cy="566928"/>
          </a:xfrm>
          <a:prstGeom prst="ellipse">
            <a:avLst/>
          </a:prstGeom>
          <a:solidFill>
            <a:srgbClr val="21295C"/>
          </a:solidFill>
          <a:ln/>
        </p:spPr>
      </p:sp>
      <p:sp>
        <p:nvSpPr>
          <p:cNvPr id="3" name="Text 1"/>
          <p:cNvSpPr/>
          <p:nvPr/>
        </p:nvSpPr>
        <p:spPr>
          <a:xfrm>
            <a:off x="548640" y="502920"/>
            <a:ext cx="566928" cy="566928"/>
          </a:xfrm>
          <a:prstGeom prst="rect">
            <a:avLst/>
          </a:prstGeom>
          <a:noFill/>
          <a:ln/>
        </p:spPr>
        <p:txBody>
          <a:bodyPr wrap="square" lIns="0" tIns="0" rIns="0" bIns="0" rtlCol="0" anchor="ctr"/>
          <a:lstStyle/>
          <a:p>
            <a:pPr algn="ctr" indent="0" marL="0">
              <a:buNone/>
            </a:pPr>
            <a:r>
              <a:rPr lang="en-US" sz="1500" b="1" dirty="0">
                <a:solidFill>
                  <a:srgbClr val="FFFFFF"/>
                </a:solidFill>
                <a:latin typeface="BIZ UDゴシック" pitchFamily="34" charset="0"/>
                <a:ea typeface="BIZ UDゴシック" pitchFamily="34" charset="-122"/>
                <a:cs typeface="BIZ UDゴシック" pitchFamily="34" charset="-120"/>
              </a:rPr>
              <a:t>09</a:t>
            </a:r>
            <a:endParaRPr lang="en-US" sz="1500" dirty="0"/>
          </a:p>
        </p:txBody>
      </p:sp>
      <p:sp>
        <p:nvSpPr>
          <p:cNvPr id="4" name="Text 2"/>
          <p:cNvSpPr/>
          <p:nvPr/>
        </p:nvSpPr>
        <p:spPr>
          <a:xfrm>
            <a:off x="1280160" y="438912"/>
            <a:ext cx="10362895" cy="274320"/>
          </a:xfrm>
          <a:prstGeom prst="rect">
            <a:avLst/>
          </a:prstGeom>
          <a:noFill/>
          <a:ln/>
        </p:spPr>
        <p:txBody>
          <a:bodyPr wrap="square" lIns="0" tIns="0" rIns="0" bIns="0" rtlCol="0" anchor="ctr"/>
          <a:lstStyle/>
          <a:p>
            <a:pPr indent="0" marL="0">
              <a:buNone/>
            </a:pPr>
            <a:r>
              <a:rPr lang="en-US" sz="1100" b="1" spc="100" kern="0" dirty="0">
                <a:solidFill>
                  <a:srgbClr val="1C7293"/>
                </a:solidFill>
                <a:latin typeface="BIZ UDゴシック" pitchFamily="34" charset="0"/>
                <a:ea typeface="BIZ UDゴシック" pitchFamily="34" charset="-122"/>
                <a:cs typeface="BIZ UDゴシック" pitchFamily="34" charset="-120"/>
              </a:rPr>
              <a:t>SECTION 9</a:t>
            </a:r>
            <a:endParaRPr lang="en-US" sz="1100" dirty="0"/>
          </a:p>
        </p:txBody>
      </p:sp>
      <p:sp>
        <p:nvSpPr>
          <p:cNvPr id="5" name="Text 3"/>
          <p:cNvSpPr/>
          <p:nvPr/>
        </p:nvSpPr>
        <p:spPr>
          <a:xfrm>
            <a:off x="1280160" y="713232"/>
            <a:ext cx="10362895" cy="566928"/>
          </a:xfrm>
          <a:prstGeom prst="rect">
            <a:avLst/>
          </a:prstGeom>
          <a:noFill/>
          <a:ln/>
        </p:spPr>
        <p:txBody>
          <a:bodyPr wrap="square" lIns="0" tIns="0" rIns="0" bIns="0" rtlCol="0" anchor="t"/>
          <a:lstStyle/>
          <a:p>
            <a:pPr indent="0" marL="0">
              <a:buNone/>
            </a:pPr>
            <a:r>
              <a:rPr lang="en-US" sz="2500" b="1" dirty="0">
                <a:solidFill>
                  <a:srgbClr val="1A1A2E"/>
                </a:solidFill>
                <a:latin typeface="BIZ UDゴシック" pitchFamily="34" charset="0"/>
                <a:ea typeface="BIZ UDゴシック" pitchFamily="34" charset="-122"/>
                <a:cs typeface="BIZ UDゴシック" pitchFamily="34" charset="-120"/>
              </a:rPr>
              <a:t>New Relic MCP コンテナの意義</a:t>
            </a:r>
            <a:endParaRPr lang="en-US" sz="2500" dirty="0"/>
          </a:p>
        </p:txBody>
      </p:sp>
      <p:sp>
        <p:nvSpPr>
          <p:cNvPr id="6" name="Text 4"/>
          <p:cNvSpPr/>
          <p:nvPr/>
        </p:nvSpPr>
        <p:spPr>
          <a:xfrm>
            <a:off x="548640" y="6446520"/>
            <a:ext cx="4572000" cy="274320"/>
          </a:xfrm>
          <a:prstGeom prst="rect">
            <a:avLst/>
          </a:prstGeom>
          <a:noFill/>
          <a:ln/>
        </p:spPr>
        <p:txBody>
          <a:bodyPr wrap="square" lIns="0" tIns="0" rIns="0" bIns="0" rtlCol="0" anchor="ctr"/>
          <a:lstStyle/>
          <a:p>
            <a:pPr indent="0" marL="0">
              <a:buNone/>
            </a:pPr>
            <a:r>
              <a:rPr lang="en-US" sz="900" dirty="0">
                <a:solidFill>
                  <a:srgbClr val="5C6B73"/>
                </a:solidFill>
                <a:latin typeface="BIZ UDゴシック" pitchFamily="34" charset="0"/>
                <a:ea typeface="BIZ UDゴシック" pitchFamily="34" charset="-122"/>
                <a:cs typeface="BIZ UDゴシック" pitchFamily="34" charset="-120"/>
              </a:rPr>
              <a:t>Observability AI PoC</a:t>
            </a:r>
            <a:endParaRPr lang="en-US" sz="900" dirty="0"/>
          </a:p>
        </p:txBody>
      </p:sp>
      <p:sp>
        <p:nvSpPr>
          <p:cNvPr id="7" name="Text 5"/>
          <p:cNvSpPr/>
          <p:nvPr/>
        </p:nvSpPr>
        <p:spPr>
          <a:xfrm>
            <a:off x="9814255" y="6446520"/>
            <a:ext cx="1828800" cy="274320"/>
          </a:xfrm>
          <a:prstGeom prst="rect">
            <a:avLst/>
          </a:prstGeom>
          <a:noFill/>
          <a:ln/>
        </p:spPr>
        <p:txBody>
          <a:bodyPr wrap="square" lIns="0" tIns="0" rIns="0" bIns="0" rtlCol="0" anchor="ctr"/>
          <a:lstStyle/>
          <a:p>
            <a:pPr algn="r" indent="0" marL="0">
              <a:buNone/>
            </a:pPr>
            <a:r>
              <a:rPr lang="en-US" sz="900" dirty="0">
                <a:solidFill>
                  <a:srgbClr val="5C6B73"/>
                </a:solidFill>
                <a:latin typeface="BIZ UDゴシック" pitchFamily="34" charset="0"/>
                <a:ea typeface="BIZ UDゴシック" pitchFamily="34" charset="-122"/>
                <a:cs typeface="BIZ UDゴシック" pitchFamily="34" charset="-120"/>
              </a:rPr>
              <a:t>09</a:t>
            </a:r>
            <a:endParaRPr lang="en-US" sz="900" dirty="0"/>
          </a:p>
        </p:txBody>
      </p:sp>
      <p:sp>
        <p:nvSpPr>
          <p:cNvPr id="8" name="Text 6"/>
          <p:cNvSpPr/>
          <p:nvPr/>
        </p:nvSpPr>
        <p:spPr>
          <a:xfrm>
            <a:off x="1280160" y="1536192"/>
            <a:ext cx="10362895" cy="640080"/>
          </a:xfrm>
          <a:prstGeom prst="rect">
            <a:avLst/>
          </a:prstGeom>
          <a:noFill/>
          <a:ln/>
        </p:spPr>
        <p:txBody>
          <a:bodyPr wrap="square" lIns="0" tIns="0" rIns="0" bIns="0" rtlCol="0" anchor="t"/>
          <a:lstStyle/>
          <a:p>
            <a:pPr indent="0" marL="0">
              <a:lnSpc>
                <a:spcPct val="125000"/>
              </a:lnSpc>
              <a:buNone/>
            </a:pPr>
            <a:r>
              <a:rPr lang="en-US" sz="1500" dirty="0">
                <a:solidFill>
                  <a:srgbClr val="1A1A2E"/>
                </a:solidFill>
                <a:latin typeface="BIZ UDゴシック" pitchFamily="34" charset="0"/>
                <a:ea typeface="BIZ UDゴシック" pitchFamily="34" charset="-122"/>
                <a:cs typeface="BIZ UDゴシック" pitchFamily="34" charset="-120"/>
              </a:rPr>
              <a:t>New Relic APIをConsole APIへ直接埋め込むのではなく、MCPサーバを介してObservabilityデータへアクセスする。</a:t>
            </a:r>
            <a:endParaRPr lang="en-US" sz="1500" dirty="0"/>
          </a:p>
        </p:txBody>
      </p:sp>
      <p:sp>
        <p:nvSpPr>
          <p:cNvPr id="9" name="Text 7"/>
          <p:cNvSpPr/>
          <p:nvPr/>
        </p:nvSpPr>
        <p:spPr>
          <a:xfrm>
            <a:off x="1280160" y="2331720"/>
            <a:ext cx="10362895" cy="548640"/>
          </a:xfrm>
          <a:prstGeom prst="rect">
            <a:avLst/>
          </a:prstGeom>
          <a:noFill/>
          <a:ln/>
        </p:spPr>
        <p:txBody>
          <a:bodyPr wrap="square" lIns="0" tIns="0" rIns="0" bIns="0" rtlCol="0" anchor="t"/>
          <a:lstStyle/>
          <a:p>
            <a:pPr indent="0" marL="0">
              <a:lnSpc>
                <a:spcPct val="125000"/>
              </a:lnSpc>
              <a:buNone/>
            </a:pPr>
            <a:r>
              <a:rPr lang="en-US" sz="1500" b="1" dirty="0">
                <a:solidFill>
                  <a:srgbClr val="21295C"/>
                </a:solidFill>
                <a:latin typeface="BIZ UDゴシック" pitchFamily="34" charset="0"/>
                <a:ea typeface="BIZ UDゴシック" pitchFamily="34" charset="-122"/>
                <a:cs typeface="BIZ UDゴシック" pitchFamily="34" charset="-120"/>
              </a:rPr>
              <a:t>代表的なツール</a:t>
            </a:r>
            <a:endParaRPr lang="en-US" sz="1500" dirty="0"/>
          </a:p>
        </p:txBody>
      </p:sp>
      <p:sp>
        <p:nvSpPr>
          <p:cNvPr id="10" name="Shape 8"/>
          <p:cNvSpPr/>
          <p:nvPr/>
        </p:nvSpPr>
        <p:spPr>
          <a:xfrm>
            <a:off x="1280160" y="2743200"/>
            <a:ext cx="2103120" cy="502920"/>
          </a:xfrm>
          <a:prstGeom prst="roundRect">
            <a:avLst>
              <a:gd name="adj" fmla="val 12727"/>
            </a:avLst>
          </a:prstGeom>
          <a:solidFill>
            <a:srgbClr val="1C7293"/>
          </a:solidFill>
          <a:ln/>
        </p:spPr>
      </p:sp>
      <p:sp>
        <p:nvSpPr>
          <p:cNvPr id="11" name="Text 9"/>
          <p:cNvSpPr/>
          <p:nvPr/>
        </p:nvSpPr>
        <p:spPr>
          <a:xfrm>
            <a:off x="1280160" y="2743200"/>
            <a:ext cx="2103120" cy="502920"/>
          </a:xfrm>
          <a:prstGeom prst="rect">
            <a:avLst/>
          </a:prstGeom>
          <a:noFill/>
          <a:ln/>
        </p:spPr>
        <p:txBody>
          <a:bodyPr wrap="square" lIns="25400" tIns="25400" rIns="25400" bIns="25400" rtlCol="0" anchor="ctr"/>
          <a:lstStyle/>
          <a:p>
            <a:pPr algn="ctr" indent="0" marL="0">
              <a:buNone/>
            </a:pPr>
            <a:r>
              <a:rPr lang="en-US" sz="1050" dirty="0">
                <a:solidFill>
                  <a:srgbClr val="FFFFFF"/>
                </a:solidFill>
                <a:latin typeface="Consolas" pitchFamily="34" charset="0"/>
                <a:ea typeface="Consolas" pitchFamily="34" charset="-122"/>
                <a:cs typeface="Consolas" pitchFamily="34" charset="-120"/>
              </a:rPr>
              <a:t>analyze_golden_metrics</a:t>
            </a:r>
            <a:endParaRPr lang="en-US" sz="1050" dirty="0"/>
          </a:p>
        </p:txBody>
      </p:sp>
      <p:sp>
        <p:nvSpPr>
          <p:cNvPr id="12" name="Shape 10"/>
          <p:cNvSpPr/>
          <p:nvPr/>
        </p:nvSpPr>
        <p:spPr>
          <a:xfrm>
            <a:off x="3611880" y="2743200"/>
            <a:ext cx="2103120" cy="502920"/>
          </a:xfrm>
          <a:prstGeom prst="roundRect">
            <a:avLst>
              <a:gd name="adj" fmla="val 12727"/>
            </a:avLst>
          </a:prstGeom>
          <a:solidFill>
            <a:srgbClr val="1C7293"/>
          </a:solidFill>
          <a:ln/>
        </p:spPr>
      </p:sp>
      <p:sp>
        <p:nvSpPr>
          <p:cNvPr id="13" name="Text 11"/>
          <p:cNvSpPr/>
          <p:nvPr/>
        </p:nvSpPr>
        <p:spPr>
          <a:xfrm>
            <a:off x="3611880" y="2743200"/>
            <a:ext cx="2103120" cy="502920"/>
          </a:xfrm>
          <a:prstGeom prst="rect">
            <a:avLst/>
          </a:prstGeom>
          <a:noFill/>
          <a:ln/>
        </p:spPr>
        <p:txBody>
          <a:bodyPr wrap="square" lIns="25400" tIns="25400" rIns="25400" bIns="25400" rtlCol="0" anchor="ctr"/>
          <a:lstStyle/>
          <a:p>
            <a:pPr algn="ctr" indent="0" marL="0">
              <a:buNone/>
            </a:pPr>
            <a:r>
              <a:rPr lang="en-US" sz="1050" dirty="0">
                <a:solidFill>
                  <a:srgbClr val="FFFFFF"/>
                </a:solidFill>
                <a:latin typeface="Consolas" pitchFamily="34" charset="0"/>
                <a:ea typeface="Consolas" pitchFamily="34" charset="-122"/>
                <a:cs typeface="Consolas" pitchFamily="34" charset="-120"/>
              </a:rPr>
              <a:t>analyze_transactions</a:t>
            </a:r>
            <a:endParaRPr lang="en-US" sz="1050" dirty="0"/>
          </a:p>
        </p:txBody>
      </p:sp>
      <p:sp>
        <p:nvSpPr>
          <p:cNvPr id="14" name="Shape 12"/>
          <p:cNvSpPr/>
          <p:nvPr/>
        </p:nvSpPr>
        <p:spPr>
          <a:xfrm>
            <a:off x="5943600" y="2743200"/>
            <a:ext cx="2103120" cy="502920"/>
          </a:xfrm>
          <a:prstGeom prst="roundRect">
            <a:avLst>
              <a:gd name="adj" fmla="val 12727"/>
            </a:avLst>
          </a:prstGeom>
          <a:solidFill>
            <a:srgbClr val="1C7293"/>
          </a:solidFill>
          <a:ln/>
        </p:spPr>
      </p:sp>
      <p:sp>
        <p:nvSpPr>
          <p:cNvPr id="15" name="Text 13"/>
          <p:cNvSpPr/>
          <p:nvPr/>
        </p:nvSpPr>
        <p:spPr>
          <a:xfrm>
            <a:off x="5943600" y="2743200"/>
            <a:ext cx="2103120" cy="502920"/>
          </a:xfrm>
          <a:prstGeom prst="rect">
            <a:avLst/>
          </a:prstGeom>
          <a:noFill/>
          <a:ln/>
        </p:spPr>
        <p:txBody>
          <a:bodyPr wrap="square" lIns="25400" tIns="25400" rIns="25400" bIns="25400" rtlCol="0" anchor="ctr"/>
          <a:lstStyle/>
          <a:p>
            <a:pPr algn="ctr" indent="0" marL="0">
              <a:buNone/>
            </a:pPr>
            <a:r>
              <a:rPr lang="en-US" sz="1050" dirty="0">
                <a:solidFill>
                  <a:srgbClr val="FFFFFF"/>
                </a:solidFill>
                <a:latin typeface="Consolas" pitchFamily="34" charset="0"/>
                <a:ea typeface="Consolas" pitchFamily="34" charset="-122"/>
                <a:cs typeface="Consolas" pitchFamily="34" charset="-120"/>
              </a:rPr>
              <a:t>analyze_deployment_impact</a:t>
            </a:r>
            <a:endParaRPr lang="en-US" sz="1050" dirty="0"/>
          </a:p>
        </p:txBody>
      </p:sp>
      <p:sp>
        <p:nvSpPr>
          <p:cNvPr id="16" name="Shape 14"/>
          <p:cNvSpPr/>
          <p:nvPr/>
        </p:nvSpPr>
        <p:spPr>
          <a:xfrm>
            <a:off x="1280160" y="3429000"/>
            <a:ext cx="2103120" cy="502920"/>
          </a:xfrm>
          <a:prstGeom prst="roundRect">
            <a:avLst>
              <a:gd name="adj" fmla="val 12727"/>
            </a:avLst>
          </a:prstGeom>
          <a:solidFill>
            <a:srgbClr val="1C7293"/>
          </a:solidFill>
          <a:ln/>
        </p:spPr>
      </p:sp>
      <p:sp>
        <p:nvSpPr>
          <p:cNvPr id="17" name="Text 15"/>
          <p:cNvSpPr/>
          <p:nvPr/>
        </p:nvSpPr>
        <p:spPr>
          <a:xfrm>
            <a:off x="1280160" y="3429000"/>
            <a:ext cx="2103120" cy="502920"/>
          </a:xfrm>
          <a:prstGeom prst="rect">
            <a:avLst/>
          </a:prstGeom>
          <a:noFill/>
          <a:ln/>
        </p:spPr>
        <p:txBody>
          <a:bodyPr wrap="square" lIns="25400" tIns="25400" rIns="25400" bIns="25400" rtlCol="0" anchor="ctr"/>
          <a:lstStyle/>
          <a:p>
            <a:pPr algn="ctr" indent="0" marL="0">
              <a:buNone/>
            </a:pPr>
            <a:r>
              <a:rPr lang="en-US" sz="1050" dirty="0">
                <a:solidFill>
                  <a:srgbClr val="FFFFFF"/>
                </a:solidFill>
                <a:latin typeface="Consolas" pitchFamily="34" charset="0"/>
                <a:ea typeface="Consolas" pitchFamily="34" charset="-122"/>
                <a:cs typeface="Consolas" pitchFamily="34" charset="-120"/>
              </a:rPr>
              <a:t>list_change_events</a:t>
            </a:r>
            <a:endParaRPr lang="en-US" sz="1050" dirty="0"/>
          </a:p>
        </p:txBody>
      </p:sp>
      <p:sp>
        <p:nvSpPr>
          <p:cNvPr id="18" name="Shape 16"/>
          <p:cNvSpPr/>
          <p:nvPr/>
        </p:nvSpPr>
        <p:spPr>
          <a:xfrm>
            <a:off x="3611880" y="3429000"/>
            <a:ext cx="2103120" cy="502920"/>
          </a:xfrm>
          <a:prstGeom prst="roundRect">
            <a:avLst>
              <a:gd name="adj" fmla="val 12727"/>
            </a:avLst>
          </a:prstGeom>
          <a:solidFill>
            <a:srgbClr val="1C7293"/>
          </a:solidFill>
          <a:ln/>
        </p:spPr>
      </p:sp>
      <p:sp>
        <p:nvSpPr>
          <p:cNvPr id="19" name="Text 17"/>
          <p:cNvSpPr/>
          <p:nvPr/>
        </p:nvSpPr>
        <p:spPr>
          <a:xfrm>
            <a:off x="3611880" y="3429000"/>
            <a:ext cx="2103120" cy="502920"/>
          </a:xfrm>
          <a:prstGeom prst="rect">
            <a:avLst/>
          </a:prstGeom>
          <a:noFill/>
          <a:ln/>
        </p:spPr>
        <p:txBody>
          <a:bodyPr wrap="square" lIns="25400" tIns="25400" rIns="25400" bIns="25400" rtlCol="0" anchor="ctr"/>
          <a:lstStyle/>
          <a:p>
            <a:pPr algn="ctr" indent="0" marL="0">
              <a:buNone/>
            </a:pPr>
            <a:r>
              <a:rPr lang="en-US" sz="1050" dirty="0">
                <a:solidFill>
                  <a:srgbClr val="FFFFFF"/>
                </a:solidFill>
                <a:latin typeface="Consolas" pitchFamily="34" charset="0"/>
                <a:ea typeface="Consolas" pitchFamily="34" charset="-122"/>
                <a:cs typeface="Consolas" pitchFamily="34" charset="-120"/>
              </a:rPr>
              <a:t>execute_nrql_query</a:t>
            </a:r>
            <a:endParaRPr lang="en-US" sz="1050" dirty="0"/>
          </a:p>
        </p:txBody>
      </p:sp>
      <p:sp>
        <p:nvSpPr>
          <p:cNvPr id="20" name="Shape 18"/>
          <p:cNvSpPr/>
          <p:nvPr/>
        </p:nvSpPr>
        <p:spPr>
          <a:xfrm>
            <a:off x="1280160" y="4343400"/>
            <a:ext cx="10362895" cy="1600200"/>
          </a:xfrm>
          <a:prstGeom prst="roundRect">
            <a:avLst>
              <a:gd name="adj" fmla="val 4571"/>
            </a:avLst>
          </a:prstGeom>
          <a:solidFill>
            <a:srgbClr val="EAF2F6"/>
          </a:solidFill>
          <a:ln/>
        </p:spPr>
      </p:sp>
      <p:sp>
        <p:nvSpPr>
          <p:cNvPr id="21" name="Text 19"/>
          <p:cNvSpPr/>
          <p:nvPr/>
        </p:nvSpPr>
        <p:spPr>
          <a:xfrm>
            <a:off x="1508760" y="4526280"/>
            <a:ext cx="9905695" cy="548640"/>
          </a:xfrm>
          <a:prstGeom prst="rect">
            <a:avLst/>
          </a:prstGeom>
          <a:noFill/>
          <a:ln/>
        </p:spPr>
        <p:txBody>
          <a:bodyPr wrap="square" lIns="0" tIns="0" rIns="0" bIns="0" rtlCol="0" anchor="t"/>
          <a:lstStyle/>
          <a:p>
            <a:pPr indent="0" marL="0">
              <a:lnSpc>
                <a:spcPct val="125000"/>
              </a:lnSpc>
              <a:buNone/>
            </a:pPr>
            <a:r>
              <a:rPr lang="en-US" sz="1400" b="1" dirty="0">
                <a:solidFill>
                  <a:srgbClr val="21295C"/>
                </a:solidFill>
                <a:latin typeface="BIZ UDゴシック" pitchFamily="34" charset="0"/>
                <a:ea typeface="BIZ UDゴシック" pitchFamily="34" charset="-122"/>
                <a:cs typeface="BIZ UDゴシック" pitchFamily="34" charset="-120"/>
              </a:rPr>
              <a:t>意義</a:t>
            </a:r>
            <a:endParaRPr lang="en-US" sz="1400" dirty="0"/>
          </a:p>
        </p:txBody>
      </p:sp>
      <p:sp>
        <p:nvSpPr>
          <p:cNvPr id="22" name="Text 20"/>
          <p:cNvSpPr/>
          <p:nvPr/>
        </p:nvSpPr>
        <p:spPr>
          <a:xfrm>
            <a:off x="1508760" y="4892040"/>
            <a:ext cx="9905695" cy="914400"/>
          </a:xfrm>
          <a:prstGeom prst="rect">
            <a:avLst/>
          </a:prstGeom>
          <a:noFill/>
          <a:ln/>
        </p:spPr>
        <p:txBody>
          <a:bodyPr wrap="square" lIns="0" tIns="0" rIns="0" bIns="0" rtlCol="0" anchor="t"/>
          <a:lstStyle/>
          <a:p>
            <a:pPr indent="0" marL="0">
              <a:lnSpc>
                <a:spcPct val="125000"/>
              </a:lnSpc>
              <a:buNone/>
            </a:pPr>
            <a:r>
              <a:rPr lang="en-US" sz="1400" dirty="0">
                <a:solidFill>
                  <a:srgbClr val="1A1A2E"/>
                </a:solidFill>
                <a:latin typeface="BIZ UDゴシック" pitchFamily="34" charset="0"/>
                <a:ea typeface="BIZ UDゴシック" pitchFamily="34" charset="-122"/>
                <a:cs typeface="BIZ UDゴシック" pitchFamily="34" charset="-120"/>
              </a:rPr>
              <a:t>LLM / Agent側から見ると、「New Relicの情報を取得するための標準化されたTool」として扱える。これにより、将来的に他のMCPサーバを追加しやすい。</a:t>
            </a:r>
            <a:endParaRPr lang="en-US" sz="14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502920"/>
            <a:ext cx="566928" cy="566928"/>
          </a:xfrm>
          <a:prstGeom prst="ellipse">
            <a:avLst/>
          </a:prstGeom>
          <a:solidFill>
            <a:srgbClr val="21295C"/>
          </a:solidFill>
          <a:ln/>
        </p:spPr>
      </p:sp>
      <p:sp>
        <p:nvSpPr>
          <p:cNvPr id="3" name="Text 1"/>
          <p:cNvSpPr/>
          <p:nvPr/>
        </p:nvSpPr>
        <p:spPr>
          <a:xfrm>
            <a:off x="548640" y="502920"/>
            <a:ext cx="566928" cy="566928"/>
          </a:xfrm>
          <a:prstGeom prst="rect">
            <a:avLst/>
          </a:prstGeom>
          <a:noFill/>
          <a:ln/>
        </p:spPr>
        <p:txBody>
          <a:bodyPr wrap="square" lIns="0" tIns="0" rIns="0" bIns="0" rtlCol="0" anchor="ctr"/>
          <a:lstStyle/>
          <a:p>
            <a:pPr algn="ctr" indent="0" marL="0">
              <a:buNone/>
            </a:pPr>
            <a:r>
              <a:rPr lang="en-US" sz="1500" b="1" dirty="0">
                <a:solidFill>
                  <a:srgbClr val="FFFFFF"/>
                </a:solidFill>
                <a:latin typeface="BIZ UDゴシック" pitchFamily="34" charset="0"/>
                <a:ea typeface="BIZ UDゴシック" pitchFamily="34" charset="-122"/>
                <a:cs typeface="BIZ UDゴシック" pitchFamily="34" charset="-120"/>
              </a:rPr>
              <a:t>10</a:t>
            </a:r>
            <a:endParaRPr lang="en-US" sz="1500" dirty="0"/>
          </a:p>
        </p:txBody>
      </p:sp>
      <p:sp>
        <p:nvSpPr>
          <p:cNvPr id="4" name="Text 2"/>
          <p:cNvSpPr/>
          <p:nvPr/>
        </p:nvSpPr>
        <p:spPr>
          <a:xfrm>
            <a:off x="1280160" y="438912"/>
            <a:ext cx="10362895" cy="274320"/>
          </a:xfrm>
          <a:prstGeom prst="rect">
            <a:avLst/>
          </a:prstGeom>
          <a:noFill/>
          <a:ln/>
        </p:spPr>
        <p:txBody>
          <a:bodyPr wrap="square" lIns="0" tIns="0" rIns="0" bIns="0" rtlCol="0" anchor="ctr"/>
          <a:lstStyle/>
          <a:p>
            <a:pPr indent="0" marL="0">
              <a:buNone/>
            </a:pPr>
            <a:r>
              <a:rPr lang="en-US" sz="1100" b="1" spc="100" kern="0" dirty="0">
                <a:solidFill>
                  <a:srgbClr val="1C7293"/>
                </a:solidFill>
                <a:latin typeface="BIZ UDゴシック" pitchFamily="34" charset="0"/>
                <a:ea typeface="BIZ UDゴシック" pitchFamily="34" charset="-122"/>
                <a:cs typeface="BIZ UDゴシック" pitchFamily="34" charset="-120"/>
              </a:rPr>
              <a:t>SECTION 10</a:t>
            </a:r>
            <a:endParaRPr lang="en-US" sz="1100" dirty="0"/>
          </a:p>
        </p:txBody>
      </p:sp>
      <p:sp>
        <p:nvSpPr>
          <p:cNvPr id="5" name="Text 3"/>
          <p:cNvSpPr/>
          <p:nvPr/>
        </p:nvSpPr>
        <p:spPr>
          <a:xfrm>
            <a:off x="1280160" y="713232"/>
            <a:ext cx="10362895" cy="566928"/>
          </a:xfrm>
          <a:prstGeom prst="rect">
            <a:avLst/>
          </a:prstGeom>
          <a:noFill/>
          <a:ln/>
        </p:spPr>
        <p:txBody>
          <a:bodyPr wrap="square" lIns="0" tIns="0" rIns="0" bIns="0" rtlCol="0" anchor="t"/>
          <a:lstStyle/>
          <a:p>
            <a:pPr indent="0" marL="0">
              <a:buNone/>
            </a:pPr>
            <a:r>
              <a:rPr lang="en-US" sz="2500" b="1" dirty="0">
                <a:solidFill>
                  <a:srgbClr val="1A1A2E"/>
                </a:solidFill>
                <a:latin typeface="BIZ UDゴシック" pitchFamily="34" charset="0"/>
                <a:ea typeface="BIZ UDゴシック" pitchFamily="34" charset="-122"/>
                <a:cs typeface="BIZ UDゴシック" pitchFamily="34" charset="-120"/>
              </a:rPr>
              <a:t>Console API コンテナの意義</a:t>
            </a:r>
            <a:endParaRPr lang="en-US" sz="2500" dirty="0"/>
          </a:p>
        </p:txBody>
      </p:sp>
      <p:sp>
        <p:nvSpPr>
          <p:cNvPr id="6" name="Text 4"/>
          <p:cNvSpPr/>
          <p:nvPr/>
        </p:nvSpPr>
        <p:spPr>
          <a:xfrm>
            <a:off x="548640" y="6446520"/>
            <a:ext cx="4572000" cy="274320"/>
          </a:xfrm>
          <a:prstGeom prst="rect">
            <a:avLst/>
          </a:prstGeom>
          <a:noFill/>
          <a:ln/>
        </p:spPr>
        <p:txBody>
          <a:bodyPr wrap="square" lIns="0" tIns="0" rIns="0" bIns="0" rtlCol="0" anchor="ctr"/>
          <a:lstStyle/>
          <a:p>
            <a:pPr indent="0" marL="0">
              <a:buNone/>
            </a:pPr>
            <a:r>
              <a:rPr lang="en-US" sz="900" dirty="0">
                <a:solidFill>
                  <a:srgbClr val="5C6B73"/>
                </a:solidFill>
                <a:latin typeface="BIZ UDゴシック" pitchFamily="34" charset="0"/>
                <a:ea typeface="BIZ UDゴシック" pitchFamily="34" charset="-122"/>
                <a:cs typeface="BIZ UDゴシック" pitchFamily="34" charset="-120"/>
              </a:rPr>
              <a:t>Observability AI PoC</a:t>
            </a:r>
            <a:endParaRPr lang="en-US" sz="900" dirty="0"/>
          </a:p>
        </p:txBody>
      </p:sp>
      <p:sp>
        <p:nvSpPr>
          <p:cNvPr id="7" name="Text 5"/>
          <p:cNvSpPr/>
          <p:nvPr/>
        </p:nvSpPr>
        <p:spPr>
          <a:xfrm>
            <a:off x="9814255" y="6446520"/>
            <a:ext cx="1828800" cy="274320"/>
          </a:xfrm>
          <a:prstGeom prst="rect">
            <a:avLst/>
          </a:prstGeom>
          <a:noFill/>
          <a:ln/>
        </p:spPr>
        <p:txBody>
          <a:bodyPr wrap="square" lIns="0" tIns="0" rIns="0" bIns="0" rtlCol="0" anchor="ctr"/>
          <a:lstStyle/>
          <a:p>
            <a:pPr algn="r" indent="0" marL="0">
              <a:buNone/>
            </a:pPr>
            <a:r>
              <a:rPr lang="en-US" sz="900" dirty="0">
                <a:solidFill>
                  <a:srgbClr val="5C6B73"/>
                </a:solidFill>
                <a:latin typeface="BIZ UDゴシック" pitchFamily="34" charset="0"/>
                <a:ea typeface="BIZ UDゴシック" pitchFamily="34" charset="-122"/>
                <a:cs typeface="BIZ UDゴシック" pitchFamily="34" charset="-120"/>
              </a:rPr>
              <a:t>10</a:t>
            </a:r>
            <a:endParaRPr lang="en-US" sz="900" dirty="0"/>
          </a:p>
        </p:txBody>
      </p:sp>
      <p:sp>
        <p:nvSpPr>
          <p:cNvPr id="8" name="Text 6"/>
          <p:cNvSpPr/>
          <p:nvPr/>
        </p:nvSpPr>
        <p:spPr>
          <a:xfrm>
            <a:off x="1280160" y="1536192"/>
            <a:ext cx="10362895" cy="365760"/>
          </a:xfrm>
          <a:prstGeom prst="rect">
            <a:avLst/>
          </a:prstGeom>
          <a:noFill/>
          <a:ln/>
        </p:spPr>
        <p:txBody>
          <a:bodyPr wrap="square" lIns="0" tIns="0" rIns="0" bIns="0" rtlCol="0" anchor="t"/>
          <a:lstStyle/>
          <a:p>
            <a:pPr indent="0" marL="0">
              <a:lnSpc>
                <a:spcPct val="125000"/>
              </a:lnSpc>
              <a:buNone/>
            </a:pPr>
            <a:r>
              <a:rPr lang="en-US" sz="1600" b="1" dirty="0">
                <a:solidFill>
                  <a:srgbClr val="21295C"/>
                </a:solidFill>
                <a:latin typeface="BIZ UDゴシック" pitchFamily="34" charset="0"/>
                <a:ea typeface="BIZ UDゴシック" pitchFamily="34" charset="-122"/>
                <a:cs typeface="BIZ UDゴシック" pitchFamily="34" charset="-120"/>
              </a:rPr>
              <a:t>Console API はこのPoCの中心。</a:t>
            </a:r>
            <a:endParaRPr lang="en-US" sz="1600" dirty="0"/>
          </a:p>
        </p:txBody>
      </p:sp>
      <p:sp>
        <p:nvSpPr>
          <p:cNvPr id="9" name="Shape 7"/>
          <p:cNvSpPr/>
          <p:nvPr/>
        </p:nvSpPr>
        <p:spPr>
          <a:xfrm>
            <a:off x="1280160" y="2011680"/>
            <a:ext cx="4998568" cy="2286000"/>
          </a:xfrm>
          <a:prstGeom prst="roundRect">
            <a:avLst>
              <a:gd name="adj" fmla="val 3200"/>
            </a:avLst>
          </a:prstGeom>
          <a:solidFill>
            <a:srgbClr val="EAF2F6"/>
          </a:solidFill>
          <a:ln/>
        </p:spPr>
      </p:sp>
      <p:sp>
        <p:nvSpPr>
          <p:cNvPr id="10" name="Text 8"/>
          <p:cNvSpPr/>
          <p:nvPr/>
        </p:nvSpPr>
        <p:spPr>
          <a:xfrm>
            <a:off x="1463040" y="2194560"/>
            <a:ext cx="4632808" cy="548640"/>
          </a:xfrm>
          <a:prstGeom prst="rect">
            <a:avLst/>
          </a:prstGeom>
          <a:noFill/>
          <a:ln/>
        </p:spPr>
        <p:txBody>
          <a:bodyPr wrap="square" lIns="0" tIns="0" rIns="0" bIns="0" rtlCol="0" anchor="t"/>
          <a:lstStyle/>
          <a:p>
            <a:pPr indent="0" marL="0">
              <a:lnSpc>
                <a:spcPct val="125000"/>
              </a:lnSpc>
              <a:buNone/>
            </a:pPr>
            <a:r>
              <a:rPr lang="en-US" sz="1400" b="1" dirty="0">
                <a:solidFill>
                  <a:srgbClr val="21295C"/>
                </a:solidFill>
                <a:latin typeface="BIZ UDゴシック" pitchFamily="34" charset="0"/>
                <a:ea typeface="BIZ UDゴシック" pitchFamily="34" charset="-122"/>
                <a:cs typeface="BIZ UDゴシック" pitchFamily="34" charset="-120"/>
              </a:rPr>
              <a:t>主な責務</a:t>
            </a:r>
            <a:endParaRPr lang="en-US" sz="1400" dirty="0"/>
          </a:p>
        </p:txBody>
      </p:sp>
      <p:sp>
        <p:nvSpPr>
          <p:cNvPr id="11" name="Text 9"/>
          <p:cNvSpPr/>
          <p:nvPr/>
        </p:nvSpPr>
        <p:spPr>
          <a:xfrm>
            <a:off x="1463040" y="2560320"/>
            <a:ext cx="4632808" cy="1691640"/>
          </a:xfrm>
          <a:prstGeom prst="rect">
            <a:avLst/>
          </a:prstGeom>
          <a:noFill/>
          <a:ln/>
        </p:spPr>
        <p:txBody>
          <a:bodyPr wrap="square" lIns="0" tIns="0" rIns="0" bIns="0" rtlCol="0" anchor="t"/>
          <a:lstStyle/>
          <a:p>
            <a:pPr marL="177800" indent="-177800">
              <a:lnSpc>
                <a:spcPct val="120000"/>
              </a:lnSpc>
              <a:spcAft>
                <a:spcPts val="600"/>
              </a:spcAft>
              <a:buSzPct val="100000"/>
              <a:buChar char="●"/>
            </a:pPr>
            <a:r>
              <a:rPr lang="en-US" sz="1200" dirty="0">
                <a:solidFill>
                  <a:srgbClr val="1A1A2E"/>
                </a:solidFill>
                <a:latin typeface="BIZ UDゴシック" pitchFamily="34" charset="0"/>
                <a:ea typeface="BIZ UDゴシック" pitchFamily="34" charset="-122"/>
                <a:cs typeface="BIZ UDゴシック" pitchFamily="34" charset="-120"/>
              </a:rPr>
              <a:t>Splunk Evidence取得</a:t>
            </a:r>
            <a:endParaRPr lang="en-US" sz="1200" dirty="0"/>
          </a:p>
          <a:p>
            <a:pPr marL="177800" indent="-177800">
              <a:lnSpc>
                <a:spcPct val="120000"/>
              </a:lnSpc>
              <a:spcAft>
                <a:spcPts val="600"/>
              </a:spcAft>
              <a:buSzPct val="100000"/>
              <a:buChar char="●"/>
            </a:pPr>
            <a:r>
              <a:rPr lang="en-US" sz="1200" dirty="0">
                <a:solidFill>
                  <a:srgbClr val="1A1A2E"/>
                </a:solidFill>
                <a:latin typeface="BIZ UDゴシック" pitchFamily="34" charset="0"/>
                <a:ea typeface="BIZ UDゴシック" pitchFamily="34" charset="-122"/>
                <a:cs typeface="BIZ UDゴシック" pitchFamily="34" charset="-120"/>
              </a:rPr>
              <a:t>New Relic MCP呼び出し</a:t>
            </a:r>
            <a:endParaRPr lang="en-US" sz="1200" dirty="0"/>
          </a:p>
          <a:p>
            <a:pPr marL="177800" indent="-177800">
              <a:lnSpc>
                <a:spcPct val="120000"/>
              </a:lnSpc>
              <a:spcAft>
                <a:spcPts val="600"/>
              </a:spcAft>
              <a:buSzPct val="100000"/>
              <a:buChar char="●"/>
            </a:pPr>
            <a:r>
              <a:rPr lang="en-US" sz="1200" dirty="0">
                <a:solidFill>
                  <a:srgbClr val="1A1A2E"/>
                </a:solidFill>
                <a:latin typeface="BIZ UDゴシック" pitchFamily="34" charset="0"/>
                <a:ea typeface="BIZ UDゴシック" pitchFamily="34" charset="-122"/>
                <a:cs typeface="BIZ UDゴシック" pitchFamily="34" charset="-120"/>
              </a:rPr>
              <a:t>EvidenceBundle生成</a:t>
            </a:r>
            <a:endParaRPr lang="en-US" sz="1200" dirty="0"/>
          </a:p>
          <a:p>
            <a:pPr marL="177800" indent="-177800">
              <a:lnSpc>
                <a:spcPct val="120000"/>
              </a:lnSpc>
              <a:spcAft>
                <a:spcPts val="600"/>
              </a:spcAft>
              <a:buSzPct val="100000"/>
              <a:buChar char="●"/>
            </a:pPr>
            <a:r>
              <a:rPr lang="en-US" sz="1200" dirty="0">
                <a:solidFill>
                  <a:srgbClr val="1A1A2E"/>
                </a:solidFill>
                <a:latin typeface="BIZ UDゴシック" pitchFamily="34" charset="0"/>
                <a:ea typeface="BIZ UDゴシック" pitchFamily="34" charset="-122"/>
                <a:cs typeface="BIZ UDゴシック" pitchFamily="34" charset="-120"/>
              </a:rPr>
              <a:t>LLM呼び出し</a:t>
            </a:r>
            <a:endParaRPr lang="en-US" sz="1200" dirty="0"/>
          </a:p>
          <a:p>
            <a:pPr marL="177800" indent="-177800">
              <a:lnSpc>
                <a:spcPct val="120000"/>
              </a:lnSpc>
              <a:spcAft>
                <a:spcPts val="600"/>
              </a:spcAft>
              <a:buSzPct val="100000"/>
              <a:buChar char="●"/>
            </a:pPr>
            <a:r>
              <a:rPr lang="en-US" sz="1200" dirty="0">
                <a:solidFill>
                  <a:srgbClr val="1A1A2E"/>
                </a:solidFill>
                <a:latin typeface="BIZ UDゴシック" pitchFamily="34" charset="0"/>
                <a:ea typeface="BIZ UDゴシック" pitchFamily="34" charset="-122"/>
                <a:cs typeface="BIZ UDゴシック" pitchFamily="34" charset="-120"/>
              </a:rPr>
              <a:t>IncidentAnalysis検証</a:t>
            </a:r>
            <a:endParaRPr lang="en-US" sz="1200" dirty="0"/>
          </a:p>
          <a:p>
            <a:pPr marL="177800" indent="-177800">
              <a:lnSpc>
                <a:spcPct val="120000"/>
              </a:lnSpc>
              <a:spcAft>
                <a:spcPts val="600"/>
              </a:spcAft>
              <a:buSzPct val="100000"/>
              <a:buChar char="●"/>
            </a:pPr>
            <a:r>
              <a:rPr lang="en-US" sz="1200" dirty="0">
                <a:solidFill>
                  <a:srgbClr val="1A1A2E"/>
                </a:solidFill>
                <a:latin typeface="BIZ UDゴシック" pitchFamily="34" charset="0"/>
                <a:ea typeface="BIZ UDゴシック" pitchFamily="34" charset="-122"/>
                <a:cs typeface="BIZ UDゴシック" pitchFamily="34" charset="-120"/>
              </a:rPr>
              <a:t>AG-UIイベント生成 / UIへレスポンス</a:t>
            </a:r>
            <a:endParaRPr lang="en-US" sz="1200" dirty="0"/>
          </a:p>
        </p:txBody>
      </p:sp>
      <p:sp>
        <p:nvSpPr>
          <p:cNvPr id="12" name="Shape 10"/>
          <p:cNvSpPr/>
          <p:nvPr/>
        </p:nvSpPr>
        <p:spPr>
          <a:xfrm>
            <a:off x="6644488" y="2011680"/>
            <a:ext cx="4998568" cy="2286000"/>
          </a:xfrm>
          <a:prstGeom prst="roundRect">
            <a:avLst>
              <a:gd name="adj" fmla="val 3200"/>
            </a:avLst>
          </a:prstGeom>
          <a:solidFill>
            <a:srgbClr val="21295C"/>
          </a:solidFill>
          <a:ln/>
        </p:spPr>
      </p:sp>
      <p:sp>
        <p:nvSpPr>
          <p:cNvPr id="13" name="Text 11"/>
          <p:cNvSpPr/>
          <p:nvPr/>
        </p:nvSpPr>
        <p:spPr>
          <a:xfrm>
            <a:off x="6873088" y="2194560"/>
            <a:ext cx="4541368" cy="320040"/>
          </a:xfrm>
          <a:prstGeom prst="rect">
            <a:avLst/>
          </a:prstGeom>
          <a:noFill/>
          <a:ln/>
        </p:spPr>
        <p:txBody>
          <a:bodyPr wrap="square" lIns="0" tIns="0" rIns="0" bIns="0" rtlCol="0" anchor="ctr"/>
          <a:lstStyle/>
          <a:p>
            <a:pPr indent="0" marL="0">
              <a:buNone/>
            </a:pPr>
            <a:r>
              <a:rPr lang="en-US" sz="1400" b="1" dirty="0">
                <a:solidFill>
                  <a:srgbClr val="FFFFFF"/>
                </a:solidFill>
                <a:latin typeface="BIZ UDゴシック" pitchFamily="34" charset="0"/>
                <a:ea typeface="BIZ UDゴシック" pitchFamily="34" charset="-122"/>
                <a:cs typeface="BIZ UDゴシック" pitchFamily="34" charset="-120"/>
              </a:rPr>
              <a:t>ポイント</a:t>
            </a:r>
            <a:endParaRPr lang="en-US" sz="1400" dirty="0"/>
          </a:p>
        </p:txBody>
      </p:sp>
      <p:sp>
        <p:nvSpPr>
          <p:cNvPr id="14" name="Text 12"/>
          <p:cNvSpPr/>
          <p:nvPr/>
        </p:nvSpPr>
        <p:spPr>
          <a:xfrm>
            <a:off x="6873088" y="2606040"/>
            <a:ext cx="4541368" cy="1600200"/>
          </a:xfrm>
          <a:prstGeom prst="rect">
            <a:avLst/>
          </a:prstGeom>
          <a:noFill/>
          <a:ln/>
        </p:spPr>
        <p:txBody>
          <a:bodyPr wrap="square" lIns="0" tIns="0" rIns="0" bIns="0" rtlCol="0" anchor="ctr"/>
          <a:lstStyle/>
          <a:p>
            <a:pPr indent="0" marL="0">
              <a:lnSpc>
                <a:spcPct val="140000"/>
              </a:lnSpc>
              <a:buNone/>
            </a:pPr>
            <a:r>
              <a:rPr lang="en-US" sz="1350" dirty="0">
                <a:solidFill>
                  <a:srgbClr val="EAF2F6"/>
                </a:solidFill>
                <a:latin typeface="BIZ UDゴシック" pitchFamily="34" charset="0"/>
                <a:ea typeface="BIZ UDゴシック" pitchFamily="34" charset="-122"/>
                <a:cs typeface="BIZ UDゴシック" pitchFamily="34" charset="-120"/>
              </a:rPr>
              <a:t>LLMを直接UIから呼ばない。AI処理をConsole APIへ集約することで、セキュリティ、Evidence管理、出力検証、LLM切替、監査を一元化する。</a:t>
            </a:r>
            <a:endParaRPr lang="en-US" sz="13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502920"/>
            <a:ext cx="566928" cy="566928"/>
          </a:xfrm>
          <a:prstGeom prst="ellipse">
            <a:avLst/>
          </a:prstGeom>
          <a:solidFill>
            <a:srgbClr val="21295C"/>
          </a:solidFill>
          <a:ln/>
        </p:spPr>
      </p:sp>
      <p:sp>
        <p:nvSpPr>
          <p:cNvPr id="3" name="Text 1"/>
          <p:cNvSpPr/>
          <p:nvPr/>
        </p:nvSpPr>
        <p:spPr>
          <a:xfrm>
            <a:off x="548640" y="502920"/>
            <a:ext cx="566928" cy="566928"/>
          </a:xfrm>
          <a:prstGeom prst="rect">
            <a:avLst/>
          </a:prstGeom>
          <a:noFill/>
          <a:ln/>
        </p:spPr>
        <p:txBody>
          <a:bodyPr wrap="square" lIns="0" tIns="0" rIns="0" bIns="0" rtlCol="0" anchor="ctr"/>
          <a:lstStyle/>
          <a:p>
            <a:pPr algn="ctr" indent="0" marL="0">
              <a:buNone/>
            </a:pPr>
            <a:r>
              <a:rPr lang="en-US" sz="1500" b="1" dirty="0">
                <a:solidFill>
                  <a:srgbClr val="FFFFFF"/>
                </a:solidFill>
                <a:latin typeface="BIZ UDゴシック" pitchFamily="34" charset="0"/>
                <a:ea typeface="BIZ UDゴシック" pitchFamily="34" charset="-122"/>
                <a:cs typeface="BIZ UDゴシック" pitchFamily="34" charset="-120"/>
              </a:rPr>
              <a:t>11</a:t>
            </a:r>
            <a:endParaRPr lang="en-US" sz="1500" dirty="0"/>
          </a:p>
        </p:txBody>
      </p:sp>
      <p:sp>
        <p:nvSpPr>
          <p:cNvPr id="4" name="Text 2"/>
          <p:cNvSpPr/>
          <p:nvPr/>
        </p:nvSpPr>
        <p:spPr>
          <a:xfrm>
            <a:off x="1280160" y="438912"/>
            <a:ext cx="10362895" cy="274320"/>
          </a:xfrm>
          <a:prstGeom prst="rect">
            <a:avLst/>
          </a:prstGeom>
          <a:noFill/>
          <a:ln/>
        </p:spPr>
        <p:txBody>
          <a:bodyPr wrap="square" lIns="0" tIns="0" rIns="0" bIns="0" rtlCol="0" anchor="ctr"/>
          <a:lstStyle/>
          <a:p>
            <a:pPr indent="0" marL="0">
              <a:buNone/>
            </a:pPr>
            <a:r>
              <a:rPr lang="en-US" sz="1100" b="1" spc="100" kern="0" dirty="0">
                <a:solidFill>
                  <a:srgbClr val="1C7293"/>
                </a:solidFill>
                <a:latin typeface="BIZ UDゴシック" pitchFamily="34" charset="0"/>
                <a:ea typeface="BIZ UDゴシック" pitchFamily="34" charset="-122"/>
                <a:cs typeface="BIZ UDゴシック" pitchFamily="34" charset="-120"/>
              </a:rPr>
              <a:t>SECTION 11</a:t>
            </a:r>
            <a:endParaRPr lang="en-US" sz="1100" dirty="0"/>
          </a:p>
        </p:txBody>
      </p:sp>
      <p:sp>
        <p:nvSpPr>
          <p:cNvPr id="5" name="Text 3"/>
          <p:cNvSpPr/>
          <p:nvPr/>
        </p:nvSpPr>
        <p:spPr>
          <a:xfrm>
            <a:off x="1280160" y="713232"/>
            <a:ext cx="10362895" cy="566928"/>
          </a:xfrm>
          <a:prstGeom prst="rect">
            <a:avLst/>
          </a:prstGeom>
          <a:noFill/>
          <a:ln/>
        </p:spPr>
        <p:txBody>
          <a:bodyPr wrap="square" lIns="0" tIns="0" rIns="0" bIns="0" rtlCol="0" anchor="t"/>
          <a:lstStyle/>
          <a:p>
            <a:pPr indent="0" marL="0">
              <a:buNone/>
            </a:pPr>
            <a:r>
              <a:rPr lang="en-US" sz="2500" b="1" dirty="0">
                <a:solidFill>
                  <a:srgbClr val="1A1A2E"/>
                </a:solidFill>
                <a:latin typeface="BIZ UDゴシック" pitchFamily="34" charset="0"/>
                <a:ea typeface="BIZ UDゴシック" pitchFamily="34" charset="-122"/>
                <a:cs typeface="BIZ UDゴシック" pitchFamily="34" charset="-120"/>
              </a:rPr>
              <a:t>LLM 実装</a:t>
            </a:r>
            <a:endParaRPr lang="en-US" sz="2500" dirty="0"/>
          </a:p>
        </p:txBody>
      </p:sp>
      <p:sp>
        <p:nvSpPr>
          <p:cNvPr id="6" name="Text 4"/>
          <p:cNvSpPr/>
          <p:nvPr/>
        </p:nvSpPr>
        <p:spPr>
          <a:xfrm>
            <a:off x="548640" y="6446520"/>
            <a:ext cx="4572000" cy="274320"/>
          </a:xfrm>
          <a:prstGeom prst="rect">
            <a:avLst/>
          </a:prstGeom>
          <a:noFill/>
          <a:ln/>
        </p:spPr>
        <p:txBody>
          <a:bodyPr wrap="square" lIns="0" tIns="0" rIns="0" bIns="0" rtlCol="0" anchor="ctr"/>
          <a:lstStyle/>
          <a:p>
            <a:pPr indent="0" marL="0">
              <a:buNone/>
            </a:pPr>
            <a:r>
              <a:rPr lang="en-US" sz="900" dirty="0">
                <a:solidFill>
                  <a:srgbClr val="5C6B73"/>
                </a:solidFill>
                <a:latin typeface="BIZ UDゴシック" pitchFamily="34" charset="0"/>
                <a:ea typeface="BIZ UDゴシック" pitchFamily="34" charset="-122"/>
                <a:cs typeface="BIZ UDゴシック" pitchFamily="34" charset="-120"/>
              </a:rPr>
              <a:t>Observability AI PoC</a:t>
            </a:r>
            <a:endParaRPr lang="en-US" sz="900" dirty="0"/>
          </a:p>
        </p:txBody>
      </p:sp>
      <p:sp>
        <p:nvSpPr>
          <p:cNvPr id="7" name="Text 5"/>
          <p:cNvSpPr/>
          <p:nvPr/>
        </p:nvSpPr>
        <p:spPr>
          <a:xfrm>
            <a:off x="9814255" y="6446520"/>
            <a:ext cx="1828800" cy="274320"/>
          </a:xfrm>
          <a:prstGeom prst="rect">
            <a:avLst/>
          </a:prstGeom>
          <a:noFill/>
          <a:ln/>
        </p:spPr>
        <p:txBody>
          <a:bodyPr wrap="square" lIns="0" tIns="0" rIns="0" bIns="0" rtlCol="0" anchor="ctr"/>
          <a:lstStyle/>
          <a:p>
            <a:pPr algn="r" indent="0" marL="0">
              <a:buNone/>
            </a:pPr>
            <a:r>
              <a:rPr lang="en-US" sz="900" dirty="0">
                <a:solidFill>
                  <a:srgbClr val="5C6B73"/>
                </a:solidFill>
                <a:latin typeface="BIZ UDゴシック" pitchFamily="34" charset="0"/>
                <a:ea typeface="BIZ UDゴシック" pitchFamily="34" charset="-122"/>
                <a:cs typeface="BIZ UDゴシック" pitchFamily="34" charset="-120"/>
              </a:rPr>
              <a:t>11</a:t>
            </a:r>
            <a:endParaRPr lang="en-US" sz="900" dirty="0"/>
          </a:p>
        </p:txBody>
      </p:sp>
      <p:sp>
        <p:nvSpPr>
          <p:cNvPr id="8" name="Text 6"/>
          <p:cNvSpPr/>
          <p:nvPr/>
        </p:nvSpPr>
        <p:spPr>
          <a:xfrm>
            <a:off x="1280160" y="1536192"/>
            <a:ext cx="10362895" cy="365760"/>
          </a:xfrm>
          <a:prstGeom prst="rect">
            <a:avLst/>
          </a:prstGeom>
          <a:noFill/>
          <a:ln/>
        </p:spPr>
        <p:txBody>
          <a:bodyPr wrap="square" lIns="0" tIns="0" rIns="0" bIns="0" rtlCol="0" anchor="t"/>
          <a:lstStyle/>
          <a:p>
            <a:pPr indent="0" marL="0">
              <a:lnSpc>
                <a:spcPct val="125000"/>
              </a:lnSpc>
              <a:buNone/>
            </a:pPr>
            <a:r>
              <a:rPr lang="en-US" sz="1500" b="1" dirty="0">
                <a:solidFill>
                  <a:srgbClr val="21295C"/>
                </a:solidFill>
                <a:latin typeface="BIZ UDゴシック" pitchFamily="34" charset="0"/>
                <a:ea typeface="BIZ UDゴシック" pitchFamily="34" charset="-122"/>
                <a:cs typeface="BIZ UDゴシック" pitchFamily="34" charset="-120"/>
              </a:rPr>
              <a:t>対応プロバイダー</a:t>
            </a:r>
            <a:endParaRPr lang="en-US" sz="1500" dirty="0"/>
          </a:p>
        </p:txBody>
      </p:sp>
      <p:sp>
        <p:nvSpPr>
          <p:cNvPr id="9" name="Shape 7"/>
          <p:cNvSpPr/>
          <p:nvPr/>
        </p:nvSpPr>
        <p:spPr>
          <a:xfrm>
            <a:off x="1280160" y="1965960"/>
            <a:ext cx="1197864" cy="310896"/>
          </a:xfrm>
          <a:prstGeom prst="roundRect">
            <a:avLst>
              <a:gd name="adj" fmla="val 17647"/>
            </a:avLst>
          </a:prstGeom>
          <a:solidFill>
            <a:srgbClr val="065A82"/>
          </a:solidFill>
          <a:ln/>
        </p:spPr>
      </p:sp>
      <p:sp>
        <p:nvSpPr>
          <p:cNvPr id="10" name="Text 8"/>
          <p:cNvSpPr/>
          <p:nvPr/>
        </p:nvSpPr>
        <p:spPr>
          <a:xfrm>
            <a:off x="1280160" y="1965960"/>
            <a:ext cx="1197864"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BIZ UDゴシック" pitchFamily="34" charset="0"/>
                <a:ea typeface="BIZ UDゴシック" pitchFamily="34" charset="-122"/>
                <a:cs typeface="BIZ UDゴシック" pitchFamily="34" charset="-120"/>
              </a:rPr>
              <a:t>Ollama</a:t>
            </a:r>
            <a:endParaRPr lang="en-US" sz="1100" dirty="0"/>
          </a:p>
        </p:txBody>
      </p:sp>
      <p:sp>
        <p:nvSpPr>
          <p:cNvPr id="11" name="Shape 9"/>
          <p:cNvSpPr/>
          <p:nvPr/>
        </p:nvSpPr>
        <p:spPr>
          <a:xfrm>
            <a:off x="2752344" y="1965960"/>
            <a:ext cx="2075688" cy="310896"/>
          </a:xfrm>
          <a:prstGeom prst="roundRect">
            <a:avLst>
              <a:gd name="adj" fmla="val 17647"/>
            </a:avLst>
          </a:prstGeom>
          <a:solidFill>
            <a:srgbClr val="065A82"/>
          </a:solidFill>
          <a:ln/>
        </p:spPr>
      </p:sp>
      <p:sp>
        <p:nvSpPr>
          <p:cNvPr id="12" name="Text 10"/>
          <p:cNvSpPr/>
          <p:nvPr/>
        </p:nvSpPr>
        <p:spPr>
          <a:xfrm>
            <a:off x="2752344" y="1965960"/>
            <a:ext cx="2075688"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BIZ UDゴシック" pitchFamily="34" charset="0"/>
                <a:ea typeface="BIZ UDゴシック" pitchFamily="34" charset="-122"/>
                <a:cs typeface="BIZ UDゴシック" pitchFamily="34" charset="-120"/>
              </a:rPr>
              <a:t>Azure OpenAI</a:t>
            </a:r>
            <a:endParaRPr lang="en-US" sz="1100" dirty="0"/>
          </a:p>
        </p:txBody>
      </p:sp>
      <p:sp>
        <p:nvSpPr>
          <p:cNvPr id="13" name="Shape 11"/>
          <p:cNvSpPr/>
          <p:nvPr/>
        </p:nvSpPr>
        <p:spPr>
          <a:xfrm>
            <a:off x="5102352" y="1965960"/>
            <a:ext cx="1197864" cy="310896"/>
          </a:xfrm>
          <a:prstGeom prst="roundRect">
            <a:avLst>
              <a:gd name="adj" fmla="val 17647"/>
            </a:avLst>
          </a:prstGeom>
          <a:solidFill>
            <a:srgbClr val="065A82"/>
          </a:solidFill>
          <a:ln/>
        </p:spPr>
      </p:sp>
      <p:sp>
        <p:nvSpPr>
          <p:cNvPr id="14" name="Text 12"/>
          <p:cNvSpPr/>
          <p:nvPr/>
        </p:nvSpPr>
        <p:spPr>
          <a:xfrm>
            <a:off x="5102352" y="1965960"/>
            <a:ext cx="1197864"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BIZ UDゴシック" pitchFamily="34" charset="0"/>
                <a:ea typeface="BIZ UDゴシック" pitchFamily="34" charset="-122"/>
                <a:cs typeface="BIZ UDゴシック" pitchFamily="34" charset="-120"/>
              </a:rPr>
              <a:t>OpenAI</a:t>
            </a:r>
            <a:endParaRPr lang="en-US" sz="1100" dirty="0"/>
          </a:p>
        </p:txBody>
      </p:sp>
      <p:sp>
        <p:nvSpPr>
          <p:cNvPr id="15" name="Text 13"/>
          <p:cNvSpPr/>
          <p:nvPr/>
        </p:nvSpPr>
        <p:spPr>
          <a:xfrm>
            <a:off x="1280160" y="2606040"/>
            <a:ext cx="10362895" cy="365760"/>
          </a:xfrm>
          <a:prstGeom prst="rect">
            <a:avLst/>
          </a:prstGeom>
          <a:noFill/>
          <a:ln/>
        </p:spPr>
        <p:txBody>
          <a:bodyPr wrap="square" lIns="0" tIns="0" rIns="0" bIns="0" rtlCol="0" anchor="t"/>
          <a:lstStyle/>
          <a:p>
            <a:pPr indent="0" marL="0">
              <a:lnSpc>
                <a:spcPct val="125000"/>
              </a:lnSpc>
              <a:buNone/>
            </a:pPr>
            <a:r>
              <a:rPr lang="en-US" sz="1500" b="1" dirty="0">
                <a:solidFill>
                  <a:srgbClr val="21295C"/>
                </a:solidFill>
                <a:latin typeface="BIZ UDゴシック" pitchFamily="34" charset="0"/>
                <a:ea typeface="BIZ UDゴシック" pitchFamily="34" charset="-122"/>
                <a:cs typeface="BIZ UDゴシック" pitchFamily="34" charset="-120"/>
              </a:rPr>
              <a:t>設計方針</a:t>
            </a:r>
            <a:endParaRPr lang="en-US" sz="1500" dirty="0"/>
          </a:p>
        </p:txBody>
      </p:sp>
      <p:sp>
        <p:nvSpPr>
          <p:cNvPr id="16" name="Text 14"/>
          <p:cNvSpPr/>
          <p:nvPr/>
        </p:nvSpPr>
        <p:spPr>
          <a:xfrm>
            <a:off x="1280160" y="2971800"/>
            <a:ext cx="10362895" cy="502920"/>
          </a:xfrm>
          <a:prstGeom prst="rect">
            <a:avLst/>
          </a:prstGeom>
          <a:noFill/>
          <a:ln/>
        </p:spPr>
        <p:txBody>
          <a:bodyPr wrap="square" lIns="0" tIns="0" rIns="0" bIns="0" rtlCol="0" anchor="t"/>
          <a:lstStyle/>
          <a:p>
            <a:pPr indent="0" marL="0">
              <a:lnSpc>
                <a:spcPct val="125000"/>
              </a:lnSpc>
              <a:buNone/>
            </a:pPr>
            <a:r>
              <a:rPr lang="en-US" sz="1400" dirty="0">
                <a:solidFill>
                  <a:srgbClr val="1A1A2E"/>
                </a:solidFill>
                <a:latin typeface="BIZ UDゴシック" pitchFamily="34" charset="0"/>
                <a:ea typeface="BIZ UDゴシック" pitchFamily="34" charset="-122"/>
                <a:cs typeface="BIZ UDゴシック" pitchFamily="34" charset="-120"/>
              </a:rPr>
              <a:t>プロバイダーごとの差異をConsole APIで吸収する。ただし、自動Failoverは行わない。</a:t>
            </a:r>
            <a:endParaRPr lang="en-US" sz="1400" dirty="0"/>
          </a:p>
        </p:txBody>
      </p:sp>
      <p:sp>
        <p:nvSpPr>
          <p:cNvPr id="17" name="Shape 15"/>
          <p:cNvSpPr/>
          <p:nvPr/>
        </p:nvSpPr>
        <p:spPr>
          <a:xfrm>
            <a:off x="1280160" y="3566160"/>
            <a:ext cx="10362895" cy="1371600"/>
          </a:xfrm>
          <a:prstGeom prst="roundRect">
            <a:avLst>
              <a:gd name="adj" fmla="val 5333"/>
            </a:avLst>
          </a:prstGeom>
          <a:solidFill>
            <a:srgbClr val="EAF2F6"/>
          </a:solidFill>
          <a:ln/>
        </p:spPr>
      </p:sp>
      <p:sp>
        <p:nvSpPr>
          <p:cNvPr id="18" name="Text 16"/>
          <p:cNvSpPr/>
          <p:nvPr/>
        </p:nvSpPr>
        <p:spPr>
          <a:xfrm>
            <a:off x="1463040" y="3703320"/>
            <a:ext cx="9997135" cy="548640"/>
          </a:xfrm>
          <a:prstGeom prst="rect">
            <a:avLst/>
          </a:prstGeom>
          <a:noFill/>
          <a:ln/>
        </p:spPr>
        <p:txBody>
          <a:bodyPr wrap="square" lIns="0" tIns="0" rIns="0" bIns="0" rtlCol="0" anchor="t"/>
          <a:lstStyle/>
          <a:p>
            <a:pPr indent="0" marL="0">
              <a:lnSpc>
                <a:spcPct val="125000"/>
              </a:lnSpc>
              <a:buNone/>
            </a:pPr>
            <a:r>
              <a:rPr lang="en-US" sz="1300" b="1" dirty="0">
                <a:solidFill>
                  <a:srgbClr val="21295C"/>
                </a:solidFill>
                <a:latin typeface="BIZ UDゴシック" pitchFamily="34" charset="0"/>
                <a:ea typeface="BIZ UDゴシック" pitchFamily="34" charset="-122"/>
                <a:cs typeface="BIZ UDゴシック" pitchFamily="34" charset="-120"/>
              </a:rPr>
              <a:t>自動Failoverをしない理由</a:t>
            </a:r>
            <a:endParaRPr lang="en-US" sz="1300" dirty="0"/>
          </a:p>
        </p:txBody>
      </p:sp>
      <p:sp>
        <p:nvSpPr>
          <p:cNvPr id="19" name="Text 17"/>
          <p:cNvSpPr/>
          <p:nvPr/>
        </p:nvSpPr>
        <p:spPr>
          <a:xfrm>
            <a:off x="1463040" y="4023360"/>
            <a:ext cx="9997135" cy="914400"/>
          </a:xfrm>
          <a:prstGeom prst="rect">
            <a:avLst/>
          </a:prstGeom>
          <a:noFill/>
          <a:ln/>
        </p:spPr>
        <p:txBody>
          <a:bodyPr wrap="square" lIns="0" tIns="0" rIns="0" bIns="0" rtlCol="0" anchor="t"/>
          <a:lstStyle/>
          <a:p>
            <a:pPr marL="177800" indent="-177800">
              <a:lnSpc>
                <a:spcPct val="120000"/>
              </a:lnSpc>
              <a:spcAft>
                <a:spcPts val="500"/>
              </a:spcAft>
              <a:buSzPct val="100000"/>
              <a:buChar char="●"/>
            </a:pPr>
            <a:r>
              <a:rPr lang="en-US" sz="1250" dirty="0">
                <a:solidFill>
                  <a:srgbClr val="1A1A2E"/>
                </a:solidFill>
                <a:latin typeface="BIZ UDゴシック" pitchFamily="34" charset="0"/>
                <a:ea typeface="BIZ UDゴシック" pitchFamily="34" charset="-122"/>
                <a:cs typeface="BIZ UDゴシック" pitchFamily="34" charset="-120"/>
              </a:rPr>
              <a:t>どのLLMが回答したかを明確にする</a:t>
            </a:r>
            <a:endParaRPr lang="en-US" sz="1250" dirty="0"/>
          </a:p>
          <a:p>
            <a:pPr marL="177800" indent="-177800">
              <a:lnSpc>
                <a:spcPct val="120000"/>
              </a:lnSpc>
              <a:spcAft>
                <a:spcPts val="500"/>
              </a:spcAft>
              <a:buSzPct val="100000"/>
              <a:buChar char="●"/>
            </a:pPr>
            <a:r>
              <a:rPr lang="en-US" sz="1250" dirty="0">
                <a:solidFill>
                  <a:srgbClr val="1A1A2E"/>
                </a:solidFill>
                <a:latin typeface="BIZ UDゴシック" pitchFamily="34" charset="0"/>
                <a:ea typeface="BIZ UDゴシック" pitchFamily="34" charset="-122"/>
                <a:cs typeface="BIZ UDゴシック" pitchFamily="34" charset="-120"/>
              </a:rPr>
              <a:t>障害時に原因を追いやすくする</a:t>
            </a:r>
            <a:endParaRPr lang="en-US" sz="1250" dirty="0"/>
          </a:p>
          <a:p>
            <a:pPr marL="177800" indent="-177800">
              <a:lnSpc>
                <a:spcPct val="120000"/>
              </a:lnSpc>
              <a:spcAft>
                <a:spcPts val="500"/>
              </a:spcAft>
              <a:buSzPct val="100000"/>
              <a:buChar char="●"/>
            </a:pPr>
            <a:r>
              <a:rPr lang="en-US" sz="1250" dirty="0">
                <a:solidFill>
                  <a:srgbClr val="1A1A2E"/>
                </a:solidFill>
                <a:latin typeface="BIZ UDゴシック" pitchFamily="34" charset="0"/>
                <a:ea typeface="BIZ UDゴシック" pitchFamily="34" charset="-122"/>
                <a:cs typeface="BIZ UDゴシック" pitchFamily="34" charset="-120"/>
              </a:rPr>
              <a:t>意図しない外部送信を防ぐ</a:t>
            </a:r>
            <a:endParaRPr lang="en-US" sz="1250" dirty="0"/>
          </a:p>
        </p:txBody>
      </p:sp>
      <p:sp>
        <p:nvSpPr>
          <p:cNvPr id="20" name="Text 18"/>
          <p:cNvSpPr/>
          <p:nvPr/>
        </p:nvSpPr>
        <p:spPr>
          <a:xfrm>
            <a:off x="1280160" y="5120640"/>
            <a:ext cx="10362895" cy="457200"/>
          </a:xfrm>
          <a:prstGeom prst="rect">
            <a:avLst/>
          </a:prstGeom>
          <a:noFill/>
          <a:ln/>
        </p:spPr>
        <p:txBody>
          <a:bodyPr wrap="square" lIns="0" tIns="0" rIns="0" bIns="0" rtlCol="0" anchor="t"/>
          <a:lstStyle/>
          <a:p>
            <a:pPr indent="0" marL="0">
              <a:lnSpc>
                <a:spcPct val="125000"/>
              </a:lnSpc>
              <a:buNone/>
            </a:pPr>
            <a:r>
              <a:rPr lang="en-US" sz="1350" i="1" dirty="0">
                <a:solidFill>
                  <a:srgbClr val="065A82"/>
                </a:solidFill>
                <a:latin typeface="BIZ UDゴシック" pitchFamily="34" charset="0"/>
                <a:ea typeface="BIZ UDゴシック" pitchFamily="34" charset="-122"/>
                <a:cs typeface="BIZ UDゴシック" pitchFamily="34" charset="-120"/>
              </a:rPr>
              <a:t>ローカル検証：Ollamaはローカル実行できるため、閉域・PoC用途でも利用しやすい。</a:t>
            </a:r>
            <a:endParaRPr lang="en-US" sz="13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502920"/>
            <a:ext cx="566928" cy="566928"/>
          </a:xfrm>
          <a:prstGeom prst="ellipse">
            <a:avLst/>
          </a:prstGeom>
          <a:solidFill>
            <a:srgbClr val="21295C"/>
          </a:solidFill>
          <a:ln/>
        </p:spPr>
      </p:sp>
      <p:sp>
        <p:nvSpPr>
          <p:cNvPr id="3" name="Text 1"/>
          <p:cNvSpPr/>
          <p:nvPr/>
        </p:nvSpPr>
        <p:spPr>
          <a:xfrm>
            <a:off x="548640" y="502920"/>
            <a:ext cx="566928" cy="566928"/>
          </a:xfrm>
          <a:prstGeom prst="rect">
            <a:avLst/>
          </a:prstGeom>
          <a:noFill/>
          <a:ln/>
        </p:spPr>
        <p:txBody>
          <a:bodyPr wrap="square" lIns="0" tIns="0" rIns="0" bIns="0" rtlCol="0" anchor="ctr"/>
          <a:lstStyle/>
          <a:p>
            <a:pPr algn="ctr" indent="0" marL="0">
              <a:buNone/>
            </a:pPr>
            <a:r>
              <a:rPr lang="en-US" sz="1500" b="1" dirty="0">
                <a:solidFill>
                  <a:srgbClr val="FFFFFF"/>
                </a:solidFill>
                <a:latin typeface="BIZ UDゴシック" pitchFamily="34" charset="0"/>
                <a:ea typeface="BIZ UDゴシック" pitchFamily="34" charset="-122"/>
                <a:cs typeface="BIZ UDゴシック" pitchFamily="34" charset="-120"/>
              </a:rPr>
              <a:t>12</a:t>
            </a:r>
            <a:endParaRPr lang="en-US" sz="1500" dirty="0"/>
          </a:p>
        </p:txBody>
      </p:sp>
      <p:sp>
        <p:nvSpPr>
          <p:cNvPr id="4" name="Text 2"/>
          <p:cNvSpPr/>
          <p:nvPr/>
        </p:nvSpPr>
        <p:spPr>
          <a:xfrm>
            <a:off x="1280160" y="438912"/>
            <a:ext cx="10362895" cy="274320"/>
          </a:xfrm>
          <a:prstGeom prst="rect">
            <a:avLst/>
          </a:prstGeom>
          <a:noFill/>
          <a:ln/>
        </p:spPr>
        <p:txBody>
          <a:bodyPr wrap="square" lIns="0" tIns="0" rIns="0" bIns="0" rtlCol="0" anchor="ctr"/>
          <a:lstStyle/>
          <a:p>
            <a:pPr indent="0" marL="0">
              <a:buNone/>
            </a:pPr>
            <a:r>
              <a:rPr lang="en-US" sz="1100" b="1" spc="100" kern="0" dirty="0">
                <a:solidFill>
                  <a:srgbClr val="1C7293"/>
                </a:solidFill>
                <a:latin typeface="BIZ UDゴシック" pitchFamily="34" charset="0"/>
                <a:ea typeface="BIZ UDゴシック" pitchFamily="34" charset="-122"/>
                <a:cs typeface="BIZ UDゴシック" pitchFamily="34" charset="-120"/>
              </a:rPr>
              <a:t>SECTION 12</a:t>
            </a:r>
            <a:endParaRPr lang="en-US" sz="1100" dirty="0"/>
          </a:p>
        </p:txBody>
      </p:sp>
      <p:sp>
        <p:nvSpPr>
          <p:cNvPr id="5" name="Text 3"/>
          <p:cNvSpPr/>
          <p:nvPr/>
        </p:nvSpPr>
        <p:spPr>
          <a:xfrm>
            <a:off x="1280160" y="713232"/>
            <a:ext cx="10362895" cy="566928"/>
          </a:xfrm>
          <a:prstGeom prst="rect">
            <a:avLst/>
          </a:prstGeom>
          <a:noFill/>
          <a:ln/>
        </p:spPr>
        <p:txBody>
          <a:bodyPr wrap="square" lIns="0" tIns="0" rIns="0" bIns="0" rtlCol="0" anchor="t"/>
          <a:lstStyle/>
          <a:p>
            <a:pPr indent="0" marL="0">
              <a:buNone/>
            </a:pPr>
            <a:r>
              <a:rPr lang="en-US" sz="2500" b="1" dirty="0">
                <a:solidFill>
                  <a:srgbClr val="1A1A2E"/>
                </a:solidFill>
                <a:latin typeface="BIZ UDゴシック" pitchFamily="34" charset="0"/>
                <a:ea typeface="BIZ UDゴシック" pitchFamily="34" charset="-122"/>
                <a:cs typeface="BIZ UDゴシック" pitchFamily="34" charset="-120"/>
              </a:rPr>
              <a:t>Proxy / Zscaler 対応</a:t>
            </a:r>
            <a:endParaRPr lang="en-US" sz="2500" dirty="0"/>
          </a:p>
        </p:txBody>
      </p:sp>
      <p:sp>
        <p:nvSpPr>
          <p:cNvPr id="6" name="Text 4"/>
          <p:cNvSpPr/>
          <p:nvPr/>
        </p:nvSpPr>
        <p:spPr>
          <a:xfrm>
            <a:off x="548640" y="6446520"/>
            <a:ext cx="4572000" cy="274320"/>
          </a:xfrm>
          <a:prstGeom prst="rect">
            <a:avLst/>
          </a:prstGeom>
          <a:noFill/>
          <a:ln/>
        </p:spPr>
        <p:txBody>
          <a:bodyPr wrap="square" lIns="0" tIns="0" rIns="0" bIns="0" rtlCol="0" anchor="ctr"/>
          <a:lstStyle/>
          <a:p>
            <a:pPr indent="0" marL="0">
              <a:buNone/>
            </a:pPr>
            <a:r>
              <a:rPr lang="en-US" sz="900" dirty="0">
                <a:solidFill>
                  <a:srgbClr val="5C6B73"/>
                </a:solidFill>
                <a:latin typeface="BIZ UDゴシック" pitchFamily="34" charset="0"/>
                <a:ea typeface="BIZ UDゴシック" pitchFamily="34" charset="-122"/>
                <a:cs typeface="BIZ UDゴシック" pitchFamily="34" charset="-120"/>
              </a:rPr>
              <a:t>Observability AI PoC</a:t>
            </a:r>
            <a:endParaRPr lang="en-US" sz="900" dirty="0"/>
          </a:p>
        </p:txBody>
      </p:sp>
      <p:sp>
        <p:nvSpPr>
          <p:cNvPr id="7" name="Text 5"/>
          <p:cNvSpPr/>
          <p:nvPr/>
        </p:nvSpPr>
        <p:spPr>
          <a:xfrm>
            <a:off x="9814255" y="6446520"/>
            <a:ext cx="1828800" cy="274320"/>
          </a:xfrm>
          <a:prstGeom prst="rect">
            <a:avLst/>
          </a:prstGeom>
          <a:noFill/>
          <a:ln/>
        </p:spPr>
        <p:txBody>
          <a:bodyPr wrap="square" lIns="0" tIns="0" rIns="0" bIns="0" rtlCol="0" anchor="ctr"/>
          <a:lstStyle/>
          <a:p>
            <a:pPr algn="r" indent="0" marL="0">
              <a:buNone/>
            </a:pPr>
            <a:r>
              <a:rPr lang="en-US" sz="900" dirty="0">
                <a:solidFill>
                  <a:srgbClr val="5C6B73"/>
                </a:solidFill>
                <a:latin typeface="BIZ UDゴシック" pitchFamily="34" charset="0"/>
                <a:ea typeface="BIZ UDゴシック" pitchFamily="34" charset="-122"/>
                <a:cs typeface="BIZ UDゴシック" pitchFamily="34" charset="-120"/>
              </a:rPr>
              <a:t>12</a:t>
            </a:r>
            <a:endParaRPr lang="en-US" sz="900" dirty="0"/>
          </a:p>
        </p:txBody>
      </p:sp>
      <p:sp>
        <p:nvSpPr>
          <p:cNvPr id="8" name="Text 6"/>
          <p:cNvSpPr/>
          <p:nvPr/>
        </p:nvSpPr>
        <p:spPr>
          <a:xfrm>
            <a:off x="1280160" y="1536192"/>
            <a:ext cx="10362895" cy="365760"/>
          </a:xfrm>
          <a:prstGeom prst="rect">
            <a:avLst/>
          </a:prstGeom>
          <a:noFill/>
          <a:ln/>
        </p:spPr>
        <p:txBody>
          <a:bodyPr wrap="square" lIns="0" tIns="0" rIns="0" bIns="0" rtlCol="0" anchor="t"/>
          <a:lstStyle/>
          <a:p>
            <a:pPr indent="0" marL="0">
              <a:lnSpc>
                <a:spcPct val="125000"/>
              </a:lnSpc>
              <a:buNone/>
            </a:pPr>
            <a:r>
              <a:rPr lang="en-US" sz="1500" b="1" dirty="0">
                <a:solidFill>
                  <a:srgbClr val="21295C"/>
                </a:solidFill>
                <a:latin typeface="BIZ UDゴシック" pitchFamily="34" charset="0"/>
                <a:ea typeface="BIZ UDゴシック" pitchFamily="34" charset="-122"/>
                <a:cs typeface="BIZ UDゴシック" pitchFamily="34" charset="-120"/>
              </a:rPr>
              <a:t>背景</a:t>
            </a:r>
            <a:endParaRPr lang="en-US" sz="1500" dirty="0"/>
          </a:p>
        </p:txBody>
      </p:sp>
      <p:sp>
        <p:nvSpPr>
          <p:cNvPr id="9" name="Text 7"/>
          <p:cNvSpPr/>
          <p:nvPr/>
        </p:nvSpPr>
        <p:spPr>
          <a:xfrm>
            <a:off x="1280160" y="1901952"/>
            <a:ext cx="10362895" cy="868680"/>
          </a:xfrm>
          <a:prstGeom prst="rect">
            <a:avLst/>
          </a:prstGeom>
          <a:noFill/>
          <a:ln/>
        </p:spPr>
        <p:txBody>
          <a:bodyPr wrap="square" lIns="0" tIns="0" rIns="0" bIns="0" rtlCol="0" anchor="t"/>
          <a:lstStyle/>
          <a:p>
            <a:pPr indent="0" marL="0">
              <a:lnSpc>
                <a:spcPct val="125000"/>
              </a:lnSpc>
              <a:buNone/>
            </a:pPr>
            <a:r>
              <a:rPr lang="en-US" sz="1400" dirty="0">
                <a:solidFill>
                  <a:srgbClr val="1A1A2E"/>
                </a:solidFill>
                <a:latin typeface="BIZ UDゴシック" pitchFamily="34" charset="0"/>
                <a:ea typeface="BIZ UDゴシック" pitchFamily="34" charset="-122"/>
                <a:cs typeface="BIZ UDゴシック" pitchFamily="34" charset="-120"/>
              </a:rPr>
              <a:t>企業環境では外部通信が、HTTP Proxy／HTTPS Proxy／Zscaler TLS Inspectionを経由するケースが多い。そのため、通常のDocker構成だけでは通信できない場合がある。</a:t>
            </a:r>
            <a:endParaRPr lang="en-US" sz="1400" dirty="0"/>
          </a:p>
        </p:txBody>
      </p:sp>
      <p:sp>
        <p:nvSpPr>
          <p:cNvPr id="10" name="Text 8"/>
          <p:cNvSpPr/>
          <p:nvPr/>
        </p:nvSpPr>
        <p:spPr>
          <a:xfrm>
            <a:off x="1280160" y="2926080"/>
            <a:ext cx="10362895" cy="365760"/>
          </a:xfrm>
          <a:prstGeom prst="rect">
            <a:avLst/>
          </a:prstGeom>
          <a:noFill/>
          <a:ln/>
        </p:spPr>
        <p:txBody>
          <a:bodyPr wrap="square" lIns="0" tIns="0" rIns="0" bIns="0" rtlCol="0" anchor="t"/>
          <a:lstStyle/>
          <a:p>
            <a:pPr indent="0" marL="0">
              <a:lnSpc>
                <a:spcPct val="125000"/>
              </a:lnSpc>
              <a:buNone/>
            </a:pPr>
            <a:r>
              <a:rPr lang="en-US" sz="1500" b="1" dirty="0">
                <a:solidFill>
                  <a:srgbClr val="21295C"/>
                </a:solidFill>
                <a:latin typeface="BIZ UDゴシック" pitchFamily="34" charset="0"/>
                <a:ea typeface="BIZ UDゴシック" pitchFamily="34" charset="-122"/>
                <a:cs typeface="BIZ UDゴシック" pitchFamily="34" charset="-120"/>
              </a:rPr>
              <a:t>v12.0 で追加したもの</a:t>
            </a:r>
            <a:endParaRPr lang="en-US" sz="1500" dirty="0"/>
          </a:p>
        </p:txBody>
      </p:sp>
      <p:sp>
        <p:nvSpPr>
          <p:cNvPr id="11" name="Text 9"/>
          <p:cNvSpPr/>
          <p:nvPr/>
        </p:nvSpPr>
        <p:spPr>
          <a:xfrm>
            <a:off x="1280160" y="3310128"/>
            <a:ext cx="10362895" cy="2651760"/>
          </a:xfrm>
          <a:prstGeom prst="rect">
            <a:avLst/>
          </a:prstGeom>
          <a:noFill/>
          <a:ln/>
        </p:spPr>
        <p:txBody>
          <a:bodyPr wrap="square" lIns="0" tIns="0" rIns="0" bIns="0" rtlCol="0" anchor="t"/>
          <a:lstStyle/>
          <a:p>
            <a:pPr marL="177800" indent="-177800">
              <a:lnSpc>
                <a:spcPct val="120000"/>
              </a:lnSpc>
              <a:spcAft>
                <a:spcPts val="1000"/>
              </a:spcAft>
              <a:buSzPct val="100000"/>
              <a:buChar char="●"/>
            </a:pPr>
            <a:r>
              <a:rPr lang="en-US" sz="1400" dirty="0">
                <a:solidFill>
                  <a:srgbClr val="1A1A2E"/>
                </a:solidFill>
                <a:latin typeface="BIZ UDゴシック" pitchFamily="34" charset="0"/>
                <a:ea typeface="BIZ UDゴシック" pitchFamily="34" charset="-122"/>
                <a:cs typeface="BIZ UDゴシック" pitchFamily="34" charset="-120"/>
              </a:rPr>
              <a:t>compose.proxy.yml</a:t>
            </a:r>
            <a:endParaRPr lang="en-US" sz="1400" dirty="0"/>
          </a:p>
          <a:p>
            <a:pPr marL="177800" indent="-177800">
              <a:lnSpc>
                <a:spcPct val="120000"/>
              </a:lnSpc>
              <a:spcAft>
                <a:spcPts val="1000"/>
              </a:spcAft>
              <a:buSzPct val="100000"/>
              <a:buChar char="●"/>
            </a:pPr>
            <a:r>
              <a:rPr lang="en-US" sz="1400" dirty="0">
                <a:solidFill>
                  <a:srgbClr val="1A1A2E"/>
                </a:solidFill>
                <a:latin typeface="BIZ UDゴシック" pitchFamily="34" charset="0"/>
                <a:ea typeface="BIZ UDゴシック" pitchFamily="34" charset="-122"/>
                <a:cs typeface="BIZ UDゴシック" pitchFamily="34" charset="-120"/>
              </a:rPr>
              <a:t>Proxy環境変数 / NO_PROXY</a:t>
            </a:r>
            <a:endParaRPr lang="en-US" sz="1400" dirty="0"/>
          </a:p>
          <a:p>
            <a:pPr marL="177800" indent="-177800">
              <a:lnSpc>
                <a:spcPct val="120000"/>
              </a:lnSpc>
              <a:spcAft>
                <a:spcPts val="1000"/>
              </a:spcAft>
              <a:buSzPct val="100000"/>
              <a:buChar char="●"/>
            </a:pPr>
            <a:r>
              <a:rPr lang="en-US" sz="1400" dirty="0">
                <a:solidFill>
                  <a:srgbClr val="1A1A2E"/>
                </a:solidFill>
                <a:latin typeface="BIZ UDゴシック" pitchFamily="34" charset="0"/>
                <a:ea typeface="BIZ UDゴシック" pitchFamily="34" charset="-122"/>
                <a:cs typeface="BIZ UDゴシック" pitchFamily="34" charset="-120"/>
              </a:rPr>
              <a:t>Zscaler CA Trust</a:t>
            </a:r>
            <a:endParaRPr lang="en-US" sz="1400" dirty="0"/>
          </a:p>
          <a:p>
            <a:pPr marL="177800" indent="-177800">
              <a:lnSpc>
                <a:spcPct val="120000"/>
              </a:lnSpc>
              <a:spcAft>
                <a:spcPts val="1000"/>
              </a:spcAft>
              <a:buSzPct val="100000"/>
              <a:buChar char="●"/>
            </a:pPr>
            <a:r>
              <a:rPr lang="en-US" sz="1400" dirty="0">
                <a:solidFill>
                  <a:srgbClr val="1A1A2E"/>
                </a:solidFill>
                <a:latin typeface="BIZ UDゴシック" pitchFamily="34" charset="0"/>
                <a:ea typeface="BIZ UDゴシック" pitchFamily="34" charset="-122"/>
                <a:cs typeface="BIZ UDゴシック" pitchFamily="34" charset="-120"/>
              </a:rPr>
              <a:t>Python CA設定</a:t>
            </a:r>
            <a:endParaRPr lang="en-US" sz="1400" dirty="0"/>
          </a:p>
          <a:p>
            <a:pPr marL="177800" indent="-177800">
              <a:lnSpc>
                <a:spcPct val="120000"/>
              </a:lnSpc>
              <a:spcAft>
                <a:spcPts val="1000"/>
              </a:spcAft>
              <a:buSzPct val="100000"/>
              <a:buChar char="●"/>
            </a:pPr>
            <a:r>
              <a:rPr lang="en-US" sz="1400" dirty="0">
                <a:solidFill>
                  <a:srgbClr val="1A1A2E"/>
                </a:solidFill>
                <a:latin typeface="BIZ UDゴシック" pitchFamily="34" charset="0"/>
                <a:ea typeface="BIZ UDゴシック" pitchFamily="34" charset="-122"/>
                <a:cs typeface="BIZ UDゴシック" pitchFamily="34" charset="-120"/>
              </a:rPr>
              <a:t>Node CA設定</a:t>
            </a:r>
            <a:endParaRPr lang="en-US" sz="1400" dirty="0"/>
          </a:p>
          <a:p>
            <a:pPr marL="177800" indent="-177800">
              <a:lnSpc>
                <a:spcPct val="120000"/>
              </a:lnSpc>
              <a:spcAft>
                <a:spcPts val="1000"/>
              </a:spcAft>
              <a:buSzPct val="100000"/>
              <a:buChar char="●"/>
            </a:pPr>
            <a:r>
              <a:rPr lang="en-US" sz="1400" dirty="0">
                <a:solidFill>
                  <a:srgbClr val="1A1A2E"/>
                </a:solidFill>
                <a:latin typeface="BIZ UDゴシック" pitchFamily="34" charset="0"/>
                <a:ea typeface="BIZ UDゴシック" pitchFamily="34" charset="-122"/>
                <a:cs typeface="BIZ UDゴシック" pitchFamily="34" charset="-120"/>
              </a:rPr>
              <a:t>New Relic Agent CA設定</a:t>
            </a:r>
            <a:endParaRPr lang="en-US" sz="14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502920"/>
            <a:ext cx="566928" cy="566928"/>
          </a:xfrm>
          <a:prstGeom prst="ellipse">
            <a:avLst/>
          </a:prstGeom>
          <a:solidFill>
            <a:srgbClr val="21295C"/>
          </a:solidFill>
          <a:ln/>
        </p:spPr>
      </p:sp>
      <p:sp>
        <p:nvSpPr>
          <p:cNvPr id="3" name="Text 1"/>
          <p:cNvSpPr/>
          <p:nvPr/>
        </p:nvSpPr>
        <p:spPr>
          <a:xfrm>
            <a:off x="548640" y="502920"/>
            <a:ext cx="566928" cy="566928"/>
          </a:xfrm>
          <a:prstGeom prst="rect">
            <a:avLst/>
          </a:prstGeom>
          <a:noFill/>
          <a:ln/>
        </p:spPr>
        <p:txBody>
          <a:bodyPr wrap="square" lIns="0" tIns="0" rIns="0" bIns="0" rtlCol="0" anchor="ctr"/>
          <a:lstStyle/>
          <a:p>
            <a:pPr algn="ctr" indent="0" marL="0">
              <a:buNone/>
            </a:pPr>
            <a:r>
              <a:rPr lang="en-US" sz="1500" b="1" dirty="0">
                <a:solidFill>
                  <a:srgbClr val="FFFFFF"/>
                </a:solidFill>
                <a:latin typeface="BIZ UDゴシック" pitchFamily="34" charset="0"/>
                <a:ea typeface="BIZ UDゴシック" pitchFamily="34" charset="-122"/>
                <a:cs typeface="BIZ UDゴシック" pitchFamily="34" charset="-120"/>
              </a:rPr>
              <a:t>13</a:t>
            </a:r>
            <a:endParaRPr lang="en-US" sz="1500" dirty="0"/>
          </a:p>
        </p:txBody>
      </p:sp>
      <p:sp>
        <p:nvSpPr>
          <p:cNvPr id="4" name="Text 2"/>
          <p:cNvSpPr/>
          <p:nvPr/>
        </p:nvSpPr>
        <p:spPr>
          <a:xfrm>
            <a:off x="1280160" y="438912"/>
            <a:ext cx="10362895" cy="274320"/>
          </a:xfrm>
          <a:prstGeom prst="rect">
            <a:avLst/>
          </a:prstGeom>
          <a:noFill/>
          <a:ln/>
        </p:spPr>
        <p:txBody>
          <a:bodyPr wrap="square" lIns="0" tIns="0" rIns="0" bIns="0" rtlCol="0" anchor="ctr"/>
          <a:lstStyle/>
          <a:p>
            <a:pPr indent="0" marL="0">
              <a:buNone/>
            </a:pPr>
            <a:r>
              <a:rPr lang="en-US" sz="1100" b="1" spc="100" kern="0" dirty="0">
                <a:solidFill>
                  <a:srgbClr val="1C7293"/>
                </a:solidFill>
                <a:latin typeface="BIZ UDゴシック" pitchFamily="34" charset="0"/>
                <a:ea typeface="BIZ UDゴシック" pitchFamily="34" charset="-122"/>
                <a:cs typeface="BIZ UDゴシック" pitchFamily="34" charset="-120"/>
              </a:rPr>
              <a:t>SECTION 13</a:t>
            </a:r>
            <a:endParaRPr lang="en-US" sz="1100" dirty="0"/>
          </a:p>
        </p:txBody>
      </p:sp>
      <p:sp>
        <p:nvSpPr>
          <p:cNvPr id="5" name="Text 3"/>
          <p:cNvSpPr/>
          <p:nvPr/>
        </p:nvSpPr>
        <p:spPr>
          <a:xfrm>
            <a:off x="1280160" y="713232"/>
            <a:ext cx="10362895" cy="566928"/>
          </a:xfrm>
          <a:prstGeom prst="rect">
            <a:avLst/>
          </a:prstGeom>
          <a:noFill/>
          <a:ln/>
        </p:spPr>
        <p:txBody>
          <a:bodyPr wrap="square" lIns="0" tIns="0" rIns="0" bIns="0" rtlCol="0" anchor="t"/>
          <a:lstStyle/>
          <a:p>
            <a:pPr indent="0" marL="0">
              <a:buNone/>
            </a:pPr>
            <a:r>
              <a:rPr lang="en-US" sz="2500" b="1" dirty="0">
                <a:solidFill>
                  <a:srgbClr val="1A1A2E"/>
                </a:solidFill>
                <a:latin typeface="BIZ UDゴシック" pitchFamily="34" charset="0"/>
                <a:ea typeface="BIZ UDゴシック" pitchFamily="34" charset="-122"/>
                <a:cs typeface="BIZ UDゴシック" pitchFamily="34" charset="-120"/>
              </a:rPr>
              <a:t>Proxy / Zscaler 実装方法</a:t>
            </a:r>
            <a:endParaRPr lang="en-US" sz="2500" dirty="0"/>
          </a:p>
        </p:txBody>
      </p:sp>
      <p:sp>
        <p:nvSpPr>
          <p:cNvPr id="6" name="Text 4"/>
          <p:cNvSpPr/>
          <p:nvPr/>
        </p:nvSpPr>
        <p:spPr>
          <a:xfrm>
            <a:off x="548640" y="6446520"/>
            <a:ext cx="4572000" cy="274320"/>
          </a:xfrm>
          <a:prstGeom prst="rect">
            <a:avLst/>
          </a:prstGeom>
          <a:noFill/>
          <a:ln/>
        </p:spPr>
        <p:txBody>
          <a:bodyPr wrap="square" lIns="0" tIns="0" rIns="0" bIns="0" rtlCol="0" anchor="ctr"/>
          <a:lstStyle/>
          <a:p>
            <a:pPr indent="0" marL="0">
              <a:buNone/>
            </a:pPr>
            <a:r>
              <a:rPr lang="en-US" sz="900" dirty="0">
                <a:solidFill>
                  <a:srgbClr val="5C6B73"/>
                </a:solidFill>
                <a:latin typeface="BIZ UDゴシック" pitchFamily="34" charset="0"/>
                <a:ea typeface="BIZ UDゴシック" pitchFamily="34" charset="-122"/>
                <a:cs typeface="BIZ UDゴシック" pitchFamily="34" charset="-120"/>
              </a:rPr>
              <a:t>Observability AI PoC</a:t>
            </a:r>
            <a:endParaRPr lang="en-US" sz="900" dirty="0"/>
          </a:p>
        </p:txBody>
      </p:sp>
      <p:sp>
        <p:nvSpPr>
          <p:cNvPr id="7" name="Text 5"/>
          <p:cNvSpPr/>
          <p:nvPr/>
        </p:nvSpPr>
        <p:spPr>
          <a:xfrm>
            <a:off x="9814255" y="6446520"/>
            <a:ext cx="1828800" cy="274320"/>
          </a:xfrm>
          <a:prstGeom prst="rect">
            <a:avLst/>
          </a:prstGeom>
          <a:noFill/>
          <a:ln/>
        </p:spPr>
        <p:txBody>
          <a:bodyPr wrap="square" lIns="0" tIns="0" rIns="0" bIns="0" rtlCol="0" anchor="ctr"/>
          <a:lstStyle/>
          <a:p>
            <a:pPr algn="r" indent="0" marL="0">
              <a:buNone/>
            </a:pPr>
            <a:r>
              <a:rPr lang="en-US" sz="900" dirty="0">
                <a:solidFill>
                  <a:srgbClr val="5C6B73"/>
                </a:solidFill>
                <a:latin typeface="BIZ UDゴシック" pitchFamily="34" charset="0"/>
                <a:ea typeface="BIZ UDゴシック" pitchFamily="34" charset="-122"/>
                <a:cs typeface="BIZ UDゴシック" pitchFamily="34" charset="-120"/>
              </a:rPr>
              <a:t>13</a:t>
            </a:r>
            <a:endParaRPr lang="en-US" sz="900" dirty="0"/>
          </a:p>
        </p:txBody>
      </p:sp>
      <p:sp>
        <p:nvSpPr>
          <p:cNvPr id="8" name="Shape 6"/>
          <p:cNvSpPr/>
          <p:nvPr/>
        </p:nvSpPr>
        <p:spPr>
          <a:xfrm>
            <a:off x="1280160" y="1508760"/>
            <a:ext cx="4907128" cy="1600200"/>
          </a:xfrm>
          <a:prstGeom prst="roundRect">
            <a:avLst>
              <a:gd name="adj" fmla="val 4571"/>
            </a:avLst>
          </a:prstGeom>
          <a:solidFill>
            <a:srgbClr val="EAF2F6"/>
          </a:solidFill>
          <a:ln/>
        </p:spPr>
      </p:sp>
      <p:sp>
        <p:nvSpPr>
          <p:cNvPr id="9" name="Text 7"/>
          <p:cNvSpPr/>
          <p:nvPr/>
        </p:nvSpPr>
        <p:spPr>
          <a:xfrm>
            <a:off x="1508760" y="1673352"/>
            <a:ext cx="4449928" cy="320040"/>
          </a:xfrm>
          <a:prstGeom prst="rect">
            <a:avLst/>
          </a:prstGeom>
          <a:noFill/>
          <a:ln/>
        </p:spPr>
        <p:txBody>
          <a:bodyPr wrap="square" lIns="0" tIns="0" rIns="0" bIns="0" rtlCol="0" anchor="ctr"/>
          <a:lstStyle/>
          <a:p>
            <a:pPr indent="0" marL="0">
              <a:buNone/>
            </a:pPr>
            <a:r>
              <a:rPr lang="en-US" sz="1350" b="1" dirty="0">
                <a:solidFill>
                  <a:srgbClr val="21295C"/>
                </a:solidFill>
                <a:latin typeface="BIZ UDゴシック" pitchFamily="34" charset="0"/>
                <a:ea typeface="BIZ UDゴシック" pitchFamily="34" charset="-122"/>
                <a:cs typeface="BIZ UDゴシック" pitchFamily="34" charset="-120"/>
              </a:rPr>
              <a:t>Proxy 環境変数</a:t>
            </a:r>
            <a:endParaRPr lang="en-US" sz="1350" dirty="0"/>
          </a:p>
        </p:txBody>
      </p:sp>
      <p:sp>
        <p:nvSpPr>
          <p:cNvPr id="10" name="Text 8"/>
          <p:cNvSpPr/>
          <p:nvPr/>
        </p:nvSpPr>
        <p:spPr>
          <a:xfrm>
            <a:off x="1508760" y="2057400"/>
            <a:ext cx="4449928" cy="914400"/>
          </a:xfrm>
          <a:prstGeom prst="rect">
            <a:avLst/>
          </a:prstGeom>
          <a:noFill/>
          <a:ln/>
        </p:spPr>
        <p:txBody>
          <a:bodyPr wrap="square" lIns="0" tIns="0" rIns="0" bIns="0" rtlCol="0" anchor="ctr"/>
          <a:lstStyle/>
          <a:p>
            <a:pPr indent="0" marL="0">
              <a:lnSpc>
                <a:spcPct val="135000"/>
              </a:lnSpc>
              <a:buNone/>
            </a:pPr>
            <a:r>
              <a:rPr lang="en-US" sz="1200" dirty="0">
                <a:solidFill>
                  <a:srgbClr val="1A1A2E"/>
                </a:solidFill>
                <a:latin typeface="Consolas" pitchFamily="34" charset="0"/>
                <a:ea typeface="Consolas" pitchFamily="34" charset="-122"/>
                <a:cs typeface="Consolas" pitchFamily="34" charset="-120"/>
              </a:rPr>
              <a:t>HTTP_PROXY=</a:t>
            </a:r>
            <a:endParaRPr lang="en-US" sz="1200" dirty="0"/>
          </a:p>
          <a:p>
            <a:pPr indent="0" marL="0">
              <a:lnSpc>
                <a:spcPct val="135000"/>
              </a:lnSpc>
              <a:buNone/>
            </a:pPr>
            <a:r>
              <a:rPr lang="en-US" sz="1200" dirty="0">
                <a:solidFill>
                  <a:srgbClr val="1A1A2E"/>
                </a:solidFill>
                <a:latin typeface="Consolas" pitchFamily="34" charset="0"/>
                <a:ea typeface="Consolas" pitchFamily="34" charset="-122"/>
                <a:cs typeface="Consolas" pitchFamily="34" charset="-120"/>
              </a:rPr>
              <a:t>HTTPS_PROXY=</a:t>
            </a:r>
            <a:endParaRPr lang="en-US" sz="1200" dirty="0"/>
          </a:p>
          <a:p>
            <a:pPr indent="0" marL="0">
              <a:lnSpc>
                <a:spcPct val="135000"/>
              </a:lnSpc>
              <a:buNone/>
            </a:pPr>
            <a:r>
              <a:rPr lang="en-US" sz="1200" dirty="0">
                <a:solidFill>
                  <a:srgbClr val="1A1A2E"/>
                </a:solidFill>
                <a:latin typeface="Consolas" pitchFamily="34" charset="0"/>
                <a:ea typeface="Consolas" pitchFamily="34" charset="-122"/>
                <a:cs typeface="Consolas" pitchFamily="34" charset="-120"/>
              </a:rPr>
              <a:t>NO_PROXY=</a:t>
            </a:r>
            <a:endParaRPr lang="en-US" sz="1200" dirty="0"/>
          </a:p>
        </p:txBody>
      </p:sp>
      <p:sp>
        <p:nvSpPr>
          <p:cNvPr id="11" name="Shape 9"/>
          <p:cNvSpPr/>
          <p:nvPr/>
        </p:nvSpPr>
        <p:spPr>
          <a:xfrm>
            <a:off x="6735928" y="1508760"/>
            <a:ext cx="4907128" cy="1600200"/>
          </a:xfrm>
          <a:prstGeom prst="roundRect">
            <a:avLst>
              <a:gd name="adj" fmla="val 4571"/>
            </a:avLst>
          </a:prstGeom>
          <a:solidFill>
            <a:srgbClr val="EAF2F6"/>
          </a:solidFill>
          <a:ln/>
        </p:spPr>
      </p:sp>
      <p:sp>
        <p:nvSpPr>
          <p:cNvPr id="12" name="Text 10"/>
          <p:cNvSpPr/>
          <p:nvPr/>
        </p:nvSpPr>
        <p:spPr>
          <a:xfrm>
            <a:off x="6964528" y="1673352"/>
            <a:ext cx="4449928" cy="320040"/>
          </a:xfrm>
          <a:prstGeom prst="rect">
            <a:avLst/>
          </a:prstGeom>
          <a:noFill/>
          <a:ln/>
        </p:spPr>
        <p:txBody>
          <a:bodyPr wrap="square" lIns="0" tIns="0" rIns="0" bIns="0" rtlCol="0" anchor="ctr"/>
          <a:lstStyle/>
          <a:p>
            <a:pPr indent="0" marL="0">
              <a:buNone/>
            </a:pPr>
            <a:r>
              <a:rPr lang="en-US" sz="1350" b="1" dirty="0">
                <a:solidFill>
                  <a:srgbClr val="21295C"/>
                </a:solidFill>
                <a:latin typeface="BIZ UDゴシック" pitchFamily="34" charset="0"/>
                <a:ea typeface="BIZ UDゴシック" pitchFamily="34" charset="-122"/>
                <a:cs typeface="BIZ UDゴシック" pitchFamily="34" charset="-120"/>
              </a:rPr>
              <a:t>Zscaler CA 配置場所</a:t>
            </a:r>
            <a:endParaRPr lang="en-US" sz="1350" dirty="0"/>
          </a:p>
        </p:txBody>
      </p:sp>
      <p:sp>
        <p:nvSpPr>
          <p:cNvPr id="13" name="Text 11"/>
          <p:cNvSpPr/>
          <p:nvPr/>
        </p:nvSpPr>
        <p:spPr>
          <a:xfrm>
            <a:off x="6964528" y="2057400"/>
            <a:ext cx="4449928" cy="365760"/>
          </a:xfrm>
          <a:prstGeom prst="rect">
            <a:avLst/>
          </a:prstGeom>
          <a:noFill/>
          <a:ln/>
        </p:spPr>
        <p:txBody>
          <a:bodyPr wrap="square" lIns="0" tIns="0" rIns="0" bIns="0" rtlCol="0" anchor="ctr"/>
          <a:lstStyle/>
          <a:p>
            <a:pPr indent="0" marL="0">
              <a:buNone/>
            </a:pPr>
            <a:r>
              <a:rPr lang="en-US" sz="1200" dirty="0">
                <a:solidFill>
                  <a:srgbClr val="1A1A2E"/>
                </a:solidFill>
                <a:latin typeface="Consolas" pitchFamily="34" charset="0"/>
                <a:ea typeface="Consolas" pitchFamily="34" charset="-122"/>
                <a:cs typeface="Consolas" pitchFamily="34" charset="-120"/>
              </a:rPr>
              <a:t>certs/zscaler-ca.crt</a:t>
            </a:r>
            <a:endParaRPr lang="en-US" sz="1200" dirty="0"/>
          </a:p>
        </p:txBody>
      </p:sp>
      <p:sp>
        <p:nvSpPr>
          <p:cNvPr id="14" name="Text 12"/>
          <p:cNvSpPr/>
          <p:nvPr/>
        </p:nvSpPr>
        <p:spPr>
          <a:xfrm>
            <a:off x="6964528" y="2468880"/>
            <a:ext cx="4449928" cy="548640"/>
          </a:xfrm>
          <a:prstGeom prst="rect">
            <a:avLst/>
          </a:prstGeom>
          <a:noFill/>
          <a:ln/>
        </p:spPr>
        <p:txBody>
          <a:bodyPr wrap="square" lIns="0" tIns="0" rIns="0" bIns="0" rtlCol="0" anchor="ctr"/>
          <a:lstStyle/>
          <a:p>
            <a:pPr indent="0" marL="0">
              <a:lnSpc>
                <a:spcPct val="120000"/>
              </a:lnSpc>
              <a:buNone/>
            </a:pPr>
            <a:r>
              <a:rPr lang="en-US" sz="1100" dirty="0">
                <a:solidFill>
                  <a:srgbClr val="5C6B73"/>
                </a:solidFill>
                <a:latin typeface="BIZ UDゴシック" pitchFamily="34" charset="0"/>
                <a:ea typeface="BIZ UDゴシック" pitchFamily="34" charset="-122"/>
                <a:cs typeface="BIZ UDゴシック" pitchFamily="34" charset="-120"/>
              </a:rPr>
              <a:t>コンテナ内部ではOSのCAストアへ信頼チェーンとして組み込む。</a:t>
            </a:r>
            <a:endParaRPr lang="en-US" sz="1100" dirty="0"/>
          </a:p>
        </p:txBody>
      </p:sp>
      <p:sp>
        <p:nvSpPr>
          <p:cNvPr id="15" name="Shape 13"/>
          <p:cNvSpPr/>
          <p:nvPr/>
        </p:nvSpPr>
        <p:spPr>
          <a:xfrm>
            <a:off x="1280160" y="3337560"/>
            <a:ext cx="4907128" cy="1600200"/>
          </a:xfrm>
          <a:prstGeom prst="roundRect">
            <a:avLst>
              <a:gd name="adj" fmla="val 4571"/>
            </a:avLst>
          </a:prstGeom>
          <a:solidFill>
            <a:srgbClr val="EAF2F6"/>
          </a:solidFill>
          <a:ln/>
        </p:spPr>
      </p:sp>
      <p:sp>
        <p:nvSpPr>
          <p:cNvPr id="16" name="Text 14"/>
          <p:cNvSpPr/>
          <p:nvPr/>
        </p:nvSpPr>
        <p:spPr>
          <a:xfrm>
            <a:off x="1508760" y="3502152"/>
            <a:ext cx="4449928" cy="320040"/>
          </a:xfrm>
          <a:prstGeom prst="rect">
            <a:avLst/>
          </a:prstGeom>
          <a:noFill/>
          <a:ln/>
        </p:spPr>
        <p:txBody>
          <a:bodyPr wrap="square" lIns="0" tIns="0" rIns="0" bIns="0" rtlCol="0" anchor="ctr"/>
          <a:lstStyle/>
          <a:p>
            <a:pPr indent="0" marL="0">
              <a:buNone/>
            </a:pPr>
            <a:r>
              <a:rPr lang="en-US" sz="1350" b="1" dirty="0">
                <a:solidFill>
                  <a:srgbClr val="21295C"/>
                </a:solidFill>
                <a:latin typeface="BIZ UDゴシック" pitchFamily="34" charset="0"/>
                <a:ea typeface="BIZ UDゴシック" pitchFamily="34" charset="-122"/>
                <a:cs typeface="BIZ UDゴシック" pitchFamily="34" charset="-120"/>
              </a:rPr>
              <a:t>Python</a:t>
            </a:r>
            <a:endParaRPr lang="en-US" sz="1350" dirty="0"/>
          </a:p>
        </p:txBody>
      </p:sp>
      <p:sp>
        <p:nvSpPr>
          <p:cNvPr id="17" name="Text 15"/>
          <p:cNvSpPr/>
          <p:nvPr/>
        </p:nvSpPr>
        <p:spPr>
          <a:xfrm>
            <a:off x="1508760" y="3886200"/>
            <a:ext cx="4449928" cy="914400"/>
          </a:xfrm>
          <a:prstGeom prst="rect">
            <a:avLst/>
          </a:prstGeom>
          <a:noFill/>
          <a:ln/>
        </p:spPr>
        <p:txBody>
          <a:bodyPr wrap="square" lIns="0" tIns="0" rIns="0" bIns="0" rtlCol="0" anchor="ctr"/>
          <a:lstStyle/>
          <a:p>
            <a:pPr indent="0" marL="0">
              <a:lnSpc>
                <a:spcPct val="135000"/>
              </a:lnSpc>
              <a:buNone/>
            </a:pPr>
            <a:r>
              <a:rPr lang="en-US" sz="1200" dirty="0">
                <a:solidFill>
                  <a:srgbClr val="1A1A2E"/>
                </a:solidFill>
                <a:latin typeface="Consolas" pitchFamily="34" charset="0"/>
                <a:ea typeface="Consolas" pitchFamily="34" charset="-122"/>
                <a:cs typeface="Consolas" pitchFamily="34" charset="-120"/>
              </a:rPr>
              <a:t>SSL_CERT_FILE</a:t>
            </a:r>
            <a:endParaRPr lang="en-US" sz="1200" dirty="0"/>
          </a:p>
          <a:p>
            <a:pPr indent="0" marL="0">
              <a:lnSpc>
                <a:spcPct val="135000"/>
              </a:lnSpc>
              <a:buNone/>
            </a:pPr>
            <a:r>
              <a:rPr lang="en-US" sz="1200" dirty="0">
                <a:solidFill>
                  <a:srgbClr val="1A1A2E"/>
                </a:solidFill>
                <a:latin typeface="Consolas" pitchFamily="34" charset="0"/>
                <a:ea typeface="Consolas" pitchFamily="34" charset="-122"/>
                <a:cs typeface="Consolas" pitchFamily="34" charset="-120"/>
              </a:rPr>
              <a:t>REQUESTS_CA_BUNDLE</a:t>
            </a:r>
            <a:endParaRPr lang="en-US" sz="1200" dirty="0"/>
          </a:p>
        </p:txBody>
      </p:sp>
      <p:sp>
        <p:nvSpPr>
          <p:cNvPr id="18" name="Shape 16"/>
          <p:cNvSpPr/>
          <p:nvPr/>
        </p:nvSpPr>
        <p:spPr>
          <a:xfrm>
            <a:off x="6735928" y="3337560"/>
            <a:ext cx="4907128" cy="1600200"/>
          </a:xfrm>
          <a:prstGeom prst="roundRect">
            <a:avLst>
              <a:gd name="adj" fmla="val 4571"/>
            </a:avLst>
          </a:prstGeom>
          <a:solidFill>
            <a:srgbClr val="EAF2F6"/>
          </a:solidFill>
          <a:ln/>
        </p:spPr>
      </p:sp>
      <p:sp>
        <p:nvSpPr>
          <p:cNvPr id="19" name="Text 17"/>
          <p:cNvSpPr/>
          <p:nvPr/>
        </p:nvSpPr>
        <p:spPr>
          <a:xfrm>
            <a:off x="6964528" y="3502152"/>
            <a:ext cx="4449928" cy="320040"/>
          </a:xfrm>
          <a:prstGeom prst="rect">
            <a:avLst/>
          </a:prstGeom>
          <a:noFill/>
          <a:ln/>
        </p:spPr>
        <p:txBody>
          <a:bodyPr wrap="square" lIns="0" tIns="0" rIns="0" bIns="0" rtlCol="0" anchor="ctr"/>
          <a:lstStyle/>
          <a:p>
            <a:pPr indent="0" marL="0">
              <a:buNone/>
            </a:pPr>
            <a:r>
              <a:rPr lang="en-US" sz="1350" b="1" dirty="0">
                <a:solidFill>
                  <a:srgbClr val="21295C"/>
                </a:solidFill>
                <a:latin typeface="BIZ UDゴシック" pitchFamily="34" charset="0"/>
                <a:ea typeface="BIZ UDゴシック" pitchFamily="34" charset="-122"/>
                <a:cs typeface="BIZ UDゴシック" pitchFamily="34" charset="-120"/>
              </a:rPr>
              <a:t>Node.js</a:t>
            </a:r>
            <a:endParaRPr lang="en-US" sz="1350" dirty="0"/>
          </a:p>
        </p:txBody>
      </p:sp>
      <p:sp>
        <p:nvSpPr>
          <p:cNvPr id="20" name="Text 18"/>
          <p:cNvSpPr/>
          <p:nvPr/>
        </p:nvSpPr>
        <p:spPr>
          <a:xfrm>
            <a:off x="6964528" y="3886200"/>
            <a:ext cx="4449928" cy="365760"/>
          </a:xfrm>
          <a:prstGeom prst="rect">
            <a:avLst/>
          </a:prstGeom>
          <a:noFill/>
          <a:ln/>
        </p:spPr>
        <p:txBody>
          <a:bodyPr wrap="square" lIns="0" tIns="0" rIns="0" bIns="0" rtlCol="0" anchor="ctr"/>
          <a:lstStyle/>
          <a:p>
            <a:pPr indent="0" marL="0">
              <a:buNone/>
            </a:pPr>
            <a:r>
              <a:rPr lang="en-US" sz="1200" dirty="0">
                <a:solidFill>
                  <a:srgbClr val="1A1A2E"/>
                </a:solidFill>
                <a:latin typeface="Consolas" pitchFamily="34" charset="0"/>
                <a:ea typeface="Consolas" pitchFamily="34" charset="-122"/>
                <a:cs typeface="Consolas" pitchFamily="34" charset="-120"/>
              </a:rPr>
              <a:t>NODE_EXTRA_CA_CERTS</a:t>
            </a:r>
            <a:endParaRPr lang="en-US" sz="1200" dirty="0"/>
          </a:p>
        </p:txBody>
      </p:sp>
      <p:sp>
        <p:nvSpPr>
          <p:cNvPr id="21" name="Shape 19"/>
          <p:cNvSpPr/>
          <p:nvPr/>
        </p:nvSpPr>
        <p:spPr>
          <a:xfrm>
            <a:off x="1280160" y="5166360"/>
            <a:ext cx="10362895" cy="685800"/>
          </a:xfrm>
          <a:prstGeom prst="roundRect">
            <a:avLst>
              <a:gd name="adj" fmla="val 10667"/>
            </a:avLst>
          </a:prstGeom>
          <a:solidFill>
            <a:srgbClr val="21295C"/>
          </a:solidFill>
          <a:ln/>
        </p:spPr>
      </p:sp>
      <p:sp>
        <p:nvSpPr>
          <p:cNvPr id="22" name="Text 20"/>
          <p:cNvSpPr/>
          <p:nvPr/>
        </p:nvSpPr>
        <p:spPr>
          <a:xfrm>
            <a:off x="1554480" y="5166360"/>
            <a:ext cx="9814255" cy="685800"/>
          </a:xfrm>
          <a:prstGeom prst="rect">
            <a:avLst/>
          </a:prstGeom>
          <a:noFill/>
          <a:ln/>
        </p:spPr>
        <p:txBody>
          <a:bodyPr wrap="square" lIns="0" tIns="0" rIns="0" bIns="0" rtlCol="0" anchor="ctr"/>
          <a:lstStyle/>
          <a:p>
            <a:pPr indent="0" marL="0">
              <a:buNone/>
            </a:pPr>
            <a:r>
              <a:rPr lang="en-US" sz="1300" dirty="0">
                <a:solidFill>
                  <a:srgbClr val="FFFFFF"/>
                </a:solidFill>
                <a:latin typeface="Consolas" pitchFamily="34" charset="0"/>
                <a:ea typeface="Consolas" pitchFamily="34" charset="-122"/>
                <a:cs typeface="Consolas" pitchFamily="34" charset="-120"/>
              </a:rPr>
              <a:t>New Relic Agent：NEW_RELIC_CA_BUNDLE_PATH</a:t>
            </a:r>
            <a:endParaRPr lang="en-US" sz="13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502920"/>
            <a:ext cx="566928" cy="566928"/>
          </a:xfrm>
          <a:prstGeom prst="ellipse">
            <a:avLst/>
          </a:prstGeom>
          <a:solidFill>
            <a:srgbClr val="21295C"/>
          </a:solidFill>
          <a:ln/>
        </p:spPr>
      </p:sp>
      <p:sp>
        <p:nvSpPr>
          <p:cNvPr id="3" name="Text 1"/>
          <p:cNvSpPr/>
          <p:nvPr/>
        </p:nvSpPr>
        <p:spPr>
          <a:xfrm>
            <a:off x="548640" y="502920"/>
            <a:ext cx="566928" cy="566928"/>
          </a:xfrm>
          <a:prstGeom prst="rect">
            <a:avLst/>
          </a:prstGeom>
          <a:noFill/>
          <a:ln/>
        </p:spPr>
        <p:txBody>
          <a:bodyPr wrap="square" lIns="0" tIns="0" rIns="0" bIns="0" rtlCol="0" anchor="ctr"/>
          <a:lstStyle/>
          <a:p>
            <a:pPr algn="ctr" indent="0" marL="0">
              <a:buNone/>
            </a:pPr>
            <a:r>
              <a:rPr lang="en-US" sz="1500" b="1" dirty="0">
                <a:solidFill>
                  <a:srgbClr val="FFFFFF"/>
                </a:solidFill>
                <a:latin typeface="BIZ UDゴシック" pitchFamily="34" charset="0"/>
                <a:ea typeface="BIZ UDゴシック" pitchFamily="34" charset="-122"/>
                <a:cs typeface="BIZ UDゴシック" pitchFamily="34" charset="-120"/>
              </a:rPr>
              <a:t>14</a:t>
            </a:r>
            <a:endParaRPr lang="en-US" sz="1500" dirty="0"/>
          </a:p>
        </p:txBody>
      </p:sp>
      <p:sp>
        <p:nvSpPr>
          <p:cNvPr id="4" name="Text 2"/>
          <p:cNvSpPr/>
          <p:nvPr/>
        </p:nvSpPr>
        <p:spPr>
          <a:xfrm>
            <a:off x="1280160" y="438912"/>
            <a:ext cx="10362895" cy="274320"/>
          </a:xfrm>
          <a:prstGeom prst="rect">
            <a:avLst/>
          </a:prstGeom>
          <a:noFill/>
          <a:ln/>
        </p:spPr>
        <p:txBody>
          <a:bodyPr wrap="square" lIns="0" tIns="0" rIns="0" bIns="0" rtlCol="0" anchor="ctr"/>
          <a:lstStyle/>
          <a:p>
            <a:pPr indent="0" marL="0">
              <a:buNone/>
            </a:pPr>
            <a:r>
              <a:rPr lang="en-US" sz="1100" b="1" spc="100" kern="0" dirty="0">
                <a:solidFill>
                  <a:srgbClr val="1C7293"/>
                </a:solidFill>
                <a:latin typeface="BIZ UDゴシック" pitchFamily="34" charset="0"/>
                <a:ea typeface="BIZ UDゴシック" pitchFamily="34" charset="-122"/>
                <a:cs typeface="BIZ UDゴシック" pitchFamily="34" charset="-120"/>
              </a:rPr>
              <a:t>SECTION 14</a:t>
            </a:r>
            <a:endParaRPr lang="en-US" sz="1100" dirty="0"/>
          </a:p>
        </p:txBody>
      </p:sp>
      <p:sp>
        <p:nvSpPr>
          <p:cNvPr id="5" name="Text 3"/>
          <p:cNvSpPr/>
          <p:nvPr/>
        </p:nvSpPr>
        <p:spPr>
          <a:xfrm>
            <a:off x="1280160" y="713232"/>
            <a:ext cx="10362895" cy="566928"/>
          </a:xfrm>
          <a:prstGeom prst="rect">
            <a:avLst/>
          </a:prstGeom>
          <a:noFill/>
          <a:ln/>
        </p:spPr>
        <p:txBody>
          <a:bodyPr wrap="square" lIns="0" tIns="0" rIns="0" bIns="0" rtlCol="0" anchor="t"/>
          <a:lstStyle/>
          <a:p>
            <a:pPr indent="0" marL="0">
              <a:buNone/>
            </a:pPr>
            <a:r>
              <a:rPr lang="en-US" sz="2500" b="1" dirty="0">
                <a:solidFill>
                  <a:srgbClr val="1A1A2E"/>
                </a:solidFill>
                <a:latin typeface="BIZ UDゴシック" pitchFamily="34" charset="0"/>
                <a:ea typeface="BIZ UDゴシック" pitchFamily="34" charset="-122"/>
                <a:cs typeface="BIZ UDゴシック" pitchFamily="34" charset="-120"/>
              </a:rPr>
              <a:t>NO_PROXY 設計</a:t>
            </a:r>
            <a:endParaRPr lang="en-US" sz="2500" dirty="0"/>
          </a:p>
        </p:txBody>
      </p:sp>
      <p:sp>
        <p:nvSpPr>
          <p:cNvPr id="6" name="Text 4"/>
          <p:cNvSpPr/>
          <p:nvPr/>
        </p:nvSpPr>
        <p:spPr>
          <a:xfrm>
            <a:off x="548640" y="6446520"/>
            <a:ext cx="4572000" cy="274320"/>
          </a:xfrm>
          <a:prstGeom prst="rect">
            <a:avLst/>
          </a:prstGeom>
          <a:noFill/>
          <a:ln/>
        </p:spPr>
        <p:txBody>
          <a:bodyPr wrap="square" lIns="0" tIns="0" rIns="0" bIns="0" rtlCol="0" anchor="ctr"/>
          <a:lstStyle/>
          <a:p>
            <a:pPr indent="0" marL="0">
              <a:buNone/>
            </a:pPr>
            <a:r>
              <a:rPr lang="en-US" sz="900" dirty="0">
                <a:solidFill>
                  <a:srgbClr val="5C6B73"/>
                </a:solidFill>
                <a:latin typeface="BIZ UDゴシック" pitchFamily="34" charset="0"/>
                <a:ea typeface="BIZ UDゴシック" pitchFamily="34" charset="-122"/>
                <a:cs typeface="BIZ UDゴシック" pitchFamily="34" charset="-120"/>
              </a:rPr>
              <a:t>Observability AI PoC</a:t>
            </a:r>
            <a:endParaRPr lang="en-US" sz="900" dirty="0"/>
          </a:p>
        </p:txBody>
      </p:sp>
      <p:sp>
        <p:nvSpPr>
          <p:cNvPr id="7" name="Text 5"/>
          <p:cNvSpPr/>
          <p:nvPr/>
        </p:nvSpPr>
        <p:spPr>
          <a:xfrm>
            <a:off x="9814255" y="6446520"/>
            <a:ext cx="1828800" cy="274320"/>
          </a:xfrm>
          <a:prstGeom prst="rect">
            <a:avLst/>
          </a:prstGeom>
          <a:noFill/>
          <a:ln/>
        </p:spPr>
        <p:txBody>
          <a:bodyPr wrap="square" lIns="0" tIns="0" rIns="0" bIns="0" rtlCol="0" anchor="ctr"/>
          <a:lstStyle/>
          <a:p>
            <a:pPr algn="r" indent="0" marL="0">
              <a:buNone/>
            </a:pPr>
            <a:r>
              <a:rPr lang="en-US" sz="900" dirty="0">
                <a:solidFill>
                  <a:srgbClr val="5C6B73"/>
                </a:solidFill>
                <a:latin typeface="BIZ UDゴシック" pitchFamily="34" charset="0"/>
                <a:ea typeface="BIZ UDゴシック" pitchFamily="34" charset="-122"/>
                <a:cs typeface="BIZ UDゴシック" pitchFamily="34" charset="-120"/>
              </a:rPr>
              <a:t>14</a:t>
            </a:r>
            <a:endParaRPr lang="en-US" sz="900" dirty="0"/>
          </a:p>
        </p:txBody>
      </p:sp>
      <p:sp>
        <p:nvSpPr>
          <p:cNvPr id="8" name="Text 6"/>
          <p:cNvSpPr/>
          <p:nvPr/>
        </p:nvSpPr>
        <p:spPr>
          <a:xfrm>
            <a:off x="1280160" y="1536192"/>
            <a:ext cx="10362895" cy="548640"/>
          </a:xfrm>
          <a:prstGeom prst="rect">
            <a:avLst/>
          </a:prstGeom>
          <a:noFill/>
          <a:ln/>
        </p:spPr>
        <p:txBody>
          <a:bodyPr wrap="square" lIns="0" tIns="0" rIns="0" bIns="0" rtlCol="0" anchor="t"/>
          <a:lstStyle/>
          <a:p>
            <a:pPr indent="0" marL="0">
              <a:lnSpc>
                <a:spcPct val="125000"/>
              </a:lnSpc>
              <a:buNone/>
            </a:pPr>
            <a:r>
              <a:rPr lang="en-US" sz="1500" dirty="0">
                <a:solidFill>
                  <a:srgbClr val="1A1A2E"/>
                </a:solidFill>
                <a:latin typeface="BIZ UDゴシック" pitchFamily="34" charset="0"/>
                <a:ea typeface="BIZ UDゴシック" pitchFamily="34" charset="-122"/>
                <a:cs typeface="BIZ UDゴシック" pitchFamily="34" charset="-120"/>
              </a:rPr>
              <a:t>内部Docker通信までProxyへ送ると通信障害が起きるため、Docker内部通信はProxy除外する。</a:t>
            </a:r>
            <a:endParaRPr lang="en-US" sz="1500" dirty="0"/>
          </a:p>
        </p:txBody>
      </p:sp>
      <p:sp>
        <p:nvSpPr>
          <p:cNvPr id="9" name="Text 7"/>
          <p:cNvSpPr/>
          <p:nvPr/>
        </p:nvSpPr>
        <p:spPr>
          <a:xfrm>
            <a:off x="1280160" y="2194560"/>
            <a:ext cx="10362895" cy="365760"/>
          </a:xfrm>
          <a:prstGeom prst="rect">
            <a:avLst/>
          </a:prstGeom>
          <a:noFill/>
          <a:ln/>
        </p:spPr>
        <p:txBody>
          <a:bodyPr wrap="square" lIns="0" tIns="0" rIns="0" bIns="0" rtlCol="0" anchor="t"/>
          <a:lstStyle/>
          <a:p>
            <a:pPr indent="0" marL="0">
              <a:lnSpc>
                <a:spcPct val="125000"/>
              </a:lnSpc>
              <a:buNone/>
            </a:pPr>
            <a:r>
              <a:rPr lang="en-US" sz="1500" b="1" dirty="0">
                <a:solidFill>
                  <a:srgbClr val="21295C"/>
                </a:solidFill>
                <a:latin typeface="BIZ UDゴシック" pitchFamily="34" charset="0"/>
                <a:ea typeface="BIZ UDゴシック" pitchFamily="34" charset="-122"/>
                <a:cs typeface="BIZ UDゴシック" pitchFamily="34" charset="-120"/>
              </a:rPr>
              <a:t>除外対象</a:t>
            </a:r>
            <a:endParaRPr lang="en-US" sz="1500" dirty="0"/>
          </a:p>
        </p:txBody>
      </p:sp>
      <p:sp>
        <p:nvSpPr>
          <p:cNvPr id="10" name="Shape 8"/>
          <p:cNvSpPr/>
          <p:nvPr/>
        </p:nvSpPr>
        <p:spPr>
          <a:xfrm>
            <a:off x="1280160" y="2560320"/>
            <a:ext cx="1636776" cy="310896"/>
          </a:xfrm>
          <a:prstGeom prst="roundRect">
            <a:avLst>
              <a:gd name="adj" fmla="val 17647"/>
            </a:avLst>
          </a:prstGeom>
          <a:solidFill>
            <a:srgbClr val="1C7293"/>
          </a:solidFill>
          <a:ln/>
        </p:spPr>
      </p:sp>
      <p:sp>
        <p:nvSpPr>
          <p:cNvPr id="11" name="Text 9"/>
          <p:cNvSpPr/>
          <p:nvPr/>
        </p:nvSpPr>
        <p:spPr>
          <a:xfrm>
            <a:off x="1280160" y="2560320"/>
            <a:ext cx="163677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BIZ UDゴシック" pitchFamily="34" charset="0"/>
                <a:ea typeface="BIZ UDゴシック" pitchFamily="34" charset="-122"/>
                <a:cs typeface="BIZ UDゴシック" pitchFamily="34" charset="-120"/>
              </a:rPr>
              <a:t>localhost</a:t>
            </a:r>
            <a:endParaRPr lang="en-US" sz="1100" dirty="0"/>
          </a:p>
        </p:txBody>
      </p:sp>
      <p:sp>
        <p:nvSpPr>
          <p:cNvPr id="12" name="Shape 10"/>
          <p:cNvSpPr/>
          <p:nvPr/>
        </p:nvSpPr>
        <p:spPr>
          <a:xfrm>
            <a:off x="3118104" y="2560320"/>
            <a:ext cx="1636776" cy="310896"/>
          </a:xfrm>
          <a:prstGeom prst="roundRect">
            <a:avLst>
              <a:gd name="adj" fmla="val 17647"/>
            </a:avLst>
          </a:prstGeom>
          <a:solidFill>
            <a:srgbClr val="1C7293"/>
          </a:solidFill>
          <a:ln/>
        </p:spPr>
      </p:sp>
      <p:sp>
        <p:nvSpPr>
          <p:cNvPr id="13" name="Text 11"/>
          <p:cNvSpPr/>
          <p:nvPr/>
        </p:nvSpPr>
        <p:spPr>
          <a:xfrm>
            <a:off x="3118104" y="2560320"/>
            <a:ext cx="163677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BIZ UDゴシック" pitchFamily="34" charset="0"/>
                <a:ea typeface="BIZ UDゴシック" pitchFamily="34" charset="-122"/>
                <a:cs typeface="BIZ UDゴシック" pitchFamily="34" charset="-120"/>
              </a:rPr>
              <a:t>127.0.0.1</a:t>
            </a:r>
            <a:endParaRPr lang="en-US" sz="1100" dirty="0"/>
          </a:p>
        </p:txBody>
      </p:sp>
      <p:sp>
        <p:nvSpPr>
          <p:cNvPr id="14" name="Shape 12"/>
          <p:cNvSpPr/>
          <p:nvPr/>
        </p:nvSpPr>
        <p:spPr>
          <a:xfrm>
            <a:off x="4956048" y="2560320"/>
            <a:ext cx="3099816" cy="310896"/>
          </a:xfrm>
          <a:prstGeom prst="roundRect">
            <a:avLst>
              <a:gd name="adj" fmla="val 17647"/>
            </a:avLst>
          </a:prstGeom>
          <a:solidFill>
            <a:srgbClr val="1C7293"/>
          </a:solidFill>
          <a:ln/>
        </p:spPr>
      </p:sp>
      <p:sp>
        <p:nvSpPr>
          <p:cNvPr id="15" name="Text 13"/>
          <p:cNvSpPr/>
          <p:nvPr/>
        </p:nvSpPr>
        <p:spPr>
          <a:xfrm>
            <a:off x="4956048" y="2560320"/>
            <a:ext cx="309981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BIZ UDゴシック" pitchFamily="34" charset="0"/>
                <a:ea typeface="BIZ UDゴシック" pitchFamily="34" charset="-122"/>
                <a:cs typeface="BIZ UDゴシック" pitchFamily="34" charset="-120"/>
              </a:rPr>
              <a:t>Docker private CIDR</a:t>
            </a:r>
            <a:endParaRPr lang="en-US" sz="1100" dirty="0"/>
          </a:p>
        </p:txBody>
      </p:sp>
      <p:sp>
        <p:nvSpPr>
          <p:cNvPr id="16" name="Shape 14"/>
          <p:cNvSpPr/>
          <p:nvPr/>
        </p:nvSpPr>
        <p:spPr>
          <a:xfrm>
            <a:off x="8257032" y="2560320"/>
            <a:ext cx="1197864" cy="310896"/>
          </a:xfrm>
          <a:prstGeom prst="roundRect">
            <a:avLst>
              <a:gd name="adj" fmla="val 17647"/>
            </a:avLst>
          </a:prstGeom>
          <a:solidFill>
            <a:srgbClr val="1C7293"/>
          </a:solidFill>
          <a:ln/>
        </p:spPr>
      </p:sp>
      <p:sp>
        <p:nvSpPr>
          <p:cNvPr id="17" name="Text 15"/>
          <p:cNvSpPr/>
          <p:nvPr/>
        </p:nvSpPr>
        <p:spPr>
          <a:xfrm>
            <a:off x="8257032" y="2560320"/>
            <a:ext cx="1197864"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BIZ UDゴシック" pitchFamily="34" charset="0"/>
                <a:ea typeface="BIZ UDゴシック" pitchFamily="34" charset="-122"/>
                <a:cs typeface="BIZ UDゴシック" pitchFamily="34" charset="-120"/>
              </a:rPr>
              <a:t>Splunk</a:t>
            </a:r>
            <a:endParaRPr lang="en-US" sz="1100" dirty="0"/>
          </a:p>
        </p:txBody>
      </p:sp>
      <p:sp>
        <p:nvSpPr>
          <p:cNvPr id="18" name="Shape 16"/>
          <p:cNvSpPr/>
          <p:nvPr/>
        </p:nvSpPr>
        <p:spPr>
          <a:xfrm>
            <a:off x="1280160" y="3063240"/>
            <a:ext cx="1783080" cy="310896"/>
          </a:xfrm>
          <a:prstGeom prst="roundRect">
            <a:avLst>
              <a:gd name="adj" fmla="val 17647"/>
            </a:avLst>
          </a:prstGeom>
          <a:solidFill>
            <a:srgbClr val="1C7293"/>
          </a:solidFill>
          <a:ln/>
        </p:spPr>
      </p:sp>
      <p:sp>
        <p:nvSpPr>
          <p:cNvPr id="19" name="Text 17"/>
          <p:cNvSpPr/>
          <p:nvPr/>
        </p:nvSpPr>
        <p:spPr>
          <a:xfrm>
            <a:off x="1280160" y="3063240"/>
            <a:ext cx="1783080"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BIZ UDゴシック" pitchFamily="34" charset="0"/>
                <a:ea typeface="BIZ UDゴシック" pitchFamily="34" charset="-122"/>
                <a:cs typeface="BIZ UDゴシック" pitchFamily="34" charset="-120"/>
              </a:rPr>
              <a:t>PostgreSQL</a:t>
            </a:r>
            <a:endParaRPr lang="en-US" sz="1100" dirty="0"/>
          </a:p>
        </p:txBody>
      </p:sp>
      <p:sp>
        <p:nvSpPr>
          <p:cNvPr id="20" name="Shape 18"/>
          <p:cNvSpPr/>
          <p:nvPr/>
        </p:nvSpPr>
        <p:spPr>
          <a:xfrm>
            <a:off x="3264408" y="3063240"/>
            <a:ext cx="1929384" cy="310896"/>
          </a:xfrm>
          <a:prstGeom prst="roundRect">
            <a:avLst>
              <a:gd name="adj" fmla="val 17647"/>
            </a:avLst>
          </a:prstGeom>
          <a:solidFill>
            <a:srgbClr val="1C7293"/>
          </a:solidFill>
          <a:ln/>
        </p:spPr>
      </p:sp>
      <p:sp>
        <p:nvSpPr>
          <p:cNvPr id="21" name="Text 19"/>
          <p:cNvSpPr/>
          <p:nvPr/>
        </p:nvSpPr>
        <p:spPr>
          <a:xfrm>
            <a:off x="3264408" y="3063240"/>
            <a:ext cx="1929384"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BIZ UDゴシック" pitchFamily="34" charset="0"/>
                <a:ea typeface="BIZ UDゴシック" pitchFamily="34" charset="-122"/>
                <a:cs typeface="BIZ UDゴシック" pitchFamily="34" charset="-120"/>
              </a:rPr>
              <a:t>API Gateway</a:t>
            </a:r>
            <a:endParaRPr lang="en-US" sz="1100" dirty="0"/>
          </a:p>
        </p:txBody>
      </p:sp>
      <p:sp>
        <p:nvSpPr>
          <p:cNvPr id="22" name="Shape 20"/>
          <p:cNvSpPr/>
          <p:nvPr/>
        </p:nvSpPr>
        <p:spPr>
          <a:xfrm>
            <a:off x="5394960" y="3063240"/>
            <a:ext cx="1636776" cy="310896"/>
          </a:xfrm>
          <a:prstGeom prst="roundRect">
            <a:avLst>
              <a:gd name="adj" fmla="val 17647"/>
            </a:avLst>
          </a:prstGeom>
          <a:solidFill>
            <a:srgbClr val="1C7293"/>
          </a:solidFill>
          <a:ln/>
        </p:spPr>
      </p:sp>
      <p:sp>
        <p:nvSpPr>
          <p:cNvPr id="23" name="Text 21"/>
          <p:cNvSpPr/>
          <p:nvPr/>
        </p:nvSpPr>
        <p:spPr>
          <a:xfrm>
            <a:off x="5394960" y="3063240"/>
            <a:ext cx="163677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BIZ UDゴシック" pitchFamily="34" charset="0"/>
                <a:ea typeface="BIZ UDゴシック" pitchFamily="34" charset="-122"/>
                <a:cs typeface="BIZ UDゴシック" pitchFamily="34" charset="-120"/>
              </a:rPr>
              <a:t>各マイクロサービス</a:t>
            </a:r>
            <a:endParaRPr lang="en-US" sz="1100" dirty="0"/>
          </a:p>
        </p:txBody>
      </p:sp>
      <p:sp>
        <p:nvSpPr>
          <p:cNvPr id="24" name="Shape 22"/>
          <p:cNvSpPr/>
          <p:nvPr/>
        </p:nvSpPr>
        <p:spPr>
          <a:xfrm>
            <a:off x="7232904" y="3063240"/>
            <a:ext cx="1929384" cy="310896"/>
          </a:xfrm>
          <a:prstGeom prst="roundRect">
            <a:avLst>
              <a:gd name="adj" fmla="val 17647"/>
            </a:avLst>
          </a:prstGeom>
          <a:solidFill>
            <a:srgbClr val="1C7293"/>
          </a:solidFill>
          <a:ln/>
        </p:spPr>
      </p:sp>
      <p:sp>
        <p:nvSpPr>
          <p:cNvPr id="25" name="Text 23"/>
          <p:cNvSpPr/>
          <p:nvPr/>
        </p:nvSpPr>
        <p:spPr>
          <a:xfrm>
            <a:off x="7232904" y="3063240"/>
            <a:ext cx="1929384"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BIZ UDゴシック" pitchFamily="34" charset="0"/>
                <a:ea typeface="BIZ UDゴシック" pitchFamily="34" charset="-122"/>
                <a:cs typeface="BIZ UDゴシック" pitchFamily="34" charset="-120"/>
              </a:rPr>
              <a:t>Console API</a:t>
            </a:r>
            <a:endParaRPr lang="en-US" sz="1100" dirty="0"/>
          </a:p>
        </p:txBody>
      </p:sp>
      <p:sp>
        <p:nvSpPr>
          <p:cNvPr id="26" name="Shape 24"/>
          <p:cNvSpPr/>
          <p:nvPr/>
        </p:nvSpPr>
        <p:spPr>
          <a:xfrm>
            <a:off x="1280160" y="3566160"/>
            <a:ext cx="1783080" cy="310896"/>
          </a:xfrm>
          <a:prstGeom prst="roundRect">
            <a:avLst>
              <a:gd name="adj" fmla="val 17647"/>
            </a:avLst>
          </a:prstGeom>
          <a:solidFill>
            <a:srgbClr val="1C7293"/>
          </a:solidFill>
          <a:ln/>
        </p:spPr>
      </p:sp>
      <p:sp>
        <p:nvSpPr>
          <p:cNvPr id="27" name="Text 25"/>
          <p:cNvSpPr/>
          <p:nvPr/>
        </p:nvSpPr>
        <p:spPr>
          <a:xfrm>
            <a:off x="1280160" y="3566160"/>
            <a:ext cx="1783080"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BIZ UDゴシック" pitchFamily="34" charset="0"/>
                <a:ea typeface="BIZ UDゴシック" pitchFamily="34" charset="-122"/>
                <a:cs typeface="BIZ UDゴシック" pitchFamily="34" charset="-120"/>
              </a:rPr>
              <a:t>Console UI</a:t>
            </a:r>
            <a:endParaRPr lang="en-US" sz="1100" dirty="0"/>
          </a:p>
        </p:txBody>
      </p:sp>
      <p:sp>
        <p:nvSpPr>
          <p:cNvPr id="28" name="Shape 26"/>
          <p:cNvSpPr/>
          <p:nvPr/>
        </p:nvSpPr>
        <p:spPr>
          <a:xfrm>
            <a:off x="3264408" y="3566160"/>
            <a:ext cx="2221992" cy="310896"/>
          </a:xfrm>
          <a:prstGeom prst="roundRect">
            <a:avLst>
              <a:gd name="adj" fmla="val 17647"/>
            </a:avLst>
          </a:prstGeom>
          <a:solidFill>
            <a:srgbClr val="1C7293"/>
          </a:solidFill>
          <a:ln/>
        </p:spPr>
      </p:sp>
      <p:sp>
        <p:nvSpPr>
          <p:cNvPr id="29" name="Text 27"/>
          <p:cNvSpPr/>
          <p:nvPr/>
        </p:nvSpPr>
        <p:spPr>
          <a:xfrm>
            <a:off x="3264408" y="3566160"/>
            <a:ext cx="2221992"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BIZ UDゴシック" pitchFamily="34" charset="0"/>
                <a:ea typeface="BIZ UDゴシック" pitchFamily="34" charset="-122"/>
                <a:cs typeface="BIZ UDゴシック" pitchFamily="34" charset="-120"/>
              </a:rPr>
              <a:t>New Relic MCP</a:t>
            </a:r>
            <a:endParaRPr lang="en-US" sz="1100" dirty="0"/>
          </a:p>
        </p:txBody>
      </p:sp>
      <p:sp>
        <p:nvSpPr>
          <p:cNvPr id="30" name="Shape 28"/>
          <p:cNvSpPr/>
          <p:nvPr/>
        </p:nvSpPr>
        <p:spPr>
          <a:xfrm>
            <a:off x="5687568" y="3566160"/>
            <a:ext cx="3246120" cy="310896"/>
          </a:xfrm>
          <a:prstGeom prst="roundRect">
            <a:avLst>
              <a:gd name="adj" fmla="val 17647"/>
            </a:avLst>
          </a:prstGeom>
          <a:solidFill>
            <a:srgbClr val="1C7293"/>
          </a:solidFill>
          <a:ln/>
        </p:spPr>
      </p:sp>
      <p:sp>
        <p:nvSpPr>
          <p:cNvPr id="31" name="Text 29"/>
          <p:cNvSpPr/>
          <p:nvPr/>
        </p:nvSpPr>
        <p:spPr>
          <a:xfrm>
            <a:off x="5687568" y="3566160"/>
            <a:ext cx="3246120"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BIZ UDゴシック" pitchFamily="34" charset="0"/>
                <a:ea typeface="BIZ UDゴシック" pitchFamily="34" charset="-122"/>
                <a:cs typeface="BIZ UDゴシック" pitchFamily="34" charset="-120"/>
              </a:rPr>
              <a:t>host.docker.internal</a:t>
            </a:r>
            <a:endParaRPr lang="en-US" sz="1100" dirty="0"/>
          </a:p>
        </p:txBody>
      </p:sp>
      <p:sp>
        <p:nvSpPr>
          <p:cNvPr id="32" name="Shape 30"/>
          <p:cNvSpPr/>
          <p:nvPr/>
        </p:nvSpPr>
        <p:spPr>
          <a:xfrm>
            <a:off x="1280160" y="4617720"/>
            <a:ext cx="10362895" cy="1005840"/>
          </a:xfrm>
          <a:prstGeom prst="roundRect">
            <a:avLst>
              <a:gd name="adj" fmla="val 7273"/>
            </a:avLst>
          </a:prstGeom>
          <a:solidFill>
            <a:srgbClr val="EAF2F6"/>
          </a:solidFill>
          <a:ln/>
        </p:spPr>
      </p:sp>
      <p:sp>
        <p:nvSpPr>
          <p:cNvPr id="33" name="Text 31"/>
          <p:cNvSpPr/>
          <p:nvPr/>
        </p:nvSpPr>
        <p:spPr>
          <a:xfrm>
            <a:off x="1508760" y="4892040"/>
            <a:ext cx="9905695" cy="548640"/>
          </a:xfrm>
          <a:prstGeom prst="rect">
            <a:avLst/>
          </a:prstGeom>
          <a:noFill/>
          <a:ln/>
        </p:spPr>
        <p:txBody>
          <a:bodyPr wrap="square" lIns="0" tIns="0" rIns="0" bIns="0" rtlCol="0" anchor="t"/>
          <a:lstStyle/>
          <a:p>
            <a:pPr indent="0" marL="0">
              <a:lnSpc>
                <a:spcPct val="125000"/>
              </a:lnSpc>
              <a:buNone/>
            </a:pPr>
            <a:r>
              <a:rPr lang="en-US" sz="1400" dirty="0">
                <a:solidFill>
                  <a:srgbClr val="1A1A2E"/>
                </a:solidFill>
                <a:latin typeface="BIZ UDゴシック" pitchFamily="34" charset="0"/>
                <a:ea typeface="BIZ UDゴシック" pitchFamily="34" charset="-122"/>
                <a:cs typeface="BIZ UDゴシック" pitchFamily="34" charset="-120"/>
              </a:rPr>
              <a:t>特に重要：ローカルOllamaは http://host.docker.internal:11434 を使用する。</a:t>
            </a:r>
            <a:endParaRPr lang="en-US" sz="14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21295C"/>
        </a:solidFill>
      </p:bgPr>
    </p:bg>
    <p:spTree>
      <p:nvGrpSpPr>
        <p:cNvPr id="1" name=""/>
        <p:cNvGrpSpPr/>
        <p:nvPr/>
      </p:nvGrpSpPr>
      <p:grpSpPr>
        <a:xfrm>
          <a:off x="0" y="0"/>
          <a:ext cx="0" cy="0"/>
          <a:chOff x="0" y="0"/>
          <a:chExt cx="0" cy="0"/>
        </a:xfrm>
      </p:grpSpPr>
      <p:sp>
        <p:nvSpPr>
          <p:cNvPr id="2" name="Shape 0"/>
          <p:cNvSpPr/>
          <p:nvPr/>
        </p:nvSpPr>
        <p:spPr>
          <a:xfrm>
            <a:off x="-1645920" y="-1645920"/>
            <a:ext cx="4023360" cy="4023360"/>
          </a:xfrm>
          <a:prstGeom prst="ellipse">
            <a:avLst/>
          </a:prstGeom>
          <a:solidFill>
            <a:srgbClr val="065A82"/>
          </a:solidFill>
          <a:ln/>
        </p:spPr>
      </p:sp>
      <p:sp>
        <p:nvSpPr>
          <p:cNvPr id="3" name="Text 1"/>
          <p:cNvSpPr/>
          <p:nvPr/>
        </p:nvSpPr>
        <p:spPr>
          <a:xfrm>
            <a:off x="548640" y="2468880"/>
            <a:ext cx="5486400" cy="365760"/>
          </a:xfrm>
          <a:prstGeom prst="rect">
            <a:avLst/>
          </a:prstGeom>
          <a:noFill/>
          <a:ln/>
        </p:spPr>
        <p:txBody>
          <a:bodyPr wrap="square" lIns="0" tIns="0" rIns="0" bIns="0" rtlCol="0" anchor="ctr"/>
          <a:lstStyle/>
          <a:p>
            <a:pPr indent="0" marL="0">
              <a:buNone/>
            </a:pPr>
            <a:r>
              <a:rPr lang="en-US" sz="1400" b="1" spc="300" kern="0" dirty="0">
                <a:solidFill>
                  <a:srgbClr val="1C7293"/>
                </a:solidFill>
                <a:latin typeface="BIZ UDゴシック" pitchFamily="34" charset="0"/>
                <a:ea typeface="BIZ UDゴシック" pitchFamily="34" charset="-122"/>
                <a:cs typeface="BIZ UDゴシック" pitchFamily="34" charset="-120"/>
              </a:rPr>
              <a:t>CHAPTER 3</a:t>
            </a:r>
            <a:endParaRPr lang="en-US" sz="1400" dirty="0"/>
          </a:p>
        </p:txBody>
      </p:sp>
      <p:sp>
        <p:nvSpPr>
          <p:cNvPr id="4" name="Text 2"/>
          <p:cNvSpPr/>
          <p:nvPr/>
        </p:nvSpPr>
        <p:spPr>
          <a:xfrm>
            <a:off x="548640" y="2834640"/>
            <a:ext cx="10515600" cy="914400"/>
          </a:xfrm>
          <a:prstGeom prst="rect">
            <a:avLst/>
          </a:prstGeom>
          <a:noFill/>
          <a:ln/>
        </p:spPr>
        <p:txBody>
          <a:bodyPr wrap="square" lIns="0" tIns="0" rIns="0" bIns="0" rtlCol="0" anchor="ctr"/>
          <a:lstStyle/>
          <a:p>
            <a:pPr indent="0" marL="0">
              <a:buNone/>
            </a:pPr>
            <a:r>
              <a:rPr lang="en-US" sz="3800" b="1" dirty="0">
                <a:solidFill>
                  <a:srgbClr val="FFFFFF"/>
                </a:solidFill>
                <a:latin typeface="BIZ UDゴシック" pitchFamily="34" charset="0"/>
                <a:ea typeface="BIZ UDゴシック" pitchFamily="34" charset="-122"/>
                <a:cs typeface="BIZ UDゴシック" pitchFamily="34" charset="-120"/>
              </a:rPr>
              <a:t>A2UI / AG-UI と 動的UI</a:t>
            </a:r>
            <a:endParaRPr lang="en-US" sz="3800" dirty="0"/>
          </a:p>
        </p:txBody>
      </p:sp>
      <p:sp>
        <p:nvSpPr>
          <p:cNvPr id="5" name="Text 3"/>
          <p:cNvSpPr/>
          <p:nvPr/>
        </p:nvSpPr>
        <p:spPr>
          <a:xfrm>
            <a:off x="548640" y="3657600"/>
            <a:ext cx="10058400" cy="457200"/>
          </a:xfrm>
          <a:prstGeom prst="rect">
            <a:avLst/>
          </a:prstGeom>
          <a:noFill/>
          <a:ln/>
        </p:spPr>
        <p:txBody>
          <a:bodyPr wrap="square" lIns="0" tIns="0" rIns="0" bIns="0" rtlCol="0" anchor="ctr"/>
          <a:lstStyle/>
          <a:p>
            <a:pPr indent="0" marL="0">
              <a:buNone/>
            </a:pPr>
            <a:r>
              <a:rPr lang="en-US" sz="1500" dirty="0">
                <a:solidFill>
                  <a:srgbClr val="EAF2F6"/>
                </a:solidFill>
                <a:latin typeface="BIZ UDゴシック" pitchFamily="34" charset="0"/>
                <a:ea typeface="BIZ UDゴシック" pitchFamily="34" charset="-122"/>
                <a:cs typeface="BIZ UDゴシック" pitchFamily="34" charset="-120"/>
              </a:rPr>
              <a:t>Dynamic UI — 見せ方の設計</a:t>
            </a:r>
            <a:endParaRPr lang="en-US" sz="1500" dirty="0"/>
          </a:p>
        </p:txBody>
      </p:sp>
      <p:sp>
        <p:nvSpPr>
          <p:cNvPr id="6" name="Text 4"/>
          <p:cNvSpPr/>
          <p:nvPr/>
        </p:nvSpPr>
        <p:spPr>
          <a:xfrm>
            <a:off x="548640" y="4297680"/>
            <a:ext cx="8686800" cy="1828800"/>
          </a:xfrm>
          <a:prstGeom prst="rect">
            <a:avLst/>
          </a:prstGeom>
          <a:noFill/>
          <a:ln/>
        </p:spPr>
        <p:txBody>
          <a:bodyPr wrap="square" lIns="0" tIns="0" rIns="0" bIns="0" rtlCol="0" anchor="ctr"/>
          <a:lstStyle/>
          <a:p>
            <a:pPr marL="342900" indent="-342900">
              <a:spcAft>
                <a:spcPts val="600"/>
              </a:spcAft>
              <a:buSzPct val="100000"/>
              <a:buChar char="•"/>
            </a:pPr>
            <a:r>
              <a:rPr lang="en-US" sz="1350" dirty="0">
                <a:solidFill>
                  <a:srgbClr val="EAF2F6"/>
                </a:solidFill>
                <a:latin typeface="BIZ UDゴシック" pitchFamily="34" charset="0"/>
                <a:ea typeface="BIZ UDゴシック" pitchFamily="34" charset="-122"/>
                <a:cs typeface="BIZ UDゴシック" pitchFamily="34" charset="-120"/>
              </a:rPr>
              <a:t>なぜA2UI・AG-UIを使うのか、UI表示の考慮点と安全設計</a:t>
            </a:r>
            <a:endParaRPr lang="en-US" sz="1350" dirty="0"/>
          </a:p>
        </p:txBody>
      </p:sp>
      <p:sp>
        <p:nvSpPr>
          <p:cNvPr id="7" name="Text 5"/>
          <p:cNvSpPr/>
          <p:nvPr/>
        </p:nvSpPr>
        <p:spPr>
          <a:xfrm>
            <a:off x="548640" y="6446520"/>
            <a:ext cx="4572000" cy="274320"/>
          </a:xfrm>
          <a:prstGeom prst="rect">
            <a:avLst/>
          </a:prstGeom>
          <a:noFill/>
          <a:ln/>
        </p:spPr>
        <p:txBody>
          <a:bodyPr wrap="square" lIns="0" tIns="0" rIns="0" bIns="0" rtlCol="0" anchor="ctr"/>
          <a:lstStyle/>
          <a:p>
            <a:pPr indent="0" marL="0">
              <a:buNone/>
            </a:pPr>
            <a:r>
              <a:rPr lang="en-US" sz="900" dirty="0">
                <a:solidFill>
                  <a:srgbClr val="5C6B73"/>
                </a:solidFill>
                <a:latin typeface="BIZ UDゴシック" pitchFamily="34" charset="0"/>
                <a:ea typeface="BIZ UDゴシック" pitchFamily="34" charset="-122"/>
                <a:cs typeface="BIZ UDゴシック" pitchFamily="34" charset="-120"/>
              </a:rPr>
              <a:t>Observability AI PoC</a:t>
            </a:r>
            <a:endParaRPr lang="en-US" sz="900" dirty="0"/>
          </a:p>
        </p:txBody>
      </p:sp>
      <p:sp>
        <p:nvSpPr>
          <p:cNvPr id="8" name="Text 6"/>
          <p:cNvSpPr/>
          <p:nvPr/>
        </p:nvSpPr>
        <p:spPr>
          <a:xfrm>
            <a:off x="9814255" y="6446520"/>
            <a:ext cx="1828800" cy="274320"/>
          </a:xfrm>
          <a:prstGeom prst="rect">
            <a:avLst/>
          </a:prstGeom>
          <a:noFill/>
          <a:ln/>
        </p:spPr>
        <p:txBody>
          <a:bodyPr wrap="square" lIns="0" tIns="0" rIns="0" bIns="0" rtlCol="0" anchor="ctr"/>
          <a:lstStyle/>
          <a:p>
            <a:pPr algn="r" indent="0" marL="0">
              <a:buNone/>
            </a:pP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502920"/>
            <a:ext cx="566928" cy="566928"/>
          </a:xfrm>
          <a:prstGeom prst="ellipse">
            <a:avLst/>
          </a:prstGeom>
          <a:solidFill>
            <a:srgbClr val="21295C"/>
          </a:solidFill>
          <a:ln/>
        </p:spPr>
      </p:sp>
      <p:sp>
        <p:nvSpPr>
          <p:cNvPr id="3" name="Text 1"/>
          <p:cNvSpPr/>
          <p:nvPr/>
        </p:nvSpPr>
        <p:spPr>
          <a:xfrm>
            <a:off x="548640" y="502920"/>
            <a:ext cx="566928" cy="566928"/>
          </a:xfrm>
          <a:prstGeom prst="rect">
            <a:avLst/>
          </a:prstGeom>
          <a:noFill/>
          <a:ln/>
        </p:spPr>
        <p:txBody>
          <a:bodyPr wrap="square" lIns="0" tIns="0" rIns="0" bIns="0" rtlCol="0" anchor="ctr"/>
          <a:lstStyle/>
          <a:p>
            <a:pPr algn="ctr" indent="0" marL="0">
              <a:buNone/>
            </a:pPr>
            <a:r>
              <a:rPr lang="en-US" sz="1500" b="1" dirty="0">
                <a:solidFill>
                  <a:srgbClr val="FFFFFF"/>
                </a:solidFill>
                <a:latin typeface="BIZ UDゴシック" pitchFamily="34" charset="0"/>
                <a:ea typeface="BIZ UDゴシック" pitchFamily="34" charset="-122"/>
                <a:cs typeface="BIZ UDゴシック" pitchFamily="34" charset="-120"/>
              </a:rPr>
              <a:t>15</a:t>
            </a:r>
            <a:endParaRPr lang="en-US" sz="1500" dirty="0"/>
          </a:p>
        </p:txBody>
      </p:sp>
      <p:sp>
        <p:nvSpPr>
          <p:cNvPr id="4" name="Text 2"/>
          <p:cNvSpPr/>
          <p:nvPr/>
        </p:nvSpPr>
        <p:spPr>
          <a:xfrm>
            <a:off x="1280160" y="438912"/>
            <a:ext cx="10362895" cy="274320"/>
          </a:xfrm>
          <a:prstGeom prst="rect">
            <a:avLst/>
          </a:prstGeom>
          <a:noFill/>
          <a:ln/>
        </p:spPr>
        <p:txBody>
          <a:bodyPr wrap="square" lIns="0" tIns="0" rIns="0" bIns="0" rtlCol="0" anchor="ctr"/>
          <a:lstStyle/>
          <a:p>
            <a:pPr indent="0" marL="0">
              <a:buNone/>
            </a:pPr>
            <a:r>
              <a:rPr lang="en-US" sz="1100" b="1" spc="100" kern="0" dirty="0">
                <a:solidFill>
                  <a:srgbClr val="1C7293"/>
                </a:solidFill>
                <a:latin typeface="BIZ UDゴシック" pitchFamily="34" charset="0"/>
                <a:ea typeface="BIZ UDゴシック" pitchFamily="34" charset="-122"/>
                <a:cs typeface="BIZ UDゴシック" pitchFamily="34" charset="-120"/>
              </a:rPr>
              <a:t>SECTION 15</a:t>
            </a:r>
            <a:endParaRPr lang="en-US" sz="1100" dirty="0"/>
          </a:p>
        </p:txBody>
      </p:sp>
      <p:sp>
        <p:nvSpPr>
          <p:cNvPr id="5" name="Text 3"/>
          <p:cNvSpPr/>
          <p:nvPr/>
        </p:nvSpPr>
        <p:spPr>
          <a:xfrm>
            <a:off x="1280160" y="713232"/>
            <a:ext cx="10362895" cy="566928"/>
          </a:xfrm>
          <a:prstGeom prst="rect">
            <a:avLst/>
          </a:prstGeom>
          <a:noFill/>
          <a:ln/>
        </p:spPr>
        <p:txBody>
          <a:bodyPr wrap="square" lIns="0" tIns="0" rIns="0" bIns="0" rtlCol="0" anchor="t"/>
          <a:lstStyle/>
          <a:p>
            <a:pPr indent="0" marL="0">
              <a:buNone/>
            </a:pPr>
            <a:r>
              <a:rPr lang="en-US" sz="2500" b="1" dirty="0">
                <a:solidFill>
                  <a:srgbClr val="1A1A2E"/>
                </a:solidFill>
                <a:latin typeface="BIZ UDゴシック" pitchFamily="34" charset="0"/>
                <a:ea typeface="BIZ UDゴシック" pitchFamily="34" charset="-122"/>
                <a:cs typeface="BIZ UDゴシック" pitchFamily="34" charset="-120"/>
              </a:rPr>
              <a:t>A2UI を使う理由</a:t>
            </a:r>
            <a:endParaRPr lang="en-US" sz="2500" dirty="0"/>
          </a:p>
        </p:txBody>
      </p:sp>
      <p:sp>
        <p:nvSpPr>
          <p:cNvPr id="6" name="Text 4"/>
          <p:cNvSpPr/>
          <p:nvPr/>
        </p:nvSpPr>
        <p:spPr>
          <a:xfrm>
            <a:off x="548640" y="6446520"/>
            <a:ext cx="4572000" cy="274320"/>
          </a:xfrm>
          <a:prstGeom prst="rect">
            <a:avLst/>
          </a:prstGeom>
          <a:noFill/>
          <a:ln/>
        </p:spPr>
        <p:txBody>
          <a:bodyPr wrap="square" lIns="0" tIns="0" rIns="0" bIns="0" rtlCol="0" anchor="ctr"/>
          <a:lstStyle/>
          <a:p>
            <a:pPr indent="0" marL="0">
              <a:buNone/>
            </a:pPr>
            <a:r>
              <a:rPr lang="en-US" sz="900" dirty="0">
                <a:solidFill>
                  <a:srgbClr val="5C6B73"/>
                </a:solidFill>
                <a:latin typeface="BIZ UDゴシック" pitchFamily="34" charset="0"/>
                <a:ea typeface="BIZ UDゴシック" pitchFamily="34" charset="-122"/>
                <a:cs typeface="BIZ UDゴシック" pitchFamily="34" charset="-120"/>
              </a:rPr>
              <a:t>Observability AI PoC</a:t>
            </a:r>
            <a:endParaRPr lang="en-US" sz="900" dirty="0"/>
          </a:p>
        </p:txBody>
      </p:sp>
      <p:sp>
        <p:nvSpPr>
          <p:cNvPr id="7" name="Text 5"/>
          <p:cNvSpPr/>
          <p:nvPr/>
        </p:nvSpPr>
        <p:spPr>
          <a:xfrm>
            <a:off x="9814255" y="6446520"/>
            <a:ext cx="1828800" cy="274320"/>
          </a:xfrm>
          <a:prstGeom prst="rect">
            <a:avLst/>
          </a:prstGeom>
          <a:noFill/>
          <a:ln/>
        </p:spPr>
        <p:txBody>
          <a:bodyPr wrap="square" lIns="0" tIns="0" rIns="0" bIns="0" rtlCol="0" anchor="ctr"/>
          <a:lstStyle/>
          <a:p>
            <a:pPr algn="r" indent="0" marL="0">
              <a:buNone/>
            </a:pPr>
            <a:r>
              <a:rPr lang="en-US" sz="900" dirty="0">
                <a:solidFill>
                  <a:srgbClr val="5C6B73"/>
                </a:solidFill>
                <a:latin typeface="BIZ UDゴシック" pitchFamily="34" charset="0"/>
                <a:ea typeface="BIZ UDゴシック" pitchFamily="34" charset="-122"/>
                <a:cs typeface="BIZ UDゴシック" pitchFamily="34" charset="-120"/>
              </a:rPr>
              <a:t>15</a:t>
            </a:r>
            <a:endParaRPr lang="en-US" sz="900" dirty="0"/>
          </a:p>
        </p:txBody>
      </p:sp>
      <p:sp>
        <p:nvSpPr>
          <p:cNvPr id="8" name="Shape 6"/>
          <p:cNvSpPr/>
          <p:nvPr/>
        </p:nvSpPr>
        <p:spPr>
          <a:xfrm>
            <a:off x="1280160" y="1508760"/>
            <a:ext cx="4998568" cy="1371600"/>
          </a:xfrm>
          <a:prstGeom prst="roundRect">
            <a:avLst>
              <a:gd name="adj" fmla="val 5333"/>
            </a:avLst>
          </a:prstGeom>
          <a:solidFill>
            <a:srgbClr val="EAF2F6"/>
          </a:solidFill>
          <a:ln/>
        </p:spPr>
      </p:sp>
      <p:sp>
        <p:nvSpPr>
          <p:cNvPr id="9" name="Text 7"/>
          <p:cNvSpPr/>
          <p:nvPr/>
        </p:nvSpPr>
        <p:spPr>
          <a:xfrm>
            <a:off x="1463040" y="1664208"/>
            <a:ext cx="4632808" cy="548640"/>
          </a:xfrm>
          <a:prstGeom prst="rect">
            <a:avLst/>
          </a:prstGeom>
          <a:noFill/>
          <a:ln/>
        </p:spPr>
        <p:txBody>
          <a:bodyPr wrap="square" lIns="0" tIns="0" rIns="0" bIns="0" rtlCol="0" anchor="t"/>
          <a:lstStyle/>
          <a:p>
            <a:pPr indent="0" marL="0">
              <a:lnSpc>
                <a:spcPct val="125000"/>
              </a:lnSpc>
              <a:buNone/>
            </a:pPr>
            <a:r>
              <a:rPr lang="en-US" sz="1400" b="1" dirty="0">
                <a:solidFill>
                  <a:srgbClr val="21295C"/>
                </a:solidFill>
                <a:latin typeface="BIZ UDゴシック" pitchFamily="34" charset="0"/>
                <a:ea typeface="BIZ UDゴシック" pitchFamily="34" charset="-122"/>
                <a:cs typeface="BIZ UDゴシック" pitchFamily="34" charset="-120"/>
              </a:rPr>
              <a:t>従来型UI</a:t>
            </a:r>
            <a:endParaRPr lang="en-US" sz="1400" dirty="0"/>
          </a:p>
        </p:txBody>
      </p:sp>
      <p:sp>
        <p:nvSpPr>
          <p:cNvPr id="10" name="Text 8"/>
          <p:cNvSpPr/>
          <p:nvPr/>
        </p:nvSpPr>
        <p:spPr>
          <a:xfrm>
            <a:off x="1463040" y="2029968"/>
            <a:ext cx="4632808" cy="822960"/>
          </a:xfrm>
          <a:prstGeom prst="rect">
            <a:avLst/>
          </a:prstGeom>
          <a:noFill/>
          <a:ln/>
        </p:spPr>
        <p:txBody>
          <a:bodyPr wrap="square" lIns="0" tIns="0" rIns="0" bIns="0" rtlCol="0" anchor="t"/>
          <a:lstStyle/>
          <a:p>
            <a:pPr indent="0" marL="0">
              <a:lnSpc>
                <a:spcPct val="125000"/>
              </a:lnSpc>
              <a:buNone/>
            </a:pPr>
            <a:r>
              <a:rPr lang="en-US" sz="1250" dirty="0">
                <a:solidFill>
                  <a:srgbClr val="1A1A2E"/>
                </a:solidFill>
                <a:latin typeface="BIZ UDゴシック" pitchFamily="34" charset="0"/>
                <a:ea typeface="BIZ UDゴシック" pitchFamily="34" charset="-122"/>
                <a:cs typeface="BIZ UDゴシック" pitchFamily="34" charset="-120"/>
              </a:rPr>
              <a:t>一般的な監視ダッシュボードでは、KPIカード、ログテーブル、グラフ、アラート一覧を事前に固定配置する。</a:t>
            </a:r>
            <a:endParaRPr lang="en-US" sz="1250" dirty="0"/>
          </a:p>
        </p:txBody>
      </p:sp>
      <p:sp>
        <p:nvSpPr>
          <p:cNvPr id="11" name="Shape 9"/>
          <p:cNvSpPr/>
          <p:nvPr/>
        </p:nvSpPr>
        <p:spPr>
          <a:xfrm>
            <a:off x="6644488" y="1508760"/>
            <a:ext cx="4998568" cy="1371600"/>
          </a:xfrm>
          <a:prstGeom prst="roundRect">
            <a:avLst>
              <a:gd name="adj" fmla="val 5333"/>
            </a:avLst>
          </a:prstGeom>
          <a:solidFill>
            <a:srgbClr val="21295C"/>
          </a:solidFill>
          <a:ln/>
        </p:spPr>
      </p:sp>
      <p:sp>
        <p:nvSpPr>
          <p:cNvPr id="12" name="Text 10"/>
          <p:cNvSpPr/>
          <p:nvPr/>
        </p:nvSpPr>
        <p:spPr>
          <a:xfrm>
            <a:off x="6827368" y="1664208"/>
            <a:ext cx="4632808" cy="320040"/>
          </a:xfrm>
          <a:prstGeom prst="rect">
            <a:avLst/>
          </a:prstGeom>
          <a:noFill/>
          <a:ln/>
        </p:spPr>
        <p:txBody>
          <a:bodyPr wrap="square" lIns="0" tIns="0" rIns="0" bIns="0" rtlCol="0" anchor="ctr"/>
          <a:lstStyle/>
          <a:p>
            <a:pPr indent="0" marL="0">
              <a:buNone/>
            </a:pPr>
            <a:r>
              <a:rPr lang="en-US" sz="1400" b="1" dirty="0">
                <a:solidFill>
                  <a:srgbClr val="FFFFFF"/>
                </a:solidFill>
                <a:latin typeface="BIZ UDゴシック" pitchFamily="34" charset="0"/>
                <a:ea typeface="BIZ UDゴシック" pitchFamily="34" charset="-122"/>
                <a:cs typeface="BIZ UDゴシック" pitchFamily="34" charset="-120"/>
              </a:rPr>
              <a:t>A2UI型</a:t>
            </a:r>
            <a:endParaRPr lang="en-US" sz="1400" dirty="0"/>
          </a:p>
        </p:txBody>
      </p:sp>
      <p:sp>
        <p:nvSpPr>
          <p:cNvPr id="13" name="Text 11"/>
          <p:cNvSpPr/>
          <p:nvPr/>
        </p:nvSpPr>
        <p:spPr>
          <a:xfrm>
            <a:off x="6827368" y="2029968"/>
            <a:ext cx="4632808" cy="822960"/>
          </a:xfrm>
          <a:prstGeom prst="rect">
            <a:avLst/>
          </a:prstGeom>
          <a:noFill/>
          <a:ln/>
        </p:spPr>
        <p:txBody>
          <a:bodyPr wrap="square" lIns="0" tIns="0" rIns="0" bIns="0" rtlCol="0" anchor="ctr"/>
          <a:lstStyle/>
          <a:p>
            <a:pPr indent="0" marL="0">
              <a:lnSpc>
                <a:spcPct val="130000"/>
              </a:lnSpc>
              <a:buNone/>
            </a:pPr>
            <a:r>
              <a:rPr lang="en-US" sz="1250" dirty="0">
                <a:solidFill>
                  <a:srgbClr val="EAF2F6"/>
                </a:solidFill>
                <a:latin typeface="BIZ UDゴシック" pitchFamily="34" charset="0"/>
                <a:ea typeface="BIZ UDゴシック" pitchFamily="34" charset="-122"/>
                <a:cs typeface="BIZ UDゴシック" pitchFamily="34" charset="-120"/>
              </a:rPr>
              <a:t>「今回のインシデントに必要なUI」をAI側の判断結果に応じて組み立てる。</a:t>
            </a:r>
            <a:endParaRPr lang="en-US" sz="1250" dirty="0"/>
          </a:p>
        </p:txBody>
      </p:sp>
      <p:sp>
        <p:nvSpPr>
          <p:cNvPr id="14" name="Shape 12"/>
          <p:cNvSpPr/>
          <p:nvPr/>
        </p:nvSpPr>
        <p:spPr>
          <a:xfrm>
            <a:off x="1280160" y="3063240"/>
            <a:ext cx="4998568" cy="1828800"/>
          </a:xfrm>
          <a:prstGeom prst="roundRect">
            <a:avLst>
              <a:gd name="adj" fmla="val 4000"/>
            </a:avLst>
          </a:prstGeom>
          <a:solidFill>
            <a:srgbClr val="DCEAF0"/>
          </a:solidFill>
          <a:ln/>
        </p:spPr>
      </p:sp>
      <p:sp>
        <p:nvSpPr>
          <p:cNvPr id="15" name="Text 13"/>
          <p:cNvSpPr/>
          <p:nvPr/>
        </p:nvSpPr>
        <p:spPr>
          <a:xfrm>
            <a:off x="1463040" y="3218688"/>
            <a:ext cx="4632808" cy="548640"/>
          </a:xfrm>
          <a:prstGeom prst="rect">
            <a:avLst/>
          </a:prstGeom>
          <a:noFill/>
          <a:ln/>
        </p:spPr>
        <p:txBody>
          <a:bodyPr wrap="square" lIns="0" tIns="0" rIns="0" bIns="0" rtlCol="0" anchor="t"/>
          <a:lstStyle/>
          <a:p>
            <a:pPr indent="0" marL="0">
              <a:lnSpc>
                <a:spcPct val="125000"/>
              </a:lnSpc>
              <a:buNone/>
            </a:pPr>
            <a:r>
              <a:rPr lang="en-US" sz="1300" b="1" dirty="0">
                <a:solidFill>
                  <a:srgbClr val="065A82"/>
                </a:solidFill>
                <a:latin typeface="BIZ UDゴシック" pitchFamily="34" charset="0"/>
                <a:ea typeface="BIZ UDゴシック" pitchFamily="34" charset="-122"/>
                <a:cs typeface="BIZ UDゴシック" pitchFamily="34" charset="-120"/>
              </a:rPr>
              <a:t>レイテンシ障害の例</a:t>
            </a:r>
            <a:endParaRPr lang="en-US" sz="1300" dirty="0"/>
          </a:p>
        </p:txBody>
      </p:sp>
      <p:sp>
        <p:nvSpPr>
          <p:cNvPr id="16" name="Text 14"/>
          <p:cNvSpPr/>
          <p:nvPr/>
        </p:nvSpPr>
        <p:spPr>
          <a:xfrm>
            <a:off x="1463040" y="3566160"/>
            <a:ext cx="4632808" cy="1280160"/>
          </a:xfrm>
          <a:prstGeom prst="rect">
            <a:avLst/>
          </a:prstGeom>
          <a:noFill/>
          <a:ln/>
        </p:spPr>
        <p:txBody>
          <a:bodyPr wrap="square" lIns="0" tIns="0" rIns="0" bIns="0" rtlCol="0" anchor="t"/>
          <a:lstStyle/>
          <a:p>
            <a:pPr marL="177800" indent="-177800">
              <a:lnSpc>
                <a:spcPct val="120000"/>
              </a:lnSpc>
              <a:spcAft>
                <a:spcPts val="500"/>
              </a:spcAft>
              <a:buSzPct val="100000"/>
              <a:buChar char="●"/>
            </a:pPr>
            <a:r>
              <a:rPr lang="en-US" sz="1200" dirty="0">
                <a:solidFill>
                  <a:srgbClr val="1A1A2E"/>
                </a:solidFill>
                <a:latin typeface="BIZ UDゴシック" pitchFamily="34" charset="0"/>
                <a:ea typeface="BIZ UDゴシック" pitchFamily="34" charset="-122"/>
                <a:cs typeface="BIZ UDゴシック" pitchFamily="34" charset="-120"/>
              </a:rPr>
              <a:t>latency chart</a:t>
            </a:r>
            <a:endParaRPr lang="en-US" sz="1200" dirty="0"/>
          </a:p>
          <a:p>
            <a:pPr marL="177800" indent="-177800">
              <a:lnSpc>
                <a:spcPct val="120000"/>
              </a:lnSpc>
              <a:spcAft>
                <a:spcPts val="500"/>
              </a:spcAft>
              <a:buSzPct val="100000"/>
              <a:buChar char="●"/>
            </a:pPr>
            <a:r>
              <a:rPr lang="en-US" sz="1200" dirty="0">
                <a:solidFill>
                  <a:srgbClr val="1A1A2E"/>
                </a:solidFill>
                <a:latin typeface="BIZ UDゴシック" pitchFamily="34" charset="0"/>
                <a:ea typeface="BIZ UDゴシック" pitchFamily="34" charset="-122"/>
                <a:cs typeface="BIZ UDゴシック" pitchFamily="34" charset="-120"/>
              </a:rPr>
              <a:t>slow transaction table</a:t>
            </a:r>
            <a:endParaRPr lang="en-US" sz="1200" dirty="0"/>
          </a:p>
          <a:p>
            <a:pPr marL="177800" indent="-177800">
              <a:lnSpc>
                <a:spcPct val="120000"/>
              </a:lnSpc>
              <a:spcAft>
                <a:spcPts val="500"/>
              </a:spcAft>
              <a:buSzPct val="100000"/>
              <a:buChar char="●"/>
            </a:pPr>
            <a:r>
              <a:rPr lang="en-US" sz="1200" dirty="0">
                <a:solidFill>
                  <a:srgbClr val="1A1A2E"/>
                </a:solidFill>
                <a:latin typeface="BIZ UDゴシック" pitchFamily="34" charset="0"/>
                <a:ea typeface="BIZ UDゴシック" pitchFamily="34" charset="-122"/>
                <a:cs typeface="BIZ UDゴシック" pitchFamily="34" charset="-120"/>
              </a:rPr>
              <a:t>affected services</a:t>
            </a:r>
            <a:endParaRPr lang="en-US" sz="1200" dirty="0"/>
          </a:p>
          <a:p>
            <a:pPr marL="177800" indent="-177800">
              <a:lnSpc>
                <a:spcPct val="120000"/>
              </a:lnSpc>
              <a:spcAft>
                <a:spcPts val="500"/>
              </a:spcAft>
              <a:buSzPct val="100000"/>
              <a:buChar char="●"/>
            </a:pPr>
            <a:r>
              <a:rPr lang="en-US" sz="1200" dirty="0">
                <a:solidFill>
                  <a:srgbClr val="1A1A2E"/>
                </a:solidFill>
                <a:latin typeface="BIZ UDゴシック" pitchFamily="34" charset="0"/>
                <a:ea typeface="BIZ UDゴシック" pitchFamily="34" charset="-122"/>
                <a:cs typeface="BIZ UDゴシック" pitchFamily="34" charset="-120"/>
              </a:rPr>
              <a:t>trace details</a:t>
            </a:r>
            <a:endParaRPr lang="en-US" sz="1200" dirty="0"/>
          </a:p>
        </p:txBody>
      </p:sp>
      <p:sp>
        <p:nvSpPr>
          <p:cNvPr id="17" name="Shape 15"/>
          <p:cNvSpPr/>
          <p:nvPr/>
        </p:nvSpPr>
        <p:spPr>
          <a:xfrm>
            <a:off x="6644488" y="3063240"/>
            <a:ext cx="4998568" cy="1828800"/>
          </a:xfrm>
          <a:prstGeom prst="roundRect">
            <a:avLst>
              <a:gd name="adj" fmla="val 4000"/>
            </a:avLst>
          </a:prstGeom>
          <a:solidFill>
            <a:srgbClr val="DCEAF0"/>
          </a:solidFill>
          <a:ln/>
        </p:spPr>
      </p:sp>
      <p:sp>
        <p:nvSpPr>
          <p:cNvPr id="18" name="Text 16"/>
          <p:cNvSpPr/>
          <p:nvPr/>
        </p:nvSpPr>
        <p:spPr>
          <a:xfrm>
            <a:off x="6827368" y="3218688"/>
            <a:ext cx="4632808" cy="548640"/>
          </a:xfrm>
          <a:prstGeom prst="rect">
            <a:avLst/>
          </a:prstGeom>
          <a:noFill/>
          <a:ln/>
        </p:spPr>
        <p:txBody>
          <a:bodyPr wrap="square" lIns="0" tIns="0" rIns="0" bIns="0" rtlCol="0" anchor="t"/>
          <a:lstStyle/>
          <a:p>
            <a:pPr indent="0" marL="0">
              <a:lnSpc>
                <a:spcPct val="125000"/>
              </a:lnSpc>
              <a:buNone/>
            </a:pPr>
            <a:r>
              <a:rPr lang="en-US" sz="1300" b="1" dirty="0">
                <a:solidFill>
                  <a:srgbClr val="065A82"/>
                </a:solidFill>
                <a:latin typeface="BIZ UDゴシック" pitchFamily="34" charset="0"/>
                <a:ea typeface="BIZ UDゴシック" pitchFamily="34" charset="-122"/>
                <a:cs typeface="BIZ UDゴシック" pitchFamily="34" charset="-120"/>
              </a:rPr>
              <a:t>エラー率上昇の例</a:t>
            </a:r>
            <a:endParaRPr lang="en-US" sz="1300" dirty="0"/>
          </a:p>
        </p:txBody>
      </p:sp>
      <p:sp>
        <p:nvSpPr>
          <p:cNvPr id="19" name="Text 17"/>
          <p:cNvSpPr/>
          <p:nvPr/>
        </p:nvSpPr>
        <p:spPr>
          <a:xfrm>
            <a:off x="6827368" y="3566160"/>
            <a:ext cx="4632808" cy="1280160"/>
          </a:xfrm>
          <a:prstGeom prst="rect">
            <a:avLst/>
          </a:prstGeom>
          <a:noFill/>
          <a:ln/>
        </p:spPr>
        <p:txBody>
          <a:bodyPr wrap="square" lIns="0" tIns="0" rIns="0" bIns="0" rtlCol="0" anchor="t"/>
          <a:lstStyle/>
          <a:p>
            <a:pPr marL="177800" indent="-177800">
              <a:lnSpc>
                <a:spcPct val="120000"/>
              </a:lnSpc>
              <a:spcAft>
                <a:spcPts val="500"/>
              </a:spcAft>
              <a:buSzPct val="100000"/>
              <a:buChar char="●"/>
            </a:pPr>
            <a:r>
              <a:rPr lang="en-US" sz="1200" dirty="0">
                <a:solidFill>
                  <a:srgbClr val="1A1A2E"/>
                </a:solidFill>
                <a:latin typeface="BIZ UDゴシック" pitchFamily="34" charset="0"/>
                <a:ea typeface="BIZ UDゴシック" pitchFamily="34" charset="-122"/>
                <a:cs typeface="BIZ UDゴシック" pitchFamily="34" charset="-120"/>
              </a:rPr>
              <a:t>error-rate chart</a:t>
            </a:r>
            <a:endParaRPr lang="en-US" sz="1200" dirty="0"/>
          </a:p>
          <a:p>
            <a:pPr marL="177800" indent="-177800">
              <a:lnSpc>
                <a:spcPct val="120000"/>
              </a:lnSpc>
              <a:spcAft>
                <a:spcPts val="500"/>
              </a:spcAft>
              <a:buSzPct val="100000"/>
              <a:buChar char="●"/>
            </a:pPr>
            <a:r>
              <a:rPr lang="en-US" sz="1200" dirty="0">
                <a:solidFill>
                  <a:srgbClr val="1A1A2E"/>
                </a:solidFill>
                <a:latin typeface="BIZ UDゴシック" pitchFamily="34" charset="0"/>
                <a:ea typeface="BIZ UDゴシック" pitchFamily="34" charset="-122"/>
                <a:cs typeface="BIZ UDゴシック" pitchFamily="34" charset="-120"/>
              </a:rPr>
              <a:t>error logs</a:t>
            </a:r>
            <a:endParaRPr lang="en-US" sz="1200" dirty="0"/>
          </a:p>
          <a:p>
            <a:pPr marL="177800" indent="-177800">
              <a:lnSpc>
                <a:spcPct val="120000"/>
              </a:lnSpc>
              <a:spcAft>
                <a:spcPts val="500"/>
              </a:spcAft>
              <a:buSzPct val="100000"/>
              <a:buChar char="●"/>
            </a:pPr>
            <a:r>
              <a:rPr lang="en-US" sz="1200" dirty="0">
                <a:solidFill>
                  <a:srgbClr val="1A1A2E"/>
                </a:solidFill>
                <a:latin typeface="BIZ UDゴシック" pitchFamily="34" charset="0"/>
                <a:ea typeface="BIZ UDゴシック" pitchFamily="34" charset="-122"/>
                <a:cs typeface="BIZ UDゴシック" pitchFamily="34" charset="-120"/>
              </a:rPr>
              <a:t>HTTP status distribution</a:t>
            </a:r>
            <a:endParaRPr lang="en-US" sz="1200" dirty="0"/>
          </a:p>
          <a:p>
            <a:pPr marL="177800" indent="-177800">
              <a:lnSpc>
                <a:spcPct val="120000"/>
              </a:lnSpc>
              <a:spcAft>
                <a:spcPts val="500"/>
              </a:spcAft>
              <a:buSzPct val="100000"/>
              <a:buChar char="●"/>
            </a:pPr>
            <a:r>
              <a:rPr lang="en-US" sz="1200" dirty="0">
                <a:solidFill>
                  <a:srgbClr val="1A1A2E"/>
                </a:solidFill>
                <a:latin typeface="BIZ UDゴシック" pitchFamily="34" charset="0"/>
                <a:ea typeface="BIZ UDゴシック" pitchFamily="34" charset="-122"/>
                <a:cs typeface="BIZ UDゴシック" pitchFamily="34" charset="-120"/>
              </a:rPr>
              <a:t>suspected component</a:t>
            </a:r>
            <a:endParaRPr lang="en-US" sz="1200" dirty="0"/>
          </a:p>
        </p:txBody>
      </p:sp>
      <p:sp>
        <p:nvSpPr>
          <p:cNvPr id="20" name="Text 18"/>
          <p:cNvSpPr/>
          <p:nvPr/>
        </p:nvSpPr>
        <p:spPr>
          <a:xfrm>
            <a:off x="1280160" y="5120640"/>
            <a:ext cx="10362895" cy="365760"/>
          </a:xfrm>
          <a:prstGeom prst="rect">
            <a:avLst/>
          </a:prstGeom>
          <a:noFill/>
          <a:ln/>
        </p:spPr>
        <p:txBody>
          <a:bodyPr wrap="square" lIns="0" tIns="0" rIns="0" bIns="0" rtlCol="0" anchor="t"/>
          <a:lstStyle/>
          <a:p>
            <a:pPr indent="0" marL="0">
              <a:lnSpc>
                <a:spcPct val="125000"/>
              </a:lnSpc>
              <a:buNone/>
            </a:pPr>
            <a:r>
              <a:rPr lang="en-US" sz="1350" i="1" dirty="0">
                <a:solidFill>
                  <a:srgbClr val="065A82"/>
                </a:solidFill>
                <a:latin typeface="BIZ UDゴシック" pitchFamily="34" charset="0"/>
                <a:ea typeface="BIZ UDゴシック" pitchFamily="34" charset="-122"/>
                <a:cs typeface="BIZ UDゴシック" pitchFamily="34" charset="-120"/>
              </a:rPr>
              <a:t>表示するUIそのものを事象に応じて変えられる。</a:t>
            </a:r>
            <a:endParaRPr lang="en-US" sz="13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502920"/>
            <a:ext cx="566928" cy="566928"/>
          </a:xfrm>
          <a:prstGeom prst="ellipse">
            <a:avLst/>
          </a:prstGeom>
          <a:solidFill>
            <a:srgbClr val="21295C"/>
          </a:solidFill>
          <a:ln/>
        </p:spPr>
      </p:sp>
      <p:sp>
        <p:nvSpPr>
          <p:cNvPr id="3" name="Text 1"/>
          <p:cNvSpPr/>
          <p:nvPr/>
        </p:nvSpPr>
        <p:spPr>
          <a:xfrm>
            <a:off x="548640" y="502920"/>
            <a:ext cx="566928" cy="566928"/>
          </a:xfrm>
          <a:prstGeom prst="rect">
            <a:avLst/>
          </a:prstGeom>
          <a:noFill/>
          <a:ln/>
        </p:spPr>
        <p:txBody>
          <a:bodyPr wrap="square" lIns="0" tIns="0" rIns="0" bIns="0" rtlCol="0" anchor="ctr"/>
          <a:lstStyle/>
          <a:p>
            <a:pPr algn="ctr" indent="0" marL="0">
              <a:buNone/>
            </a:pPr>
            <a:r>
              <a:rPr lang="en-US" sz="1500" b="1" dirty="0">
                <a:solidFill>
                  <a:srgbClr val="FFFFFF"/>
                </a:solidFill>
                <a:latin typeface="BIZ UDゴシック" pitchFamily="34" charset="0"/>
                <a:ea typeface="BIZ UDゴシック" pitchFamily="34" charset="-122"/>
                <a:cs typeface="BIZ UDゴシック" pitchFamily="34" charset="-120"/>
              </a:rPr>
              <a:t>16</a:t>
            </a:r>
            <a:endParaRPr lang="en-US" sz="1500" dirty="0"/>
          </a:p>
        </p:txBody>
      </p:sp>
      <p:sp>
        <p:nvSpPr>
          <p:cNvPr id="4" name="Text 2"/>
          <p:cNvSpPr/>
          <p:nvPr/>
        </p:nvSpPr>
        <p:spPr>
          <a:xfrm>
            <a:off x="1280160" y="438912"/>
            <a:ext cx="10362895" cy="274320"/>
          </a:xfrm>
          <a:prstGeom prst="rect">
            <a:avLst/>
          </a:prstGeom>
          <a:noFill/>
          <a:ln/>
        </p:spPr>
        <p:txBody>
          <a:bodyPr wrap="square" lIns="0" tIns="0" rIns="0" bIns="0" rtlCol="0" anchor="ctr"/>
          <a:lstStyle/>
          <a:p>
            <a:pPr indent="0" marL="0">
              <a:buNone/>
            </a:pPr>
            <a:r>
              <a:rPr lang="en-US" sz="1100" b="1" spc="100" kern="0" dirty="0">
                <a:solidFill>
                  <a:srgbClr val="1C7293"/>
                </a:solidFill>
                <a:latin typeface="BIZ UDゴシック" pitchFamily="34" charset="0"/>
                <a:ea typeface="BIZ UDゴシック" pitchFamily="34" charset="-122"/>
                <a:cs typeface="BIZ UDゴシック" pitchFamily="34" charset="-120"/>
              </a:rPr>
              <a:t>SECTION 16</a:t>
            </a:r>
            <a:endParaRPr lang="en-US" sz="1100" dirty="0"/>
          </a:p>
        </p:txBody>
      </p:sp>
      <p:sp>
        <p:nvSpPr>
          <p:cNvPr id="5" name="Text 3"/>
          <p:cNvSpPr/>
          <p:nvPr/>
        </p:nvSpPr>
        <p:spPr>
          <a:xfrm>
            <a:off x="1280160" y="713232"/>
            <a:ext cx="10362895" cy="566928"/>
          </a:xfrm>
          <a:prstGeom prst="rect">
            <a:avLst/>
          </a:prstGeom>
          <a:noFill/>
          <a:ln/>
        </p:spPr>
        <p:txBody>
          <a:bodyPr wrap="square" lIns="0" tIns="0" rIns="0" bIns="0" rtlCol="0" anchor="t"/>
          <a:lstStyle/>
          <a:p>
            <a:pPr indent="0" marL="0">
              <a:buNone/>
            </a:pPr>
            <a:r>
              <a:rPr lang="en-US" sz="2500" b="1" dirty="0">
                <a:solidFill>
                  <a:srgbClr val="1A1A2E"/>
                </a:solidFill>
                <a:latin typeface="BIZ UDゴシック" pitchFamily="34" charset="0"/>
                <a:ea typeface="BIZ UDゴシック" pitchFamily="34" charset="-122"/>
                <a:cs typeface="BIZ UDゴシック" pitchFamily="34" charset="-120"/>
              </a:rPr>
              <a:t>A2UI ならではの実装点</a:t>
            </a:r>
            <a:endParaRPr lang="en-US" sz="2500" dirty="0"/>
          </a:p>
        </p:txBody>
      </p:sp>
      <p:sp>
        <p:nvSpPr>
          <p:cNvPr id="6" name="Text 4"/>
          <p:cNvSpPr/>
          <p:nvPr/>
        </p:nvSpPr>
        <p:spPr>
          <a:xfrm>
            <a:off x="548640" y="6446520"/>
            <a:ext cx="4572000" cy="274320"/>
          </a:xfrm>
          <a:prstGeom prst="rect">
            <a:avLst/>
          </a:prstGeom>
          <a:noFill/>
          <a:ln/>
        </p:spPr>
        <p:txBody>
          <a:bodyPr wrap="square" lIns="0" tIns="0" rIns="0" bIns="0" rtlCol="0" anchor="ctr"/>
          <a:lstStyle/>
          <a:p>
            <a:pPr indent="0" marL="0">
              <a:buNone/>
            </a:pPr>
            <a:r>
              <a:rPr lang="en-US" sz="900" dirty="0">
                <a:solidFill>
                  <a:srgbClr val="5C6B73"/>
                </a:solidFill>
                <a:latin typeface="BIZ UDゴシック" pitchFamily="34" charset="0"/>
                <a:ea typeface="BIZ UDゴシック" pitchFamily="34" charset="-122"/>
                <a:cs typeface="BIZ UDゴシック" pitchFamily="34" charset="-120"/>
              </a:rPr>
              <a:t>Observability AI PoC</a:t>
            </a:r>
            <a:endParaRPr lang="en-US" sz="900" dirty="0"/>
          </a:p>
        </p:txBody>
      </p:sp>
      <p:sp>
        <p:nvSpPr>
          <p:cNvPr id="7" name="Text 5"/>
          <p:cNvSpPr/>
          <p:nvPr/>
        </p:nvSpPr>
        <p:spPr>
          <a:xfrm>
            <a:off x="9814255" y="6446520"/>
            <a:ext cx="1828800" cy="274320"/>
          </a:xfrm>
          <a:prstGeom prst="rect">
            <a:avLst/>
          </a:prstGeom>
          <a:noFill/>
          <a:ln/>
        </p:spPr>
        <p:txBody>
          <a:bodyPr wrap="square" lIns="0" tIns="0" rIns="0" bIns="0" rtlCol="0" anchor="ctr"/>
          <a:lstStyle/>
          <a:p>
            <a:pPr algn="r" indent="0" marL="0">
              <a:buNone/>
            </a:pPr>
            <a:r>
              <a:rPr lang="en-US" sz="900" dirty="0">
                <a:solidFill>
                  <a:srgbClr val="5C6B73"/>
                </a:solidFill>
                <a:latin typeface="BIZ UDゴシック" pitchFamily="34" charset="0"/>
                <a:ea typeface="BIZ UDゴシック" pitchFamily="34" charset="-122"/>
                <a:cs typeface="BIZ UDゴシック" pitchFamily="34" charset="-120"/>
              </a:rPr>
              <a:t>16</a:t>
            </a:r>
            <a:endParaRPr lang="en-US" sz="900" dirty="0"/>
          </a:p>
        </p:txBody>
      </p:sp>
      <p:sp>
        <p:nvSpPr>
          <p:cNvPr id="8" name="Shape 6"/>
          <p:cNvSpPr/>
          <p:nvPr/>
        </p:nvSpPr>
        <p:spPr>
          <a:xfrm>
            <a:off x="1280160" y="1554480"/>
            <a:ext cx="10362895" cy="1417320"/>
          </a:xfrm>
          <a:prstGeom prst="roundRect">
            <a:avLst>
              <a:gd name="adj" fmla="val 5161"/>
            </a:avLst>
          </a:prstGeom>
          <a:solidFill>
            <a:srgbClr val="EAF2F6"/>
          </a:solidFill>
          <a:ln/>
        </p:spPr>
      </p:sp>
      <p:sp>
        <p:nvSpPr>
          <p:cNvPr id="9" name="Text 7"/>
          <p:cNvSpPr/>
          <p:nvPr/>
        </p:nvSpPr>
        <p:spPr>
          <a:xfrm>
            <a:off x="1508760" y="1719072"/>
            <a:ext cx="9905695" cy="548640"/>
          </a:xfrm>
          <a:prstGeom prst="rect">
            <a:avLst/>
          </a:prstGeom>
          <a:noFill/>
          <a:ln/>
        </p:spPr>
        <p:txBody>
          <a:bodyPr wrap="square" lIns="0" tIns="0" rIns="0" bIns="0" rtlCol="0" anchor="t"/>
          <a:lstStyle/>
          <a:p>
            <a:pPr indent="0" marL="0">
              <a:lnSpc>
                <a:spcPct val="125000"/>
              </a:lnSpc>
              <a:buNone/>
            </a:pPr>
            <a:r>
              <a:rPr lang="en-US" sz="1500" b="1" dirty="0">
                <a:solidFill>
                  <a:srgbClr val="21295C"/>
                </a:solidFill>
                <a:latin typeface="BIZ UDゴシック" pitchFamily="34" charset="0"/>
                <a:ea typeface="BIZ UDゴシック" pitchFamily="34" charset="-122"/>
                <a:cs typeface="BIZ UDゴシック" pitchFamily="34" charset="-120"/>
              </a:rPr>
              <a:t>1. UIを固定しない</a:t>
            </a:r>
            <a:endParaRPr lang="en-US" sz="1500" dirty="0"/>
          </a:p>
        </p:txBody>
      </p:sp>
      <p:sp>
        <p:nvSpPr>
          <p:cNvPr id="10" name="Text 8"/>
          <p:cNvSpPr/>
          <p:nvPr/>
        </p:nvSpPr>
        <p:spPr>
          <a:xfrm>
            <a:off x="1508760" y="2148840"/>
            <a:ext cx="9905695" cy="731520"/>
          </a:xfrm>
          <a:prstGeom prst="rect">
            <a:avLst/>
          </a:prstGeom>
          <a:noFill/>
          <a:ln/>
        </p:spPr>
        <p:txBody>
          <a:bodyPr wrap="square" lIns="0" tIns="0" rIns="0" bIns="0" rtlCol="0" anchor="t"/>
          <a:lstStyle/>
          <a:p>
            <a:pPr indent="0" marL="0">
              <a:lnSpc>
                <a:spcPct val="125000"/>
              </a:lnSpc>
              <a:buNone/>
            </a:pPr>
            <a:r>
              <a:rPr lang="en-US" sz="1350" dirty="0">
                <a:solidFill>
                  <a:srgbClr val="1A1A2E"/>
                </a:solidFill>
                <a:latin typeface="BIZ UDゴシック" pitchFamily="34" charset="0"/>
                <a:ea typeface="BIZ UDゴシック" pitchFamily="34" charset="-122"/>
                <a:cs typeface="BIZ UDゴシック" pitchFamily="34" charset="-120"/>
              </a:rPr>
              <a:t>分析結果に応じて、Card / Table / Chart / Evidence panel / Alert / Recommendation を選択する。</a:t>
            </a:r>
            <a:endParaRPr lang="en-US" sz="1350" dirty="0"/>
          </a:p>
        </p:txBody>
      </p:sp>
      <p:sp>
        <p:nvSpPr>
          <p:cNvPr id="11" name="Shape 9"/>
          <p:cNvSpPr/>
          <p:nvPr/>
        </p:nvSpPr>
        <p:spPr>
          <a:xfrm>
            <a:off x="1280160" y="3154680"/>
            <a:ext cx="10362895" cy="1417320"/>
          </a:xfrm>
          <a:prstGeom prst="roundRect">
            <a:avLst>
              <a:gd name="adj" fmla="val 5161"/>
            </a:avLst>
          </a:prstGeom>
          <a:solidFill>
            <a:srgbClr val="EAF2F6"/>
          </a:solidFill>
          <a:ln/>
        </p:spPr>
      </p:sp>
      <p:sp>
        <p:nvSpPr>
          <p:cNvPr id="12" name="Text 10"/>
          <p:cNvSpPr/>
          <p:nvPr/>
        </p:nvSpPr>
        <p:spPr>
          <a:xfrm>
            <a:off x="1508760" y="3319272"/>
            <a:ext cx="9905695" cy="548640"/>
          </a:xfrm>
          <a:prstGeom prst="rect">
            <a:avLst/>
          </a:prstGeom>
          <a:noFill/>
          <a:ln/>
        </p:spPr>
        <p:txBody>
          <a:bodyPr wrap="square" lIns="0" tIns="0" rIns="0" bIns="0" rtlCol="0" anchor="t"/>
          <a:lstStyle/>
          <a:p>
            <a:pPr indent="0" marL="0">
              <a:lnSpc>
                <a:spcPct val="125000"/>
              </a:lnSpc>
              <a:buNone/>
            </a:pPr>
            <a:r>
              <a:rPr lang="en-US" sz="1500" b="1" dirty="0">
                <a:solidFill>
                  <a:srgbClr val="21295C"/>
                </a:solidFill>
                <a:latin typeface="BIZ UDゴシック" pitchFamily="34" charset="0"/>
                <a:ea typeface="BIZ UDゴシック" pitchFamily="34" charset="-122"/>
                <a:cs typeface="BIZ UDゴシック" pitchFamily="34" charset="-120"/>
              </a:rPr>
              <a:t>2. データとUI構造を分離</a:t>
            </a:r>
            <a:endParaRPr lang="en-US" sz="1500" dirty="0"/>
          </a:p>
        </p:txBody>
      </p:sp>
      <p:sp>
        <p:nvSpPr>
          <p:cNvPr id="13" name="Text 11"/>
          <p:cNvSpPr/>
          <p:nvPr/>
        </p:nvSpPr>
        <p:spPr>
          <a:xfrm>
            <a:off x="1508760" y="3749040"/>
            <a:ext cx="9905695" cy="731520"/>
          </a:xfrm>
          <a:prstGeom prst="rect">
            <a:avLst/>
          </a:prstGeom>
          <a:noFill/>
          <a:ln/>
        </p:spPr>
        <p:txBody>
          <a:bodyPr wrap="square" lIns="0" tIns="0" rIns="0" bIns="0" rtlCol="0" anchor="t"/>
          <a:lstStyle/>
          <a:p>
            <a:pPr indent="0" marL="0">
              <a:lnSpc>
                <a:spcPct val="125000"/>
              </a:lnSpc>
              <a:buNone/>
            </a:pPr>
            <a:r>
              <a:rPr lang="en-US" sz="1350" dirty="0">
                <a:solidFill>
                  <a:srgbClr val="1A1A2E"/>
                </a:solidFill>
                <a:latin typeface="BIZ UDゴシック" pitchFamily="34" charset="0"/>
                <a:ea typeface="BIZ UDゴシック" pitchFamily="34" charset="-122"/>
                <a:cs typeface="BIZ UDゴシック" pitchFamily="34" charset="-120"/>
              </a:rPr>
              <a:t>バックエンドがHTMLを返すのではなく、UIの構造化データを返す。</a:t>
            </a:r>
            <a:endParaRPr lang="en-US" sz="1350" dirty="0"/>
          </a:p>
        </p:txBody>
      </p:sp>
      <p:sp>
        <p:nvSpPr>
          <p:cNvPr id="14" name="Shape 12"/>
          <p:cNvSpPr/>
          <p:nvPr/>
        </p:nvSpPr>
        <p:spPr>
          <a:xfrm>
            <a:off x="1280160" y="4754880"/>
            <a:ext cx="10362895" cy="1417320"/>
          </a:xfrm>
          <a:prstGeom prst="roundRect">
            <a:avLst>
              <a:gd name="adj" fmla="val 5161"/>
            </a:avLst>
          </a:prstGeom>
          <a:solidFill>
            <a:srgbClr val="EAF2F6"/>
          </a:solidFill>
          <a:ln/>
        </p:spPr>
      </p:sp>
      <p:sp>
        <p:nvSpPr>
          <p:cNvPr id="15" name="Text 13"/>
          <p:cNvSpPr/>
          <p:nvPr/>
        </p:nvSpPr>
        <p:spPr>
          <a:xfrm>
            <a:off x="1508760" y="4919472"/>
            <a:ext cx="9905695" cy="548640"/>
          </a:xfrm>
          <a:prstGeom prst="rect">
            <a:avLst/>
          </a:prstGeom>
          <a:noFill/>
          <a:ln/>
        </p:spPr>
        <p:txBody>
          <a:bodyPr wrap="square" lIns="0" tIns="0" rIns="0" bIns="0" rtlCol="0" anchor="t"/>
          <a:lstStyle/>
          <a:p>
            <a:pPr indent="0" marL="0">
              <a:lnSpc>
                <a:spcPct val="125000"/>
              </a:lnSpc>
              <a:buNone/>
            </a:pPr>
            <a:r>
              <a:rPr lang="en-US" sz="1500" b="1" dirty="0">
                <a:solidFill>
                  <a:srgbClr val="21295C"/>
                </a:solidFill>
                <a:latin typeface="BIZ UDゴシック" pitchFamily="34" charset="0"/>
                <a:ea typeface="BIZ UDゴシック" pitchFamily="34" charset="-122"/>
                <a:cs typeface="BIZ UDゴシック" pitchFamily="34" charset="-120"/>
              </a:rPr>
              <a:t>3. 監視ユースケースとの相性</a:t>
            </a:r>
            <a:endParaRPr lang="en-US" sz="1500" dirty="0"/>
          </a:p>
        </p:txBody>
      </p:sp>
      <p:sp>
        <p:nvSpPr>
          <p:cNvPr id="16" name="Text 14"/>
          <p:cNvSpPr/>
          <p:nvPr/>
        </p:nvSpPr>
        <p:spPr>
          <a:xfrm>
            <a:off x="1508760" y="5349240"/>
            <a:ext cx="9905695" cy="731520"/>
          </a:xfrm>
          <a:prstGeom prst="rect">
            <a:avLst/>
          </a:prstGeom>
          <a:noFill/>
          <a:ln/>
        </p:spPr>
        <p:txBody>
          <a:bodyPr wrap="square" lIns="0" tIns="0" rIns="0" bIns="0" rtlCol="0" anchor="t"/>
          <a:lstStyle/>
          <a:p>
            <a:pPr indent="0" marL="0">
              <a:lnSpc>
                <a:spcPct val="125000"/>
              </a:lnSpc>
              <a:buNone/>
            </a:pPr>
            <a:r>
              <a:rPr lang="en-US" sz="1350" dirty="0">
                <a:solidFill>
                  <a:srgbClr val="1A1A2E"/>
                </a:solidFill>
                <a:latin typeface="BIZ UDゴシック" pitchFamily="34" charset="0"/>
                <a:ea typeface="BIZ UDゴシック" pitchFamily="34" charset="-122"/>
                <a:cs typeface="BIZ UDゴシック" pitchFamily="34" charset="-120"/>
              </a:rPr>
              <a:t>障害内容によって重要な情報が異なるため、「インシデントごとの動的ダッシュボード」を作れる。</a:t>
            </a:r>
            <a:endParaRPr lang="en-US" sz="13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502920"/>
            <a:ext cx="566928" cy="566928"/>
          </a:xfrm>
          <a:prstGeom prst="ellipse">
            <a:avLst/>
          </a:prstGeom>
          <a:solidFill>
            <a:srgbClr val="21295C"/>
          </a:solidFill>
          <a:ln/>
        </p:spPr>
      </p:sp>
      <p:sp>
        <p:nvSpPr>
          <p:cNvPr id="3" name="Text 1"/>
          <p:cNvSpPr/>
          <p:nvPr/>
        </p:nvSpPr>
        <p:spPr>
          <a:xfrm>
            <a:off x="548640" y="502920"/>
            <a:ext cx="566928" cy="566928"/>
          </a:xfrm>
          <a:prstGeom prst="rect">
            <a:avLst/>
          </a:prstGeom>
          <a:noFill/>
          <a:ln/>
        </p:spPr>
        <p:txBody>
          <a:bodyPr wrap="square" lIns="0" tIns="0" rIns="0" bIns="0" rtlCol="0" anchor="ctr"/>
          <a:lstStyle/>
          <a:p>
            <a:pPr algn="ctr" indent="0" marL="0">
              <a:buNone/>
            </a:pPr>
            <a:r>
              <a:rPr lang="en-US" sz="1500" b="1" dirty="0">
                <a:solidFill>
                  <a:srgbClr val="FFFFFF"/>
                </a:solidFill>
                <a:latin typeface="BIZ UDゴシック" pitchFamily="34" charset="0"/>
                <a:ea typeface="BIZ UDゴシック" pitchFamily="34" charset="-122"/>
                <a:cs typeface="BIZ UDゴシック" pitchFamily="34" charset="-120"/>
              </a:rPr>
              <a:t>17</a:t>
            </a:r>
            <a:endParaRPr lang="en-US" sz="1500" dirty="0"/>
          </a:p>
        </p:txBody>
      </p:sp>
      <p:sp>
        <p:nvSpPr>
          <p:cNvPr id="4" name="Text 2"/>
          <p:cNvSpPr/>
          <p:nvPr/>
        </p:nvSpPr>
        <p:spPr>
          <a:xfrm>
            <a:off x="1280160" y="438912"/>
            <a:ext cx="10362895" cy="274320"/>
          </a:xfrm>
          <a:prstGeom prst="rect">
            <a:avLst/>
          </a:prstGeom>
          <a:noFill/>
          <a:ln/>
        </p:spPr>
        <p:txBody>
          <a:bodyPr wrap="square" lIns="0" tIns="0" rIns="0" bIns="0" rtlCol="0" anchor="ctr"/>
          <a:lstStyle/>
          <a:p>
            <a:pPr indent="0" marL="0">
              <a:buNone/>
            </a:pPr>
            <a:r>
              <a:rPr lang="en-US" sz="1100" b="1" spc="100" kern="0" dirty="0">
                <a:solidFill>
                  <a:srgbClr val="1C7293"/>
                </a:solidFill>
                <a:latin typeface="BIZ UDゴシック" pitchFamily="34" charset="0"/>
                <a:ea typeface="BIZ UDゴシック" pitchFamily="34" charset="-122"/>
                <a:cs typeface="BIZ UDゴシック" pitchFamily="34" charset="-120"/>
              </a:rPr>
              <a:t>SECTION 17</a:t>
            </a:r>
            <a:endParaRPr lang="en-US" sz="1100" dirty="0"/>
          </a:p>
        </p:txBody>
      </p:sp>
      <p:sp>
        <p:nvSpPr>
          <p:cNvPr id="5" name="Text 3"/>
          <p:cNvSpPr/>
          <p:nvPr/>
        </p:nvSpPr>
        <p:spPr>
          <a:xfrm>
            <a:off x="1280160" y="713232"/>
            <a:ext cx="10362895" cy="566928"/>
          </a:xfrm>
          <a:prstGeom prst="rect">
            <a:avLst/>
          </a:prstGeom>
          <a:noFill/>
          <a:ln/>
        </p:spPr>
        <p:txBody>
          <a:bodyPr wrap="square" lIns="0" tIns="0" rIns="0" bIns="0" rtlCol="0" anchor="t"/>
          <a:lstStyle/>
          <a:p>
            <a:pPr indent="0" marL="0">
              <a:buNone/>
            </a:pPr>
            <a:r>
              <a:rPr lang="en-US" sz="2500" b="1" dirty="0">
                <a:solidFill>
                  <a:srgbClr val="1A1A2E"/>
                </a:solidFill>
                <a:latin typeface="BIZ UDゴシック" pitchFamily="34" charset="0"/>
                <a:ea typeface="BIZ UDゴシック" pitchFamily="34" charset="-122"/>
                <a:cs typeface="BIZ UDゴシック" pitchFamily="34" charset="-120"/>
              </a:rPr>
              <a:t>AG-UI を使う理由</a:t>
            </a:r>
            <a:endParaRPr lang="en-US" sz="2500" dirty="0"/>
          </a:p>
        </p:txBody>
      </p:sp>
      <p:sp>
        <p:nvSpPr>
          <p:cNvPr id="6" name="Text 4"/>
          <p:cNvSpPr/>
          <p:nvPr/>
        </p:nvSpPr>
        <p:spPr>
          <a:xfrm>
            <a:off x="548640" y="6446520"/>
            <a:ext cx="4572000" cy="274320"/>
          </a:xfrm>
          <a:prstGeom prst="rect">
            <a:avLst/>
          </a:prstGeom>
          <a:noFill/>
          <a:ln/>
        </p:spPr>
        <p:txBody>
          <a:bodyPr wrap="square" lIns="0" tIns="0" rIns="0" bIns="0" rtlCol="0" anchor="ctr"/>
          <a:lstStyle/>
          <a:p>
            <a:pPr indent="0" marL="0">
              <a:buNone/>
            </a:pPr>
            <a:r>
              <a:rPr lang="en-US" sz="900" dirty="0">
                <a:solidFill>
                  <a:srgbClr val="5C6B73"/>
                </a:solidFill>
                <a:latin typeface="BIZ UDゴシック" pitchFamily="34" charset="0"/>
                <a:ea typeface="BIZ UDゴシック" pitchFamily="34" charset="-122"/>
                <a:cs typeface="BIZ UDゴシック" pitchFamily="34" charset="-120"/>
              </a:rPr>
              <a:t>Observability AI PoC</a:t>
            </a:r>
            <a:endParaRPr lang="en-US" sz="900" dirty="0"/>
          </a:p>
        </p:txBody>
      </p:sp>
      <p:sp>
        <p:nvSpPr>
          <p:cNvPr id="7" name="Text 5"/>
          <p:cNvSpPr/>
          <p:nvPr/>
        </p:nvSpPr>
        <p:spPr>
          <a:xfrm>
            <a:off x="9814255" y="6446520"/>
            <a:ext cx="1828800" cy="274320"/>
          </a:xfrm>
          <a:prstGeom prst="rect">
            <a:avLst/>
          </a:prstGeom>
          <a:noFill/>
          <a:ln/>
        </p:spPr>
        <p:txBody>
          <a:bodyPr wrap="square" lIns="0" tIns="0" rIns="0" bIns="0" rtlCol="0" anchor="ctr"/>
          <a:lstStyle/>
          <a:p>
            <a:pPr algn="r" indent="0" marL="0">
              <a:buNone/>
            </a:pPr>
            <a:r>
              <a:rPr lang="en-US" sz="900" dirty="0">
                <a:solidFill>
                  <a:srgbClr val="5C6B73"/>
                </a:solidFill>
                <a:latin typeface="BIZ UDゴシック" pitchFamily="34" charset="0"/>
                <a:ea typeface="BIZ UDゴシック" pitchFamily="34" charset="-122"/>
                <a:cs typeface="BIZ UDゴシック" pitchFamily="34" charset="-120"/>
              </a:rPr>
              <a:t>17</a:t>
            </a:r>
            <a:endParaRPr lang="en-US" sz="900" dirty="0"/>
          </a:p>
        </p:txBody>
      </p:sp>
      <p:sp>
        <p:nvSpPr>
          <p:cNvPr id="8" name="Text 6"/>
          <p:cNvSpPr/>
          <p:nvPr/>
        </p:nvSpPr>
        <p:spPr>
          <a:xfrm>
            <a:off x="1280160" y="1536192"/>
            <a:ext cx="10362895" cy="502920"/>
          </a:xfrm>
          <a:prstGeom prst="rect">
            <a:avLst/>
          </a:prstGeom>
          <a:noFill/>
          <a:ln/>
        </p:spPr>
        <p:txBody>
          <a:bodyPr wrap="square" lIns="0" tIns="0" rIns="0" bIns="0" rtlCol="0" anchor="t"/>
          <a:lstStyle/>
          <a:p>
            <a:pPr indent="0" marL="0">
              <a:lnSpc>
                <a:spcPct val="125000"/>
              </a:lnSpc>
              <a:buNone/>
            </a:pPr>
            <a:r>
              <a:rPr lang="en-US" sz="1500" dirty="0">
                <a:solidFill>
                  <a:srgbClr val="1A1A2E"/>
                </a:solidFill>
                <a:latin typeface="BIZ UDゴシック" pitchFamily="34" charset="0"/>
                <a:ea typeface="BIZ UDゴシック" pitchFamily="34" charset="-122"/>
                <a:cs typeface="BIZ UDゴシック" pitchFamily="34" charset="-120"/>
              </a:rPr>
              <a:t>AG-UIは、Agent / AI処理の状態とUIをつなぐプロトコルとして利用する。</a:t>
            </a:r>
            <a:endParaRPr lang="en-US" sz="1500" dirty="0"/>
          </a:p>
        </p:txBody>
      </p:sp>
      <p:sp>
        <p:nvSpPr>
          <p:cNvPr id="9" name="Text 7"/>
          <p:cNvSpPr/>
          <p:nvPr/>
        </p:nvSpPr>
        <p:spPr>
          <a:xfrm>
            <a:off x="1280160" y="2148840"/>
            <a:ext cx="10362895" cy="365760"/>
          </a:xfrm>
          <a:prstGeom prst="rect">
            <a:avLst/>
          </a:prstGeom>
          <a:noFill/>
          <a:ln/>
        </p:spPr>
        <p:txBody>
          <a:bodyPr wrap="square" lIns="0" tIns="0" rIns="0" bIns="0" rtlCol="0" anchor="t"/>
          <a:lstStyle/>
          <a:p>
            <a:pPr indent="0" marL="0">
              <a:lnSpc>
                <a:spcPct val="125000"/>
              </a:lnSpc>
              <a:buNone/>
            </a:pPr>
            <a:r>
              <a:rPr lang="en-US" sz="1500" b="1" dirty="0">
                <a:solidFill>
                  <a:srgbClr val="21295C"/>
                </a:solidFill>
                <a:latin typeface="BIZ UDゴシック" pitchFamily="34" charset="0"/>
                <a:ea typeface="BIZ UDゴシック" pitchFamily="34" charset="-122"/>
                <a:cs typeface="BIZ UDゴシック" pitchFamily="34" charset="-120"/>
              </a:rPr>
              <a:t>AI処理では結果だけでなく途中状態がある</a:t>
            </a:r>
            <a:endParaRPr lang="en-US" sz="1500" dirty="0"/>
          </a:p>
        </p:txBody>
      </p:sp>
      <p:sp>
        <p:nvSpPr>
          <p:cNvPr id="10" name="Shape 8"/>
          <p:cNvSpPr/>
          <p:nvPr/>
        </p:nvSpPr>
        <p:spPr>
          <a:xfrm>
            <a:off x="1280160" y="2606040"/>
            <a:ext cx="1307984" cy="640080"/>
          </a:xfrm>
          <a:prstGeom prst="roundRect">
            <a:avLst>
              <a:gd name="adj" fmla="val 10000"/>
            </a:avLst>
          </a:prstGeom>
          <a:solidFill>
            <a:srgbClr val="065A82"/>
          </a:solidFill>
          <a:ln/>
        </p:spPr>
      </p:sp>
      <p:sp>
        <p:nvSpPr>
          <p:cNvPr id="11" name="Text 9"/>
          <p:cNvSpPr/>
          <p:nvPr/>
        </p:nvSpPr>
        <p:spPr>
          <a:xfrm>
            <a:off x="1280160" y="2606040"/>
            <a:ext cx="1307984" cy="640080"/>
          </a:xfrm>
          <a:prstGeom prst="rect">
            <a:avLst/>
          </a:prstGeom>
          <a:noFill/>
          <a:ln/>
        </p:spPr>
        <p:txBody>
          <a:bodyPr wrap="square" lIns="25400" tIns="25400" rIns="25400" bIns="25400" rtlCol="0" anchor="ctr"/>
          <a:lstStyle/>
          <a:p>
            <a:pPr algn="ctr" indent="0" marL="0">
              <a:buNone/>
            </a:pPr>
            <a:r>
              <a:rPr lang="en-US" sz="1050" b="1" dirty="0">
                <a:solidFill>
                  <a:srgbClr val="FFFFFF"/>
                </a:solidFill>
                <a:latin typeface="BIZ UDゴシック" pitchFamily="34" charset="0"/>
                <a:ea typeface="BIZ UDゴシック" pitchFamily="34" charset="-122"/>
                <a:cs typeface="BIZ UDゴシック" pitchFamily="34" charset="-120"/>
              </a:rPr>
              <a:t>Incident受信</a:t>
            </a:r>
            <a:endParaRPr lang="en-US" sz="1050" dirty="0"/>
          </a:p>
        </p:txBody>
      </p:sp>
      <p:sp>
        <p:nvSpPr>
          <p:cNvPr id="12" name="Shape 10"/>
          <p:cNvSpPr/>
          <p:nvPr/>
        </p:nvSpPr>
        <p:spPr>
          <a:xfrm>
            <a:off x="2588144" y="2862072"/>
            <a:ext cx="164592" cy="128016"/>
          </a:xfrm>
          <a:prstGeom prst="rightArrow">
            <a:avLst/>
          </a:prstGeom>
          <a:solidFill>
            <a:srgbClr val="5C6B73"/>
          </a:solidFill>
          <a:ln/>
        </p:spPr>
      </p:sp>
      <p:sp>
        <p:nvSpPr>
          <p:cNvPr id="13" name="Shape 11"/>
          <p:cNvSpPr/>
          <p:nvPr/>
        </p:nvSpPr>
        <p:spPr>
          <a:xfrm>
            <a:off x="2789312" y="2606040"/>
            <a:ext cx="1307984" cy="640080"/>
          </a:xfrm>
          <a:prstGeom prst="roundRect">
            <a:avLst>
              <a:gd name="adj" fmla="val 10000"/>
            </a:avLst>
          </a:prstGeom>
          <a:solidFill>
            <a:srgbClr val="1C7293"/>
          </a:solidFill>
          <a:ln/>
        </p:spPr>
      </p:sp>
      <p:sp>
        <p:nvSpPr>
          <p:cNvPr id="14" name="Text 12"/>
          <p:cNvSpPr/>
          <p:nvPr/>
        </p:nvSpPr>
        <p:spPr>
          <a:xfrm>
            <a:off x="2789312" y="2606040"/>
            <a:ext cx="1307984" cy="640080"/>
          </a:xfrm>
          <a:prstGeom prst="rect">
            <a:avLst/>
          </a:prstGeom>
          <a:noFill/>
          <a:ln/>
        </p:spPr>
        <p:txBody>
          <a:bodyPr wrap="square" lIns="25400" tIns="25400" rIns="25400" bIns="25400" rtlCol="0" anchor="ctr"/>
          <a:lstStyle/>
          <a:p>
            <a:pPr algn="ctr" indent="0" marL="0">
              <a:buNone/>
            </a:pPr>
            <a:r>
              <a:rPr lang="en-US" sz="1050" b="1" dirty="0">
                <a:solidFill>
                  <a:srgbClr val="FFFFFF"/>
                </a:solidFill>
                <a:latin typeface="BIZ UDゴシック" pitchFamily="34" charset="0"/>
                <a:ea typeface="BIZ UDゴシック" pitchFamily="34" charset="-122"/>
                <a:cs typeface="BIZ UDゴシック" pitchFamily="34" charset="-120"/>
              </a:rPr>
              <a:t>Splunk検索</a:t>
            </a:r>
            <a:endParaRPr lang="en-US" sz="1050" dirty="0"/>
          </a:p>
        </p:txBody>
      </p:sp>
      <p:sp>
        <p:nvSpPr>
          <p:cNvPr id="15" name="Shape 13"/>
          <p:cNvSpPr/>
          <p:nvPr/>
        </p:nvSpPr>
        <p:spPr>
          <a:xfrm>
            <a:off x="4097296" y="2862072"/>
            <a:ext cx="164592" cy="128016"/>
          </a:xfrm>
          <a:prstGeom prst="rightArrow">
            <a:avLst/>
          </a:prstGeom>
          <a:solidFill>
            <a:srgbClr val="5C6B73"/>
          </a:solidFill>
          <a:ln/>
        </p:spPr>
      </p:sp>
      <p:sp>
        <p:nvSpPr>
          <p:cNvPr id="16" name="Shape 14"/>
          <p:cNvSpPr/>
          <p:nvPr/>
        </p:nvSpPr>
        <p:spPr>
          <a:xfrm>
            <a:off x="4298464" y="2606040"/>
            <a:ext cx="1307984" cy="640080"/>
          </a:xfrm>
          <a:prstGeom prst="roundRect">
            <a:avLst>
              <a:gd name="adj" fmla="val 10000"/>
            </a:avLst>
          </a:prstGeom>
          <a:solidFill>
            <a:srgbClr val="065A82"/>
          </a:solidFill>
          <a:ln/>
        </p:spPr>
      </p:sp>
      <p:sp>
        <p:nvSpPr>
          <p:cNvPr id="17" name="Text 15"/>
          <p:cNvSpPr/>
          <p:nvPr/>
        </p:nvSpPr>
        <p:spPr>
          <a:xfrm>
            <a:off x="4298464" y="2606040"/>
            <a:ext cx="1307984" cy="640080"/>
          </a:xfrm>
          <a:prstGeom prst="rect">
            <a:avLst/>
          </a:prstGeom>
          <a:noFill/>
          <a:ln/>
        </p:spPr>
        <p:txBody>
          <a:bodyPr wrap="square" lIns="25400" tIns="25400" rIns="25400" bIns="25400" rtlCol="0" anchor="ctr"/>
          <a:lstStyle/>
          <a:p>
            <a:pPr algn="ctr" indent="0" marL="0">
              <a:buNone/>
            </a:pPr>
            <a:r>
              <a:rPr lang="en-US" sz="1050" b="1" dirty="0">
                <a:solidFill>
                  <a:srgbClr val="FFFFFF"/>
                </a:solidFill>
                <a:latin typeface="BIZ UDゴシック" pitchFamily="34" charset="0"/>
                <a:ea typeface="BIZ UDゴシック" pitchFamily="34" charset="-122"/>
                <a:cs typeface="BIZ UDゴシック" pitchFamily="34" charset="-120"/>
              </a:rPr>
              <a:t>New Relic検索</a:t>
            </a:r>
            <a:endParaRPr lang="en-US" sz="1050" dirty="0"/>
          </a:p>
        </p:txBody>
      </p:sp>
      <p:sp>
        <p:nvSpPr>
          <p:cNvPr id="18" name="Shape 16"/>
          <p:cNvSpPr/>
          <p:nvPr/>
        </p:nvSpPr>
        <p:spPr>
          <a:xfrm>
            <a:off x="5606448" y="2862072"/>
            <a:ext cx="164592" cy="128016"/>
          </a:xfrm>
          <a:prstGeom prst="rightArrow">
            <a:avLst/>
          </a:prstGeom>
          <a:solidFill>
            <a:srgbClr val="5C6B73"/>
          </a:solidFill>
          <a:ln/>
        </p:spPr>
      </p:sp>
      <p:sp>
        <p:nvSpPr>
          <p:cNvPr id="19" name="Shape 17"/>
          <p:cNvSpPr/>
          <p:nvPr/>
        </p:nvSpPr>
        <p:spPr>
          <a:xfrm>
            <a:off x="5807616" y="2606040"/>
            <a:ext cx="1307984" cy="640080"/>
          </a:xfrm>
          <a:prstGeom prst="roundRect">
            <a:avLst>
              <a:gd name="adj" fmla="val 10000"/>
            </a:avLst>
          </a:prstGeom>
          <a:solidFill>
            <a:srgbClr val="1C7293"/>
          </a:solidFill>
          <a:ln/>
        </p:spPr>
      </p:sp>
      <p:sp>
        <p:nvSpPr>
          <p:cNvPr id="20" name="Text 18"/>
          <p:cNvSpPr/>
          <p:nvPr/>
        </p:nvSpPr>
        <p:spPr>
          <a:xfrm>
            <a:off x="5807616" y="2606040"/>
            <a:ext cx="1307984" cy="640080"/>
          </a:xfrm>
          <a:prstGeom prst="rect">
            <a:avLst/>
          </a:prstGeom>
          <a:noFill/>
          <a:ln/>
        </p:spPr>
        <p:txBody>
          <a:bodyPr wrap="square" lIns="25400" tIns="25400" rIns="25400" bIns="25400" rtlCol="0" anchor="ctr"/>
          <a:lstStyle/>
          <a:p>
            <a:pPr algn="ctr" indent="0" marL="0">
              <a:buNone/>
            </a:pPr>
            <a:r>
              <a:rPr lang="en-US" sz="1050" b="1" dirty="0">
                <a:solidFill>
                  <a:srgbClr val="FFFFFF"/>
                </a:solidFill>
                <a:latin typeface="BIZ UDゴシック" pitchFamily="34" charset="0"/>
                <a:ea typeface="BIZ UDゴシック" pitchFamily="34" charset="-122"/>
                <a:cs typeface="BIZ UDゴシック" pitchFamily="34" charset="-120"/>
              </a:rPr>
              <a:t>Evidence収集</a:t>
            </a:r>
            <a:endParaRPr lang="en-US" sz="1050" dirty="0"/>
          </a:p>
        </p:txBody>
      </p:sp>
      <p:sp>
        <p:nvSpPr>
          <p:cNvPr id="21" name="Shape 19"/>
          <p:cNvSpPr/>
          <p:nvPr/>
        </p:nvSpPr>
        <p:spPr>
          <a:xfrm>
            <a:off x="7115600" y="2862072"/>
            <a:ext cx="164592" cy="128016"/>
          </a:xfrm>
          <a:prstGeom prst="rightArrow">
            <a:avLst/>
          </a:prstGeom>
          <a:solidFill>
            <a:srgbClr val="5C6B73"/>
          </a:solidFill>
          <a:ln/>
        </p:spPr>
      </p:sp>
      <p:sp>
        <p:nvSpPr>
          <p:cNvPr id="22" name="Shape 20"/>
          <p:cNvSpPr/>
          <p:nvPr/>
        </p:nvSpPr>
        <p:spPr>
          <a:xfrm>
            <a:off x="7316768" y="2606040"/>
            <a:ext cx="1307984" cy="640080"/>
          </a:xfrm>
          <a:prstGeom prst="roundRect">
            <a:avLst>
              <a:gd name="adj" fmla="val 10000"/>
            </a:avLst>
          </a:prstGeom>
          <a:solidFill>
            <a:srgbClr val="065A82"/>
          </a:solidFill>
          <a:ln/>
        </p:spPr>
      </p:sp>
      <p:sp>
        <p:nvSpPr>
          <p:cNvPr id="23" name="Text 21"/>
          <p:cNvSpPr/>
          <p:nvPr/>
        </p:nvSpPr>
        <p:spPr>
          <a:xfrm>
            <a:off x="7316768" y="2606040"/>
            <a:ext cx="1307984" cy="640080"/>
          </a:xfrm>
          <a:prstGeom prst="rect">
            <a:avLst/>
          </a:prstGeom>
          <a:noFill/>
          <a:ln/>
        </p:spPr>
        <p:txBody>
          <a:bodyPr wrap="square" lIns="25400" tIns="25400" rIns="25400" bIns="25400" rtlCol="0" anchor="ctr"/>
          <a:lstStyle/>
          <a:p>
            <a:pPr algn="ctr" indent="0" marL="0">
              <a:buNone/>
            </a:pPr>
            <a:r>
              <a:rPr lang="en-US" sz="1050" b="1" dirty="0">
                <a:solidFill>
                  <a:srgbClr val="FFFFFF"/>
                </a:solidFill>
                <a:latin typeface="BIZ UDゴシック" pitchFamily="34" charset="0"/>
                <a:ea typeface="BIZ UDゴシック" pitchFamily="34" charset="-122"/>
                <a:cs typeface="BIZ UDゴシック" pitchFamily="34" charset="-120"/>
              </a:rPr>
              <a:t>AI分析</a:t>
            </a:r>
            <a:endParaRPr lang="en-US" sz="1050" dirty="0"/>
          </a:p>
        </p:txBody>
      </p:sp>
      <p:sp>
        <p:nvSpPr>
          <p:cNvPr id="24" name="Shape 22"/>
          <p:cNvSpPr/>
          <p:nvPr/>
        </p:nvSpPr>
        <p:spPr>
          <a:xfrm>
            <a:off x="8624751" y="2862072"/>
            <a:ext cx="164592" cy="128016"/>
          </a:xfrm>
          <a:prstGeom prst="rightArrow">
            <a:avLst/>
          </a:prstGeom>
          <a:solidFill>
            <a:srgbClr val="5C6B73"/>
          </a:solidFill>
          <a:ln/>
        </p:spPr>
      </p:sp>
      <p:sp>
        <p:nvSpPr>
          <p:cNvPr id="25" name="Shape 23"/>
          <p:cNvSpPr/>
          <p:nvPr/>
        </p:nvSpPr>
        <p:spPr>
          <a:xfrm>
            <a:off x="8825919" y="2606040"/>
            <a:ext cx="1307984" cy="640080"/>
          </a:xfrm>
          <a:prstGeom prst="roundRect">
            <a:avLst>
              <a:gd name="adj" fmla="val 10000"/>
            </a:avLst>
          </a:prstGeom>
          <a:solidFill>
            <a:srgbClr val="1C7293"/>
          </a:solidFill>
          <a:ln/>
        </p:spPr>
      </p:sp>
      <p:sp>
        <p:nvSpPr>
          <p:cNvPr id="26" name="Text 24"/>
          <p:cNvSpPr/>
          <p:nvPr/>
        </p:nvSpPr>
        <p:spPr>
          <a:xfrm>
            <a:off x="8825919" y="2606040"/>
            <a:ext cx="1307984" cy="640080"/>
          </a:xfrm>
          <a:prstGeom prst="rect">
            <a:avLst/>
          </a:prstGeom>
          <a:noFill/>
          <a:ln/>
        </p:spPr>
        <p:txBody>
          <a:bodyPr wrap="square" lIns="25400" tIns="25400" rIns="25400" bIns="25400" rtlCol="0" anchor="ctr"/>
          <a:lstStyle/>
          <a:p>
            <a:pPr algn="ctr" indent="0" marL="0">
              <a:buNone/>
            </a:pPr>
            <a:r>
              <a:rPr lang="en-US" sz="1050" b="1" dirty="0">
                <a:solidFill>
                  <a:srgbClr val="FFFFFF"/>
                </a:solidFill>
                <a:latin typeface="BIZ UDゴシック" pitchFamily="34" charset="0"/>
                <a:ea typeface="BIZ UDゴシック" pitchFamily="34" charset="-122"/>
                <a:cs typeface="BIZ UDゴシック" pitchFamily="34" charset="-120"/>
              </a:rPr>
              <a:t>UI生成</a:t>
            </a:r>
            <a:endParaRPr lang="en-US" sz="1050" dirty="0"/>
          </a:p>
        </p:txBody>
      </p:sp>
      <p:sp>
        <p:nvSpPr>
          <p:cNvPr id="27" name="Shape 25"/>
          <p:cNvSpPr/>
          <p:nvPr/>
        </p:nvSpPr>
        <p:spPr>
          <a:xfrm>
            <a:off x="10133903" y="2862072"/>
            <a:ext cx="164592" cy="128016"/>
          </a:xfrm>
          <a:prstGeom prst="rightArrow">
            <a:avLst/>
          </a:prstGeom>
          <a:solidFill>
            <a:srgbClr val="5C6B73"/>
          </a:solidFill>
          <a:ln/>
        </p:spPr>
      </p:sp>
      <p:sp>
        <p:nvSpPr>
          <p:cNvPr id="28" name="Shape 26"/>
          <p:cNvSpPr/>
          <p:nvPr/>
        </p:nvSpPr>
        <p:spPr>
          <a:xfrm>
            <a:off x="10335071" y="2606040"/>
            <a:ext cx="1307984" cy="640080"/>
          </a:xfrm>
          <a:prstGeom prst="roundRect">
            <a:avLst>
              <a:gd name="adj" fmla="val 10000"/>
            </a:avLst>
          </a:prstGeom>
          <a:solidFill>
            <a:srgbClr val="065A82"/>
          </a:solidFill>
          <a:ln/>
        </p:spPr>
      </p:sp>
      <p:sp>
        <p:nvSpPr>
          <p:cNvPr id="29" name="Text 27"/>
          <p:cNvSpPr/>
          <p:nvPr/>
        </p:nvSpPr>
        <p:spPr>
          <a:xfrm>
            <a:off x="10335071" y="2606040"/>
            <a:ext cx="1307984" cy="640080"/>
          </a:xfrm>
          <a:prstGeom prst="rect">
            <a:avLst/>
          </a:prstGeom>
          <a:noFill/>
          <a:ln/>
        </p:spPr>
        <p:txBody>
          <a:bodyPr wrap="square" lIns="25400" tIns="25400" rIns="25400" bIns="25400" rtlCol="0" anchor="ctr"/>
          <a:lstStyle/>
          <a:p>
            <a:pPr algn="ctr" indent="0" marL="0">
              <a:buNone/>
            </a:pPr>
            <a:r>
              <a:rPr lang="en-US" sz="1050" b="1" dirty="0">
                <a:solidFill>
                  <a:srgbClr val="FFFFFF"/>
                </a:solidFill>
                <a:latin typeface="BIZ UDゴシック" pitchFamily="34" charset="0"/>
                <a:ea typeface="BIZ UDゴシック" pitchFamily="34" charset="-122"/>
                <a:cs typeface="BIZ UDゴシック" pitchFamily="34" charset="-120"/>
              </a:rPr>
              <a:t>完了</a:t>
            </a:r>
            <a:endParaRPr lang="en-US" sz="1050" dirty="0"/>
          </a:p>
        </p:txBody>
      </p:sp>
      <p:sp>
        <p:nvSpPr>
          <p:cNvPr id="30" name="Shape 28"/>
          <p:cNvSpPr/>
          <p:nvPr/>
        </p:nvSpPr>
        <p:spPr>
          <a:xfrm>
            <a:off x="1280160" y="3611880"/>
            <a:ext cx="10362895" cy="1371600"/>
          </a:xfrm>
          <a:prstGeom prst="roundRect">
            <a:avLst>
              <a:gd name="adj" fmla="val 5333"/>
            </a:avLst>
          </a:prstGeom>
          <a:solidFill>
            <a:srgbClr val="EAF2F6"/>
          </a:solidFill>
          <a:ln/>
        </p:spPr>
      </p:sp>
      <p:sp>
        <p:nvSpPr>
          <p:cNvPr id="31" name="Text 29"/>
          <p:cNvSpPr/>
          <p:nvPr/>
        </p:nvSpPr>
        <p:spPr>
          <a:xfrm>
            <a:off x="1508760" y="3794760"/>
            <a:ext cx="9905695" cy="1005840"/>
          </a:xfrm>
          <a:prstGeom prst="rect">
            <a:avLst/>
          </a:prstGeom>
          <a:noFill/>
          <a:ln/>
        </p:spPr>
        <p:txBody>
          <a:bodyPr wrap="square" lIns="0" tIns="0" rIns="0" bIns="0" rtlCol="0" anchor="t"/>
          <a:lstStyle/>
          <a:p>
            <a:pPr indent="0" marL="0">
              <a:lnSpc>
                <a:spcPct val="125000"/>
              </a:lnSpc>
              <a:buNone/>
            </a:pPr>
            <a:r>
              <a:rPr lang="en-US" sz="1400" dirty="0">
                <a:solidFill>
                  <a:srgbClr val="1A1A2E"/>
                </a:solidFill>
                <a:latin typeface="BIZ UDゴシック" pitchFamily="34" charset="0"/>
                <a:ea typeface="BIZ UDゴシック" pitchFamily="34" charset="-122"/>
                <a:cs typeface="BIZ UDゴシック" pitchFamily="34" charset="-120"/>
              </a:rPr>
              <a:t>AG-UIにより、これらをイベントとしてUIへ通知できる。</a:t>
            </a:r>
            <a:endParaRPr lang="en-US" sz="14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502920"/>
            <a:ext cx="566928" cy="566928"/>
          </a:xfrm>
          <a:prstGeom prst="ellipse">
            <a:avLst/>
          </a:prstGeom>
          <a:solidFill>
            <a:srgbClr val="21295C"/>
          </a:solidFill>
          <a:ln/>
        </p:spPr>
      </p:sp>
      <p:sp>
        <p:nvSpPr>
          <p:cNvPr id="3" name="Text 1"/>
          <p:cNvSpPr/>
          <p:nvPr/>
        </p:nvSpPr>
        <p:spPr>
          <a:xfrm>
            <a:off x="548640" y="502920"/>
            <a:ext cx="566928" cy="566928"/>
          </a:xfrm>
          <a:prstGeom prst="rect">
            <a:avLst/>
          </a:prstGeom>
          <a:noFill/>
          <a:ln/>
        </p:spPr>
        <p:txBody>
          <a:bodyPr wrap="square" lIns="0" tIns="0" rIns="0" bIns="0" rtlCol="0" anchor="ctr"/>
          <a:lstStyle/>
          <a:p>
            <a:pPr algn="ctr" indent="0" marL="0">
              <a:buNone/>
            </a:pPr>
            <a:r>
              <a:rPr lang="en-US" sz="1500" b="1" dirty="0">
                <a:solidFill>
                  <a:srgbClr val="FFFFFF"/>
                </a:solidFill>
                <a:latin typeface="BIZ UDゴシック" pitchFamily="34" charset="0"/>
                <a:ea typeface="BIZ UDゴシック" pitchFamily="34" charset="-122"/>
                <a:cs typeface="BIZ UDゴシック" pitchFamily="34" charset="-120"/>
              </a:rPr>
              <a:t>18</a:t>
            </a:r>
            <a:endParaRPr lang="en-US" sz="1500" dirty="0"/>
          </a:p>
        </p:txBody>
      </p:sp>
      <p:sp>
        <p:nvSpPr>
          <p:cNvPr id="4" name="Text 2"/>
          <p:cNvSpPr/>
          <p:nvPr/>
        </p:nvSpPr>
        <p:spPr>
          <a:xfrm>
            <a:off x="1280160" y="438912"/>
            <a:ext cx="10362895" cy="274320"/>
          </a:xfrm>
          <a:prstGeom prst="rect">
            <a:avLst/>
          </a:prstGeom>
          <a:noFill/>
          <a:ln/>
        </p:spPr>
        <p:txBody>
          <a:bodyPr wrap="square" lIns="0" tIns="0" rIns="0" bIns="0" rtlCol="0" anchor="ctr"/>
          <a:lstStyle/>
          <a:p>
            <a:pPr indent="0" marL="0">
              <a:buNone/>
            </a:pPr>
            <a:r>
              <a:rPr lang="en-US" sz="1100" b="1" spc="100" kern="0" dirty="0">
                <a:solidFill>
                  <a:srgbClr val="1C7293"/>
                </a:solidFill>
                <a:latin typeface="BIZ UDゴシック" pitchFamily="34" charset="0"/>
                <a:ea typeface="BIZ UDゴシック" pitchFamily="34" charset="-122"/>
                <a:cs typeface="BIZ UDゴシック" pitchFamily="34" charset="-120"/>
              </a:rPr>
              <a:t>SECTION 18</a:t>
            </a:r>
            <a:endParaRPr lang="en-US" sz="1100" dirty="0"/>
          </a:p>
        </p:txBody>
      </p:sp>
      <p:sp>
        <p:nvSpPr>
          <p:cNvPr id="5" name="Text 3"/>
          <p:cNvSpPr/>
          <p:nvPr/>
        </p:nvSpPr>
        <p:spPr>
          <a:xfrm>
            <a:off x="1280160" y="713232"/>
            <a:ext cx="10362895" cy="566928"/>
          </a:xfrm>
          <a:prstGeom prst="rect">
            <a:avLst/>
          </a:prstGeom>
          <a:noFill/>
          <a:ln/>
        </p:spPr>
        <p:txBody>
          <a:bodyPr wrap="square" lIns="0" tIns="0" rIns="0" bIns="0" rtlCol="0" anchor="t"/>
          <a:lstStyle/>
          <a:p>
            <a:pPr indent="0" marL="0">
              <a:buNone/>
            </a:pPr>
            <a:r>
              <a:rPr lang="en-US" sz="2500" b="1" dirty="0">
                <a:solidFill>
                  <a:srgbClr val="1A1A2E"/>
                </a:solidFill>
                <a:latin typeface="BIZ UDゴシック" pitchFamily="34" charset="0"/>
                <a:ea typeface="BIZ UDゴシック" pitchFamily="34" charset="-122"/>
                <a:cs typeface="BIZ UDゴシック" pitchFamily="34" charset="-120"/>
              </a:rPr>
              <a:t>AG-UI ならではの実装点</a:t>
            </a:r>
            <a:endParaRPr lang="en-US" sz="2500" dirty="0"/>
          </a:p>
        </p:txBody>
      </p:sp>
      <p:sp>
        <p:nvSpPr>
          <p:cNvPr id="6" name="Text 4"/>
          <p:cNvSpPr/>
          <p:nvPr/>
        </p:nvSpPr>
        <p:spPr>
          <a:xfrm>
            <a:off x="548640" y="6446520"/>
            <a:ext cx="4572000" cy="274320"/>
          </a:xfrm>
          <a:prstGeom prst="rect">
            <a:avLst/>
          </a:prstGeom>
          <a:noFill/>
          <a:ln/>
        </p:spPr>
        <p:txBody>
          <a:bodyPr wrap="square" lIns="0" tIns="0" rIns="0" bIns="0" rtlCol="0" anchor="ctr"/>
          <a:lstStyle/>
          <a:p>
            <a:pPr indent="0" marL="0">
              <a:buNone/>
            </a:pPr>
            <a:r>
              <a:rPr lang="en-US" sz="900" dirty="0">
                <a:solidFill>
                  <a:srgbClr val="5C6B73"/>
                </a:solidFill>
                <a:latin typeface="BIZ UDゴシック" pitchFamily="34" charset="0"/>
                <a:ea typeface="BIZ UDゴシック" pitchFamily="34" charset="-122"/>
                <a:cs typeface="BIZ UDゴシック" pitchFamily="34" charset="-120"/>
              </a:rPr>
              <a:t>Observability AI PoC</a:t>
            </a:r>
            <a:endParaRPr lang="en-US" sz="900" dirty="0"/>
          </a:p>
        </p:txBody>
      </p:sp>
      <p:sp>
        <p:nvSpPr>
          <p:cNvPr id="7" name="Text 5"/>
          <p:cNvSpPr/>
          <p:nvPr/>
        </p:nvSpPr>
        <p:spPr>
          <a:xfrm>
            <a:off x="9814255" y="6446520"/>
            <a:ext cx="1828800" cy="274320"/>
          </a:xfrm>
          <a:prstGeom prst="rect">
            <a:avLst/>
          </a:prstGeom>
          <a:noFill/>
          <a:ln/>
        </p:spPr>
        <p:txBody>
          <a:bodyPr wrap="square" lIns="0" tIns="0" rIns="0" bIns="0" rtlCol="0" anchor="ctr"/>
          <a:lstStyle/>
          <a:p>
            <a:pPr algn="r" indent="0" marL="0">
              <a:buNone/>
            </a:pPr>
            <a:r>
              <a:rPr lang="en-US" sz="900" dirty="0">
                <a:solidFill>
                  <a:srgbClr val="5C6B73"/>
                </a:solidFill>
                <a:latin typeface="BIZ UDゴシック" pitchFamily="34" charset="0"/>
                <a:ea typeface="BIZ UDゴシック" pitchFamily="34" charset="-122"/>
                <a:cs typeface="BIZ UDゴシック" pitchFamily="34" charset="-120"/>
              </a:rPr>
              <a:t>18</a:t>
            </a:r>
            <a:endParaRPr lang="en-US" sz="900" dirty="0"/>
          </a:p>
        </p:txBody>
      </p:sp>
      <p:sp>
        <p:nvSpPr>
          <p:cNvPr id="8" name="Text 6"/>
          <p:cNvSpPr/>
          <p:nvPr/>
        </p:nvSpPr>
        <p:spPr>
          <a:xfrm>
            <a:off x="1280160" y="1536192"/>
            <a:ext cx="10362895" cy="365760"/>
          </a:xfrm>
          <a:prstGeom prst="rect">
            <a:avLst/>
          </a:prstGeom>
          <a:noFill/>
          <a:ln/>
        </p:spPr>
        <p:txBody>
          <a:bodyPr wrap="square" lIns="0" tIns="0" rIns="0" bIns="0" rtlCol="0" anchor="t"/>
          <a:lstStyle/>
          <a:p>
            <a:pPr indent="0" marL="0">
              <a:lnSpc>
                <a:spcPct val="125000"/>
              </a:lnSpc>
              <a:buNone/>
            </a:pPr>
            <a:r>
              <a:rPr lang="en-US" sz="1500" b="1" dirty="0">
                <a:solidFill>
                  <a:srgbClr val="21295C"/>
                </a:solidFill>
                <a:latin typeface="BIZ UDゴシック" pitchFamily="34" charset="0"/>
                <a:ea typeface="BIZ UDゴシック" pitchFamily="34" charset="-122"/>
                <a:cs typeface="BIZ UDゴシック" pitchFamily="34" charset="-120"/>
              </a:rPr>
              <a:t>Event-driven UI</a:t>
            </a:r>
            <a:endParaRPr lang="en-US" sz="1500" dirty="0"/>
          </a:p>
        </p:txBody>
      </p:sp>
      <p:sp>
        <p:nvSpPr>
          <p:cNvPr id="9" name="Text 7"/>
          <p:cNvSpPr/>
          <p:nvPr/>
        </p:nvSpPr>
        <p:spPr>
          <a:xfrm>
            <a:off x="1280160" y="1901952"/>
            <a:ext cx="10362895" cy="457200"/>
          </a:xfrm>
          <a:prstGeom prst="rect">
            <a:avLst/>
          </a:prstGeom>
          <a:noFill/>
          <a:ln/>
        </p:spPr>
        <p:txBody>
          <a:bodyPr wrap="square" lIns="0" tIns="0" rIns="0" bIns="0" rtlCol="0" anchor="t"/>
          <a:lstStyle/>
          <a:p>
            <a:pPr indent="0" marL="0">
              <a:lnSpc>
                <a:spcPct val="125000"/>
              </a:lnSpc>
              <a:buNone/>
            </a:pPr>
            <a:r>
              <a:rPr lang="en-US" sz="1400" dirty="0">
                <a:solidFill>
                  <a:srgbClr val="1A1A2E"/>
                </a:solidFill>
                <a:latin typeface="BIZ UDゴシック" pitchFamily="34" charset="0"/>
                <a:ea typeface="BIZ UDゴシック" pitchFamily="34" charset="-122"/>
                <a:cs typeface="BIZ UDゴシック" pitchFamily="34" charset="-120"/>
              </a:rPr>
              <a:t>AI処理を一括レスポンスとして扱わず、イベントストリームとして扱う。</a:t>
            </a:r>
            <a:endParaRPr lang="en-US" sz="1400" dirty="0"/>
          </a:p>
        </p:txBody>
      </p:sp>
      <p:sp>
        <p:nvSpPr>
          <p:cNvPr id="10" name="Shape 8"/>
          <p:cNvSpPr/>
          <p:nvPr/>
        </p:nvSpPr>
        <p:spPr>
          <a:xfrm>
            <a:off x="1280160" y="2423160"/>
            <a:ext cx="10362895" cy="1645920"/>
          </a:xfrm>
          <a:prstGeom prst="roundRect">
            <a:avLst>
              <a:gd name="adj" fmla="val 4444"/>
            </a:avLst>
          </a:prstGeom>
          <a:solidFill>
            <a:srgbClr val="21295C"/>
          </a:solidFill>
          <a:ln/>
        </p:spPr>
      </p:sp>
      <p:sp>
        <p:nvSpPr>
          <p:cNvPr id="11" name="Text 9"/>
          <p:cNvSpPr/>
          <p:nvPr/>
        </p:nvSpPr>
        <p:spPr>
          <a:xfrm>
            <a:off x="1600200" y="2606040"/>
            <a:ext cx="9722815" cy="1280160"/>
          </a:xfrm>
          <a:prstGeom prst="rect">
            <a:avLst/>
          </a:prstGeom>
          <a:noFill/>
          <a:ln/>
        </p:spPr>
        <p:txBody>
          <a:bodyPr wrap="square" lIns="0" tIns="0" rIns="0" bIns="0" rtlCol="0" anchor="ctr"/>
          <a:lstStyle/>
          <a:p>
            <a:pPr indent="0" marL="0">
              <a:lnSpc>
                <a:spcPct val="130000"/>
              </a:lnSpc>
              <a:buNone/>
            </a:pPr>
            <a:r>
              <a:rPr lang="en-US" sz="1400" dirty="0">
                <a:solidFill>
                  <a:srgbClr val="EAF2F6"/>
                </a:solidFill>
                <a:latin typeface="Consolas" pitchFamily="34" charset="0"/>
                <a:ea typeface="Consolas" pitchFamily="34" charset="-122"/>
                <a:cs typeface="Consolas" pitchFamily="34" charset="-120"/>
              </a:rPr>
              <a:t>RUN_STARTED</a:t>
            </a:r>
            <a:endParaRPr lang="en-US" sz="1400" dirty="0"/>
          </a:p>
          <a:p>
            <a:pPr indent="0" marL="0">
              <a:lnSpc>
                <a:spcPct val="130000"/>
              </a:lnSpc>
              <a:buNone/>
            </a:pPr>
            <a:r>
              <a:rPr lang="en-US" sz="1400" dirty="0">
                <a:solidFill>
                  <a:srgbClr val="EAF2F6"/>
                </a:solidFill>
                <a:latin typeface="Consolas" pitchFamily="34" charset="0"/>
                <a:ea typeface="Consolas" pitchFamily="34" charset="-122"/>
                <a:cs typeface="Consolas" pitchFamily="34" charset="-120"/>
              </a:rPr>
              <a:t>TOOL_CALL_STARTED</a:t>
            </a:r>
            <a:endParaRPr lang="en-US" sz="1400" dirty="0"/>
          </a:p>
          <a:p>
            <a:pPr indent="0" marL="0">
              <a:lnSpc>
                <a:spcPct val="130000"/>
              </a:lnSpc>
              <a:buNone/>
            </a:pPr>
            <a:r>
              <a:rPr lang="en-US" sz="1400" dirty="0">
                <a:solidFill>
                  <a:srgbClr val="EAF2F6"/>
                </a:solidFill>
                <a:latin typeface="Consolas" pitchFamily="34" charset="0"/>
                <a:ea typeface="Consolas" pitchFamily="34" charset="-122"/>
                <a:cs typeface="Consolas" pitchFamily="34" charset="-120"/>
              </a:rPr>
              <a:t>TOOL_CALL_RESULT</a:t>
            </a:r>
            <a:endParaRPr lang="en-US" sz="1400" dirty="0"/>
          </a:p>
          <a:p>
            <a:pPr indent="0" marL="0">
              <a:lnSpc>
                <a:spcPct val="130000"/>
              </a:lnSpc>
              <a:buNone/>
            </a:pPr>
            <a:r>
              <a:rPr lang="en-US" sz="1400" dirty="0">
                <a:solidFill>
                  <a:srgbClr val="EAF2F6"/>
                </a:solidFill>
                <a:latin typeface="Consolas" pitchFamily="34" charset="0"/>
                <a:ea typeface="Consolas" pitchFamily="34" charset="-122"/>
                <a:cs typeface="Consolas" pitchFamily="34" charset="-120"/>
              </a:rPr>
              <a:t>ANALYSIS_UPDATED</a:t>
            </a:r>
            <a:endParaRPr lang="en-US" sz="1400" dirty="0"/>
          </a:p>
          <a:p>
            <a:pPr indent="0" marL="0">
              <a:lnSpc>
                <a:spcPct val="130000"/>
              </a:lnSpc>
              <a:buNone/>
            </a:pPr>
            <a:r>
              <a:rPr lang="en-US" sz="1400" dirty="0">
                <a:solidFill>
                  <a:srgbClr val="EAF2F6"/>
                </a:solidFill>
                <a:latin typeface="Consolas" pitchFamily="34" charset="0"/>
                <a:ea typeface="Consolas" pitchFamily="34" charset="-122"/>
                <a:cs typeface="Consolas" pitchFamily="34" charset="-120"/>
              </a:rPr>
              <a:t>UI_UPDATED</a:t>
            </a:r>
            <a:endParaRPr lang="en-US" sz="1400" dirty="0"/>
          </a:p>
          <a:p>
            <a:pPr indent="0" marL="0">
              <a:lnSpc>
                <a:spcPct val="130000"/>
              </a:lnSpc>
              <a:buNone/>
            </a:pPr>
            <a:r>
              <a:rPr lang="en-US" sz="1400" dirty="0">
                <a:solidFill>
                  <a:srgbClr val="EAF2F6"/>
                </a:solidFill>
                <a:latin typeface="Consolas" pitchFamily="34" charset="0"/>
                <a:ea typeface="Consolas" pitchFamily="34" charset="-122"/>
                <a:cs typeface="Consolas" pitchFamily="34" charset="-120"/>
              </a:rPr>
              <a:t>RUN_FINISHED</a:t>
            </a:r>
            <a:endParaRPr lang="en-US" sz="1400" dirty="0"/>
          </a:p>
        </p:txBody>
      </p:sp>
      <p:sp>
        <p:nvSpPr>
          <p:cNvPr id="12" name="Text 10"/>
          <p:cNvSpPr/>
          <p:nvPr/>
        </p:nvSpPr>
        <p:spPr>
          <a:xfrm>
            <a:off x="1280160" y="4251960"/>
            <a:ext cx="10362895" cy="365760"/>
          </a:xfrm>
          <a:prstGeom prst="rect">
            <a:avLst/>
          </a:prstGeom>
          <a:noFill/>
          <a:ln/>
        </p:spPr>
        <p:txBody>
          <a:bodyPr wrap="square" lIns="0" tIns="0" rIns="0" bIns="0" rtlCol="0" anchor="t"/>
          <a:lstStyle/>
          <a:p>
            <a:pPr indent="0" marL="0">
              <a:lnSpc>
                <a:spcPct val="125000"/>
              </a:lnSpc>
              <a:buNone/>
            </a:pPr>
            <a:r>
              <a:rPr lang="en-US" sz="1500" b="1" dirty="0">
                <a:solidFill>
                  <a:srgbClr val="21295C"/>
                </a:solidFill>
                <a:latin typeface="BIZ UDゴシック" pitchFamily="34" charset="0"/>
                <a:ea typeface="BIZ UDゴシック" pitchFamily="34" charset="-122"/>
                <a:cs typeface="BIZ UDゴシック" pitchFamily="34" charset="-120"/>
              </a:rPr>
              <a:t>意義</a:t>
            </a:r>
            <a:endParaRPr lang="en-US" sz="1500" dirty="0"/>
          </a:p>
        </p:txBody>
      </p:sp>
      <p:sp>
        <p:nvSpPr>
          <p:cNvPr id="13" name="Text 11"/>
          <p:cNvSpPr/>
          <p:nvPr/>
        </p:nvSpPr>
        <p:spPr>
          <a:xfrm>
            <a:off x="1280160" y="4617720"/>
            <a:ext cx="10362895" cy="1005840"/>
          </a:xfrm>
          <a:prstGeom prst="rect">
            <a:avLst/>
          </a:prstGeom>
          <a:noFill/>
          <a:ln/>
        </p:spPr>
        <p:txBody>
          <a:bodyPr wrap="square" lIns="0" tIns="0" rIns="0" bIns="0" rtlCol="0" anchor="t"/>
          <a:lstStyle/>
          <a:p>
            <a:pPr indent="0" marL="0">
              <a:lnSpc>
                <a:spcPct val="125000"/>
              </a:lnSpc>
              <a:buNone/>
            </a:pPr>
            <a:r>
              <a:rPr lang="en-US" sz="1350" dirty="0">
                <a:solidFill>
                  <a:srgbClr val="1A1A2E"/>
                </a:solidFill>
                <a:latin typeface="BIZ UDゴシック" pitchFamily="34" charset="0"/>
                <a:ea typeface="BIZ UDゴシック" pitchFamily="34" charset="-122"/>
                <a:cs typeface="BIZ UDゴシック" pitchFamily="34" charset="-120"/>
              </a:rPr>
              <a:t>ユーザーはAIが何をしているかを確認できる。特に監視・障害解析では、「AIが止まっているのか」「Splunkを検索中なのか」「New Relicを確認中なのか」が分かることは重要。</a:t>
            </a:r>
            <a:endParaRPr lang="en-US" sz="13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502920"/>
            <a:ext cx="566928" cy="566928"/>
          </a:xfrm>
          <a:prstGeom prst="ellipse">
            <a:avLst/>
          </a:prstGeom>
          <a:solidFill>
            <a:srgbClr val="21295C"/>
          </a:solidFill>
          <a:ln/>
        </p:spPr>
      </p:sp>
      <p:sp>
        <p:nvSpPr>
          <p:cNvPr id="3" name="Text 1"/>
          <p:cNvSpPr/>
          <p:nvPr/>
        </p:nvSpPr>
        <p:spPr>
          <a:xfrm>
            <a:off x="548640" y="502920"/>
            <a:ext cx="566928" cy="566928"/>
          </a:xfrm>
          <a:prstGeom prst="rect">
            <a:avLst/>
          </a:prstGeom>
          <a:noFill/>
          <a:ln/>
        </p:spPr>
        <p:txBody>
          <a:bodyPr wrap="square" lIns="0" tIns="0" rIns="0" bIns="0" rtlCol="0" anchor="ctr"/>
          <a:lstStyle/>
          <a:p>
            <a:pPr algn="ctr" indent="0" marL="0">
              <a:buNone/>
            </a:pPr>
            <a:r>
              <a:rPr lang="en-US" sz="1500" b="1" dirty="0">
                <a:solidFill>
                  <a:srgbClr val="FFFFFF"/>
                </a:solidFill>
                <a:latin typeface="BIZ UDゴシック" pitchFamily="34" charset="0"/>
                <a:ea typeface="BIZ UDゴシック" pitchFamily="34" charset="-122"/>
                <a:cs typeface="BIZ UDゴシック" pitchFamily="34" charset="-120"/>
              </a:rPr>
              <a:t>19</a:t>
            </a:r>
            <a:endParaRPr lang="en-US" sz="1500" dirty="0"/>
          </a:p>
        </p:txBody>
      </p:sp>
      <p:sp>
        <p:nvSpPr>
          <p:cNvPr id="4" name="Text 2"/>
          <p:cNvSpPr/>
          <p:nvPr/>
        </p:nvSpPr>
        <p:spPr>
          <a:xfrm>
            <a:off x="1280160" y="438912"/>
            <a:ext cx="10362895" cy="274320"/>
          </a:xfrm>
          <a:prstGeom prst="rect">
            <a:avLst/>
          </a:prstGeom>
          <a:noFill/>
          <a:ln/>
        </p:spPr>
        <p:txBody>
          <a:bodyPr wrap="square" lIns="0" tIns="0" rIns="0" bIns="0" rtlCol="0" anchor="ctr"/>
          <a:lstStyle/>
          <a:p>
            <a:pPr indent="0" marL="0">
              <a:buNone/>
            </a:pPr>
            <a:r>
              <a:rPr lang="en-US" sz="1100" b="1" spc="100" kern="0" dirty="0">
                <a:solidFill>
                  <a:srgbClr val="1C7293"/>
                </a:solidFill>
                <a:latin typeface="BIZ UDゴシック" pitchFamily="34" charset="0"/>
                <a:ea typeface="BIZ UDゴシック" pitchFamily="34" charset="-122"/>
                <a:cs typeface="BIZ UDゴシック" pitchFamily="34" charset="-120"/>
              </a:rPr>
              <a:t>SECTION 19</a:t>
            </a:r>
            <a:endParaRPr lang="en-US" sz="1100" dirty="0"/>
          </a:p>
        </p:txBody>
      </p:sp>
      <p:sp>
        <p:nvSpPr>
          <p:cNvPr id="5" name="Text 3"/>
          <p:cNvSpPr/>
          <p:nvPr/>
        </p:nvSpPr>
        <p:spPr>
          <a:xfrm>
            <a:off x="1280160" y="713232"/>
            <a:ext cx="10362895" cy="566928"/>
          </a:xfrm>
          <a:prstGeom prst="rect">
            <a:avLst/>
          </a:prstGeom>
          <a:noFill/>
          <a:ln/>
        </p:spPr>
        <p:txBody>
          <a:bodyPr wrap="square" lIns="0" tIns="0" rIns="0" bIns="0" rtlCol="0" anchor="t"/>
          <a:lstStyle/>
          <a:p>
            <a:pPr indent="0" marL="0">
              <a:buNone/>
            </a:pPr>
            <a:r>
              <a:rPr lang="en-US" sz="2500" b="1" dirty="0">
                <a:solidFill>
                  <a:srgbClr val="1A1A2E"/>
                </a:solidFill>
                <a:latin typeface="BIZ UDゴシック" pitchFamily="34" charset="0"/>
                <a:ea typeface="BIZ UDゴシック" pitchFamily="34" charset="-122"/>
                <a:cs typeface="BIZ UDゴシック" pitchFamily="34" charset="-120"/>
              </a:rPr>
              <a:t>A2UI と AG-UI の関係</a:t>
            </a:r>
            <a:endParaRPr lang="en-US" sz="2500" dirty="0"/>
          </a:p>
        </p:txBody>
      </p:sp>
      <p:sp>
        <p:nvSpPr>
          <p:cNvPr id="6" name="Text 4"/>
          <p:cNvSpPr/>
          <p:nvPr/>
        </p:nvSpPr>
        <p:spPr>
          <a:xfrm>
            <a:off x="548640" y="6446520"/>
            <a:ext cx="4572000" cy="274320"/>
          </a:xfrm>
          <a:prstGeom prst="rect">
            <a:avLst/>
          </a:prstGeom>
          <a:noFill/>
          <a:ln/>
        </p:spPr>
        <p:txBody>
          <a:bodyPr wrap="square" lIns="0" tIns="0" rIns="0" bIns="0" rtlCol="0" anchor="ctr"/>
          <a:lstStyle/>
          <a:p>
            <a:pPr indent="0" marL="0">
              <a:buNone/>
            </a:pPr>
            <a:r>
              <a:rPr lang="en-US" sz="900" dirty="0">
                <a:solidFill>
                  <a:srgbClr val="5C6B73"/>
                </a:solidFill>
                <a:latin typeface="BIZ UDゴシック" pitchFamily="34" charset="0"/>
                <a:ea typeface="BIZ UDゴシック" pitchFamily="34" charset="-122"/>
                <a:cs typeface="BIZ UDゴシック" pitchFamily="34" charset="-120"/>
              </a:rPr>
              <a:t>Observability AI PoC</a:t>
            </a:r>
            <a:endParaRPr lang="en-US" sz="900" dirty="0"/>
          </a:p>
        </p:txBody>
      </p:sp>
      <p:sp>
        <p:nvSpPr>
          <p:cNvPr id="7" name="Text 5"/>
          <p:cNvSpPr/>
          <p:nvPr/>
        </p:nvSpPr>
        <p:spPr>
          <a:xfrm>
            <a:off x="9814255" y="6446520"/>
            <a:ext cx="1828800" cy="274320"/>
          </a:xfrm>
          <a:prstGeom prst="rect">
            <a:avLst/>
          </a:prstGeom>
          <a:noFill/>
          <a:ln/>
        </p:spPr>
        <p:txBody>
          <a:bodyPr wrap="square" lIns="0" tIns="0" rIns="0" bIns="0" rtlCol="0" anchor="ctr"/>
          <a:lstStyle/>
          <a:p>
            <a:pPr algn="r" indent="0" marL="0">
              <a:buNone/>
            </a:pPr>
            <a:r>
              <a:rPr lang="en-US" sz="900" dirty="0">
                <a:solidFill>
                  <a:srgbClr val="5C6B73"/>
                </a:solidFill>
                <a:latin typeface="BIZ UDゴシック" pitchFamily="34" charset="0"/>
                <a:ea typeface="BIZ UDゴシック" pitchFamily="34" charset="-122"/>
                <a:cs typeface="BIZ UDゴシック" pitchFamily="34" charset="-120"/>
              </a:rPr>
              <a:t>19</a:t>
            </a:r>
            <a:endParaRPr lang="en-US" sz="900" dirty="0"/>
          </a:p>
        </p:txBody>
      </p:sp>
      <p:sp>
        <p:nvSpPr>
          <p:cNvPr id="8" name="Text 6"/>
          <p:cNvSpPr/>
          <p:nvPr/>
        </p:nvSpPr>
        <p:spPr>
          <a:xfrm>
            <a:off x="1280160" y="1536192"/>
            <a:ext cx="10362895" cy="365760"/>
          </a:xfrm>
          <a:prstGeom prst="rect">
            <a:avLst/>
          </a:prstGeom>
          <a:noFill/>
          <a:ln/>
        </p:spPr>
        <p:txBody>
          <a:bodyPr wrap="square" lIns="0" tIns="0" rIns="0" bIns="0" rtlCol="0" anchor="t"/>
          <a:lstStyle/>
          <a:p>
            <a:pPr indent="0" marL="0">
              <a:lnSpc>
                <a:spcPct val="125000"/>
              </a:lnSpc>
              <a:buNone/>
            </a:pPr>
            <a:r>
              <a:rPr lang="en-US" sz="1500" dirty="0">
                <a:solidFill>
                  <a:srgbClr val="1A1A2E"/>
                </a:solidFill>
                <a:latin typeface="BIZ UDゴシック" pitchFamily="34" charset="0"/>
                <a:ea typeface="BIZ UDゴシック" pitchFamily="34" charset="-122"/>
                <a:cs typeface="BIZ UDゴシック" pitchFamily="34" charset="-120"/>
              </a:rPr>
              <a:t>A2UIとAG-UIは競合するものではない。</a:t>
            </a:r>
            <a:endParaRPr lang="en-US" sz="1500" dirty="0"/>
          </a:p>
        </p:txBody>
      </p:sp>
      <p:sp>
        <p:nvSpPr>
          <p:cNvPr id="9" name="Shape 7"/>
          <p:cNvSpPr/>
          <p:nvPr/>
        </p:nvSpPr>
        <p:spPr>
          <a:xfrm>
            <a:off x="1280160" y="1965960"/>
            <a:ext cx="4998568" cy="1005840"/>
          </a:xfrm>
          <a:prstGeom prst="roundRect">
            <a:avLst>
              <a:gd name="adj" fmla="val 7273"/>
            </a:avLst>
          </a:prstGeom>
          <a:solidFill>
            <a:srgbClr val="EAF2F6"/>
          </a:solidFill>
          <a:ln/>
        </p:spPr>
      </p:sp>
      <p:sp>
        <p:nvSpPr>
          <p:cNvPr id="10" name="Text 8"/>
          <p:cNvSpPr/>
          <p:nvPr/>
        </p:nvSpPr>
        <p:spPr>
          <a:xfrm>
            <a:off x="1463040" y="2148840"/>
            <a:ext cx="4632808" cy="640080"/>
          </a:xfrm>
          <a:prstGeom prst="rect">
            <a:avLst/>
          </a:prstGeom>
          <a:noFill/>
          <a:ln/>
        </p:spPr>
        <p:txBody>
          <a:bodyPr wrap="square" lIns="0" tIns="0" rIns="0" bIns="0" rtlCol="0" anchor="t"/>
          <a:lstStyle/>
          <a:p>
            <a:pPr indent="0" marL="0">
              <a:lnSpc>
                <a:spcPct val="125000"/>
              </a:lnSpc>
              <a:buNone/>
            </a:pPr>
            <a:r>
              <a:rPr lang="en-US" sz="1300" b="1" dirty="0">
                <a:solidFill>
                  <a:srgbClr val="065A82"/>
                </a:solidFill>
                <a:latin typeface="BIZ UDゴシック" pitchFamily="34" charset="0"/>
                <a:ea typeface="BIZ UDゴシック" pitchFamily="34" charset="-122"/>
                <a:cs typeface="BIZ UDゴシック" pitchFamily="34" charset="-120"/>
              </a:rPr>
              <a:t>AG-UI：AI処理の進行・イベントをUIへ伝える</a:t>
            </a:r>
            <a:endParaRPr lang="en-US" sz="1300" dirty="0"/>
          </a:p>
        </p:txBody>
      </p:sp>
      <p:sp>
        <p:nvSpPr>
          <p:cNvPr id="11" name="Shape 9"/>
          <p:cNvSpPr/>
          <p:nvPr/>
        </p:nvSpPr>
        <p:spPr>
          <a:xfrm>
            <a:off x="6644488" y="1965960"/>
            <a:ext cx="4998568" cy="1005840"/>
          </a:xfrm>
          <a:prstGeom prst="roundRect">
            <a:avLst>
              <a:gd name="adj" fmla="val 7273"/>
            </a:avLst>
          </a:prstGeom>
          <a:solidFill>
            <a:srgbClr val="EAF2F6"/>
          </a:solidFill>
          <a:ln/>
        </p:spPr>
      </p:sp>
      <p:sp>
        <p:nvSpPr>
          <p:cNvPr id="12" name="Text 10"/>
          <p:cNvSpPr/>
          <p:nvPr/>
        </p:nvSpPr>
        <p:spPr>
          <a:xfrm>
            <a:off x="6827368" y="2148840"/>
            <a:ext cx="4632808" cy="640080"/>
          </a:xfrm>
          <a:prstGeom prst="rect">
            <a:avLst/>
          </a:prstGeom>
          <a:noFill/>
          <a:ln/>
        </p:spPr>
        <p:txBody>
          <a:bodyPr wrap="square" lIns="0" tIns="0" rIns="0" bIns="0" rtlCol="0" anchor="t"/>
          <a:lstStyle/>
          <a:p>
            <a:pPr indent="0" marL="0">
              <a:lnSpc>
                <a:spcPct val="125000"/>
              </a:lnSpc>
              <a:buNone/>
            </a:pPr>
            <a:r>
              <a:rPr lang="en-US" sz="1300" b="1" dirty="0">
                <a:solidFill>
                  <a:srgbClr val="065A82"/>
                </a:solidFill>
                <a:latin typeface="BIZ UDゴシック" pitchFamily="34" charset="0"/>
                <a:ea typeface="BIZ UDゴシック" pitchFamily="34" charset="-122"/>
                <a:cs typeface="BIZ UDゴシック" pitchFamily="34" charset="-120"/>
              </a:rPr>
              <a:t>A2UI：最終的に何をどう表示するかを定義する</a:t>
            </a:r>
            <a:endParaRPr lang="en-US" sz="1300" dirty="0"/>
          </a:p>
        </p:txBody>
      </p:sp>
      <p:sp>
        <p:nvSpPr>
          <p:cNvPr id="13" name="Shape 11"/>
          <p:cNvSpPr/>
          <p:nvPr/>
        </p:nvSpPr>
        <p:spPr>
          <a:xfrm>
            <a:off x="1280160" y="3383280"/>
            <a:ext cx="1574749" cy="685800"/>
          </a:xfrm>
          <a:prstGeom prst="roundRect">
            <a:avLst>
              <a:gd name="adj" fmla="val 9333"/>
            </a:avLst>
          </a:prstGeom>
          <a:solidFill>
            <a:srgbClr val="065A82"/>
          </a:solidFill>
          <a:ln/>
        </p:spPr>
      </p:sp>
      <p:sp>
        <p:nvSpPr>
          <p:cNvPr id="14" name="Text 12"/>
          <p:cNvSpPr/>
          <p:nvPr/>
        </p:nvSpPr>
        <p:spPr>
          <a:xfrm>
            <a:off x="1280160" y="3383280"/>
            <a:ext cx="1574749" cy="685800"/>
          </a:xfrm>
          <a:prstGeom prst="rect">
            <a:avLst/>
          </a:prstGeom>
          <a:noFill/>
          <a:ln/>
        </p:spPr>
        <p:txBody>
          <a:bodyPr wrap="square" lIns="25400" tIns="25400" rIns="25400" bIns="25400" rtlCol="0" anchor="ctr"/>
          <a:lstStyle/>
          <a:p>
            <a:pPr algn="ctr" indent="0" marL="0">
              <a:lnSpc>
                <a:spcPct val="105000"/>
              </a:lnSpc>
              <a:buNone/>
            </a:pPr>
            <a:r>
              <a:rPr lang="en-US" sz="1050" b="1" dirty="0">
                <a:solidFill>
                  <a:srgbClr val="FFFFFF"/>
                </a:solidFill>
                <a:latin typeface="BIZ UDゴシック" pitchFamily="34" charset="0"/>
                <a:ea typeface="BIZ UDゴシック" pitchFamily="34" charset="-122"/>
                <a:cs typeface="BIZ UDゴシック" pitchFamily="34" charset="-120"/>
              </a:rPr>
              <a:t>Observability</a:t>
            </a:r>
            <a:endParaRPr lang="en-US" sz="1050" dirty="0"/>
          </a:p>
          <a:p>
            <a:pPr algn="ctr" indent="0" marL="0">
              <a:lnSpc>
                <a:spcPct val="105000"/>
              </a:lnSpc>
              <a:buNone/>
            </a:pPr>
            <a:r>
              <a:rPr lang="en-US" sz="1050" b="1" dirty="0">
                <a:solidFill>
                  <a:srgbClr val="FFFFFF"/>
                </a:solidFill>
                <a:latin typeface="BIZ UDゴシック" pitchFamily="34" charset="0"/>
                <a:ea typeface="BIZ UDゴシック" pitchFamily="34" charset="-122"/>
                <a:cs typeface="BIZ UDゴシック" pitchFamily="34" charset="-120"/>
              </a:rPr>
              <a:t>Data</a:t>
            </a:r>
            <a:endParaRPr lang="en-US" sz="1050" dirty="0"/>
          </a:p>
        </p:txBody>
      </p:sp>
      <p:sp>
        <p:nvSpPr>
          <p:cNvPr id="15" name="Shape 13"/>
          <p:cNvSpPr/>
          <p:nvPr/>
        </p:nvSpPr>
        <p:spPr>
          <a:xfrm>
            <a:off x="2854909" y="3639312"/>
            <a:ext cx="146304" cy="164592"/>
          </a:xfrm>
          <a:prstGeom prst="rightArrow">
            <a:avLst/>
          </a:prstGeom>
          <a:solidFill>
            <a:srgbClr val="5C6B73"/>
          </a:solidFill>
          <a:ln/>
        </p:spPr>
      </p:sp>
      <p:sp>
        <p:nvSpPr>
          <p:cNvPr id="16" name="Shape 14"/>
          <p:cNvSpPr/>
          <p:nvPr/>
        </p:nvSpPr>
        <p:spPr>
          <a:xfrm>
            <a:off x="3037789" y="3383280"/>
            <a:ext cx="1574749" cy="685800"/>
          </a:xfrm>
          <a:prstGeom prst="roundRect">
            <a:avLst>
              <a:gd name="adj" fmla="val 9333"/>
            </a:avLst>
          </a:prstGeom>
          <a:solidFill>
            <a:srgbClr val="065A82"/>
          </a:solidFill>
          <a:ln/>
        </p:spPr>
      </p:sp>
      <p:sp>
        <p:nvSpPr>
          <p:cNvPr id="17" name="Text 15"/>
          <p:cNvSpPr/>
          <p:nvPr/>
        </p:nvSpPr>
        <p:spPr>
          <a:xfrm>
            <a:off x="3037789" y="3383280"/>
            <a:ext cx="1574749" cy="685800"/>
          </a:xfrm>
          <a:prstGeom prst="rect">
            <a:avLst/>
          </a:prstGeom>
          <a:noFill/>
          <a:ln/>
        </p:spPr>
        <p:txBody>
          <a:bodyPr wrap="square" lIns="25400" tIns="25400" rIns="25400" bIns="25400" rtlCol="0" anchor="ctr"/>
          <a:lstStyle/>
          <a:p>
            <a:pPr algn="ctr" indent="0" marL="0">
              <a:lnSpc>
                <a:spcPct val="105000"/>
              </a:lnSpc>
              <a:buNone/>
            </a:pPr>
            <a:r>
              <a:rPr lang="en-US" sz="1050" b="1" dirty="0">
                <a:solidFill>
                  <a:srgbClr val="FFFFFF"/>
                </a:solidFill>
                <a:latin typeface="BIZ UDゴシック" pitchFamily="34" charset="0"/>
                <a:ea typeface="BIZ UDゴシック" pitchFamily="34" charset="-122"/>
                <a:cs typeface="BIZ UDゴシック" pitchFamily="34" charset="-120"/>
              </a:rPr>
              <a:t>Evidence</a:t>
            </a:r>
            <a:endParaRPr lang="en-US" sz="1050" dirty="0"/>
          </a:p>
        </p:txBody>
      </p:sp>
      <p:sp>
        <p:nvSpPr>
          <p:cNvPr id="18" name="Shape 16"/>
          <p:cNvSpPr/>
          <p:nvPr/>
        </p:nvSpPr>
        <p:spPr>
          <a:xfrm>
            <a:off x="4612538" y="3639312"/>
            <a:ext cx="146304" cy="164592"/>
          </a:xfrm>
          <a:prstGeom prst="rightArrow">
            <a:avLst/>
          </a:prstGeom>
          <a:solidFill>
            <a:srgbClr val="5C6B73"/>
          </a:solidFill>
          <a:ln/>
        </p:spPr>
      </p:sp>
      <p:sp>
        <p:nvSpPr>
          <p:cNvPr id="19" name="Shape 17"/>
          <p:cNvSpPr/>
          <p:nvPr/>
        </p:nvSpPr>
        <p:spPr>
          <a:xfrm>
            <a:off x="4795418" y="3383280"/>
            <a:ext cx="1574749" cy="685800"/>
          </a:xfrm>
          <a:prstGeom prst="roundRect">
            <a:avLst>
              <a:gd name="adj" fmla="val 9333"/>
            </a:avLst>
          </a:prstGeom>
          <a:solidFill>
            <a:srgbClr val="1C7293"/>
          </a:solidFill>
          <a:ln/>
        </p:spPr>
      </p:sp>
      <p:sp>
        <p:nvSpPr>
          <p:cNvPr id="20" name="Text 18"/>
          <p:cNvSpPr/>
          <p:nvPr/>
        </p:nvSpPr>
        <p:spPr>
          <a:xfrm>
            <a:off x="4795418" y="3383280"/>
            <a:ext cx="1574749" cy="685800"/>
          </a:xfrm>
          <a:prstGeom prst="rect">
            <a:avLst/>
          </a:prstGeom>
          <a:noFill/>
          <a:ln/>
        </p:spPr>
        <p:txBody>
          <a:bodyPr wrap="square" lIns="25400" tIns="25400" rIns="25400" bIns="25400" rtlCol="0" anchor="ctr"/>
          <a:lstStyle/>
          <a:p>
            <a:pPr algn="ctr" indent="0" marL="0">
              <a:lnSpc>
                <a:spcPct val="105000"/>
              </a:lnSpc>
              <a:buNone/>
            </a:pPr>
            <a:r>
              <a:rPr lang="en-US" sz="1050" b="1" dirty="0">
                <a:solidFill>
                  <a:srgbClr val="FFFFFF"/>
                </a:solidFill>
                <a:latin typeface="BIZ UDゴシック" pitchFamily="34" charset="0"/>
                <a:ea typeface="BIZ UDゴシック" pitchFamily="34" charset="-122"/>
                <a:cs typeface="BIZ UDゴシック" pitchFamily="34" charset="-120"/>
              </a:rPr>
              <a:t>LLM / Agent</a:t>
            </a:r>
            <a:endParaRPr lang="en-US" sz="1050" dirty="0"/>
          </a:p>
        </p:txBody>
      </p:sp>
      <p:sp>
        <p:nvSpPr>
          <p:cNvPr id="21" name="Shape 19"/>
          <p:cNvSpPr/>
          <p:nvPr/>
        </p:nvSpPr>
        <p:spPr>
          <a:xfrm>
            <a:off x="6370168" y="3639312"/>
            <a:ext cx="146304" cy="164592"/>
          </a:xfrm>
          <a:prstGeom prst="rightArrow">
            <a:avLst/>
          </a:prstGeom>
          <a:solidFill>
            <a:srgbClr val="5C6B73"/>
          </a:solidFill>
          <a:ln/>
        </p:spPr>
      </p:sp>
      <p:sp>
        <p:nvSpPr>
          <p:cNvPr id="22" name="Shape 20"/>
          <p:cNvSpPr/>
          <p:nvPr/>
        </p:nvSpPr>
        <p:spPr>
          <a:xfrm>
            <a:off x="6553048" y="3383280"/>
            <a:ext cx="1574749" cy="685800"/>
          </a:xfrm>
          <a:prstGeom prst="roundRect">
            <a:avLst>
              <a:gd name="adj" fmla="val 9333"/>
            </a:avLst>
          </a:prstGeom>
          <a:solidFill>
            <a:srgbClr val="21295C"/>
          </a:solidFill>
          <a:ln/>
        </p:spPr>
      </p:sp>
      <p:sp>
        <p:nvSpPr>
          <p:cNvPr id="23" name="Text 21"/>
          <p:cNvSpPr/>
          <p:nvPr/>
        </p:nvSpPr>
        <p:spPr>
          <a:xfrm>
            <a:off x="6553048" y="3383280"/>
            <a:ext cx="1574749" cy="685800"/>
          </a:xfrm>
          <a:prstGeom prst="rect">
            <a:avLst/>
          </a:prstGeom>
          <a:noFill/>
          <a:ln/>
        </p:spPr>
        <p:txBody>
          <a:bodyPr wrap="square" lIns="25400" tIns="25400" rIns="25400" bIns="25400" rtlCol="0" anchor="ctr"/>
          <a:lstStyle/>
          <a:p>
            <a:pPr algn="ctr" indent="0" marL="0">
              <a:lnSpc>
                <a:spcPct val="105000"/>
              </a:lnSpc>
              <a:buNone/>
            </a:pPr>
            <a:r>
              <a:rPr lang="en-US" sz="1050" b="1" dirty="0">
                <a:solidFill>
                  <a:srgbClr val="FFFFFF"/>
                </a:solidFill>
                <a:latin typeface="BIZ UDゴシック" pitchFamily="34" charset="0"/>
                <a:ea typeface="BIZ UDゴシック" pitchFamily="34" charset="-122"/>
                <a:cs typeface="BIZ UDゴシック" pitchFamily="34" charset="-120"/>
              </a:rPr>
              <a:t>AG-UI Event</a:t>
            </a:r>
            <a:endParaRPr lang="en-US" sz="1050" dirty="0"/>
          </a:p>
        </p:txBody>
      </p:sp>
      <p:sp>
        <p:nvSpPr>
          <p:cNvPr id="24" name="Shape 22"/>
          <p:cNvSpPr/>
          <p:nvPr/>
        </p:nvSpPr>
        <p:spPr>
          <a:xfrm>
            <a:off x="8127797" y="3639312"/>
            <a:ext cx="146304" cy="164592"/>
          </a:xfrm>
          <a:prstGeom prst="rightArrow">
            <a:avLst/>
          </a:prstGeom>
          <a:solidFill>
            <a:srgbClr val="5C6B73"/>
          </a:solidFill>
          <a:ln/>
        </p:spPr>
      </p:sp>
      <p:sp>
        <p:nvSpPr>
          <p:cNvPr id="25" name="Shape 23"/>
          <p:cNvSpPr/>
          <p:nvPr/>
        </p:nvSpPr>
        <p:spPr>
          <a:xfrm>
            <a:off x="8310677" y="3383280"/>
            <a:ext cx="1574749" cy="685800"/>
          </a:xfrm>
          <a:prstGeom prst="roundRect">
            <a:avLst>
              <a:gd name="adj" fmla="val 9333"/>
            </a:avLst>
          </a:prstGeom>
          <a:solidFill>
            <a:srgbClr val="21295C"/>
          </a:solidFill>
          <a:ln/>
        </p:spPr>
      </p:sp>
      <p:sp>
        <p:nvSpPr>
          <p:cNvPr id="26" name="Text 24"/>
          <p:cNvSpPr/>
          <p:nvPr/>
        </p:nvSpPr>
        <p:spPr>
          <a:xfrm>
            <a:off x="8310677" y="3383280"/>
            <a:ext cx="1574749" cy="685800"/>
          </a:xfrm>
          <a:prstGeom prst="rect">
            <a:avLst/>
          </a:prstGeom>
          <a:noFill/>
          <a:ln/>
        </p:spPr>
        <p:txBody>
          <a:bodyPr wrap="square" lIns="25400" tIns="25400" rIns="25400" bIns="25400" rtlCol="0" anchor="ctr"/>
          <a:lstStyle/>
          <a:p>
            <a:pPr algn="ctr" indent="0" marL="0">
              <a:lnSpc>
                <a:spcPct val="105000"/>
              </a:lnSpc>
              <a:buNone/>
            </a:pPr>
            <a:r>
              <a:rPr lang="en-US" sz="1050" b="1" dirty="0">
                <a:solidFill>
                  <a:srgbClr val="FFFFFF"/>
                </a:solidFill>
                <a:latin typeface="BIZ UDゴシック" pitchFamily="34" charset="0"/>
                <a:ea typeface="BIZ UDゴシック" pitchFamily="34" charset="-122"/>
                <a:cs typeface="BIZ UDゴシック" pitchFamily="34" charset="-120"/>
              </a:rPr>
              <a:t>A2UI UI定義</a:t>
            </a:r>
            <a:endParaRPr lang="en-US" sz="1050" dirty="0"/>
          </a:p>
        </p:txBody>
      </p:sp>
      <p:sp>
        <p:nvSpPr>
          <p:cNvPr id="27" name="Shape 25"/>
          <p:cNvSpPr/>
          <p:nvPr/>
        </p:nvSpPr>
        <p:spPr>
          <a:xfrm>
            <a:off x="9885426" y="3639312"/>
            <a:ext cx="146304" cy="164592"/>
          </a:xfrm>
          <a:prstGeom prst="rightArrow">
            <a:avLst/>
          </a:prstGeom>
          <a:solidFill>
            <a:srgbClr val="5C6B73"/>
          </a:solidFill>
          <a:ln/>
        </p:spPr>
      </p:sp>
      <p:sp>
        <p:nvSpPr>
          <p:cNvPr id="28" name="Shape 26"/>
          <p:cNvSpPr/>
          <p:nvPr/>
        </p:nvSpPr>
        <p:spPr>
          <a:xfrm>
            <a:off x="10068306" y="3383280"/>
            <a:ext cx="1574749" cy="685800"/>
          </a:xfrm>
          <a:prstGeom prst="roundRect">
            <a:avLst>
              <a:gd name="adj" fmla="val 9333"/>
            </a:avLst>
          </a:prstGeom>
          <a:solidFill>
            <a:srgbClr val="065A82"/>
          </a:solidFill>
          <a:ln/>
        </p:spPr>
      </p:sp>
      <p:sp>
        <p:nvSpPr>
          <p:cNvPr id="29" name="Text 27"/>
          <p:cNvSpPr/>
          <p:nvPr/>
        </p:nvSpPr>
        <p:spPr>
          <a:xfrm>
            <a:off x="10068306" y="3383280"/>
            <a:ext cx="1574749" cy="685800"/>
          </a:xfrm>
          <a:prstGeom prst="rect">
            <a:avLst/>
          </a:prstGeom>
          <a:noFill/>
          <a:ln/>
        </p:spPr>
        <p:txBody>
          <a:bodyPr wrap="square" lIns="25400" tIns="25400" rIns="25400" bIns="25400" rtlCol="0" anchor="ctr"/>
          <a:lstStyle/>
          <a:p>
            <a:pPr algn="ctr" indent="0" marL="0">
              <a:lnSpc>
                <a:spcPct val="105000"/>
              </a:lnSpc>
              <a:buNone/>
            </a:pPr>
            <a:r>
              <a:rPr lang="en-US" sz="1050" b="1" dirty="0">
                <a:solidFill>
                  <a:srgbClr val="FFFFFF"/>
                </a:solidFill>
                <a:latin typeface="BIZ UDゴシック" pitchFamily="34" charset="0"/>
                <a:ea typeface="BIZ UDゴシック" pitchFamily="34" charset="-122"/>
                <a:cs typeface="BIZ UDゴシック" pitchFamily="34" charset="-120"/>
              </a:rPr>
              <a:t>React</a:t>
            </a:r>
            <a:endParaRPr lang="en-US" sz="1050" dirty="0"/>
          </a:p>
        </p:txBody>
      </p:sp>
      <p:sp>
        <p:nvSpPr>
          <p:cNvPr id="30" name="Text 28"/>
          <p:cNvSpPr/>
          <p:nvPr/>
        </p:nvSpPr>
        <p:spPr>
          <a:xfrm>
            <a:off x="1280160" y="4389120"/>
            <a:ext cx="10362895" cy="365760"/>
          </a:xfrm>
          <a:prstGeom prst="rect">
            <a:avLst/>
          </a:prstGeom>
          <a:noFill/>
          <a:ln/>
        </p:spPr>
        <p:txBody>
          <a:bodyPr wrap="square" lIns="0" tIns="0" rIns="0" bIns="0" rtlCol="0" anchor="t"/>
          <a:lstStyle/>
          <a:p>
            <a:pPr indent="0" marL="0">
              <a:lnSpc>
                <a:spcPct val="125000"/>
              </a:lnSpc>
              <a:buNone/>
            </a:pPr>
            <a:r>
              <a:rPr lang="en-US" sz="1400" i="1" dirty="0">
                <a:solidFill>
                  <a:srgbClr val="065A82"/>
                </a:solidFill>
                <a:latin typeface="BIZ UDゴシック" pitchFamily="34" charset="0"/>
                <a:ea typeface="BIZ UDゴシック" pitchFamily="34" charset="-122"/>
                <a:cs typeface="BIZ UDゴシック" pitchFamily="34" charset="-120"/>
              </a:rPr>
              <a:t>本PoCでは、この役割分担で利用する。</a:t>
            </a:r>
            <a:endParaRPr lang="en-US" sz="14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502920"/>
            <a:ext cx="566928" cy="566928"/>
          </a:xfrm>
          <a:prstGeom prst="ellipse">
            <a:avLst/>
          </a:prstGeom>
          <a:solidFill>
            <a:srgbClr val="21295C"/>
          </a:solidFill>
          <a:ln/>
        </p:spPr>
      </p:sp>
      <p:sp>
        <p:nvSpPr>
          <p:cNvPr id="3" name="Text 1"/>
          <p:cNvSpPr/>
          <p:nvPr/>
        </p:nvSpPr>
        <p:spPr>
          <a:xfrm>
            <a:off x="548640" y="502920"/>
            <a:ext cx="566928" cy="566928"/>
          </a:xfrm>
          <a:prstGeom prst="rect">
            <a:avLst/>
          </a:prstGeom>
          <a:noFill/>
          <a:ln/>
        </p:spPr>
        <p:txBody>
          <a:bodyPr wrap="square" lIns="0" tIns="0" rIns="0" bIns="0" rtlCol="0" anchor="ctr"/>
          <a:lstStyle/>
          <a:p>
            <a:pPr algn="ctr" indent="0" marL="0">
              <a:buNone/>
            </a:pPr>
            <a:r>
              <a:rPr lang="en-US" sz="1500" b="1" dirty="0">
                <a:solidFill>
                  <a:srgbClr val="FFFFFF"/>
                </a:solidFill>
                <a:latin typeface="BIZ UDゴシック" pitchFamily="34" charset="0"/>
                <a:ea typeface="BIZ UDゴシック" pitchFamily="34" charset="-122"/>
                <a:cs typeface="BIZ UDゴシック" pitchFamily="34" charset="-120"/>
              </a:rPr>
              <a:t>20</a:t>
            </a:r>
            <a:endParaRPr lang="en-US" sz="1500" dirty="0"/>
          </a:p>
        </p:txBody>
      </p:sp>
      <p:sp>
        <p:nvSpPr>
          <p:cNvPr id="4" name="Text 2"/>
          <p:cNvSpPr/>
          <p:nvPr/>
        </p:nvSpPr>
        <p:spPr>
          <a:xfrm>
            <a:off x="1280160" y="438912"/>
            <a:ext cx="10362895" cy="274320"/>
          </a:xfrm>
          <a:prstGeom prst="rect">
            <a:avLst/>
          </a:prstGeom>
          <a:noFill/>
          <a:ln/>
        </p:spPr>
        <p:txBody>
          <a:bodyPr wrap="square" lIns="0" tIns="0" rIns="0" bIns="0" rtlCol="0" anchor="ctr"/>
          <a:lstStyle/>
          <a:p>
            <a:pPr indent="0" marL="0">
              <a:buNone/>
            </a:pPr>
            <a:r>
              <a:rPr lang="en-US" sz="1100" b="1" spc="100" kern="0" dirty="0">
                <a:solidFill>
                  <a:srgbClr val="1C7293"/>
                </a:solidFill>
                <a:latin typeface="BIZ UDゴシック" pitchFamily="34" charset="0"/>
                <a:ea typeface="BIZ UDゴシック" pitchFamily="34" charset="-122"/>
                <a:cs typeface="BIZ UDゴシック" pitchFamily="34" charset="-120"/>
              </a:rPr>
              <a:t>SECTION 20</a:t>
            </a:r>
            <a:endParaRPr lang="en-US" sz="1100" dirty="0"/>
          </a:p>
        </p:txBody>
      </p:sp>
      <p:sp>
        <p:nvSpPr>
          <p:cNvPr id="5" name="Text 3"/>
          <p:cNvSpPr/>
          <p:nvPr/>
        </p:nvSpPr>
        <p:spPr>
          <a:xfrm>
            <a:off x="1280160" y="713232"/>
            <a:ext cx="10362895" cy="566928"/>
          </a:xfrm>
          <a:prstGeom prst="rect">
            <a:avLst/>
          </a:prstGeom>
          <a:noFill/>
          <a:ln/>
        </p:spPr>
        <p:txBody>
          <a:bodyPr wrap="square" lIns="0" tIns="0" rIns="0" bIns="0" rtlCol="0" anchor="t"/>
          <a:lstStyle/>
          <a:p>
            <a:pPr indent="0" marL="0">
              <a:buNone/>
            </a:pPr>
            <a:r>
              <a:rPr lang="en-US" sz="2500" b="1" dirty="0">
                <a:solidFill>
                  <a:srgbClr val="1A1A2E"/>
                </a:solidFill>
                <a:latin typeface="BIZ UDゴシック" pitchFamily="34" charset="0"/>
                <a:ea typeface="BIZ UDゴシック" pitchFamily="34" charset="-122"/>
                <a:cs typeface="BIZ UDゴシック" pitchFamily="34" charset="-120"/>
              </a:rPr>
              <a:t>UI 上の考慮点</a:t>
            </a:r>
            <a:endParaRPr lang="en-US" sz="2500" dirty="0"/>
          </a:p>
        </p:txBody>
      </p:sp>
      <p:sp>
        <p:nvSpPr>
          <p:cNvPr id="6" name="Text 4"/>
          <p:cNvSpPr/>
          <p:nvPr/>
        </p:nvSpPr>
        <p:spPr>
          <a:xfrm>
            <a:off x="548640" y="6446520"/>
            <a:ext cx="4572000" cy="274320"/>
          </a:xfrm>
          <a:prstGeom prst="rect">
            <a:avLst/>
          </a:prstGeom>
          <a:noFill/>
          <a:ln/>
        </p:spPr>
        <p:txBody>
          <a:bodyPr wrap="square" lIns="0" tIns="0" rIns="0" bIns="0" rtlCol="0" anchor="ctr"/>
          <a:lstStyle/>
          <a:p>
            <a:pPr indent="0" marL="0">
              <a:buNone/>
            </a:pPr>
            <a:r>
              <a:rPr lang="en-US" sz="900" dirty="0">
                <a:solidFill>
                  <a:srgbClr val="5C6B73"/>
                </a:solidFill>
                <a:latin typeface="BIZ UDゴシック" pitchFamily="34" charset="0"/>
                <a:ea typeface="BIZ UDゴシック" pitchFamily="34" charset="-122"/>
                <a:cs typeface="BIZ UDゴシック" pitchFamily="34" charset="-120"/>
              </a:rPr>
              <a:t>Observability AI PoC</a:t>
            </a:r>
            <a:endParaRPr lang="en-US" sz="900" dirty="0"/>
          </a:p>
        </p:txBody>
      </p:sp>
      <p:sp>
        <p:nvSpPr>
          <p:cNvPr id="7" name="Text 5"/>
          <p:cNvSpPr/>
          <p:nvPr/>
        </p:nvSpPr>
        <p:spPr>
          <a:xfrm>
            <a:off x="9814255" y="6446520"/>
            <a:ext cx="1828800" cy="274320"/>
          </a:xfrm>
          <a:prstGeom prst="rect">
            <a:avLst/>
          </a:prstGeom>
          <a:noFill/>
          <a:ln/>
        </p:spPr>
        <p:txBody>
          <a:bodyPr wrap="square" lIns="0" tIns="0" rIns="0" bIns="0" rtlCol="0" anchor="ctr"/>
          <a:lstStyle/>
          <a:p>
            <a:pPr algn="r" indent="0" marL="0">
              <a:buNone/>
            </a:pPr>
            <a:r>
              <a:rPr lang="en-US" sz="900" dirty="0">
                <a:solidFill>
                  <a:srgbClr val="5C6B73"/>
                </a:solidFill>
                <a:latin typeface="BIZ UDゴシック" pitchFamily="34" charset="0"/>
                <a:ea typeface="BIZ UDゴシック" pitchFamily="34" charset="-122"/>
                <a:cs typeface="BIZ UDゴシック" pitchFamily="34" charset="-120"/>
              </a:rPr>
              <a:t>20</a:t>
            </a:r>
            <a:endParaRPr lang="en-US" sz="900" dirty="0"/>
          </a:p>
        </p:txBody>
      </p:sp>
      <p:sp>
        <p:nvSpPr>
          <p:cNvPr id="8" name="Shape 6"/>
          <p:cNvSpPr/>
          <p:nvPr/>
        </p:nvSpPr>
        <p:spPr>
          <a:xfrm>
            <a:off x="1280160" y="1536192"/>
            <a:ext cx="10362895" cy="1051560"/>
          </a:xfrm>
          <a:prstGeom prst="roundRect">
            <a:avLst>
              <a:gd name="adj" fmla="val 6957"/>
            </a:avLst>
          </a:prstGeom>
          <a:solidFill>
            <a:srgbClr val="EAF2F6"/>
          </a:solidFill>
          <a:ln/>
        </p:spPr>
      </p:sp>
      <p:sp>
        <p:nvSpPr>
          <p:cNvPr id="9" name="Text 7"/>
          <p:cNvSpPr/>
          <p:nvPr/>
        </p:nvSpPr>
        <p:spPr>
          <a:xfrm>
            <a:off x="1508760" y="1664208"/>
            <a:ext cx="9905695" cy="548640"/>
          </a:xfrm>
          <a:prstGeom prst="rect">
            <a:avLst/>
          </a:prstGeom>
          <a:noFill/>
          <a:ln/>
        </p:spPr>
        <p:txBody>
          <a:bodyPr wrap="square" lIns="0" tIns="0" rIns="0" bIns="0" rtlCol="0" anchor="t"/>
          <a:lstStyle/>
          <a:p>
            <a:pPr indent="0" marL="0">
              <a:lnSpc>
                <a:spcPct val="125000"/>
              </a:lnSpc>
              <a:buNone/>
            </a:pPr>
            <a:r>
              <a:rPr lang="en-US" sz="1400" b="1" dirty="0">
                <a:solidFill>
                  <a:srgbClr val="21295C"/>
                </a:solidFill>
                <a:latin typeface="BIZ UDゴシック" pitchFamily="34" charset="0"/>
                <a:ea typeface="BIZ UDゴシック" pitchFamily="34" charset="-122"/>
                <a:cs typeface="BIZ UDゴシック" pitchFamily="34" charset="-120"/>
              </a:rPr>
              <a:t>1. AIの推定と事実を混ぜない</a:t>
            </a:r>
            <a:endParaRPr lang="en-US" sz="1400" dirty="0"/>
          </a:p>
        </p:txBody>
      </p:sp>
      <p:sp>
        <p:nvSpPr>
          <p:cNvPr id="10" name="Text 8"/>
          <p:cNvSpPr/>
          <p:nvPr/>
        </p:nvSpPr>
        <p:spPr>
          <a:xfrm>
            <a:off x="1508760" y="2039112"/>
            <a:ext cx="9905695" cy="502920"/>
          </a:xfrm>
          <a:prstGeom prst="rect">
            <a:avLst/>
          </a:prstGeom>
          <a:noFill/>
          <a:ln/>
        </p:spPr>
        <p:txBody>
          <a:bodyPr wrap="square" lIns="0" tIns="0" rIns="0" bIns="0" rtlCol="0" anchor="t"/>
          <a:lstStyle/>
          <a:p>
            <a:pPr indent="0" marL="0">
              <a:lnSpc>
                <a:spcPct val="125000"/>
              </a:lnSpc>
              <a:buNone/>
            </a:pPr>
            <a:r>
              <a:rPr lang="en-US" sz="1250" dirty="0">
                <a:solidFill>
                  <a:srgbClr val="1A1A2E"/>
                </a:solidFill>
                <a:latin typeface="BIZ UDゴシック" pitchFamily="34" charset="0"/>
                <a:ea typeface="BIZ UDゴシック" pitchFamily="34" charset="-122"/>
                <a:cs typeface="BIZ UDゴシック" pitchFamily="34" charset="-120"/>
              </a:rPr>
              <a:t>表示を分ける：Observed Fact / Correlation / Hypothesis / Evidence Gap</a:t>
            </a:r>
            <a:endParaRPr lang="en-US" sz="1250" dirty="0"/>
          </a:p>
        </p:txBody>
      </p:sp>
      <p:sp>
        <p:nvSpPr>
          <p:cNvPr id="11" name="Shape 9"/>
          <p:cNvSpPr/>
          <p:nvPr/>
        </p:nvSpPr>
        <p:spPr>
          <a:xfrm>
            <a:off x="1280160" y="2724912"/>
            <a:ext cx="10362895" cy="1051560"/>
          </a:xfrm>
          <a:prstGeom prst="roundRect">
            <a:avLst>
              <a:gd name="adj" fmla="val 6957"/>
            </a:avLst>
          </a:prstGeom>
          <a:solidFill>
            <a:srgbClr val="EAF2F6"/>
          </a:solidFill>
          <a:ln/>
        </p:spPr>
      </p:sp>
      <p:sp>
        <p:nvSpPr>
          <p:cNvPr id="12" name="Text 10"/>
          <p:cNvSpPr/>
          <p:nvPr/>
        </p:nvSpPr>
        <p:spPr>
          <a:xfrm>
            <a:off x="1508760" y="2852928"/>
            <a:ext cx="9905695" cy="548640"/>
          </a:xfrm>
          <a:prstGeom prst="rect">
            <a:avLst/>
          </a:prstGeom>
          <a:noFill/>
          <a:ln/>
        </p:spPr>
        <p:txBody>
          <a:bodyPr wrap="square" lIns="0" tIns="0" rIns="0" bIns="0" rtlCol="0" anchor="t"/>
          <a:lstStyle/>
          <a:p>
            <a:pPr indent="0" marL="0">
              <a:lnSpc>
                <a:spcPct val="125000"/>
              </a:lnSpc>
              <a:buNone/>
            </a:pPr>
            <a:r>
              <a:rPr lang="en-US" sz="1400" b="1" dirty="0">
                <a:solidFill>
                  <a:srgbClr val="21295C"/>
                </a:solidFill>
                <a:latin typeface="BIZ UDゴシック" pitchFamily="34" charset="0"/>
                <a:ea typeface="BIZ UDゴシック" pitchFamily="34" charset="-122"/>
                <a:cs typeface="BIZ UDゴシック" pitchFamily="34" charset="-120"/>
              </a:rPr>
              <a:t>2. Evidenceを必ず辿れるようにする</a:t>
            </a:r>
            <a:endParaRPr lang="en-US" sz="1400" dirty="0"/>
          </a:p>
        </p:txBody>
      </p:sp>
      <p:sp>
        <p:nvSpPr>
          <p:cNvPr id="13" name="Text 11"/>
          <p:cNvSpPr/>
          <p:nvPr/>
        </p:nvSpPr>
        <p:spPr>
          <a:xfrm>
            <a:off x="1508760" y="3227832"/>
            <a:ext cx="9905695" cy="502920"/>
          </a:xfrm>
          <a:prstGeom prst="rect">
            <a:avLst/>
          </a:prstGeom>
          <a:noFill/>
          <a:ln/>
        </p:spPr>
        <p:txBody>
          <a:bodyPr wrap="square" lIns="0" tIns="0" rIns="0" bIns="0" rtlCol="0" anchor="t"/>
          <a:lstStyle/>
          <a:p>
            <a:pPr indent="0" marL="0">
              <a:lnSpc>
                <a:spcPct val="125000"/>
              </a:lnSpc>
              <a:buNone/>
            </a:pPr>
            <a:r>
              <a:rPr lang="en-US" sz="1250" dirty="0">
                <a:solidFill>
                  <a:srgbClr val="1A1A2E"/>
                </a:solidFill>
                <a:latin typeface="BIZ UDゴシック" pitchFamily="34" charset="0"/>
                <a:ea typeface="BIZ UDゴシック" pitchFamily="34" charset="-122"/>
                <a:cs typeface="BIZ UDゴシック" pitchFamily="34" charset="-120"/>
              </a:rPr>
              <a:t>AIの結論だけでなく、Splunkログ、transaction、trace、metricへ戻れるようにする。</a:t>
            </a:r>
            <a:endParaRPr lang="en-US" sz="1250" dirty="0"/>
          </a:p>
        </p:txBody>
      </p:sp>
      <p:sp>
        <p:nvSpPr>
          <p:cNvPr id="14" name="Shape 12"/>
          <p:cNvSpPr/>
          <p:nvPr/>
        </p:nvSpPr>
        <p:spPr>
          <a:xfrm>
            <a:off x="1280160" y="3913632"/>
            <a:ext cx="10362895" cy="1051560"/>
          </a:xfrm>
          <a:prstGeom prst="roundRect">
            <a:avLst>
              <a:gd name="adj" fmla="val 6957"/>
            </a:avLst>
          </a:prstGeom>
          <a:solidFill>
            <a:srgbClr val="EAF2F6"/>
          </a:solidFill>
          <a:ln/>
        </p:spPr>
      </p:sp>
      <p:sp>
        <p:nvSpPr>
          <p:cNvPr id="15" name="Text 13"/>
          <p:cNvSpPr/>
          <p:nvPr/>
        </p:nvSpPr>
        <p:spPr>
          <a:xfrm>
            <a:off x="1508760" y="4041648"/>
            <a:ext cx="9905695" cy="548640"/>
          </a:xfrm>
          <a:prstGeom prst="rect">
            <a:avLst/>
          </a:prstGeom>
          <a:noFill/>
          <a:ln/>
        </p:spPr>
        <p:txBody>
          <a:bodyPr wrap="square" lIns="0" tIns="0" rIns="0" bIns="0" rtlCol="0" anchor="t"/>
          <a:lstStyle/>
          <a:p>
            <a:pPr indent="0" marL="0">
              <a:lnSpc>
                <a:spcPct val="125000"/>
              </a:lnSpc>
              <a:buNone/>
            </a:pPr>
            <a:r>
              <a:rPr lang="en-US" sz="1400" b="1" dirty="0">
                <a:solidFill>
                  <a:srgbClr val="21295C"/>
                </a:solidFill>
                <a:latin typeface="BIZ UDゴシック" pitchFamily="34" charset="0"/>
                <a:ea typeface="BIZ UDゴシック" pitchFamily="34" charset="-122"/>
                <a:cs typeface="BIZ UDゴシック" pitchFamily="34" charset="-120"/>
              </a:rPr>
              <a:t>3. 情報量を制御</a:t>
            </a:r>
            <a:endParaRPr lang="en-US" sz="1400" dirty="0"/>
          </a:p>
        </p:txBody>
      </p:sp>
      <p:sp>
        <p:nvSpPr>
          <p:cNvPr id="16" name="Text 14"/>
          <p:cNvSpPr/>
          <p:nvPr/>
        </p:nvSpPr>
        <p:spPr>
          <a:xfrm>
            <a:off x="1508760" y="4416552"/>
            <a:ext cx="9905695" cy="502920"/>
          </a:xfrm>
          <a:prstGeom prst="rect">
            <a:avLst/>
          </a:prstGeom>
          <a:noFill/>
          <a:ln/>
        </p:spPr>
        <p:txBody>
          <a:bodyPr wrap="square" lIns="0" tIns="0" rIns="0" bIns="0" rtlCol="0" anchor="t"/>
          <a:lstStyle/>
          <a:p>
            <a:pPr indent="0" marL="0">
              <a:lnSpc>
                <a:spcPct val="125000"/>
              </a:lnSpc>
              <a:buNone/>
            </a:pPr>
            <a:r>
              <a:rPr lang="en-US" sz="1250" dirty="0">
                <a:solidFill>
                  <a:srgbClr val="1A1A2E"/>
                </a:solidFill>
                <a:latin typeface="BIZ UDゴシック" pitchFamily="34" charset="0"/>
                <a:ea typeface="BIZ UDゴシック" pitchFamily="34" charset="-122"/>
                <a:cs typeface="BIZ UDゴシック" pitchFamily="34" charset="-120"/>
              </a:rPr>
              <a:t>監視データを全件表示しない。AIが重要度を整理し、「今見るべき情報」を優先表示する。</a:t>
            </a:r>
            <a:endParaRPr lang="en-US" sz="1250" dirty="0"/>
          </a:p>
        </p:txBody>
      </p:sp>
      <p:sp>
        <p:nvSpPr>
          <p:cNvPr id="17" name="Shape 15"/>
          <p:cNvSpPr/>
          <p:nvPr/>
        </p:nvSpPr>
        <p:spPr>
          <a:xfrm>
            <a:off x="1280160" y="5102352"/>
            <a:ext cx="10362895" cy="1051560"/>
          </a:xfrm>
          <a:prstGeom prst="roundRect">
            <a:avLst>
              <a:gd name="adj" fmla="val 6957"/>
            </a:avLst>
          </a:prstGeom>
          <a:solidFill>
            <a:srgbClr val="EAF2F6"/>
          </a:solidFill>
          <a:ln/>
        </p:spPr>
      </p:sp>
      <p:sp>
        <p:nvSpPr>
          <p:cNvPr id="18" name="Text 16"/>
          <p:cNvSpPr/>
          <p:nvPr/>
        </p:nvSpPr>
        <p:spPr>
          <a:xfrm>
            <a:off x="1508760" y="5230368"/>
            <a:ext cx="9905695" cy="548640"/>
          </a:xfrm>
          <a:prstGeom prst="rect">
            <a:avLst/>
          </a:prstGeom>
          <a:noFill/>
          <a:ln/>
        </p:spPr>
        <p:txBody>
          <a:bodyPr wrap="square" lIns="0" tIns="0" rIns="0" bIns="0" rtlCol="0" anchor="t"/>
          <a:lstStyle/>
          <a:p>
            <a:pPr indent="0" marL="0">
              <a:lnSpc>
                <a:spcPct val="125000"/>
              </a:lnSpc>
              <a:buNone/>
            </a:pPr>
            <a:r>
              <a:rPr lang="en-US" sz="1400" b="1" dirty="0">
                <a:solidFill>
                  <a:srgbClr val="21295C"/>
                </a:solidFill>
                <a:latin typeface="BIZ UDゴシック" pitchFamily="34" charset="0"/>
                <a:ea typeface="BIZ UDゴシック" pitchFamily="34" charset="-122"/>
                <a:cs typeface="BIZ UDゴシック" pitchFamily="34" charset="-120"/>
              </a:rPr>
              <a:t>4. AIの処理状態を表示</a:t>
            </a:r>
            <a:endParaRPr lang="en-US" sz="1400" dirty="0"/>
          </a:p>
        </p:txBody>
      </p:sp>
      <p:sp>
        <p:nvSpPr>
          <p:cNvPr id="19" name="Text 17"/>
          <p:cNvSpPr/>
          <p:nvPr/>
        </p:nvSpPr>
        <p:spPr>
          <a:xfrm>
            <a:off x="1508760" y="5605272"/>
            <a:ext cx="9905695" cy="502920"/>
          </a:xfrm>
          <a:prstGeom prst="rect">
            <a:avLst/>
          </a:prstGeom>
          <a:noFill/>
          <a:ln/>
        </p:spPr>
        <p:txBody>
          <a:bodyPr wrap="square" lIns="0" tIns="0" rIns="0" bIns="0" rtlCol="0" anchor="t"/>
          <a:lstStyle/>
          <a:p>
            <a:pPr indent="0" marL="0">
              <a:lnSpc>
                <a:spcPct val="125000"/>
              </a:lnSpc>
              <a:buNone/>
            </a:pPr>
            <a:r>
              <a:rPr lang="en-US" sz="1250" dirty="0">
                <a:solidFill>
                  <a:srgbClr val="1A1A2E"/>
                </a:solidFill>
                <a:latin typeface="BIZ UDゴシック" pitchFamily="34" charset="0"/>
                <a:ea typeface="BIZ UDゴシック" pitchFamily="34" charset="-122"/>
                <a:cs typeface="BIZ UDゴシック" pitchFamily="34" charset="-120"/>
              </a:rPr>
              <a:t>AG-UIで、検索中・分析中・Evidence取得中などを表示する。</a:t>
            </a:r>
            <a:endParaRPr lang="en-US" sz="12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502920"/>
            <a:ext cx="566928" cy="566928"/>
          </a:xfrm>
          <a:prstGeom prst="ellipse">
            <a:avLst/>
          </a:prstGeom>
          <a:solidFill>
            <a:srgbClr val="21295C"/>
          </a:solidFill>
          <a:ln/>
        </p:spPr>
      </p:sp>
      <p:sp>
        <p:nvSpPr>
          <p:cNvPr id="3" name="Text 1"/>
          <p:cNvSpPr/>
          <p:nvPr/>
        </p:nvSpPr>
        <p:spPr>
          <a:xfrm>
            <a:off x="548640" y="502920"/>
            <a:ext cx="566928" cy="566928"/>
          </a:xfrm>
          <a:prstGeom prst="rect">
            <a:avLst/>
          </a:prstGeom>
          <a:noFill/>
          <a:ln/>
        </p:spPr>
        <p:txBody>
          <a:bodyPr wrap="square" lIns="0" tIns="0" rIns="0" bIns="0" rtlCol="0" anchor="ctr"/>
          <a:lstStyle/>
          <a:p>
            <a:pPr algn="ctr" indent="0" marL="0">
              <a:buNone/>
            </a:pPr>
            <a:r>
              <a:rPr lang="en-US" sz="1500" b="1" dirty="0">
                <a:solidFill>
                  <a:srgbClr val="FFFFFF"/>
                </a:solidFill>
                <a:latin typeface="BIZ UDゴシック" pitchFamily="34" charset="0"/>
                <a:ea typeface="BIZ UDゴシック" pitchFamily="34" charset="-122"/>
                <a:cs typeface="BIZ UDゴシック" pitchFamily="34" charset="-120"/>
              </a:rPr>
              <a:t>21</a:t>
            </a:r>
            <a:endParaRPr lang="en-US" sz="1500" dirty="0"/>
          </a:p>
        </p:txBody>
      </p:sp>
      <p:sp>
        <p:nvSpPr>
          <p:cNvPr id="4" name="Text 2"/>
          <p:cNvSpPr/>
          <p:nvPr/>
        </p:nvSpPr>
        <p:spPr>
          <a:xfrm>
            <a:off x="1280160" y="438912"/>
            <a:ext cx="10362895" cy="274320"/>
          </a:xfrm>
          <a:prstGeom prst="rect">
            <a:avLst/>
          </a:prstGeom>
          <a:noFill/>
          <a:ln/>
        </p:spPr>
        <p:txBody>
          <a:bodyPr wrap="square" lIns="0" tIns="0" rIns="0" bIns="0" rtlCol="0" anchor="ctr"/>
          <a:lstStyle/>
          <a:p>
            <a:pPr indent="0" marL="0">
              <a:buNone/>
            </a:pPr>
            <a:r>
              <a:rPr lang="en-US" sz="1100" b="1" spc="100" kern="0" dirty="0">
                <a:solidFill>
                  <a:srgbClr val="1C7293"/>
                </a:solidFill>
                <a:latin typeface="BIZ UDゴシック" pitchFamily="34" charset="0"/>
                <a:ea typeface="BIZ UDゴシック" pitchFamily="34" charset="-122"/>
                <a:cs typeface="BIZ UDゴシック" pitchFamily="34" charset="-120"/>
              </a:rPr>
              <a:t>SECTION 21</a:t>
            </a:r>
            <a:endParaRPr lang="en-US" sz="1100" dirty="0"/>
          </a:p>
        </p:txBody>
      </p:sp>
      <p:sp>
        <p:nvSpPr>
          <p:cNvPr id="5" name="Text 3"/>
          <p:cNvSpPr/>
          <p:nvPr/>
        </p:nvSpPr>
        <p:spPr>
          <a:xfrm>
            <a:off x="1280160" y="713232"/>
            <a:ext cx="10362895" cy="566928"/>
          </a:xfrm>
          <a:prstGeom prst="rect">
            <a:avLst/>
          </a:prstGeom>
          <a:noFill/>
          <a:ln/>
        </p:spPr>
        <p:txBody>
          <a:bodyPr wrap="square" lIns="0" tIns="0" rIns="0" bIns="0" rtlCol="0" anchor="t"/>
          <a:lstStyle/>
          <a:p>
            <a:pPr indent="0" marL="0">
              <a:buNone/>
            </a:pPr>
            <a:r>
              <a:rPr lang="en-US" sz="2500" b="1" dirty="0">
                <a:solidFill>
                  <a:srgbClr val="1A1A2E"/>
                </a:solidFill>
                <a:latin typeface="BIZ UDゴシック" pitchFamily="34" charset="0"/>
                <a:ea typeface="BIZ UDゴシック" pitchFamily="34" charset="-122"/>
                <a:cs typeface="BIZ UDゴシック" pitchFamily="34" charset="-120"/>
              </a:rPr>
              <a:t>UI 上の安全設計</a:t>
            </a:r>
            <a:endParaRPr lang="en-US" sz="2500" dirty="0"/>
          </a:p>
        </p:txBody>
      </p:sp>
      <p:sp>
        <p:nvSpPr>
          <p:cNvPr id="6" name="Text 4"/>
          <p:cNvSpPr/>
          <p:nvPr/>
        </p:nvSpPr>
        <p:spPr>
          <a:xfrm>
            <a:off x="548640" y="6446520"/>
            <a:ext cx="4572000" cy="274320"/>
          </a:xfrm>
          <a:prstGeom prst="rect">
            <a:avLst/>
          </a:prstGeom>
          <a:noFill/>
          <a:ln/>
        </p:spPr>
        <p:txBody>
          <a:bodyPr wrap="square" lIns="0" tIns="0" rIns="0" bIns="0" rtlCol="0" anchor="ctr"/>
          <a:lstStyle/>
          <a:p>
            <a:pPr indent="0" marL="0">
              <a:buNone/>
            </a:pPr>
            <a:r>
              <a:rPr lang="en-US" sz="900" dirty="0">
                <a:solidFill>
                  <a:srgbClr val="5C6B73"/>
                </a:solidFill>
                <a:latin typeface="BIZ UDゴシック" pitchFamily="34" charset="0"/>
                <a:ea typeface="BIZ UDゴシック" pitchFamily="34" charset="-122"/>
                <a:cs typeface="BIZ UDゴシック" pitchFamily="34" charset="-120"/>
              </a:rPr>
              <a:t>Observability AI PoC</a:t>
            </a:r>
            <a:endParaRPr lang="en-US" sz="900" dirty="0"/>
          </a:p>
        </p:txBody>
      </p:sp>
      <p:sp>
        <p:nvSpPr>
          <p:cNvPr id="7" name="Text 5"/>
          <p:cNvSpPr/>
          <p:nvPr/>
        </p:nvSpPr>
        <p:spPr>
          <a:xfrm>
            <a:off x="9814255" y="6446520"/>
            <a:ext cx="1828800" cy="274320"/>
          </a:xfrm>
          <a:prstGeom prst="rect">
            <a:avLst/>
          </a:prstGeom>
          <a:noFill/>
          <a:ln/>
        </p:spPr>
        <p:txBody>
          <a:bodyPr wrap="square" lIns="0" tIns="0" rIns="0" bIns="0" rtlCol="0" anchor="ctr"/>
          <a:lstStyle/>
          <a:p>
            <a:pPr algn="r" indent="0" marL="0">
              <a:buNone/>
            </a:pPr>
            <a:r>
              <a:rPr lang="en-US" sz="900" dirty="0">
                <a:solidFill>
                  <a:srgbClr val="5C6B73"/>
                </a:solidFill>
                <a:latin typeface="BIZ UDゴシック" pitchFamily="34" charset="0"/>
                <a:ea typeface="BIZ UDゴシック" pitchFamily="34" charset="-122"/>
                <a:cs typeface="BIZ UDゴシック" pitchFamily="34" charset="-120"/>
              </a:rPr>
              <a:t>21</a:t>
            </a:r>
            <a:endParaRPr lang="en-US" sz="900" dirty="0"/>
          </a:p>
        </p:txBody>
      </p:sp>
      <p:sp>
        <p:nvSpPr>
          <p:cNvPr id="8" name="Text 6"/>
          <p:cNvSpPr/>
          <p:nvPr/>
        </p:nvSpPr>
        <p:spPr>
          <a:xfrm>
            <a:off x="1280160" y="1536192"/>
            <a:ext cx="10362895" cy="365760"/>
          </a:xfrm>
          <a:prstGeom prst="rect">
            <a:avLst/>
          </a:prstGeom>
          <a:noFill/>
          <a:ln/>
        </p:spPr>
        <p:txBody>
          <a:bodyPr wrap="square" lIns="0" tIns="0" rIns="0" bIns="0" rtlCol="0" anchor="t"/>
          <a:lstStyle/>
          <a:p>
            <a:pPr indent="0" marL="0">
              <a:lnSpc>
                <a:spcPct val="125000"/>
              </a:lnSpc>
              <a:buNone/>
            </a:pPr>
            <a:r>
              <a:rPr lang="en-US" sz="1500" b="1" dirty="0">
                <a:solidFill>
                  <a:srgbClr val="21295C"/>
                </a:solidFill>
                <a:latin typeface="BIZ UDゴシック" pitchFamily="34" charset="0"/>
                <a:ea typeface="BIZ UDゴシック" pitchFamily="34" charset="-122"/>
                <a:cs typeface="BIZ UDゴシック" pitchFamily="34" charset="-120"/>
              </a:rPr>
              <a:t>AIは操作主体にしない</a:t>
            </a:r>
            <a:endParaRPr lang="en-US" sz="1500" dirty="0"/>
          </a:p>
        </p:txBody>
      </p:sp>
      <p:sp>
        <p:nvSpPr>
          <p:cNvPr id="9" name="Text 7"/>
          <p:cNvSpPr/>
          <p:nvPr/>
        </p:nvSpPr>
        <p:spPr>
          <a:xfrm>
            <a:off x="1280160" y="1901952"/>
            <a:ext cx="10362895" cy="365760"/>
          </a:xfrm>
          <a:prstGeom prst="rect">
            <a:avLst/>
          </a:prstGeom>
          <a:noFill/>
          <a:ln/>
        </p:spPr>
        <p:txBody>
          <a:bodyPr wrap="square" lIns="0" tIns="0" rIns="0" bIns="0" rtlCol="0" anchor="t"/>
          <a:lstStyle/>
          <a:p>
            <a:pPr indent="0" marL="0">
              <a:lnSpc>
                <a:spcPct val="125000"/>
              </a:lnSpc>
              <a:buNone/>
            </a:pPr>
            <a:r>
              <a:rPr lang="en-US" sz="1350" dirty="0">
                <a:solidFill>
                  <a:srgbClr val="1A1A2E"/>
                </a:solidFill>
                <a:latin typeface="BIZ UDゴシック" pitchFamily="34" charset="0"/>
                <a:ea typeface="BIZ UDゴシック" pitchFamily="34" charset="-122"/>
                <a:cs typeface="BIZ UDゴシック" pitchFamily="34" charset="-120"/>
              </a:rPr>
              <a:t>このPoCではAIが、次を自動実行しない：</a:t>
            </a:r>
            <a:endParaRPr lang="en-US" sz="1350" dirty="0"/>
          </a:p>
        </p:txBody>
      </p:sp>
      <p:sp>
        <p:nvSpPr>
          <p:cNvPr id="10" name="Shape 8"/>
          <p:cNvSpPr/>
          <p:nvPr/>
        </p:nvSpPr>
        <p:spPr>
          <a:xfrm>
            <a:off x="1280160" y="2286000"/>
            <a:ext cx="1344168" cy="310896"/>
          </a:xfrm>
          <a:prstGeom prst="roundRect">
            <a:avLst>
              <a:gd name="adj" fmla="val 17647"/>
            </a:avLst>
          </a:prstGeom>
          <a:solidFill>
            <a:srgbClr val="B85042"/>
          </a:solidFill>
          <a:ln/>
        </p:spPr>
      </p:sp>
      <p:sp>
        <p:nvSpPr>
          <p:cNvPr id="11" name="Text 9"/>
          <p:cNvSpPr/>
          <p:nvPr/>
        </p:nvSpPr>
        <p:spPr>
          <a:xfrm>
            <a:off x="1280160" y="2286000"/>
            <a:ext cx="1344168"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BIZ UDゴシック" pitchFamily="34" charset="0"/>
                <a:ea typeface="BIZ UDゴシック" pitchFamily="34" charset="-122"/>
                <a:cs typeface="BIZ UDゴシック" pitchFamily="34" charset="-120"/>
              </a:rPr>
              <a:t>restart</a:t>
            </a:r>
            <a:endParaRPr lang="en-US" sz="1100" dirty="0"/>
          </a:p>
        </p:txBody>
      </p:sp>
      <p:sp>
        <p:nvSpPr>
          <p:cNvPr id="12" name="Shape 10"/>
          <p:cNvSpPr/>
          <p:nvPr/>
        </p:nvSpPr>
        <p:spPr>
          <a:xfrm>
            <a:off x="2852928" y="2286000"/>
            <a:ext cx="1197864" cy="310896"/>
          </a:xfrm>
          <a:prstGeom prst="roundRect">
            <a:avLst>
              <a:gd name="adj" fmla="val 17647"/>
            </a:avLst>
          </a:prstGeom>
          <a:solidFill>
            <a:srgbClr val="B85042"/>
          </a:solidFill>
          <a:ln/>
        </p:spPr>
      </p:sp>
      <p:sp>
        <p:nvSpPr>
          <p:cNvPr id="13" name="Text 11"/>
          <p:cNvSpPr/>
          <p:nvPr/>
        </p:nvSpPr>
        <p:spPr>
          <a:xfrm>
            <a:off x="2852928" y="2286000"/>
            <a:ext cx="1197864"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BIZ UDゴシック" pitchFamily="34" charset="0"/>
                <a:ea typeface="BIZ UDゴシック" pitchFamily="34" charset="-122"/>
                <a:cs typeface="BIZ UDゴシック" pitchFamily="34" charset="-120"/>
              </a:rPr>
              <a:t>deploy</a:t>
            </a:r>
            <a:endParaRPr lang="en-US" sz="1100" dirty="0"/>
          </a:p>
        </p:txBody>
      </p:sp>
      <p:sp>
        <p:nvSpPr>
          <p:cNvPr id="14" name="Shape 12"/>
          <p:cNvSpPr/>
          <p:nvPr/>
        </p:nvSpPr>
        <p:spPr>
          <a:xfrm>
            <a:off x="4279392" y="2286000"/>
            <a:ext cx="3246120" cy="310896"/>
          </a:xfrm>
          <a:prstGeom prst="roundRect">
            <a:avLst>
              <a:gd name="adj" fmla="val 17647"/>
            </a:avLst>
          </a:prstGeom>
          <a:solidFill>
            <a:srgbClr val="B85042"/>
          </a:solidFill>
          <a:ln/>
        </p:spPr>
      </p:sp>
      <p:sp>
        <p:nvSpPr>
          <p:cNvPr id="15" name="Text 13"/>
          <p:cNvSpPr/>
          <p:nvPr/>
        </p:nvSpPr>
        <p:spPr>
          <a:xfrm>
            <a:off x="4279392" y="2286000"/>
            <a:ext cx="3246120"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BIZ UDゴシック" pitchFamily="34" charset="0"/>
                <a:ea typeface="BIZ UDゴシック" pitchFamily="34" charset="-122"/>
                <a:cs typeface="BIZ UDゴシック" pitchFamily="34" charset="-120"/>
              </a:rPr>
              <a:t>configuration change</a:t>
            </a:r>
            <a:endParaRPr lang="en-US" sz="1100" dirty="0"/>
          </a:p>
        </p:txBody>
      </p:sp>
      <p:sp>
        <p:nvSpPr>
          <p:cNvPr id="16" name="Shape 14"/>
          <p:cNvSpPr/>
          <p:nvPr/>
        </p:nvSpPr>
        <p:spPr>
          <a:xfrm>
            <a:off x="7754112" y="2286000"/>
            <a:ext cx="1197864" cy="310896"/>
          </a:xfrm>
          <a:prstGeom prst="roundRect">
            <a:avLst>
              <a:gd name="adj" fmla="val 17647"/>
            </a:avLst>
          </a:prstGeom>
          <a:solidFill>
            <a:srgbClr val="B85042"/>
          </a:solidFill>
          <a:ln/>
        </p:spPr>
      </p:sp>
      <p:sp>
        <p:nvSpPr>
          <p:cNvPr id="17" name="Text 15"/>
          <p:cNvSpPr/>
          <p:nvPr/>
        </p:nvSpPr>
        <p:spPr>
          <a:xfrm>
            <a:off x="7754112" y="2286000"/>
            <a:ext cx="1197864"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BIZ UDゴシック" pitchFamily="34" charset="0"/>
                <a:ea typeface="BIZ UDゴシック" pitchFamily="34" charset="-122"/>
                <a:cs typeface="BIZ UDゴシック" pitchFamily="34" charset="-120"/>
              </a:rPr>
              <a:t>delete</a:t>
            </a:r>
            <a:endParaRPr lang="en-US" sz="1100" dirty="0"/>
          </a:p>
        </p:txBody>
      </p:sp>
      <p:sp>
        <p:nvSpPr>
          <p:cNvPr id="18" name="Shape 16"/>
          <p:cNvSpPr/>
          <p:nvPr/>
        </p:nvSpPr>
        <p:spPr>
          <a:xfrm>
            <a:off x="1280160" y="2880360"/>
            <a:ext cx="10362895" cy="1417320"/>
          </a:xfrm>
          <a:prstGeom prst="roundRect">
            <a:avLst>
              <a:gd name="adj" fmla="val 5161"/>
            </a:avLst>
          </a:prstGeom>
          <a:solidFill>
            <a:srgbClr val="EAF2F6"/>
          </a:solidFill>
          <a:ln/>
        </p:spPr>
      </p:sp>
      <p:sp>
        <p:nvSpPr>
          <p:cNvPr id="19" name="Text 17"/>
          <p:cNvSpPr/>
          <p:nvPr/>
        </p:nvSpPr>
        <p:spPr>
          <a:xfrm>
            <a:off x="1508760" y="3063240"/>
            <a:ext cx="9905695" cy="548640"/>
          </a:xfrm>
          <a:prstGeom prst="rect">
            <a:avLst/>
          </a:prstGeom>
          <a:noFill/>
          <a:ln/>
        </p:spPr>
        <p:txBody>
          <a:bodyPr wrap="square" lIns="0" tIns="0" rIns="0" bIns="0" rtlCol="0" anchor="t"/>
          <a:lstStyle/>
          <a:p>
            <a:pPr indent="0" marL="0">
              <a:lnSpc>
                <a:spcPct val="125000"/>
              </a:lnSpc>
              <a:buNone/>
            </a:pPr>
            <a:r>
              <a:rPr lang="en-US" sz="1400" b="1" dirty="0">
                <a:solidFill>
                  <a:srgbClr val="21295C"/>
                </a:solidFill>
                <a:latin typeface="BIZ UDゴシック" pitchFamily="34" charset="0"/>
                <a:ea typeface="BIZ UDゴシック" pitchFamily="34" charset="-122"/>
                <a:cs typeface="BIZ UDゴシック" pitchFamily="34" charset="-120"/>
              </a:rPr>
              <a:t>UI上で表示するのは Recommendation / Suggested Action まで。</a:t>
            </a:r>
            <a:endParaRPr lang="en-US" sz="1400" dirty="0"/>
          </a:p>
        </p:txBody>
      </p:sp>
      <p:sp>
        <p:nvSpPr>
          <p:cNvPr id="20" name="Text 18"/>
          <p:cNvSpPr/>
          <p:nvPr/>
        </p:nvSpPr>
        <p:spPr>
          <a:xfrm>
            <a:off x="1508760" y="3520440"/>
            <a:ext cx="9905695" cy="640080"/>
          </a:xfrm>
          <a:prstGeom prst="rect">
            <a:avLst/>
          </a:prstGeom>
          <a:noFill/>
          <a:ln/>
        </p:spPr>
        <p:txBody>
          <a:bodyPr wrap="square" lIns="0" tIns="0" rIns="0" bIns="0" rtlCol="0" anchor="t"/>
          <a:lstStyle/>
          <a:p>
            <a:pPr indent="0" marL="0">
              <a:lnSpc>
                <a:spcPct val="125000"/>
              </a:lnSpc>
              <a:buNone/>
            </a:pPr>
            <a:r>
              <a:rPr lang="en-US" sz="1350" i="1" dirty="0">
                <a:solidFill>
                  <a:srgbClr val="1A1A2E"/>
                </a:solidFill>
                <a:latin typeface="BIZ UDゴシック" pitchFamily="34" charset="0"/>
                <a:ea typeface="BIZ UDゴシック" pitchFamily="34" charset="-122"/>
                <a:cs typeface="BIZ UDゴシック" pitchFamily="34" charset="-120"/>
              </a:rPr>
              <a:t>例：「Payment Serviceの外部API接続状況を確認してください。」</a:t>
            </a:r>
            <a:endParaRPr lang="en-US" sz="1350" dirty="0"/>
          </a:p>
        </p:txBody>
      </p:sp>
      <p:sp>
        <p:nvSpPr>
          <p:cNvPr id="21" name="Text 19"/>
          <p:cNvSpPr/>
          <p:nvPr/>
        </p:nvSpPr>
        <p:spPr>
          <a:xfrm>
            <a:off x="1280160" y="4526280"/>
            <a:ext cx="10362895" cy="365760"/>
          </a:xfrm>
          <a:prstGeom prst="rect">
            <a:avLst/>
          </a:prstGeom>
          <a:noFill/>
          <a:ln/>
        </p:spPr>
        <p:txBody>
          <a:bodyPr wrap="square" lIns="0" tIns="0" rIns="0" bIns="0" rtlCol="0" anchor="t"/>
          <a:lstStyle/>
          <a:p>
            <a:pPr indent="0" marL="0">
              <a:lnSpc>
                <a:spcPct val="125000"/>
              </a:lnSpc>
              <a:buNone/>
            </a:pPr>
            <a:r>
              <a:rPr lang="en-US" sz="1500" b="1" dirty="0">
                <a:solidFill>
                  <a:srgbClr val="21295C"/>
                </a:solidFill>
                <a:latin typeface="BIZ UDゴシック" pitchFamily="34" charset="0"/>
                <a:ea typeface="BIZ UDゴシック" pitchFamily="34" charset="-122"/>
                <a:cs typeface="BIZ UDゴシック" pitchFamily="34" charset="-120"/>
              </a:rPr>
              <a:t>意義</a:t>
            </a:r>
            <a:endParaRPr lang="en-US" sz="1500" dirty="0"/>
          </a:p>
        </p:txBody>
      </p:sp>
      <p:sp>
        <p:nvSpPr>
          <p:cNvPr id="22" name="Text 20"/>
          <p:cNvSpPr/>
          <p:nvPr/>
        </p:nvSpPr>
        <p:spPr>
          <a:xfrm>
            <a:off x="1280160" y="4892040"/>
            <a:ext cx="10362895" cy="457200"/>
          </a:xfrm>
          <a:prstGeom prst="rect">
            <a:avLst/>
          </a:prstGeom>
          <a:noFill/>
          <a:ln/>
        </p:spPr>
        <p:txBody>
          <a:bodyPr wrap="square" lIns="0" tIns="0" rIns="0" bIns="0" rtlCol="0" anchor="t"/>
          <a:lstStyle/>
          <a:p>
            <a:pPr indent="0" marL="0">
              <a:lnSpc>
                <a:spcPct val="125000"/>
              </a:lnSpc>
              <a:buNone/>
            </a:pPr>
            <a:r>
              <a:rPr lang="en-US" sz="1400" dirty="0">
                <a:solidFill>
                  <a:srgbClr val="1A1A2E"/>
                </a:solidFill>
                <a:latin typeface="BIZ UDゴシック" pitchFamily="34" charset="0"/>
                <a:ea typeface="BIZ UDゴシック" pitchFamily="34" charset="-122"/>
                <a:cs typeface="BIZ UDゴシック" pitchFamily="34" charset="-120"/>
              </a:rPr>
              <a:t>AIによる誤操作リスクを減らし、人間が最終判断する運用にする。</a:t>
            </a:r>
            <a:endParaRPr lang="en-US" sz="14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21295C"/>
        </a:solidFill>
      </p:bgPr>
    </p:bg>
    <p:spTree>
      <p:nvGrpSpPr>
        <p:cNvPr id="1" name=""/>
        <p:cNvGrpSpPr/>
        <p:nvPr/>
      </p:nvGrpSpPr>
      <p:grpSpPr>
        <a:xfrm>
          <a:off x="0" y="0"/>
          <a:ext cx="0" cy="0"/>
          <a:chOff x="0" y="0"/>
          <a:chExt cx="0" cy="0"/>
        </a:xfrm>
      </p:grpSpPr>
      <p:sp>
        <p:nvSpPr>
          <p:cNvPr id="2" name="Shape 0"/>
          <p:cNvSpPr/>
          <p:nvPr/>
        </p:nvSpPr>
        <p:spPr>
          <a:xfrm>
            <a:off x="-1645920" y="-1645920"/>
            <a:ext cx="4023360" cy="4023360"/>
          </a:xfrm>
          <a:prstGeom prst="ellipse">
            <a:avLst/>
          </a:prstGeom>
          <a:solidFill>
            <a:srgbClr val="065A82"/>
          </a:solidFill>
          <a:ln/>
        </p:spPr>
      </p:sp>
      <p:sp>
        <p:nvSpPr>
          <p:cNvPr id="3" name="Text 1"/>
          <p:cNvSpPr/>
          <p:nvPr/>
        </p:nvSpPr>
        <p:spPr>
          <a:xfrm>
            <a:off x="548640" y="2468880"/>
            <a:ext cx="5486400" cy="365760"/>
          </a:xfrm>
          <a:prstGeom prst="rect">
            <a:avLst/>
          </a:prstGeom>
          <a:noFill/>
          <a:ln/>
        </p:spPr>
        <p:txBody>
          <a:bodyPr wrap="square" lIns="0" tIns="0" rIns="0" bIns="0" rtlCol="0" anchor="ctr"/>
          <a:lstStyle/>
          <a:p>
            <a:pPr indent="0" marL="0">
              <a:buNone/>
            </a:pPr>
            <a:r>
              <a:rPr lang="en-US" sz="1400" b="1" spc="300" kern="0" dirty="0">
                <a:solidFill>
                  <a:srgbClr val="1C7293"/>
                </a:solidFill>
                <a:latin typeface="BIZ UDゴシック" pitchFamily="34" charset="0"/>
                <a:ea typeface="BIZ UDゴシック" pitchFamily="34" charset="-122"/>
                <a:cs typeface="BIZ UDゴシック" pitchFamily="34" charset="-120"/>
              </a:rPr>
              <a:t>CHAPTER 4</a:t>
            </a:r>
            <a:endParaRPr lang="en-US" sz="1400" dirty="0"/>
          </a:p>
        </p:txBody>
      </p:sp>
      <p:sp>
        <p:nvSpPr>
          <p:cNvPr id="4" name="Text 2"/>
          <p:cNvSpPr/>
          <p:nvPr/>
        </p:nvSpPr>
        <p:spPr>
          <a:xfrm>
            <a:off x="548640" y="2834640"/>
            <a:ext cx="10515600" cy="914400"/>
          </a:xfrm>
          <a:prstGeom prst="rect">
            <a:avLst/>
          </a:prstGeom>
          <a:noFill/>
          <a:ln/>
        </p:spPr>
        <p:txBody>
          <a:bodyPr wrap="square" lIns="0" tIns="0" rIns="0" bIns="0" rtlCol="0" anchor="ctr"/>
          <a:lstStyle/>
          <a:p>
            <a:pPr indent="0" marL="0">
              <a:buNone/>
            </a:pPr>
            <a:r>
              <a:rPr lang="en-US" sz="3800" b="1" dirty="0">
                <a:solidFill>
                  <a:srgbClr val="FFFFFF"/>
                </a:solidFill>
                <a:latin typeface="BIZ UDゴシック" pitchFamily="34" charset="0"/>
                <a:ea typeface="BIZ UDゴシック" pitchFamily="34" charset="-122"/>
                <a:cs typeface="BIZ UDゴシック" pitchFamily="34" charset="-120"/>
              </a:rPr>
              <a:t>テスト方針とデモ</a:t>
            </a:r>
            <a:endParaRPr lang="en-US" sz="3800" dirty="0"/>
          </a:p>
        </p:txBody>
      </p:sp>
      <p:sp>
        <p:nvSpPr>
          <p:cNvPr id="5" name="Text 3"/>
          <p:cNvSpPr/>
          <p:nvPr/>
        </p:nvSpPr>
        <p:spPr>
          <a:xfrm>
            <a:off x="548640" y="3657600"/>
            <a:ext cx="10058400" cy="457200"/>
          </a:xfrm>
          <a:prstGeom prst="rect">
            <a:avLst/>
          </a:prstGeom>
          <a:noFill/>
          <a:ln/>
        </p:spPr>
        <p:txBody>
          <a:bodyPr wrap="square" lIns="0" tIns="0" rIns="0" bIns="0" rtlCol="0" anchor="ctr"/>
          <a:lstStyle/>
          <a:p>
            <a:pPr indent="0" marL="0">
              <a:buNone/>
            </a:pPr>
            <a:r>
              <a:rPr lang="en-US" sz="1500" dirty="0">
                <a:solidFill>
                  <a:srgbClr val="EAF2F6"/>
                </a:solidFill>
                <a:latin typeface="BIZ UDゴシック" pitchFamily="34" charset="0"/>
                <a:ea typeface="BIZ UDゴシック" pitchFamily="34" charset="-122"/>
                <a:cs typeface="BIZ UDゴシック" pitchFamily="34" charset="-120"/>
              </a:rPr>
              <a:t>Demo / Validation — 検証と実演</a:t>
            </a:r>
            <a:endParaRPr lang="en-US" sz="1500" dirty="0"/>
          </a:p>
        </p:txBody>
      </p:sp>
      <p:sp>
        <p:nvSpPr>
          <p:cNvPr id="6" name="Text 4"/>
          <p:cNvSpPr/>
          <p:nvPr/>
        </p:nvSpPr>
        <p:spPr>
          <a:xfrm>
            <a:off x="548640" y="4297680"/>
            <a:ext cx="8686800" cy="1828800"/>
          </a:xfrm>
          <a:prstGeom prst="rect">
            <a:avLst/>
          </a:prstGeom>
          <a:noFill/>
          <a:ln/>
        </p:spPr>
        <p:txBody>
          <a:bodyPr wrap="square" lIns="0" tIns="0" rIns="0" bIns="0" rtlCol="0" anchor="ctr"/>
          <a:lstStyle/>
          <a:p>
            <a:pPr marL="342900" indent="-342900">
              <a:spcAft>
                <a:spcPts val="600"/>
              </a:spcAft>
              <a:buSzPct val="100000"/>
              <a:buChar char="•"/>
            </a:pPr>
            <a:r>
              <a:rPr lang="en-US" sz="1350" dirty="0">
                <a:solidFill>
                  <a:srgbClr val="EAF2F6"/>
                </a:solidFill>
                <a:latin typeface="BIZ UDゴシック" pitchFamily="34" charset="0"/>
                <a:ea typeface="BIZ UDゴシック" pitchFamily="34" charset="-122"/>
                <a:cs typeface="BIZ UDゴシック" pitchFamily="34" charset="-120"/>
              </a:rPr>
              <a:t>テスト設計、実施結果、シナリオ、拡張候補、まとめ</a:t>
            </a:r>
            <a:endParaRPr lang="en-US" sz="1350" dirty="0"/>
          </a:p>
        </p:txBody>
      </p:sp>
      <p:sp>
        <p:nvSpPr>
          <p:cNvPr id="7" name="Text 5"/>
          <p:cNvSpPr/>
          <p:nvPr/>
        </p:nvSpPr>
        <p:spPr>
          <a:xfrm>
            <a:off x="548640" y="6446520"/>
            <a:ext cx="4572000" cy="274320"/>
          </a:xfrm>
          <a:prstGeom prst="rect">
            <a:avLst/>
          </a:prstGeom>
          <a:noFill/>
          <a:ln/>
        </p:spPr>
        <p:txBody>
          <a:bodyPr wrap="square" lIns="0" tIns="0" rIns="0" bIns="0" rtlCol="0" anchor="ctr"/>
          <a:lstStyle/>
          <a:p>
            <a:pPr indent="0" marL="0">
              <a:buNone/>
            </a:pPr>
            <a:r>
              <a:rPr lang="en-US" sz="900" dirty="0">
                <a:solidFill>
                  <a:srgbClr val="5C6B73"/>
                </a:solidFill>
                <a:latin typeface="BIZ UDゴシック" pitchFamily="34" charset="0"/>
                <a:ea typeface="BIZ UDゴシック" pitchFamily="34" charset="-122"/>
                <a:cs typeface="BIZ UDゴシック" pitchFamily="34" charset="-120"/>
              </a:rPr>
              <a:t>Observability AI PoC</a:t>
            </a:r>
            <a:endParaRPr lang="en-US" sz="900" dirty="0"/>
          </a:p>
        </p:txBody>
      </p:sp>
      <p:sp>
        <p:nvSpPr>
          <p:cNvPr id="8" name="Text 6"/>
          <p:cNvSpPr/>
          <p:nvPr/>
        </p:nvSpPr>
        <p:spPr>
          <a:xfrm>
            <a:off x="9814255" y="6446520"/>
            <a:ext cx="1828800" cy="274320"/>
          </a:xfrm>
          <a:prstGeom prst="rect">
            <a:avLst/>
          </a:prstGeom>
          <a:noFill/>
          <a:ln/>
        </p:spPr>
        <p:txBody>
          <a:bodyPr wrap="square" lIns="0" tIns="0" rIns="0" bIns="0" rtlCol="0" anchor="ctr"/>
          <a:lstStyle/>
          <a:p>
            <a:pPr algn="r" indent="0" marL="0">
              <a:buNone/>
            </a:pPr>
            <a:endParaRPr lang="en-US" sz="9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502920"/>
            <a:ext cx="566928" cy="566928"/>
          </a:xfrm>
          <a:prstGeom prst="ellipse">
            <a:avLst/>
          </a:prstGeom>
          <a:solidFill>
            <a:srgbClr val="21295C"/>
          </a:solidFill>
          <a:ln/>
        </p:spPr>
      </p:sp>
      <p:sp>
        <p:nvSpPr>
          <p:cNvPr id="3" name="Text 1"/>
          <p:cNvSpPr/>
          <p:nvPr/>
        </p:nvSpPr>
        <p:spPr>
          <a:xfrm>
            <a:off x="548640" y="502920"/>
            <a:ext cx="566928" cy="566928"/>
          </a:xfrm>
          <a:prstGeom prst="rect">
            <a:avLst/>
          </a:prstGeom>
          <a:noFill/>
          <a:ln/>
        </p:spPr>
        <p:txBody>
          <a:bodyPr wrap="square" lIns="0" tIns="0" rIns="0" bIns="0" rtlCol="0" anchor="ctr"/>
          <a:lstStyle/>
          <a:p>
            <a:pPr algn="ctr" indent="0" marL="0">
              <a:buNone/>
            </a:pPr>
            <a:r>
              <a:rPr lang="en-US" sz="1500" b="1" dirty="0">
                <a:solidFill>
                  <a:srgbClr val="FFFFFF"/>
                </a:solidFill>
                <a:latin typeface="BIZ UDゴシック" pitchFamily="34" charset="0"/>
                <a:ea typeface="BIZ UDゴシック" pitchFamily="34" charset="-122"/>
                <a:cs typeface="BIZ UDゴシック" pitchFamily="34" charset="-120"/>
              </a:rPr>
              <a:t>22</a:t>
            </a:r>
            <a:endParaRPr lang="en-US" sz="1500" dirty="0"/>
          </a:p>
        </p:txBody>
      </p:sp>
      <p:sp>
        <p:nvSpPr>
          <p:cNvPr id="4" name="Text 2"/>
          <p:cNvSpPr/>
          <p:nvPr/>
        </p:nvSpPr>
        <p:spPr>
          <a:xfrm>
            <a:off x="1280160" y="438912"/>
            <a:ext cx="10362895" cy="274320"/>
          </a:xfrm>
          <a:prstGeom prst="rect">
            <a:avLst/>
          </a:prstGeom>
          <a:noFill/>
          <a:ln/>
        </p:spPr>
        <p:txBody>
          <a:bodyPr wrap="square" lIns="0" tIns="0" rIns="0" bIns="0" rtlCol="0" anchor="ctr"/>
          <a:lstStyle/>
          <a:p>
            <a:pPr indent="0" marL="0">
              <a:buNone/>
            </a:pPr>
            <a:r>
              <a:rPr lang="en-US" sz="1100" b="1" spc="100" kern="0" dirty="0">
                <a:solidFill>
                  <a:srgbClr val="1C7293"/>
                </a:solidFill>
                <a:latin typeface="BIZ UDゴシック" pitchFamily="34" charset="0"/>
                <a:ea typeface="BIZ UDゴシック" pitchFamily="34" charset="-122"/>
                <a:cs typeface="BIZ UDゴシック" pitchFamily="34" charset="-120"/>
              </a:rPr>
              <a:t>SECTION 22</a:t>
            </a:r>
            <a:endParaRPr lang="en-US" sz="1100" dirty="0"/>
          </a:p>
        </p:txBody>
      </p:sp>
      <p:sp>
        <p:nvSpPr>
          <p:cNvPr id="5" name="Text 3"/>
          <p:cNvSpPr/>
          <p:nvPr/>
        </p:nvSpPr>
        <p:spPr>
          <a:xfrm>
            <a:off x="1280160" y="713232"/>
            <a:ext cx="10362895" cy="566928"/>
          </a:xfrm>
          <a:prstGeom prst="rect">
            <a:avLst/>
          </a:prstGeom>
          <a:noFill/>
          <a:ln/>
        </p:spPr>
        <p:txBody>
          <a:bodyPr wrap="square" lIns="0" tIns="0" rIns="0" bIns="0" rtlCol="0" anchor="t"/>
          <a:lstStyle/>
          <a:p>
            <a:pPr indent="0" marL="0">
              <a:buNone/>
            </a:pPr>
            <a:r>
              <a:rPr lang="en-US" sz="2500" b="1" dirty="0">
                <a:solidFill>
                  <a:srgbClr val="1A1A2E"/>
                </a:solidFill>
                <a:latin typeface="BIZ UDゴシック" pitchFamily="34" charset="0"/>
                <a:ea typeface="BIZ UDゴシック" pitchFamily="34" charset="-122"/>
                <a:cs typeface="BIZ UDゴシック" pitchFamily="34" charset="-120"/>
              </a:rPr>
              <a:t>テスト方針 — 5段階</a:t>
            </a:r>
            <a:endParaRPr lang="en-US" sz="2500" dirty="0"/>
          </a:p>
        </p:txBody>
      </p:sp>
      <p:sp>
        <p:nvSpPr>
          <p:cNvPr id="6" name="Text 4"/>
          <p:cNvSpPr/>
          <p:nvPr/>
        </p:nvSpPr>
        <p:spPr>
          <a:xfrm>
            <a:off x="548640" y="6446520"/>
            <a:ext cx="4572000" cy="274320"/>
          </a:xfrm>
          <a:prstGeom prst="rect">
            <a:avLst/>
          </a:prstGeom>
          <a:noFill/>
          <a:ln/>
        </p:spPr>
        <p:txBody>
          <a:bodyPr wrap="square" lIns="0" tIns="0" rIns="0" bIns="0" rtlCol="0" anchor="ctr"/>
          <a:lstStyle/>
          <a:p>
            <a:pPr indent="0" marL="0">
              <a:buNone/>
            </a:pPr>
            <a:r>
              <a:rPr lang="en-US" sz="900" dirty="0">
                <a:solidFill>
                  <a:srgbClr val="5C6B73"/>
                </a:solidFill>
                <a:latin typeface="BIZ UDゴシック" pitchFamily="34" charset="0"/>
                <a:ea typeface="BIZ UDゴシック" pitchFamily="34" charset="-122"/>
                <a:cs typeface="BIZ UDゴシック" pitchFamily="34" charset="-120"/>
              </a:rPr>
              <a:t>Observability AI PoC</a:t>
            </a:r>
            <a:endParaRPr lang="en-US" sz="900" dirty="0"/>
          </a:p>
        </p:txBody>
      </p:sp>
      <p:sp>
        <p:nvSpPr>
          <p:cNvPr id="7" name="Text 5"/>
          <p:cNvSpPr/>
          <p:nvPr/>
        </p:nvSpPr>
        <p:spPr>
          <a:xfrm>
            <a:off x="9814255" y="6446520"/>
            <a:ext cx="1828800" cy="274320"/>
          </a:xfrm>
          <a:prstGeom prst="rect">
            <a:avLst/>
          </a:prstGeom>
          <a:noFill/>
          <a:ln/>
        </p:spPr>
        <p:txBody>
          <a:bodyPr wrap="square" lIns="0" tIns="0" rIns="0" bIns="0" rtlCol="0" anchor="ctr"/>
          <a:lstStyle/>
          <a:p>
            <a:pPr algn="r" indent="0" marL="0">
              <a:buNone/>
            </a:pPr>
            <a:r>
              <a:rPr lang="en-US" sz="900" dirty="0">
                <a:solidFill>
                  <a:srgbClr val="5C6B73"/>
                </a:solidFill>
                <a:latin typeface="BIZ UDゴシック" pitchFamily="34" charset="0"/>
                <a:ea typeface="BIZ UDゴシック" pitchFamily="34" charset="-122"/>
                <a:cs typeface="BIZ UDゴシック" pitchFamily="34" charset="-120"/>
              </a:rPr>
              <a:t>22</a:t>
            </a:r>
            <a:endParaRPr lang="en-US" sz="900" dirty="0"/>
          </a:p>
        </p:txBody>
      </p:sp>
      <p:sp>
        <p:nvSpPr>
          <p:cNvPr id="8" name="Shape 6"/>
          <p:cNvSpPr/>
          <p:nvPr/>
        </p:nvSpPr>
        <p:spPr>
          <a:xfrm>
            <a:off x="1280160" y="1490472"/>
            <a:ext cx="10362895" cy="841248"/>
          </a:xfrm>
          <a:prstGeom prst="roundRect">
            <a:avLst>
              <a:gd name="adj" fmla="val 8696"/>
            </a:avLst>
          </a:prstGeom>
          <a:solidFill>
            <a:srgbClr val="EAF2F6"/>
          </a:solidFill>
          <a:ln/>
        </p:spPr>
      </p:sp>
      <p:sp>
        <p:nvSpPr>
          <p:cNvPr id="9" name="Shape 7"/>
          <p:cNvSpPr/>
          <p:nvPr/>
        </p:nvSpPr>
        <p:spPr>
          <a:xfrm>
            <a:off x="1417320" y="1627632"/>
            <a:ext cx="1417320" cy="566928"/>
          </a:xfrm>
          <a:prstGeom prst="roundRect">
            <a:avLst>
              <a:gd name="adj" fmla="val 9677"/>
            </a:avLst>
          </a:prstGeom>
          <a:solidFill>
            <a:srgbClr val="065A82"/>
          </a:solidFill>
          <a:ln/>
        </p:spPr>
      </p:sp>
      <p:sp>
        <p:nvSpPr>
          <p:cNvPr id="10" name="Text 8"/>
          <p:cNvSpPr/>
          <p:nvPr/>
        </p:nvSpPr>
        <p:spPr>
          <a:xfrm>
            <a:off x="1417320" y="1627632"/>
            <a:ext cx="1417320" cy="566928"/>
          </a:xfrm>
          <a:prstGeom prst="rect">
            <a:avLst/>
          </a:prstGeom>
          <a:noFill/>
          <a:ln/>
        </p:spPr>
        <p:txBody>
          <a:bodyPr wrap="square" lIns="0" tIns="0" rIns="0" bIns="0" rtlCol="0" anchor="ctr"/>
          <a:lstStyle/>
          <a:p>
            <a:pPr algn="ctr" indent="0" marL="0">
              <a:buNone/>
            </a:pPr>
            <a:r>
              <a:rPr lang="en-US" sz="1200" b="1" dirty="0">
                <a:solidFill>
                  <a:srgbClr val="FFFFFF"/>
                </a:solidFill>
                <a:latin typeface="BIZ UDゴシック" pitchFamily="34" charset="0"/>
                <a:ea typeface="BIZ UDゴシック" pitchFamily="34" charset="-122"/>
                <a:cs typeface="BIZ UDゴシック" pitchFamily="34" charset="-120"/>
              </a:rPr>
              <a:t>Level 1</a:t>
            </a:r>
            <a:endParaRPr lang="en-US" sz="1200" dirty="0"/>
          </a:p>
        </p:txBody>
      </p:sp>
      <p:sp>
        <p:nvSpPr>
          <p:cNvPr id="11" name="Text 9"/>
          <p:cNvSpPr/>
          <p:nvPr/>
        </p:nvSpPr>
        <p:spPr>
          <a:xfrm>
            <a:off x="3017520" y="1581912"/>
            <a:ext cx="2377440" cy="640080"/>
          </a:xfrm>
          <a:prstGeom prst="rect">
            <a:avLst/>
          </a:prstGeom>
          <a:noFill/>
          <a:ln/>
        </p:spPr>
        <p:txBody>
          <a:bodyPr wrap="square" lIns="0" tIns="0" rIns="0" bIns="0" rtlCol="0" anchor="ctr"/>
          <a:lstStyle/>
          <a:p>
            <a:pPr indent="0" marL="0">
              <a:buNone/>
            </a:pPr>
            <a:r>
              <a:rPr lang="en-US" sz="1350" b="1" dirty="0">
                <a:solidFill>
                  <a:srgbClr val="21295C"/>
                </a:solidFill>
                <a:latin typeface="BIZ UDゴシック" pitchFamily="34" charset="0"/>
                <a:ea typeface="BIZ UDゴシック" pitchFamily="34" charset="-122"/>
                <a:cs typeface="BIZ UDゴシック" pitchFamily="34" charset="-120"/>
              </a:rPr>
              <a:t>Unit Test</a:t>
            </a:r>
            <a:endParaRPr lang="en-US" sz="1350" dirty="0"/>
          </a:p>
        </p:txBody>
      </p:sp>
      <p:sp>
        <p:nvSpPr>
          <p:cNvPr id="12" name="Text 10"/>
          <p:cNvSpPr/>
          <p:nvPr/>
        </p:nvSpPr>
        <p:spPr>
          <a:xfrm>
            <a:off x="5532120" y="1581912"/>
            <a:ext cx="5928055" cy="640080"/>
          </a:xfrm>
          <a:prstGeom prst="rect">
            <a:avLst/>
          </a:prstGeom>
          <a:noFill/>
          <a:ln/>
        </p:spPr>
        <p:txBody>
          <a:bodyPr wrap="square" lIns="0" tIns="0" rIns="0" bIns="0" rtlCol="0" anchor="ctr"/>
          <a:lstStyle/>
          <a:p>
            <a:pPr indent="0" marL="0">
              <a:lnSpc>
                <a:spcPct val="110000"/>
              </a:lnSpc>
              <a:buNone/>
            </a:pPr>
            <a:r>
              <a:rPr lang="en-US" sz="1150" dirty="0">
                <a:solidFill>
                  <a:srgbClr val="1A1A2E"/>
                </a:solidFill>
                <a:latin typeface="BIZ UDゴシック" pitchFamily="34" charset="0"/>
                <a:ea typeface="BIZ UDゴシック" pitchFamily="34" charset="-122"/>
                <a:cs typeface="BIZ UDゴシック" pitchFamily="34" charset="-120"/>
              </a:rPr>
              <a:t>EvidenceBundle / IncidentAnalysis / UIモデル / バリデーション / Provider Adapter</a:t>
            </a:r>
            <a:endParaRPr lang="en-US" sz="1150" dirty="0"/>
          </a:p>
        </p:txBody>
      </p:sp>
      <p:sp>
        <p:nvSpPr>
          <p:cNvPr id="13" name="Shape 11"/>
          <p:cNvSpPr/>
          <p:nvPr/>
        </p:nvSpPr>
        <p:spPr>
          <a:xfrm>
            <a:off x="1280160" y="2423160"/>
            <a:ext cx="10362895" cy="841248"/>
          </a:xfrm>
          <a:prstGeom prst="roundRect">
            <a:avLst>
              <a:gd name="adj" fmla="val 8696"/>
            </a:avLst>
          </a:prstGeom>
          <a:solidFill>
            <a:srgbClr val="DCEAF0"/>
          </a:solidFill>
          <a:ln/>
        </p:spPr>
      </p:sp>
      <p:sp>
        <p:nvSpPr>
          <p:cNvPr id="14" name="Shape 12"/>
          <p:cNvSpPr/>
          <p:nvPr/>
        </p:nvSpPr>
        <p:spPr>
          <a:xfrm>
            <a:off x="1417320" y="2560320"/>
            <a:ext cx="1417320" cy="566928"/>
          </a:xfrm>
          <a:prstGeom prst="roundRect">
            <a:avLst>
              <a:gd name="adj" fmla="val 9677"/>
            </a:avLst>
          </a:prstGeom>
          <a:solidFill>
            <a:srgbClr val="065A82"/>
          </a:solidFill>
          <a:ln/>
        </p:spPr>
      </p:sp>
      <p:sp>
        <p:nvSpPr>
          <p:cNvPr id="15" name="Text 13"/>
          <p:cNvSpPr/>
          <p:nvPr/>
        </p:nvSpPr>
        <p:spPr>
          <a:xfrm>
            <a:off x="1417320" y="2560320"/>
            <a:ext cx="1417320" cy="566928"/>
          </a:xfrm>
          <a:prstGeom prst="rect">
            <a:avLst/>
          </a:prstGeom>
          <a:noFill/>
          <a:ln/>
        </p:spPr>
        <p:txBody>
          <a:bodyPr wrap="square" lIns="0" tIns="0" rIns="0" bIns="0" rtlCol="0" anchor="ctr"/>
          <a:lstStyle/>
          <a:p>
            <a:pPr algn="ctr" indent="0" marL="0">
              <a:buNone/>
            </a:pPr>
            <a:r>
              <a:rPr lang="en-US" sz="1200" b="1" dirty="0">
                <a:solidFill>
                  <a:srgbClr val="FFFFFF"/>
                </a:solidFill>
                <a:latin typeface="BIZ UDゴシック" pitchFamily="34" charset="0"/>
                <a:ea typeface="BIZ UDゴシック" pitchFamily="34" charset="-122"/>
                <a:cs typeface="BIZ UDゴシック" pitchFamily="34" charset="-120"/>
              </a:rPr>
              <a:t>Level 2</a:t>
            </a:r>
            <a:endParaRPr lang="en-US" sz="1200" dirty="0"/>
          </a:p>
        </p:txBody>
      </p:sp>
      <p:sp>
        <p:nvSpPr>
          <p:cNvPr id="16" name="Text 14"/>
          <p:cNvSpPr/>
          <p:nvPr/>
        </p:nvSpPr>
        <p:spPr>
          <a:xfrm>
            <a:off x="3017520" y="2514600"/>
            <a:ext cx="2377440" cy="640080"/>
          </a:xfrm>
          <a:prstGeom prst="rect">
            <a:avLst/>
          </a:prstGeom>
          <a:noFill/>
          <a:ln/>
        </p:spPr>
        <p:txBody>
          <a:bodyPr wrap="square" lIns="0" tIns="0" rIns="0" bIns="0" rtlCol="0" anchor="ctr"/>
          <a:lstStyle/>
          <a:p>
            <a:pPr indent="0" marL="0">
              <a:buNone/>
            </a:pPr>
            <a:r>
              <a:rPr lang="en-US" sz="1350" b="1" dirty="0">
                <a:solidFill>
                  <a:srgbClr val="21295C"/>
                </a:solidFill>
                <a:latin typeface="BIZ UDゴシック" pitchFamily="34" charset="0"/>
                <a:ea typeface="BIZ UDゴシック" pitchFamily="34" charset="-122"/>
                <a:cs typeface="BIZ UDゴシック" pitchFamily="34" charset="-120"/>
              </a:rPr>
              <a:t>Integration Test</a:t>
            </a:r>
            <a:endParaRPr lang="en-US" sz="1350" dirty="0"/>
          </a:p>
        </p:txBody>
      </p:sp>
      <p:sp>
        <p:nvSpPr>
          <p:cNvPr id="17" name="Text 15"/>
          <p:cNvSpPr/>
          <p:nvPr/>
        </p:nvSpPr>
        <p:spPr>
          <a:xfrm>
            <a:off x="5532120" y="2514600"/>
            <a:ext cx="5928055" cy="640080"/>
          </a:xfrm>
          <a:prstGeom prst="rect">
            <a:avLst/>
          </a:prstGeom>
          <a:noFill/>
          <a:ln/>
        </p:spPr>
        <p:txBody>
          <a:bodyPr wrap="square" lIns="0" tIns="0" rIns="0" bIns="0" rtlCol="0" anchor="ctr"/>
          <a:lstStyle/>
          <a:p>
            <a:pPr indent="0" marL="0">
              <a:lnSpc>
                <a:spcPct val="110000"/>
              </a:lnSpc>
              <a:buNone/>
            </a:pPr>
            <a:r>
              <a:rPr lang="en-US" sz="1150" dirty="0">
                <a:solidFill>
                  <a:srgbClr val="1A1A2E"/>
                </a:solidFill>
                <a:latin typeface="BIZ UDゴシック" pitchFamily="34" charset="0"/>
                <a:ea typeface="BIZ UDゴシック" pitchFamily="34" charset="-122"/>
                <a:cs typeface="BIZ UDゴシック" pitchFamily="34" charset="-120"/>
              </a:rPr>
              <a:t>Splunk Adapter / MCP Adapter / Console API / AG-UI変換</a:t>
            </a:r>
            <a:endParaRPr lang="en-US" sz="1150" dirty="0"/>
          </a:p>
        </p:txBody>
      </p:sp>
      <p:sp>
        <p:nvSpPr>
          <p:cNvPr id="18" name="Shape 16"/>
          <p:cNvSpPr/>
          <p:nvPr/>
        </p:nvSpPr>
        <p:spPr>
          <a:xfrm>
            <a:off x="1280160" y="3355848"/>
            <a:ext cx="10362895" cy="841248"/>
          </a:xfrm>
          <a:prstGeom prst="roundRect">
            <a:avLst>
              <a:gd name="adj" fmla="val 8696"/>
            </a:avLst>
          </a:prstGeom>
          <a:solidFill>
            <a:srgbClr val="EAF2F6"/>
          </a:solidFill>
          <a:ln/>
        </p:spPr>
      </p:sp>
      <p:sp>
        <p:nvSpPr>
          <p:cNvPr id="19" name="Shape 17"/>
          <p:cNvSpPr/>
          <p:nvPr/>
        </p:nvSpPr>
        <p:spPr>
          <a:xfrm>
            <a:off x="1417320" y="3493008"/>
            <a:ext cx="1417320" cy="566928"/>
          </a:xfrm>
          <a:prstGeom prst="roundRect">
            <a:avLst>
              <a:gd name="adj" fmla="val 9677"/>
            </a:avLst>
          </a:prstGeom>
          <a:solidFill>
            <a:srgbClr val="065A82"/>
          </a:solidFill>
          <a:ln/>
        </p:spPr>
      </p:sp>
      <p:sp>
        <p:nvSpPr>
          <p:cNvPr id="20" name="Text 18"/>
          <p:cNvSpPr/>
          <p:nvPr/>
        </p:nvSpPr>
        <p:spPr>
          <a:xfrm>
            <a:off x="1417320" y="3493008"/>
            <a:ext cx="1417320" cy="566928"/>
          </a:xfrm>
          <a:prstGeom prst="rect">
            <a:avLst/>
          </a:prstGeom>
          <a:noFill/>
          <a:ln/>
        </p:spPr>
        <p:txBody>
          <a:bodyPr wrap="square" lIns="0" tIns="0" rIns="0" bIns="0" rtlCol="0" anchor="ctr"/>
          <a:lstStyle/>
          <a:p>
            <a:pPr algn="ctr" indent="0" marL="0">
              <a:buNone/>
            </a:pPr>
            <a:r>
              <a:rPr lang="en-US" sz="1200" b="1" dirty="0">
                <a:solidFill>
                  <a:srgbClr val="FFFFFF"/>
                </a:solidFill>
                <a:latin typeface="BIZ UDゴシック" pitchFamily="34" charset="0"/>
                <a:ea typeface="BIZ UDゴシック" pitchFamily="34" charset="-122"/>
                <a:cs typeface="BIZ UDゴシック" pitchFamily="34" charset="-120"/>
              </a:rPr>
              <a:t>Level 3</a:t>
            </a:r>
            <a:endParaRPr lang="en-US" sz="1200" dirty="0"/>
          </a:p>
        </p:txBody>
      </p:sp>
      <p:sp>
        <p:nvSpPr>
          <p:cNvPr id="21" name="Text 19"/>
          <p:cNvSpPr/>
          <p:nvPr/>
        </p:nvSpPr>
        <p:spPr>
          <a:xfrm>
            <a:off x="3017520" y="3447288"/>
            <a:ext cx="2377440" cy="640080"/>
          </a:xfrm>
          <a:prstGeom prst="rect">
            <a:avLst/>
          </a:prstGeom>
          <a:noFill/>
          <a:ln/>
        </p:spPr>
        <p:txBody>
          <a:bodyPr wrap="square" lIns="0" tIns="0" rIns="0" bIns="0" rtlCol="0" anchor="ctr"/>
          <a:lstStyle/>
          <a:p>
            <a:pPr indent="0" marL="0">
              <a:buNone/>
            </a:pPr>
            <a:r>
              <a:rPr lang="en-US" sz="1350" b="1" dirty="0">
                <a:solidFill>
                  <a:srgbClr val="21295C"/>
                </a:solidFill>
                <a:latin typeface="BIZ UDゴシック" pitchFamily="34" charset="0"/>
                <a:ea typeface="BIZ UDゴシック" pitchFamily="34" charset="-122"/>
                <a:cs typeface="BIZ UDゴシック" pitchFamily="34" charset="-120"/>
              </a:rPr>
              <a:t>Container Test</a:t>
            </a:r>
            <a:endParaRPr lang="en-US" sz="1350" dirty="0"/>
          </a:p>
        </p:txBody>
      </p:sp>
      <p:sp>
        <p:nvSpPr>
          <p:cNvPr id="22" name="Text 20"/>
          <p:cNvSpPr/>
          <p:nvPr/>
        </p:nvSpPr>
        <p:spPr>
          <a:xfrm>
            <a:off x="5532120" y="3447288"/>
            <a:ext cx="5928055" cy="640080"/>
          </a:xfrm>
          <a:prstGeom prst="rect">
            <a:avLst/>
          </a:prstGeom>
          <a:noFill/>
          <a:ln/>
        </p:spPr>
        <p:txBody>
          <a:bodyPr wrap="square" lIns="0" tIns="0" rIns="0" bIns="0" rtlCol="0" anchor="ctr"/>
          <a:lstStyle/>
          <a:p>
            <a:pPr indent="0" marL="0">
              <a:lnSpc>
                <a:spcPct val="110000"/>
              </a:lnSpc>
              <a:buNone/>
            </a:pPr>
            <a:r>
              <a:rPr lang="en-US" sz="1150" dirty="0">
                <a:solidFill>
                  <a:srgbClr val="1A1A2E"/>
                </a:solidFill>
                <a:latin typeface="BIZ UDゴシック" pitchFamily="34" charset="0"/>
                <a:ea typeface="BIZ UDゴシック" pitchFamily="34" charset="-122"/>
                <a:cs typeface="BIZ UDゴシック" pitchFamily="34" charset="-120"/>
              </a:rPr>
              <a:t>Docker build / CA Trust / Proxy / Network</a:t>
            </a:r>
            <a:endParaRPr lang="en-US" sz="1150" dirty="0"/>
          </a:p>
        </p:txBody>
      </p:sp>
      <p:sp>
        <p:nvSpPr>
          <p:cNvPr id="23" name="Shape 21"/>
          <p:cNvSpPr/>
          <p:nvPr/>
        </p:nvSpPr>
        <p:spPr>
          <a:xfrm>
            <a:off x="1280160" y="4288536"/>
            <a:ext cx="10362895" cy="841248"/>
          </a:xfrm>
          <a:prstGeom prst="roundRect">
            <a:avLst>
              <a:gd name="adj" fmla="val 8696"/>
            </a:avLst>
          </a:prstGeom>
          <a:solidFill>
            <a:srgbClr val="DCEAF0"/>
          </a:solidFill>
          <a:ln/>
        </p:spPr>
      </p:sp>
      <p:sp>
        <p:nvSpPr>
          <p:cNvPr id="24" name="Shape 22"/>
          <p:cNvSpPr/>
          <p:nvPr/>
        </p:nvSpPr>
        <p:spPr>
          <a:xfrm>
            <a:off x="1417320" y="4425696"/>
            <a:ext cx="1417320" cy="566928"/>
          </a:xfrm>
          <a:prstGeom prst="roundRect">
            <a:avLst>
              <a:gd name="adj" fmla="val 9677"/>
            </a:avLst>
          </a:prstGeom>
          <a:solidFill>
            <a:srgbClr val="065A82"/>
          </a:solidFill>
          <a:ln/>
        </p:spPr>
      </p:sp>
      <p:sp>
        <p:nvSpPr>
          <p:cNvPr id="25" name="Text 23"/>
          <p:cNvSpPr/>
          <p:nvPr/>
        </p:nvSpPr>
        <p:spPr>
          <a:xfrm>
            <a:off x="1417320" y="4425696"/>
            <a:ext cx="1417320" cy="566928"/>
          </a:xfrm>
          <a:prstGeom prst="rect">
            <a:avLst/>
          </a:prstGeom>
          <a:noFill/>
          <a:ln/>
        </p:spPr>
        <p:txBody>
          <a:bodyPr wrap="square" lIns="0" tIns="0" rIns="0" bIns="0" rtlCol="0" anchor="ctr"/>
          <a:lstStyle/>
          <a:p>
            <a:pPr algn="ctr" indent="0" marL="0">
              <a:buNone/>
            </a:pPr>
            <a:r>
              <a:rPr lang="en-US" sz="1200" b="1" dirty="0">
                <a:solidFill>
                  <a:srgbClr val="FFFFFF"/>
                </a:solidFill>
                <a:latin typeface="BIZ UDゴシック" pitchFamily="34" charset="0"/>
                <a:ea typeface="BIZ UDゴシック" pitchFamily="34" charset="-122"/>
                <a:cs typeface="BIZ UDゴシック" pitchFamily="34" charset="-120"/>
              </a:rPr>
              <a:t>Level 4</a:t>
            </a:r>
            <a:endParaRPr lang="en-US" sz="1200" dirty="0"/>
          </a:p>
        </p:txBody>
      </p:sp>
      <p:sp>
        <p:nvSpPr>
          <p:cNvPr id="26" name="Text 24"/>
          <p:cNvSpPr/>
          <p:nvPr/>
        </p:nvSpPr>
        <p:spPr>
          <a:xfrm>
            <a:off x="3017520" y="4379976"/>
            <a:ext cx="2377440" cy="640080"/>
          </a:xfrm>
          <a:prstGeom prst="rect">
            <a:avLst/>
          </a:prstGeom>
          <a:noFill/>
          <a:ln/>
        </p:spPr>
        <p:txBody>
          <a:bodyPr wrap="square" lIns="0" tIns="0" rIns="0" bIns="0" rtlCol="0" anchor="ctr"/>
          <a:lstStyle/>
          <a:p>
            <a:pPr indent="0" marL="0">
              <a:buNone/>
            </a:pPr>
            <a:r>
              <a:rPr lang="en-US" sz="1350" b="1" dirty="0">
                <a:solidFill>
                  <a:srgbClr val="21295C"/>
                </a:solidFill>
                <a:latin typeface="BIZ UDゴシック" pitchFamily="34" charset="0"/>
                <a:ea typeface="BIZ UDゴシック" pitchFamily="34" charset="-122"/>
                <a:cs typeface="BIZ UDゴシック" pitchFamily="34" charset="-120"/>
              </a:rPr>
              <a:t>Live Integration</a:t>
            </a:r>
            <a:endParaRPr lang="en-US" sz="1350" dirty="0"/>
          </a:p>
        </p:txBody>
      </p:sp>
      <p:sp>
        <p:nvSpPr>
          <p:cNvPr id="27" name="Text 25"/>
          <p:cNvSpPr/>
          <p:nvPr/>
        </p:nvSpPr>
        <p:spPr>
          <a:xfrm>
            <a:off x="5532120" y="4379976"/>
            <a:ext cx="5928055" cy="640080"/>
          </a:xfrm>
          <a:prstGeom prst="rect">
            <a:avLst/>
          </a:prstGeom>
          <a:noFill/>
          <a:ln/>
        </p:spPr>
        <p:txBody>
          <a:bodyPr wrap="square" lIns="0" tIns="0" rIns="0" bIns="0" rtlCol="0" anchor="ctr"/>
          <a:lstStyle/>
          <a:p>
            <a:pPr indent="0" marL="0">
              <a:lnSpc>
                <a:spcPct val="110000"/>
              </a:lnSpc>
              <a:buNone/>
            </a:pPr>
            <a:r>
              <a:rPr lang="en-US" sz="1150" dirty="0">
                <a:solidFill>
                  <a:srgbClr val="1A1A2E"/>
                </a:solidFill>
                <a:latin typeface="BIZ UDゴシック" pitchFamily="34" charset="0"/>
                <a:ea typeface="BIZ UDゴシック" pitchFamily="34" charset="-122"/>
                <a:cs typeface="BIZ UDゴシック" pitchFamily="34" charset="-120"/>
              </a:rPr>
              <a:t>Splunk / New Relic / APM / MCP / LLM</a:t>
            </a:r>
            <a:endParaRPr lang="en-US" sz="1150" dirty="0"/>
          </a:p>
        </p:txBody>
      </p:sp>
      <p:sp>
        <p:nvSpPr>
          <p:cNvPr id="28" name="Shape 26"/>
          <p:cNvSpPr/>
          <p:nvPr/>
        </p:nvSpPr>
        <p:spPr>
          <a:xfrm>
            <a:off x="1280160" y="5221224"/>
            <a:ext cx="10362895" cy="841248"/>
          </a:xfrm>
          <a:prstGeom prst="roundRect">
            <a:avLst>
              <a:gd name="adj" fmla="val 8696"/>
            </a:avLst>
          </a:prstGeom>
          <a:solidFill>
            <a:srgbClr val="EAF2F6"/>
          </a:solidFill>
          <a:ln/>
        </p:spPr>
      </p:sp>
      <p:sp>
        <p:nvSpPr>
          <p:cNvPr id="29" name="Shape 27"/>
          <p:cNvSpPr/>
          <p:nvPr/>
        </p:nvSpPr>
        <p:spPr>
          <a:xfrm>
            <a:off x="1417320" y="5358384"/>
            <a:ext cx="1417320" cy="566928"/>
          </a:xfrm>
          <a:prstGeom prst="roundRect">
            <a:avLst>
              <a:gd name="adj" fmla="val 9677"/>
            </a:avLst>
          </a:prstGeom>
          <a:solidFill>
            <a:srgbClr val="065A82"/>
          </a:solidFill>
          <a:ln/>
        </p:spPr>
      </p:sp>
      <p:sp>
        <p:nvSpPr>
          <p:cNvPr id="30" name="Text 28"/>
          <p:cNvSpPr/>
          <p:nvPr/>
        </p:nvSpPr>
        <p:spPr>
          <a:xfrm>
            <a:off x="1417320" y="5358384"/>
            <a:ext cx="1417320" cy="566928"/>
          </a:xfrm>
          <a:prstGeom prst="rect">
            <a:avLst/>
          </a:prstGeom>
          <a:noFill/>
          <a:ln/>
        </p:spPr>
        <p:txBody>
          <a:bodyPr wrap="square" lIns="0" tIns="0" rIns="0" bIns="0" rtlCol="0" anchor="ctr"/>
          <a:lstStyle/>
          <a:p>
            <a:pPr algn="ctr" indent="0" marL="0">
              <a:buNone/>
            </a:pPr>
            <a:r>
              <a:rPr lang="en-US" sz="1200" b="1" dirty="0">
                <a:solidFill>
                  <a:srgbClr val="FFFFFF"/>
                </a:solidFill>
                <a:latin typeface="BIZ UDゴシック" pitchFamily="34" charset="0"/>
                <a:ea typeface="BIZ UDゴシック" pitchFamily="34" charset="-122"/>
                <a:cs typeface="BIZ UDゴシック" pitchFamily="34" charset="-120"/>
              </a:rPr>
              <a:t>Level 5</a:t>
            </a:r>
            <a:endParaRPr lang="en-US" sz="1200" dirty="0"/>
          </a:p>
        </p:txBody>
      </p:sp>
      <p:sp>
        <p:nvSpPr>
          <p:cNvPr id="31" name="Text 29"/>
          <p:cNvSpPr/>
          <p:nvPr/>
        </p:nvSpPr>
        <p:spPr>
          <a:xfrm>
            <a:off x="3017520" y="5312664"/>
            <a:ext cx="2377440" cy="640080"/>
          </a:xfrm>
          <a:prstGeom prst="rect">
            <a:avLst/>
          </a:prstGeom>
          <a:noFill/>
          <a:ln/>
        </p:spPr>
        <p:txBody>
          <a:bodyPr wrap="square" lIns="0" tIns="0" rIns="0" bIns="0" rtlCol="0" anchor="ctr"/>
          <a:lstStyle/>
          <a:p>
            <a:pPr indent="0" marL="0">
              <a:buNone/>
            </a:pPr>
            <a:r>
              <a:rPr lang="en-US" sz="1350" b="1" dirty="0">
                <a:solidFill>
                  <a:srgbClr val="21295C"/>
                </a:solidFill>
                <a:latin typeface="BIZ UDゴシック" pitchFamily="34" charset="0"/>
                <a:ea typeface="BIZ UDゴシック" pitchFamily="34" charset="-122"/>
                <a:cs typeface="BIZ UDゴシック" pitchFamily="34" charset="-120"/>
              </a:rPr>
              <a:t>E2E</a:t>
            </a:r>
            <a:endParaRPr lang="en-US" sz="1350" dirty="0"/>
          </a:p>
        </p:txBody>
      </p:sp>
      <p:sp>
        <p:nvSpPr>
          <p:cNvPr id="32" name="Text 30"/>
          <p:cNvSpPr/>
          <p:nvPr/>
        </p:nvSpPr>
        <p:spPr>
          <a:xfrm>
            <a:off x="5532120" y="5312664"/>
            <a:ext cx="5928055" cy="640080"/>
          </a:xfrm>
          <a:prstGeom prst="rect">
            <a:avLst/>
          </a:prstGeom>
          <a:noFill/>
          <a:ln/>
        </p:spPr>
        <p:txBody>
          <a:bodyPr wrap="square" lIns="0" tIns="0" rIns="0" bIns="0" rtlCol="0" anchor="ctr"/>
          <a:lstStyle/>
          <a:p>
            <a:pPr indent="0" marL="0">
              <a:lnSpc>
                <a:spcPct val="110000"/>
              </a:lnSpc>
              <a:buNone/>
            </a:pPr>
            <a:r>
              <a:rPr lang="en-US" sz="1150" dirty="0">
                <a:solidFill>
                  <a:srgbClr val="1A1A2E"/>
                </a:solidFill>
                <a:latin typeface="BIZ UDゴシック" pitchFamily="34" charset="0"/>
                <a:ea typeface="BIZ UDゴシック" pitchFamily="34" charset="-122"/>
                <a:cs typeface="BIZ UDゴシック" pitchFamily="34" charset="-120"/>
              </a:rPr>
              <a:t>Demo Commerce障害発生からReact UI表示までを通して確認</a:t>
            </a:r>
            <a:endParaRPr lang="en-US" sz="11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502920"/>
            <a:ext cx="566928" cy="566928"/>
          </a:xfrm>
          <a:prstGeom prst="ellipse">
            <a:avLst/>
          </a:prstGeom>
          <a:solidFill>
            <a:srgbClr val="21295C"/>
          </a:solidFill>
          <a:ln/>
        </p:spPr>
      </p:sp>
      <p:sp>
        <p:nvSpPr>
          <p:cNvPr id="3" name="Text 1"/>
          <p:cNvSpPr/>
          <p:nvPr/>
        </p:nvSpPr>
        <p:spPr>
          <a:xfrm>
            <a:off x="548640" y="502920"/>
            <a:ext cx="566928" cy="566928"/>
          </a:xfrm>
          <a:prstGeom prst="rect">
            <a:avLst/>
          </a:prstGeom>
          <a:noFill/>
          <a:ln/>
        </p:spPr>
        <p:txBody>
          <a:bodyPr wrap="square" lIns="0" tIns="0" rIns="0" bIns="0" rtlCol="0" anchor="ctr"/>
          <a:lstStyle/>
          <a:p>
            <a:pPr algn="ctr" indent="0" marL="0">
              <a:buNone/>
            </a:pPr>
            <a:r>
              <a:rPr lang="en-US" sz="1500" b="1" dirty="0">
                <a:solidFill>
                  <a:srgbClr val="FFFFFF"/>
                </a:solidFill>
                <a:latin typeface="BIZ UDゴシック" pitchFamily="34" charset="0"/>
                <a:ea typeface="BIZ UDゴシック" pitchFamily="34" charset="-122"/>
                <a:cs typeface="BIZ UDゴシック" pitchFamily="34" charset="-120"/>
              </a:rPr>
              <a:t>23</a:t>
            </a:r>
            <a:endParaRPr lang="en-US" sz="1500" dirty="0"/>
          </a:p>
        </p:txBody>
      </p:sp>
      <p:sp>
        <p:nvSpPr>
          <p:cNvPr id="4" name="Text 2"/>
          <p:cNvSpPr/>
          <p:nvPr/>
        </p:nvSpPr>
        <p:spPr>
          <a:xfrm>
            <a:off x="1280160" y="438912"/>
            <a:ext cx="10362895" cy="274320"/>
          </a:xfrm>
          <a:prstGeom prst="rect">
            <a:avLst/>
          </a:prstGeom>
          <a:noFill/>
          <a:ln/>
        </p:spPr>
        <p:txBody>
          <a:bodyPr wrap="square" lIns="0" tIns="0" rIns="0" bIns="0" rtlCol="0" anchor="ctr"/>
          <a:lstStyle/>
          <a:p>
            <a:pPr indent="0" marL="0">
              <a:buNone/>
            </a:pPr>
            <a:r>
              <a:rPr lang="en-US" sz="1100" b="1" spc="100" kern="0" dirty="0">
                <a:solidFill>
                  <a:srgbClr val="1C7293"/>
                </a:solidFill>
                <a:latin typeface="BIZ UDゴシック" pitchFamily="34" charset="0"/>
                <a:ea typeface="BIZ UDゴシック" pitchFamily="34" charset="-122"/>
                <a:cs typeface="BIZ UDゴシック" pitchFamily="34" charset="-120"/>
              </a:rPr>
              <a:t>SECTION 23</a:t>
            </a:r>
            <a:endParaRPr lang="en-US" sz="1100" dirty="0"/>
          </a:p>
        </p:txBody>
      </p:sp>
      <p:sp>
        <p:nvSpPr>
          <p:cNvPr id="5" name="Text 3"/>
          <p:cNvSpPr/>
          <p:nvPr/>
        </p:nvSpPr>
        <p:spPr>
          <a:xfrm>
            <a:off x="1280160" y="713232"/>
            <a:ext cx="10362895" cy="566928"/>
          </a:xfrm>
          <a:prstGeom prst="rect">
            <a:avLst/>
          </a:prstGeom>
          <a:noFill/>
          <a:ln/>
        </p:spPr>
        <p:txBody>
          <a:bodyPr wrap="square" lIns="0" tIns="0" rIns="0" bIns="0" rtlCol="0" anchor="t"/>
          <a:lstStyle/>
          <a:p>
            <a:pPr indent="0" marL="0">
              <a:buNone/>
            </a:pPr>
            <a:r>
              <a:rPr lang="en-US" sz="2500" b="1" dirty="0">
                <a:solidFill>
                  <a:srgbClr val="1A1A2E"/>
                </a:solidFill>
                <a:latin typeface="BIZ UDゴシック" pitchFamily="34" charset="0"/>
                <a:ea typeface="BIZ UDゴシック" pitchFamily="34" charset="-122"/>
                <a:cs typeface="BIZ UDゴシック" pitchFamily="34" charset="-120"/>
              </a:rPr>
              <a:t>実装時の自動テスト結果</a:t>
            </a:r>
            <a:endParaRPr lang="en-US" sz="2500" dirty="0"/>
          </a:p>
        </p:txBody>
      </p:sp>
      <p:sp>
        <p:nvSpPr>
          <p:cNvPr id="6" name="Text 4"/>
          <p:cNvSpPr/>
          <p:nvPr/>
        </p:nvSpPr>
        <p:spPr>
          <a:xfrm>
            <a:off x="548640" y="6446520"/>
            <a:ext cx="4572000" cy="274320"/>
          </a:xfrm>
          <a:prstGeom prst="rect">
            <a:avLst/>
          </a:prstGeom>
          <a:noFill/>
          <a:ln/>
        </p:spPr>
        <p:txBody>
          <a:bodyPr wrap="square" lIns="0" tIns="0" rIns="0" bIns="0" rtlCol="0" anchor="ctr"/>
          <a:lstStyle/>
          <a:p>
            <a:pPr indent="0" marL="0">
              <a:buNone/>
            </a:pPr>
            <a:r>
              <a:rPr lang="en-US" sz="900" dirty="0">
                <a:solidFill>
                  <a:srgbClr val="5C6B73"/>
                </a:solidFill>
                <a:latin typeface="BIZ UDゴシック" pitchFamily="34" charset="0"/>
                <a:ea typeface="BIZ UDゴシック" pitchFamily="34" charset="-122"/>
                <a:cs typeface="BIZ UDゴシック" pitchFamily="34" charset="-120"/>
              </a:rPr>
              <a:t>Observability AI PoC</a:t>
            </a:r>
            <a:endParaRPr lang="en-US" sz="900" dirty="0"/>
          </a:p>
        </p:txBody>
      </p:sp>
      <p:sp>
        <p:nvSpPr>
          <p:cNvPr id="7" name="Text 5"/>
          <p:cNvSpPr/>
          <p:nvPr/>
        </p:nvSpPr>
        <p:spPr>
          <a:xfrm>
            <a:off x="9814255" y="6446520"/>
            <a:ext cx="1828800" cy="274320"/>
          </a:xfrm>
          <a:prstGeom prst="rect">
            <a:avLst/>
          </a:prstGeom>
          <a:noFill/>
          <a:ln/>
        </p:spPr>
        <p:txBody>
          <a:bodyPr wrap="square" lIns="0" tIns="0" rIns="0" bIns="0" rtlCol="0" anchor="ctr"/>
          <a:lstStyle/>
          <a:p>
            <a:pPr algn="r" indent="0" marL="0">
              <a:buNone/>
            </a:pPr>
            <a:r>
              <a:rPr lang="en-US" sz="900" dirty="0">
                <a:solidFill>
                  <a:srgbClr val="5C6B73"/>
                </a:solidFill>
                <a:latin typeface="BIZ UDゴシック" pitchFamily="34" charset="0"/>
                <a:ea typeface="BIZ UDゴシック" pitchFamily="34" charset="-122"/>
                <a:cs typeface="BIZ UDゴシック" pitchFamily="34" charset="-120"/>
              </a:rPr>
              <a:t>23</a:t>
            </a:r>
            <a:endParaRPr lang="en-US" sz="900" dirty="0"/>
          </a:p>
        </p:txBody>
      </p:sp>
      <p:sp>
        <p:nvSpPr>
          <p:cNvPr id="8" name="Text 6"/>
          <p:cNvSpPr/>
          <p:nvPr/>
        </p:nvSpPr>
        <p:spPr>
          <a:xfrm>
            <a:off x="1280160" y="1508760"/>
            <a:ext cx="10362895" cy="365760"/>
          </a:xfrm>
          <a:prstGeom prst="rect">
            <a:avLst/>
          </a:prstGeom>
          <a:noFill/>
          <a:ln/>
        </p:spPr>
        <p:txBody>
          <a:bodyPr wrap="square" lIns="0" tIns="0" rIns="0" bIns="0" rtlCol="0" anchor="t"/>
          <a:lstStyle/>
          <a:p>
            <a:pPr indent="0" marL="0">
              <a:lnSpc>
                <a:spcPct val="125000"/>
              </a:lnSpc>
              <a:buNone/>
            </a:pPr>
            <a:r>
              <a:rPr lang="en-US" sz="1500" b="1" dirty="0">
                <a:solidFill>
                  <a:srgbClr val="21295C"/>
                </a:solidFill>
                <a:latin typeface="BIZ UDゴシック" pitchFamily="34" charset="0"/>
                <a:ea typeface="BIZ UDゴシック" pitchFamily="34" charset="-122"/>
                <a:cs typeface="BIZ UDゴシック" pitchFamily="34" charset="-120"/>
              </a:rPr>
              <a:t>v12.0 作成時に実施した主なテスト</a:t>
            </a:r>
            <a:endParaRPr lang="en-US" sz="1500" dirty="0"/>
          </a:p>
        </p:txBody>
      </p:sp>
      <p:sp>
        <p:nvSpPr>
          <p:cNvPr id="9" name="Shape 7"/>
          <p:cNvSpPr/>
          <p:nvPr/>
        </p:nvSpPr>
        <p:spPr>
          <a:xfrm>
            <a:off x="1280160" y="1920240"/>
            <a:ext cx="3332378" cy="914400"/>
          </a:xfrm>
          <a:prstGeom prst="roundRect">
            <a:avLst>
              <a:gd name="adj" fmla="val 8000"/>
            </a:avLst>
          </a:prstGeom>
          <a:solidFill>
            <a:srgbClr val="EAF2F6"/>
          </a:solidFill>
          <a:ln/>
        </p:spPr>
      </p:sp>
      <p:sp>
        <p:nvSpPr>
          <p:cNvPr id="10" name="Text 8"/>
          <p:cNvSpPr/>
          <p:nvPr/>
        </p:nvSpPr>
        <p:spPr>
          <a:xfrm>
            <a:off x="1417320" y="2011680"/>
            <a:ext cx="3058058" cy="320040"/>
          </a:xfrm>
          <a:prstGeom prst="rect">
            <a:avLst/>
          </a:prstGeom>
          <a:noFill/>
          <a:ln/>
        </p:spPr>
        <p:txBody>
          <a:bodyPr wrap="square" lIns="0" tIns="0" rIns="0" bIns="0" rtlCol="0" anchor="ctr"/>
          <a:lstStyle/>
          <a:p>
            <a:pPr indent="0" marL="0">
              <a:buNone/>
            </a:pPr>
            <a:r>
              <a:rPr lang="en-US" sz="1150" dirty="0">
                <a:solidFill>
                  <a:srgbClr val="5C6B73"/>
                </a:solidFill>
                <a:latin typeface="BIZ UDゴシック" pitchFamily="34" charset="0"/>
                <a:ea typeface="BIZ UDゴシック" pitchFamily="34" charset="-122"/>
                <a:cs typeface="BIZ UDゴシック" pitchFamily="34" charset="-120"/>
              </a:rPr>
              <a:t>Python unit test</a:t>
            </a:r>
            <a:endParaRPr lang="en-US" sz="1150" dirty="0"/>
          </a:p>
        </p:txBody>
      </p:sp>
      <p:sp>
        <p:nvSpPr>
          <p:cNvPr id="11" name="Text 9"/>
          <p:cNvSpPr/>
          <p:nvPr/>
        </p:nvSpPr>
        <p:spPr>
          <a:xfrm>
            <a:off x="1417320" y="2304288"/>
            <a:ext cx="3058058" cy="457200"/>
          </a:xfrm>
          <a:prstGeom prst="rect">
            <a:avLst/>
          </a:prstGeom>
          <a:noFill/>
          <a:ln/>
        </p:spPr>
        <p:txBody>
          <a:bodyPr wrap="square" lIns="0" tIns="0" rIns="0" bIns="0" rtlCol="0" anchor="ctr"/>
          <a:lstStyle/>
          <a:p>
            <a:pPr indent="0" marL="0">
              <a:buNone/>
            </a:pPr>
            <a:r>
              <a:rPr lang="en-US" sz="1500" b="1" dirty="0">
                <a:solidFill>
                  <a:srgbClr val="2C7A5B"/>
                </a:solidFill>
                <a:latin typeface="BIZ UDゴシック" pitchFamily="34" charset="0"/>
                <a:ea typeface="BIZ UDゴシック" pitchFamily="34" charset="-122"/>
                <a:cs typeface="BIZ UDゴシック" pitchFamily="34" charset="-120"/>
              </a:rPr>
              <a:t>241 passed</a:t>
            </a:r>
            <a:endParaRPr lang="en-US" sz="1500" dirty="0"/>
          </a:p>
        </p:txBody>
      </p:sp>
      <p:sp>
        <p:nvSpPr>
          <p:cNvPr id="12" name="Shape 10"/>
          <p:cNvSpPr/>
          <p:nvPr/>
        </p:nvSpPr>
        <p:spPr>
          <a:xfrm>
            <a:off x="4795418" y="1920240"/>
            <a:ext cx="3332378" cy="914400"/>
          </a:xfrm>
          <a:prstGeom prst="roundRect">
            <a:avLst>
              <a:gd name="adj" fmla="val 8000"/>
            </a:avLst>
          </a:prstGeom>
          <a:solidFill>
            <a:srgbClr val="EAF2F6"/>
          </a:solidFill>
          <a:ln/>
        </p:spPr>
      </p:sp>
      <p:sp>
        <p:nvSpPr>
          <p:cNvPr id="13" name="Text 11"/>
          <p:cNvSpPr/>
          <p:nvPr/>
        </p:nvSpPr>
        <p:spPr>
          <a:xfrm>
            <a:off x="4932578" y="2011680"/>
            <a:ext cx="3058058" cy="320040"/>
          </a:xfrm>
          <a:prstGeom prst="rect">
            <a:avLst/>
          </a:prstGeom>
          <a:noFill/>
          <a:ln/>
        </p:spPr>
        <p:txBody>
          <a:bodyPr wrap="square" lIns="0" tIns="0" rIns="0" bIns="0" rtlCol="0" anchor="ctr"/>
          <a:lstStyle/>
          <a:p>
            <a:pPr indent="0" marL="0">
              <a:buNone/>
            </a:pPr>
            <a:r>
              <a:rPr lang="en-US" sz="1150" dirty="0">
                <a:solidFill>
                  <a:srgbClr val="5C6B73"/>
                </a:solidFill>
                <a:latin typeface="BIZ UDゴシック" pitchFamily="34" charset="0"/>
                <a:ea typeface="BIZ UDゴシック" pitchFamily="34" charset="-122"/>
                <a:cs typeface="BIZ UDゴシック" pitchFamily="34" charset="-120"/>
              </a:rPr>
              <a:t>Offline integration</a:t>
            </a:r>
            <a:endParaRPr lang="en-US" sz="1150" dirty="0"/>
          </a:p>
        </p:txBody>
      </p:sp>
      <p:sp>
        <p:nvSpPr>
          <p:cNvPr id="14" name="Text 12"/>
          <p:cNvSpPr/>
          <p:nvPr/>
        </p:nvSpPr>
        <p:spPr>
          <a:xfrm>
            <a:off x="4932578" y="2304288"/>
            <a:ext cx="3058058" cy="457200"/>
          </a:xfrm>
          <a:prstGeom prst="rect">
            <a:avLst/>
          </a:prstGeom>
          <a:noFill/>
          <a:ln/>
        </p:spPr>
        <p:txBody>
          <a:bodyPr wrap="square" lIns="0" tIns="0" rIns="0" bIns="0" rtlCol="0" anchor="ctr"/>
          <a:lstStyle/>
          <a:p>
            <a:pPr indent="0" marL="0">
              <a:buNone/>
            </a:pPr>
            <a:r>
              <a:rPr lang="en-US" sz="1500" b="1" dirty="0">
                <a:solidFill>
                  <a:srgbClr val="2C7A5B"/>
                </a:solidFill>
                <a:latin typeface="BIZ UDゴシック" pitchFamily="34" charset="0"/>
                <a:ea typeface="BIZ UDゴシック" pitchFamily="34" charset="-122"/>
                <a:cs typeface="BIZ UDゴシック" pitchFamily="34" charset="-120"/>
              </a:rPr>
              <a:t>3 passed</a:t>
            </a:r>
            <a:endParaRPr lang="en-US" sz="1500" dirty="0"/>
          </a:p>
        </p:txBody>
      </p:sp>
      <p:sp>
        <p:nvSpPr>
          <p:cNvPr id="15" name="Shape 13"/>
          <p:cNvSpPr/>
          <p:nvPr/>
        </p:nvSpPr>
        <p:spPr>
          <a:xfrm>
            <a:off x="8310677" y="1920240"/>
            <a:ext cx="3332378" cy="914400"/>
          </a:xfrm>
          <a:prstGeom prst="roundRect">
            <a:avLst>
              <a:gd name="adj" fmla="val 8000"/>
            </a:avLst>
          </a:prstGeom>
          <a:solidFill>
            <a:srgbClr val="EAF2F6"/>
          </a:solidFill>
          <a:ln/>
        </p:spPr>
      </p:sp>
      <p:sp>
        <p:nvSpPr>
          <p:cNvPr id="16" name="Text 14"/>
          <p:cNvSpPr/>
          <p:nvPr/>
        </p:nvSpPr>
        <p:spPr>
          <a:xfrm>
            <a:off x="8447837" y="2011680"/>
            <a:ext cx="3058058" cy="320040"/>
          </a:xfrm>
          <a:prstGeom prst="rect">
            <a:avLst/>
          </a:prstGeom>
          <a:noFill/>
          <a:ln/>
        </p:spPr>
        <p:txBody>
          <a:bodyPr wrap="square" lIns="0" tIns="0" rIns="0" bIns="0" rtlCol="0" anchor="ctr"/>
          <a:lstStyle/>
          <a:p>
            <a:pPr indent="0" marL="0">
              <a:buNone/>
            </a:pPr>
            <a:r>
              <a:rPr lang="en-US" sz="1150" dirty="0">
                <a:solidFill>
                  <a:srgbClr val="5C6B73"/>
                </a:solidFill>
                <a:latin typeface="BIZ UDゴシック" pitchFamily="34" charset="0"/>
                <a:ea typeface="BIZ UDゴシック" pitchFamily="34" charset="-122"/>
                <a:cs typeface="BIZ UDゴシック" pitchFamily="34" charset="-120"/>
              </a:rPr>
              <a:t>New Relic MCP test</a:t>
            </a:r>
            <a:endParaRPr lang="en-US" sz="1150" dirty="0"/>
          </a:p>
        </p:txBody>
      </p:sp>
      <p:sp>
        <p:nvSpPr>
          <p:cNvPr id="17" name="Text 15"/>
          <p:cNvSpPr/>
          <p:nvPr/>
        </p:nvSpPr>
        <p:spPr>
          <a:xfrm>
            <a:off x="8447837" y="2304288"/>
            <a:ext cx="3058058" cy="457200"/>
          </a:xfrm>
          <a:prstGeom prst="rect">
            <a:avLst/>
          </a:prstGeom>
          <a:noFill/>
          <a:ln/>
        </p:spPr>
        <p:txBody>
          <a:bodyPr wrap="square" lIns="0" tIns="0" rIns="0" bIns="0" rtlCol="0" anchor="ctr"/>
          <a:lstStyle/>
          <a:p>
            <a:pPr indent="0" marL="0">
              <a:buNone/>
            </a:pPr>
            <a:r>
              <a:rPr lang="en-US" sz="1500" b="1" dirty="0">
                <a:solidFill>
                  <a:srgbClr val="2C7A5B"/>
                </a:solidFill>
                <a:latin typeface="BIZ UDゴシック" pitchFamily="34" charset="0"/>
                <a:ea typeface="BIZ UDゴシック" pitchFamily="34" charset="-122"/>
                <a:cs typeface="BIZ UDゴシック" pitchFamily="34" charset="-120"/>
              </a:rPr>
              <a:t>14 passed</a:t>
            </a:r>
            <a:endParaRPr lang="en-US" sz="1500" dirty="0"/>
          </a:p>
        </p:txBody>
      </p:sp>
      <p:sp>
        <p:nvSpPr>
          <p:cNvPr id="18" name="Shape 16"/>
          <p:cNvSpPr/>
          <p:nvPr/>
        </p:nvSpPr>
        <p:spPr>
          <a:xfrm>
            <a:off x="1280160" y="2971800"/>
            <a:ext cx="3332378" cy="914400"/>
          </a:xfrm>
          <a:prstGeom prst="roundRect">
            <a:avLst>
              <a:gd name="adj" fmla="val 8000"/>
            </a:avLst>
          </a:prstGeom>
          <a:solidFill>
            <a:srgbClr val="EAF2F6"/>
          </a:solidFill>
          <a:ln/>
        </p:spPr>
      </p:sp>
      <p:sp>
        <p:nvSpPr>
          <p:cNvPr id="19" name="Text 17"/>
          <p:cNvSpPr/>
          <p:nvPr/>
        </p:nvSpPr>
        <p:spPr>
          <a:xfrm>
            <a:off x="1417320" y="3063240"/>
            <a:ext cx="3058058" cy="320040"/>
          </a:xfrm>
          <a:prstGeom prst="rect">
            <a:avLst/>
          </a:prstGeom>
          <a:noFill/>
          <a:ln/>
        </p:spPr>
        <p:txBody>
          <a:bodyPr wrap="square" lIns="0" tIns="0" rIns="0" bIns="0" rtlCol="0" anchor="ctr"/>
          <a:lstStyle/>
          <a:p>
            <a:pPr indent="0" marL="0">
              <a:buNone/>
            </a:pPr>
            <a:r>
              <a:rPr lang="en-US" sz="1150" dirty="0">
                <a:solidFill>
                  <a:srgbClr val="5C6B73"/>
                </a:solidFill>
                <a:latin typeface="BIZ UDゴシック" pitchFamily="34" charset="0"/>
                <a:ea typeface="BIZ UDゴシック" pitchFamily="34" charset="-122"/>
                <a:cs typeface="BIZ UDゴシック" pitchFamily="34" charset="-120"/>
              </a:rPr>
              <a:t>Console Node test</a:t>
            </a:r>
            <a:endParaRPr lang="en-US" sz="1150" dirty="0"/>
          </a:p>
        </p:txBody>
      </p:sp>
      <p:sp>
        <p:nvSpPr>
          <p:cNvPr id="20" name="Text 18"/>
          <p:cNvSpPr/>
          <p:nvPr/>
        </p:nvSpPr>
        <p:spPr>
          <a:xfrm>
            <a:off x="1417320" y="3355848"/>
            <a:ext cx="3058058" cy="457200"/>
          </a:xfrm>
          <a:prstGeom prst="rect">
            <a:avLst/>
          </a:prstGeom>
          <a:noFill/>
          <a:ln/>
        </p:spPr>
        <p:txBody>
          <a:bodyPr wrap="square" lIns="0" tIns="0" rIns="0" bIns="0" rtlCol="0" anchor="ctr"/>
          <a:lstStyle/>
          <a:p>
            <a:pPr indent="0" marL="0">
              <a:buNone/>
            </a:pPr>
            <a:r>
              <a:rPr lang="en-US" sz="1500" b="1" dirty="0">
                <a:solidFill>
                  <a:srgbClr val="2C7A5B"/>
                </a:solidFill>
                <a:latin typeface="BIZ UDゴシック" pitchFamily="34" charset="0"/>
                <a:ea typeface="BIZ UDゴシック" pitchFamily="34" charset="-122"/>
                <a:cs typeface="BIZ UDゴシック" pitchFamily="34" charset="-120"/>
              </a:rPr>
              <a:t>22 / 22 passed</a:t>
            </a:r>
            <a:endParaRPr lang="en-US" sz="1500" dirty="0"/>
          </a:p>
        </p:txBody>
      </p:sp>
      <p:sp>
        <p:nvSpPr>
          <p:cNvPr id="21" name="Shape 19"/>
          <p:cNvSpPr/>
          <p:nvPr/>
        </p:nvSpPr>
        <p:spPr>
          <a:xfrm>
            <a:off x="4795418" y="2971800"/>
            <a:ext cx="3332378" cy="914400"/>
          </a:xfrm>
          <a:prstGeom prst="roundRect">
            <a:avLst>
              <a:gd name="adj" fmla="val 8000"/>
            </a:avLst>
          </a:prstGeom>
          <a:solidFill>
            <a:srgbClr val="EAF2F6"/>
          </a:solidFill>
          <a:ln/>
        </p:spPr>
      </p:sp>
      <p:sp>
        <p:nvSpPr>
          <p:cNvPr id="22" name="Text 20"/>
          <p:cNvSpPr/>
          <p:nvPr/>
        </p:nvSpPr>
        <p:spPr>
          <a:xfrm>
            <a:off x="4932578" y="3063240"/>
            <a:ext cx="3058058" cy="320040"/>
          </a:xfrm>
          <a:prstGeom prst="rect">
            <a:avLst/>
          </a:prstGeom>
          <a:noFill/>
          <a:ln/>
        </p:spPr>
        <p:txBody>
          <a:bodyPr wrap="square" lIns="0" tIns="0" rIns="0" bIns="0" rtlCol="0" anchor="ctr"/>
          <a:lstStyle/>
          <a:p>
            <a:pPr indent="0" marL="0">
              <a:buNone/>
            </a:pPr>
            <a:r>
              <a:rPr lang="en-US" sz="1150" dirty="0">
                <a:solidFill>
                  <a:srgbClr val="5C6B73"/>
                </a:solidFill>
                <a:latin typeface="BIZ UDゴシック" pitchFamily="34" charset="0"/>
                <a:ea typeface="BIZ UDゴシック" pitchFamily="34" charset="-122"/>
                <a:cs typeface="BIZ UDゴシック" pitchFamily="34" charset="-120"/>
              </a:rPr>
              <a:t>YAML parse</a:t>
            </a:r>
            <a:endParaRPr lang="en-US" sz="1150" dirty="0"/>
          </a:p>
        </p:txBody>
      </p:sp>
      <p:sp>
        <p:nvSpPr>
          <p:cNvPr id="23" name="Text 21"/>
          <p:cNvSpPr/>
          <p:nvPr/>
        </p:nvSpPr>
        <p:spPr>
          <a:xfrm>
            <a:off x="4932578" y="3355848"/>
            <a:ext cx="3058058" cy="457200"/>
          </a:xfrm>
          <a:prstGeom prst="rect">
            <a:avLst/>
          </a:prstGeom>
          <a:noFill/>
          <a:ln/>
        </p:spPr>
        <p:txBody>
          <a:bodyPr wrap="square" lIns="0" tIns="0" rIns="0" bIns="0" rtlCol="0" anchor="ctr"/>
          <a:lstStyle/>
          <a:p>
            <a:pPr indent="0" marL="0">
              <a:buNone/>
            </a:pPr>
            <a:r>
              <a:rPr lang="en-US" sz="1500" b="1" dirty="0">
                <a:solidFill>
                  <a:srgbClr val="2C7A5B"/>
                </a:solidFill>
                <a:latin typeface="BIZ UDゴシック" pitchFamily="34" charset="0"/>
                <a:ea typeface="BIZ UDゴシック" pitchFamily="34" charset="-122"/>
                <a:cs typeface="BIZ UDゴシック" pitchFamily="34" charset="-120"/>
              </a:rPr>
              <a:t>PASS</a:t>
            </a:r>
            <a:endParaRPr lang="en-US" sz="1500" dirty="0"/>
          </a:p>
        </p:txBody>
      </p:sp>
      <p:sp>
        <p:nvSpPr>
          <p:cNvPr id="24" name="Shape 22"/>
          <p:cNvSpPr/>
          <p:nvPr/>
        </p:nvSpPr>
        <p:spPr>
          <a:xfrm>
            <a:off x="8310677" y="2971800"/>
            <a:ext cx="3332378" cy="914400"/>
          </a:xfrm>
          <a:prstGeom prst="roundRect">
            <a:avLst>
              <a:gd name="adj" fmla="val 8000"/>
            </a:avLst>
          </a:prstGeom>
          <a:solidFill>
            <a:srgbClr val="EAF2F6"/>
          </a:solidFill>
          <a:ln/>
        </p:spPr>
      </p:sp>
      <p:sp>
        <p:nvSpPr>
          <p:cNvPr id="25" name="Text 23"/>
          <p:cNvSpPr/>
          <p:nvPr/>
        </p:nvSpPr>
        <p:spPr>
          <a:xfrm>
            <a:off x="8447837" y="3063240"/>
            <a:ext cx="3058058" cy="320040"/>
          </a:xfrm>
          <a:prstGeom prst="rect">
            <a:avLst/>
          </a:prstGeom>
          <a:noFill/>
          <a:ln/>
        </p:spPr>
        <p:txBody>
          <a:bodyPr wrap="square" lIns="0" tIns="0" rIns="0" bIns="0" rtlCol="0" anchor="ctr"/>
          <a:lstStyle/>
          <a:p>
            <a:pPr indent="0" marL="0">
              <a:buNone/>
            </a:pPr>
            <a:r>
              <a:rPr lang="en-US" sz="1150" dirty="0">
                <a:solidFill>
                  <a:srgbClr val="5C6B73"/>
                </a:solidFill>
                <a:latin typeface="BIZ UDゴシック" pitchFamily="34" charset="0"/>
                <a:ea typeface="BIZ UDゴシック" pitchFamily="34" charset="-122"/>
                <a:cs typeface="BIZ UDゴシック" pitchFamily="34" charset="-120"/>
              </a:rPr>
              <a:t>Shell syntax</a:t>
            </a:r>
            <a:endParaRPr lang="en-US" sz="1150" dirty="0"/>
          </a:p>
        </p:txBody>
      </p:sp>
      <p:sp>
        <p:nvSpPr>
          <p:cNvPr id="26" name="Text 24"/>
          <p:cNvSpPr/>
          <p:nvPr/>
        </p:nvSpPr>
        <p:spPr>
          <a:xfrm>
            <a:off x="8447837" y="3355848"/>
            <a:ext cx="3058058" cy="457200"/>
          </a:xfrm>
          <a:prstGeom prst="rect">
            <a:avLst/>
          </a:prstGeom>
          <a:noFill/>
          <a:ln/>
        </p:spPr>
        <p:txBody>
          <a:bodyPr wrap="square" lIns="0" tIns="0" rIns="0" bIns="0" rtlCol="0" anchor="ctr"/>
          <a:lstStyle/>
          <a:p>
            <a:pPr indent="0" marL="0">
              <a:buNone/>
            </a:pPr>
            <a:r>
              <a:rPr lang="en-US" sz="1500" b="1" dirty="0">
                <a:solidFill>
                  <a:srgbClr val="2C7A5B"/>
                </a:solidFill>
                <a:latin typeface="BIZ UDゴシック" pitchFamily="34" charset="0"/>
                <a:ea typeface="BIZ UDゴシック" pitchFamily="34" charset="-122"/>
                <a:cs typeface="BIZ UDゴシック" pitchFamily="34" charset="-120"/>
              </a:rPr>
              <a:t>PASS</a:t>
            </a:r>
            <a:endParaRPr lang="en-US" sz="1500" dirty="0"/>
          </a:p>
        </p:txBody>
      </p:sp>
      <p:sp>
        <p:nvSpPr>
          <p:cNvPr id="27" name="Shape 25"/>
          <p:cNvSpPr/>
          <p:nvPr/>
        </p:nvSpPr>
        <p:spPr>
          <a:xfrm>
            <a:off x="1280160" y="4251960"/>
            <a:ext cx="10362895" cy="1828800"/>
          </a:xfrm>
          <a:prstGeom prst="roundRect">
            <a:avLst>
              <a:gd name="adj" fmla="val 4000"/>
            </a:avLst>
          </a:prstGeom>
          <a:solidFill>
            <a:srgbClr val="DCEAF0"/>
          </a:solidFill>
          <a:ln/>
        </p:spPr>
      </p:sp>
      <p:sp>
        <p:nvSpPr>
          <p:cNvPr id="28" name="Text 26"/>
          <p:cNvSpPr/>
          <p:nvPr/>
        </p:nvSpPr>
        <p:spPr>
          <a:xfrm>
            <a:off x="1508760" y="4389120"/>
            <a:ext cx="9905695" cy="548640"/>
          </a:xfrm>
          <a:prstGeom prst="rect">
            <a:avLst/>
          </a:prstGeom>
          <a:noFill/>
          <a:ln/>
        </p:spPr>
        <p:txBody>
          <a:bodyPr wrap="square" lIns="0" tIns="0" rIns="0" bIns="0" rtlCol="0" anchor="t"/>
          <a:lstStyle/>
          <a:p>
            <a:pPr indent="0" marL="0">
              <a:lnSpc>
                <a:spcPct val="125000"/>
              </a:lnSpc>
              <a:buNone/>
            </a:pPr>
            <a:r>
              <a:rPr lang="en-US" sz="1350" b="1" dirty="0">
                <a:solidFill>
                  <a:srgbClr val="21295C"/>
                </a:solidFill>
                <a:latin typeface="BIZ UDゴシック" pitchFamily="34" charset="0"/>
                <a:ea typeface="BIZ UDゴシック" pitchFamily="34" charset="-122"/>
                <a:cs typeface="BIZ UDゴシック" pitchFamily="34" charset="-120"/>
              </a:rPr>
              <a:t>注意</a:t>
            </a:r>
            <a:endParaRPr lang="en-US" sz="1350" dirty="0"/>
          </a:p>
        </p:txBody>
      </p:sp>
      <p:sp>
        <p:nvSpPr>
          <p:cNvPr id="29" name="Text 27"/>
          <p:cNvSpPr/>
          <p:nvPr/>
        </p:nvSpPr>
        <p:spPr>
          <a:xfrm>
            <a:off x="1508760" y="4709160"/>
            <a:ext cx="9905695" cy="365760"/>
          </a:xfrm>
          <a:prstGeom prst="rect">
            <a:avLst/>
          </a:prstGeom>
          <a:noFill/>
          <a:ln/>
        </p:spPr>
        <p:txBody>
          <a:bodyPr wrap="square" lIns="0" tIns="0" rIns="0" bIns="0" rtlCol="0" anchor="t"/>
          <a:lstStyle/>
          <a:p>
            <a:pPr indent="0" marL="0">
              <a:lnSpc>
                <a:spcPct val="125000"/>
              </a:lnSpc>
              <a:buNone/>
            </a:pPr>
            <a:r>
              <a:rPr lang="en-US" sz="1200" dirty="0">
                <a:solidFill>
                  <a:srgbClr val="1A1A2E"/>
                </a:solidFill>
                <a:latin typeface="BIZ UDゴシック" pitchFamily="34" charset="0"/>
                <a:ea typeface="BIZ UDゴシック" pitchFamily="34" charset="-122"/>
                <a:cs typeface="BIZ UDゴシック" pitchFamily="34" charset="-120"/>
              </a:rPr>
              <a:t>作成環境ではDocker daemonおよびNode package取得に制約があったため、以下は実環境で最終確認する：</a:t>
            </a:r>
            <a:endParaRPr lang="en-US" sz="1200" dirty="0"/>
          </a:p>
        </p:txBody>
      </p:sp>
      <p:sp>
        <p:nvSpPr>
          <p:cNvPr id="30" name="Text 28"/>
          <p:cNvSpPr/>
          <p:nvPr/>
        </p:nvSpPr>
        <p:spPr>
          <a:xfrm>
            <a:off x="1508760" y="5074920"/>
            <a:ext cx="9905695" cy="914400"/>
          </a:xfrm>
          <a:prstGeom prst="rect">
            <a:avLst/>
          </a:prstGeom>
          <a:noFill/>
          <a:ln/>
        </p:spPr>
        <p:txBody>
          <a:bodyPr wrap="square" lIns="0" tIns="0" rIns="0" bIns="0" rtlCol="0" anchor="t"/>
          <a:lstStyle/>
          <a:p>
            <a:pPr indent="0" marL="0">
              <a:lnSpc>
                <a:spcPct val="125000"/>
              </a:lnSpc>
              <a:buNone/>
            </a:pPr>
            <a:r>
              <a:rPr lang="en-US" sz="1150" dirty="0">
                <a:solidFill>
                  <a:srgbClr val="065A82"/>
                </a:solidFill>
                <a:latin typeface="BIZ UDゴシック" pitchFamily="34" charset="0"/>
                <a:ea typeface="BIZ UDゴシック" pitchFamily="34" charset="-122"/>
                <a:cs typeface="BIZ UDゴシック" pitchFamily="34" charset="-120"/>
              </a:rPr>
              <a:t>Docker Compose build / Proxy経由通信 / Zscaler TLS / Splunk live / New Relic MCP live / New Relic APM live / Azure OpenAI live / Vite production build / Phase 4・5 live E2E</a:t>
            </a:r>
            <a:endParaRPr lang="en-US" sz="11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502920"/>
            <a:ext cx="566928" cy="566928"/>
          </a:xfrm>
          <a:prstGeom prst="ellipse">
            <a:avLst/>
          </a:prstGeom>
          <a:solidFill>
            <a:srgbClr val="21295C"/>
          </a:solidFill>
          <a:ln/>
        </p:spPr>
      </p:sp>
      <p:sp>
        <p:nvSpPr>
          <p:cNvPr id="3" name="Text 1"/>
          <p:cNvSpPr/>
          <p:nvPr/>
        </p:nvSpPr>
        <p:spPr>
          <a:xfrm>
            <a:off x="548640" y="502920"/>
            <a:ext cx="566928" cy="566928"/>
          </a:xfrm>
          <a:prstGeom prst="rect">
            <a:avLst/>
          </a:prstGeom>
          <a:noFill/>
          <a:ln/>
        </p:spPr>
        <p:txBody>
          <a:bodyPr wrap="square" lIns="0" tIns="0" rIns="0" bIns="0" rtlCol="0" anchor="ctr"/>
          <a:lstStyle/>
          <a:p>
            <a:pPr algn="ctr" indent="0" marL="0">
              <a:buNone/>
            </a:pPr>
            <a:r>
              <a:rPr lang="en-US" sz="1500" b="1" dirty="0">
                <a:solidFill>
                  <a:srgbClr val="FFFFFF"/>
                </a:solidFill>
                <a:latin typeface="BIZ UDゴシック" pitchFamily="34" charset="0"/>
                <a:ea typeface="BIZ UDゴシック" pitchFamily="34" charset="-122"/>
                <a:cs typeface="BIZ UDゴシック" pitchFamily="34" charset="-120"/>
              </a:rPr>
              <a:t>24</a:t>
            </a:r>
            <a:endParaRPr lang="en-US" sz="1500" dirty="0"/>
          </a:p>
        </p:txBody>
      </p:sp>
      <p:sp>
        <p:nvSpPr>
          <p:cNvPr id="4" name="Text 2"/>
          <p:cNvSpPr/>
          <p:nvPr/>
        </p:nvSpPr>
        <p:spPr>
          <a:xfrm>
            <a:off x="1280160" y="438912"/>
            <a:ext cx="10362895" cy="274320"/>
          </a:xfrm>
          <a:prstGeom prst="rect">
            <a:avLst/>
          </a:prstGeom>
          <a:noFill/>
          <a:ln/>
        </p:spPr>
        <p:txBody>
          <a:bodyPr wrap="square" lIns="0" tIns="0" rIns="0" bIns="0" rtlCol="0" anchor="ctr"/>
          <a:lstStyle/>
          <a:p>
            <a:pPr indent="0" marL="0">
              <a:buNone/>
            </a:pPr>
            <a:r>
              <a:rPr lang="en-US" sz="1100" b="1" spc="100" kern="0" dirty="0">
                <a:solidFill>
                  <a:srgbClr val="1C7293"/>
                </a:solidFill>
                <a:latin typeface="BIZ UDゴシック" pitchFamily="34" charset="0"/>
                <a:ea typeface="BIZ UDゴシック" pitchFamily="34" charset="-122"/>
                <a:cs typeface="BIZ UDゴシック" pitchFamily="34" charset="-120"/>
              </a:rPr>
              <a:t>SECTION 24</a:t>
            </a:r>
            <a:endParaRPr lang="en-US" sz="1100" dirty="0"/>
          </a:p>
        </p:txBody>
      </p:sp>
      <p:sp>
        <p:nvSpPr>
          <p:cNvPr id="5" name="Text 3"/>
          <p:cNvSpPr/>
          <p:nvPr/>
        </p:nvSpPr>
        <p:spPr>
          <a:xfrm>
            <a:off x="1280160" y="713232"/>
            <a:ext cx="10362895" cy="566928"/>
          </a:xfrm>
          <a:prstGeom prst="rect">
            <a:avLst/>
          </a:prstGeom>
          <a:noFill/>
          <a:ln/>
        </p:spPr>
        <p:txBody>
          <a:bodyPr wrap="square" lIns="0" tIns="0" rIns="0" bIns="0" rtlCol="0" anchor="t"/>
          <a:lstStyle/>
          <a:p>
            <a:pPr indent="0" marL="0">
              <a:buNone/>
            </a:pPr>
            <a:r>
              <a:rPr lang="en-US" sz="2500" b="1" dirty="0">
                <a:solidFill>
                  <a:srgbClr val="1A1A2E"/>
                </a:solidFill>
                <a:latin typeface="BIZ UDゴシック" pitchFamily="34" charset="0"/>
                <a:ea typeface="BIZ UDゴシック" pitchFamily="34" charset="-122"/>
                <a:cs typeface="BIZ UDゴシック" pitchFamily="34" charset="-120"/>
              </a:rPr>
              <a:t>初回セットアップ時のテスト順序</a:t>
            </a:r>
            <a:endParaRPr lang="en-US" sz="2500" dirty="0"/>
          </a:p>
        </p:txBody>
      </p:sp>
      <p:sp>
        <p:nvSpPr>
          <p:cNvPr id="6" name="Text 4"/>
          <p:cNvSpPr/>
          <p:nvPr/>
        </p:nvSpPr>
        <p:spPr>
          <a:xfrm>
            <a:off x="548640" y="6446520"/>
            <a:ext cx="4572000" cy="274320"/>
          </a:xfrm>
          <a:prstGeom prst="rect">
            <a:avLst/>
          </a:prstGeom>
          <a:noFill/>
          <a:ln/>
        </p:spPr>
        <p:txBody>
          <a:bodyPr wrap="square" lIns="0" tIns="0" rIns="0" bIns="0" rtlCol="0" anchor="ctr"/>
          <a:lstStyle/>
          <a:p>
            <a:pPr indent="0" marL="0">
              <a:buNone/>
            </a:pPr>
            <a:r>
              <a:rPr lang="en-US" sz="900" dirty="0">
                <a:solidFill>
                  <a:srgbClr val="5C6B73"/>
                </a:solidFill>
                <a:latin typeface="BIZ UDゴシック" pitchFamily="34" charset="0"/>
                <a:ea typeface="BIZ UDゴシック" pitchFamily="34" charset="-122"/>
                <a:cs typeface="BIZ UDゴシック" pitchFamily="34" charset="-120"/>
              </a:rPr>
              <a:t>Observability AI PoC</a:t>
            </a:r>
            <a:endParaRPr lang="en-US" sz="900" dirty="0"/>
          </a:p>
        </p:txBody>
      </p:sp>
      <p:sp>
        <p:nvSpPr>
          <p:cNvPr id="7" name="Text 5"/>
          <p:cNvSpPr/>
          <p:nvPr/>
        </p:nvSpPr>
        <p:spPr>
          <a:xfrm>
            <a:off x="9814255" y="6446520"/>
            <a:ext cx="1828800" cy="274320"/>
          </a:xfrm>
          <a:prstGeom prst="rect">
            <a:avLst/>
          </a:prstGeom>
          <a:noFill/>
          <a:ln/>
        </p:spPr>
        <p:txBody>
          <a:bodyPr wrap="square" lIns="0" tIns="0" rIns="0" bIns="0" rtlCol="0" anchor="ctr"/>
          <a:lstStyle/>
          <a:p>
            <a:pPr algn="r" indent="0" marL="0">
              <a:buNone/>
            </a:pPr>
            <a:r>
              <a:rPr lang="en-US" sz="900" dirty="0">
                <a:solidFill>
                  <a:srgbClr val="5C6B73"/>
                </a:solidFill>
                <a:latin typeface="BIZ UDゴシック" pitchFamily="34" charset="0"/>
                <a:ea typeface="BIZ UDゴシック" pitchFamily="34" charset="-122"/>
                <a:cs typeface="BIZ UDゴシック" pitchFamily="34" charset="-120"/>
              </a:rPr>
              <a:t>24</a:t>
            </a:r>
            <a:endParaRPr lang="en-US" sz="900" dirty="0"/>
          </a:p>
        </p:txBody>
      </p:sp>
      <p:sp>
        <p:nvSpPr>
          <p:cNvPr id="8" name="Text 6"/>
          <p:cNvSpPr/>
          <p:nvPr/>
        </p:nvSpPr>
        <p:spPr>
          <a:xfrm>
            <a:off x="1280160" y="1508760"/>
            <a:ext cx="10362895" cy="365760"/>
          </a:xfrm>
          <a:prstGeom prst="rect">
            <a:avLst/>
          </a:prstGeom>
          <a:noFill/>
          <a:ln/>
        </p:spPr>
        <p:txBody>
          <a:bodyPr wrap="square" lIns="0" tIns="0" rIns="0" bIns="0" rtlCol="0" anchor="t"/>
          <a:lstStyle/>
          <a:p>
            <a:pPr indent="0" marL="0">
              <a:lnSpc>
                <a:spcPct val="125000"/>
              </a:lnSpc>
              <a:buNone/>
            </a:pPr>
            <a:r>
              <a:rPr lang="en-US" sz="1400" dirty="0">
                <a:solidFill>
                  <a:srgbClr val="1A1A2E"/>
                </a:solidFill>
                <a:latin typeface="BIZ UDゴシック" pitchFamily="34" charset="0"/>
                <a:ea typeface="BIZ UDゴシック" pitchFamily="34" charset="-122"/>
                <a:cs typeface="BIZ UDゴシック" pitchFamily="34" charset="-120"/>
              </a:rPr>
              <a:t>最初から全コンテナを起動しない。推奨順序：</a:t>
            </a:r>
            <a:endParaRPr lang="en-US" sz="1400" dirty="0"/>
          </a:p>
        </p:txBody>
      </p:sp>
      <p:sp>
        <p:nvSpPr>
          <p:cNvPr id="9" name="Text 7"/>
          <p:cNvSpPr/>
          <p:nvPr/>
        </p:nvSpPr>
        <p:spPr>
          <a:xfrm>
            <a:off x="1280160" y="1920240"/>
            <a:ext cx="5166360" cy="3200400"/>
          </a:xfrm>
          <a:prstGeom prst="rect">
            <a:avLst/>
          </a:prstGeom>
          <a:noFill/>
          <a:ln/>
        </p:spPr>
        <p:txBody>
          <a:bodyPr wrap="square" lIns="0" tIns="0" rIns="0" bIns="0" rtlCol="0" anchor="t"/>
          <a:lstStyle/>
          <a:p>
            <a:pPr indent="0" marL="0">
              <a:lnSpc>
                <a:spcPct val="115000"/>
              </a:lnSpc>
              <a:spcAft>
                <a:spcPts val="850"/>
              </a:spcAft>
              <a:buNone/>
            </a:pPr>
            <a:r>
              <a:rPr lang="en-US" sz="1200" dirty="0">
                <a:solidFill>
                  <a:srgbClr val="1A1A2E"/>
                </a:solidFill>
                <a:latin typeface="BIZ UDゴシック" pitchFamily="34" charset="0"/>
                <a:ea typeface="BIZ UDゴシック" pitchFamily="34" charset="-122"/>
                <a:cs typeface="BIZ UDゴシック" pitchFamily="34" charset="-120"/>
              </a:rPr>
              <a:t>01   .env設定</a:t>
            </a:r>
            <a:endParaRPr lang="en-US" sz="1200" dirty="0"/>
          </a:p>
          <a:p>
            <a:pPr indent="0" marL="0">
              <a:lnSpc>
                <a:spcPct val="115000"/>
              </a:lnSpc>
              <a:spcAft>
                <a:spcPts val="850"/>
              </a:spcAft>
              <a:buNone/>
            </a:pPr>
            <a:r>
              <a:rPr lang="en-US" sz="1200" dirty="0">
                <a:solidFill>
                  <a:srgbClr val="1A1A2E"/>
                </a:solidFill>
                <a:latin typeface="BIZ UDゴシック" pitchFamily="34" charset="0"/>
                <a:ea typeface="BIZ UDゴシック" pitchFamily="34" charset="-122"/>
                <a:cs typeface="BIZ UDゴシック" pitchFamily="34" charset="-120"/>
              </a:rPr>
              <a:t>02   Zscaler CA配置</a:t>
            </a:r>
            <a:endParaRPr lang="en-US" sz="1200" dirty="0"/>
          </a:p>
          <a:p>
            <a:pPr indent="0" marL="0">
              <a:lnSpc>
                <a:spcPct val="115000"/>
              </a:lnSpc>
              <a:spcAft>
                <a:spcPts val="850"/>
              </a:spcAft>
              <a:buNone/>
            </a:pPr>
            <a:r>
              <a:rPr lang="en-US" sz="1200" dirty="0">
                <a:solidFill>
                  <a:srgbClr val="1A1A2E"/>
                </a:solidFill>
                <a:latin typeface="BIZ UDゴシック" pitchFamily="34" charset="0"/>
                <a:ea typeface="BIZ UDゴシック" pitchFamily="34" charset="-122"/>
                <a:cs typeface="BIZ UDゴシック" pitchFamily="34" charset="-120"/>
              </a:rPr>
              <a:t>03   Proxy Preflight</a:t>
            </a:r>
            <a:endParaRPr lang="en-US" sz="1200" dirty="0"/>
          </a:p>
          <a:p>
            <a:pPr indent="0" marL="0">
              <a:lnSpc>
                <a:spcPct val="115000"/>
              </a:lnSpc>
              <a:spcAft>
                <a:spcPts val="850"/>
              </a:spcAft>
              <a:buNone/>
            </a:pPr>
            <a:r>
              <a:rPr lang="en-US" sz="1200" dirty="0">
                <a:solidFill>
                  <a:srgbClr val="1A1A2E"/>
                </a:solidFill>
                <a:latin typeface="BIZ UDゴシック" pitchFamily="34" charset="0"/>
                <a:ea typeface="BIZ UDゴシック" pitchFamily="34" charset="-122"/>
                <a:cs typeface="BIZ UDゴシック" pitchFamily="34" charset="-120"/>
              </a:rPr>
              <a:t>04   Splunk起動</a:t>
            </a:r>
            <a:endParaRPr lang="en-US" sz="1200" dirty="0"/>
          </a:p>
          <a:p>
            <a:pPr indent="0" marL="0">
              <a:lnSpc>
                <a:spcPct val="115000"/>
              </a:lnSpc>
              <a:spcAft>
                <a:spcPts val="850"/>
              </a:spcAft>
              <a:buNone/>
            </a:pPr>
            <a:r>
              <a:rPr lang="en-US" sz="1200" dirty="0">
                <a:solidFill>
                  <a:srgbClr val="1A1A2E"/>
                </a:solidFill>
                <a:latin typeface="BIZ UDゴシック" pitchFamily="34" charset="0"/>
                <a:ea typeface="BIZ UDゴシック" pitchFamily="34" charset="-122"/>
                <a:cs typeface="BIZ UDゴシック" pitchFamily="34" charset="-120"/>
              </a:rPr>
              <a:t>05   Splunk Index / HEC設定</a:t>
            </a:r>
            <a:endParaRPr lang="en-US" sz="1200" dirty="0"/>
          </a:p>
          <a:p>
            <a:pPr indent="0" marL="0">
              <a:lnSpc>
                <a:spcPct val="115000"/>
              </a:lnSpc>
              <a:spcAft>
                <a:spcPts val="850"/>
              </a:spcAft>
              <a:buNone/>
            </a:pPr>
            <a:r>
              <a:rPr lang="en-US" sz="1200" dirty="0">
                <a:solidFill>
                  <a:srgbClr val="1A1A2E"/>
                </a:solidFill>
                <a:latin typeface="BIZ UDゴシック" pitchFamily="34" charset="0"/>
                <a:ea typeface="BIZ UDゴシック" pitchFamily="34" charset="-122"/>
                <a:cs typeface="BIZ UDゴシック" pitchFamily="34" charset="-120"/>
              </a:rPr>
              <a:t>06   Splunk Read-Onlyユーザー確認</a:t>
            </a:r>
            <a:endParaRPr lang="en-US" sz="1200" dirty="0"/>
          </a:p>
          <a:p>
            <a:pPr indent="0" marL="0">
              <a:lnSpc>
                <a:spcPct val="115000"/>
              </a:lnSpc>
              <a:spcAft>
                <a:spcPts val="850"/>
              </a:spcAft>
              <a:buNone/>
            </a:pPr>
            <a:r>
              <a:rPr lang="en-US" sz="1200" dirty="0">
                <a:solidFill>
                  <a:srgbClr val="1A1A2E"/>
                </a:solidFill>
                <a:latin typeface="BIZ UDゴシック" pitchFamily="34" charset="0"/>
                <a:ea typeface="BIZ UDゴシック" pitchFamily="34" charset="-122"/>
                <a:cs typeface="BIZ UDゴシック" pitchFamily="34" charset="-120"/>
              </a:rPr>
              <a:t>07   Demo Commerce起動</a:t>
            </a:r>
            <a:endParaRPr lang="en-US" sz="1200" dirty="0"/>
          </a:p>
          <a:p>
            <a:pPr indent="0" marL="0">
              <a:lnSpc>
                <a:spcPct val="115000"/>
              </a:lnSpc>
              <a:spcAft>
                <a:spcPts val="850"/>
              </a:spcAft>
              <a:buNone/>
            </a:pPr>
            <a:r>
              <a:rPr lang="en-US" sz="1200" dirty="0">
                <a:solidFill>
                  <a:srgbClr val="1A1A2E"/>
                </a:solidFill>
                <a:latin typeface="BIZ UDゴシック" pitchFamily="34" charset="0"/>
                <a:ea typeface="BIZ UDゴシック" pitchFamily="34" charset="-122"/>
                <a:cs typeface="BIZ UDゴシック" pitchFamily="34" charset="-120"/>
              </a:rPr>
              <a:t>08   Splunkログ確認</a:t>
            </a:r>
            <a:endParaRPr lang="en-US" sz="1200" dirty="0"/>
          </a:p>
        </p:txBody>
      </p:sp>
      <p:sp>
        <p:nvSpPr>
          <p:cNvPr id="10" name="Text 8"/>
          <p:cNvSpPr/>
          <p:nvPr/>
        </p:nvSpPr>
        <p:spPr>
          <a:xfrm>
            <a:off x="6766560" y="1920240"/>
            <a:ext cx="5212080" cy="3200400"/>
          </a:xfrm>
          <a:prstGeom prst="rect">
            <a:avLst/>
          </a:prstGeom>
          <a:noFill/>
          <a:ln/>
        </p:spPr>
        <p:txBody>
          <a:bodyPr wrap="square" lIns="0" tIns="0" rIns="0" bIns="0" rtlCol="0" anchor="t"/>
          <a:lstStyle/>
          <a:p>
            <a:pPr indent="0" marL="0">
              <a:lnSpc>
                <a:spcPct val="115000"/>
              </a:lnSpc>
              <a:spcAft>
                <a:spcPts val="850"/>
              </a:spcAft>
              <a:buNone/>
            </a:pPr>
            <a:r>
              <a:rPr lang="en-US" sz="1200" dirty="0">
                <a:solidFill>
                  <a:srgbClr val="1A1A2E"/>
                </a:solidFill>
                <a:latin typeface="BIZ UDゴシック" pitchFamily="34" charset="0"/>
                <a:ea typeface="BIZ UDゴシック" pitchFamily="34" charset="-122"/>
                <a:cs typeface="BIZ UDゴシック" pitchFamily="34" charset="-120"/>
              </a:rPr>
              <a:t>09   New Relic APM確認</a:t>
            </a:r>
            <a:endParaRPr lang="en-US" sz="1200" dirty="0"/>
          </a:p>
          <a:p>
            <a:pPr indent="0" marL="0">
              <a:lnSpc>
                <a:spcPct val="115000"/>
              </a:lnSpc>
              <a:spcAft>
                <a:spcPts val="850"/>
              </a:spcAft>
              <a:buNone/>
            </a:pPr>
            <a:r>
              <a:rPr lang="en-US" sz="1200" dirty="0">
                <a:solidFill>
                  <a:srgbClr val="1A1A2E"/>
                </a:solidFill>
                <a:latin typeface="BIZ UDゴシック" pitchFamily="34" charset="0"/>
                <a:ea typeface="BIZ UDゴシック" pitchFamily="34" charset="-122"/>
                <a:cs typeface="BIZ UDゴシック" pitchFamily="34" charset="-120"/>
              </a:rPr>
              <a:t>10   New Relic MCP起動</a:t>
            </a:r>
            <a:endParaRPr lang="en-US" sz="1200" dirty="0"/>
          </a:p>
          <a:p>
            <a:pPr indent="0" marL="0">
              <a:lnSpc>
                <a:spcPct val="115000"/>
              </a:lnSpc>
              <a:spcAft>
                <a:spcPts val="850"/>
              </a:spcAft>
              <a:buNone/>
            </a:pPr>
            <a:r>
              <a:rPr lang="en-US" sz="1200" dirty="0">
                <a:solidFill>
                  <a:srgbClr val="1A1A2E"/>
                </a:solidFill>
                <a:latin typeface="BIZ UDゴシック" pitchFamily="34" charset="0"/>
                <a:ea typeface="BIZ UDゴシック" pitchFamily="34" charset="-122"/>
                <a:cs typeface="BIZ UDゴシック" pitchFamily="34" charset="-120"/>
              </a:rPr>
              <a:t>11   MCP tools/list確認</a:t>
            </a:r>
            <a:endParaRPr lang="en-US" sz="1200" dirty="0"/>
          </a:p>
          <a:p>
            <a:pPr indent="0" marL="0">
              <a:lnSpc>
                <a:spcPct val="115000"/>
              </a:lnSpc>
              <a:spcAft>
                <a:spcPts val="850"/>
              </a:spcAft>
              <a:buNone/>
            </a:pPr>
            <a:r>
              <a:rPr lang="en-US" sz="1200" dirty="0">
                <a:solidFill>
                  <a:srgbClr val="1A1A2E"/>
                </a:solidFill>
                <a:latin typeface="BIZ UDゴシック" pitchFamily="34" charset="0"/>
                <a:ea typeface="BIZ UDゴシック" pitchFamily="34" charset="-122"/>
                <a:cs typeface="BIZ UDゴシック" pitchFamily="34" charset="-120"/>
              </a:rPr>
              <a:t>12   Console API起動</a:t>
            </a:r>
            <a:endParaRPr lang="en-US" sz="1200" dirty="0"/>
          </a:p>
          <a:p>
            <a:pPr indent="0" marL="0">
              <a:lnSpc>
                <a:spcPct val="115000"/>
              </a:lnSpc>
              <a:spcAft>
                <a:spcPts val="850"/>
              </a:spcAft>
              <a:buNone/>
            </a:pPr>
            <a:r>
              <a:rPr lang="en-US" sz="1200" dirty="0">
                <a:solidFill>
                  <a:srgbClr val="1A1A2E"/>
                </a:solidFill>
                <a:latin typeface="BIZ UDゴシック" pitchFamily="34" charset="0"/>
                <a:ea typeface="BIZ UDゴシック" pitchFamily="34" charset="-122"/>
                <a:cs typeface="BIZ UDゴシック" pitchFamily="34" charset="-120"/>
              </a:rPr>
              <a:t>13   Console UI起動</a:t>
            </a:r>
            <a:endParaRPr lang="en-US" sz="1200" dirty="0"/>
          </a:p>
          <a:p>
            <a:pPr indent="0" marL="0">
              <a:lnSpc>
                <a:spcPct val="115000"/>
              </a:lnSpc>
              <a:spcAft>
                <a:spcPts val="850"/>
              </a:spcAft>
              <a:buNone/>
            </a:pPr>
            <a:r>
              <a:rPr lang="en-US" sz="1200" dirty="0">
                <a:solidFill>
                  <a:srgbClr val="1A1A2E"/>
                </a:solidFill>
                <a:latin typeface="BIZ UDゴシック" pitchFamily="34" charset="0"/>
                <a:ea typeface="BIZ UDゴシック" pitchFamily="34" charset="-122"/>
                <a:cs typeface="BIZ UDゴシック" pitchFamily="34" charset="-120"/>
              </a:rPr>
              <a:t>14   LLM接続</a:t>
            </a:r>
            <a:endParaRPr lang="en-US" sz="1200" dirty="0"/>
          </a:p>
          <a:p>
            <a:pPr indent="0" marL="0">
              <a:lnSpc>
                <a:spcPct val="115000"/>
              </a:lnSpc>
              <a:spcAft>
                <a:spcPts val="850"/>
              </a:spcAft>
              <a:buNone/>
            </a:pPr>
            <a:r>
              <a:rPr lang="en-US" sz="1200" dirty="0">
                <a:solidFill>
                  <a:srgbClr val="1A1A2E"/>
                </a:solidFill>
                <a:latin typeface="BIZ UDゴシック" pitchFamily="34" charset="0"/>
                <a:ea typeface="BIZ UDゴシック" pitchFamily="34" charset="-122"/>
                <a:cs typeface="BIZ UDゴシック" pitchFamily="34" charset="-120"/>
              </a:rPr>
              <a:t>15   E2E</a:t>
            </a:r>
            <a:endParaRPr lang="en-US" sz="1200" dirty="0"/>
          </a:p>
        </p:txBody>
      </p:sp>
      <p:sp>
        <p:nvSpPr>
          <p:cNvPr id="11" name="Shape 9"/>
          <p:cNvSpPr/>
          <p:nvPr/>
        </p:nvSpPr>
        <p:spPr>
          <a:xfrm>
            <a:off x="1280160" y="5257800"/>
            <a:ext cx="10362895" cy="822960"/>
          </a:xfrm>
          <a:prstGeom prst="roundRect">
            <a:avLst>
              <a:gd name="adj" fmla="val 8889"/>
            </a:avLst>
          </a:prstGeom>
          <a:solidFill>
            <a:srgbClr val="21295C"/>
          </a:solidFill>
          <a:ln/>
        </p:spPr>
      </p:sp>
      <p:sp>
        <p:nvSpPr>
          <p:cNvPr id="12" name="Text 10"/>
          <p:cNvSpPr/>
          <p:nvPr/>
        </p:nvSpPr>
        <p:spPr>
          <a:xfrm>
            <a:off x="1508760" y="5257800"/>
            <a:ext cx="9905695" cy="822960"/>
          </a:xfrm>
          <a:prstGeom prst="rect">
            <a:avLst/>
          </a:prstGeom>
          <a:noFill/>
          <a:ln/>
        </p:spPr>
        <p:txBody>
          <a:bodyPr wrap="square" lIns="0" tIns="0" rIns="0" bIns="0" rtlCol="0" anchor="ctr"/>
          <a:lstStyle/>
          <a:p>
            <a:pPr indent="0" marL="0">
              <a:buNone/>
            </a:pPr>
            <a:r>
              <a:rPr lang="en-US" sz="1300" dirty="0">
                <a:solidFill>
                  <a:srgbClr val="FFFFFF"/>
                </a:solidFill>
                <a:latin typeface="BIZ UDゴシック" pitchFamily="34" charset="0"/>
                <a:ea typeface="BIZ UDゴシック" pitchFamily="34" charset="-122"/>
                <a:cs typeface="BIZ UDゴシック" pitchFamily="34" charset="-120"/>
              </a:rPr>
              <a:t>この順序の理由：障害発生時に、どの層で失敗しているかを切り分けやすくするため。</a:t>
            </a:r>
            <a:endParaRPr lang="en-US" sz="13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502920"/>
            <a:ext cx="566928" cy="566928"/>
          </a:xfrm>
          <a:prstGeom prst="ellipse">
            <a:avLst/>
          </a:prstGeom>
          <a:solidFill>
            <a:srgbClr val="21295C"/>
          </a:solidFill>
          <a:ln/>
        </p:spPr>
      </p:sp>
      <p:sp>
        <p:nvSpPr>
          <p:cNvPr id="3" name="Text 1"/>
          <p:cNvSpPr/>
          <p:nvPr/>
        </p:nvSpPr>
        <p:spPr>
          <a:xfrm>
            <a:off x="548640" y="502920"/>
            <a:ext cx="566928" cy="566928"/>
          </a:xfrm>
          <a:prstGeom prst="rect">
            <a:avLst/>
          </a:prstGeom>
          <a:noFill/>
          <a:ln/>
        </p:spPr>
        <p:txBody>
          <a:bodyPr wrap="square" lIns="0" tIns="0" rIns="0" bIns="0" rtlCol="0" anchor="ctr"/>
          <a:lstStyle/>
          <a:p>
            <a:pPr algn="ctr" indent="0" marL="0">
              <a:buNone/>
            </a:pPr>
            <a:r>
              <a:rPr lang="en-US" sz="1500" b="1" dirty="0">
                <a:solidFill>
                  <a:srgbClr val="FFFFFF"/>
                </a:solidFill>
                <a:latin typeface="BIZ UDゴシック" pitchFamily="34" charset="0"/>
                <a:ea typeface="BIZ UDゴシック" pitchFamily="34" charset="-122"/>
                <a:cs typeface="BIZ UDゴシック" pitchFamily="34" charset="-120"/>
              </a:rPr>
              <a:t>25</a:t>
            </a:r>
            <a:endParaRPr lang="en-US" sz="1500" dirty="0"/>
          </a:p>
        </p:txBody>
      </p:sp>
      <p:sp>
        <p:nvSpPr>
          <p:cNvPr id="4" name="Text 2"/>
          <p:cNvSpPr/>
          <p:nvPr/>
        </p:nvSpPr>
        <p:spPr>
          <a:xfrm>
            <a:off x="1280160" y="438912"/>
            <a:ext cx="10362895" cy="274320"/>
          </a:xfrm>
          <a:prstGeom prst="rect">
            <a:avLst/>
          </a:prstGeom>
          <a:noFill/>
          <a:ln/>
        </p:spPr>
        <p:txBody>
          <a:bodyPr wrap="square" lIns="0" tIns="0" rIns="0" bIns="0" rtlCol="0" anchor="ctr"/>
          <a:lstStyle/>
          <a:p>
            <a:pPr indent="0" marL="0">
              <a:buNone/>
            </a:pPr>
            <a:r>
              <a:rPr lang="en-US" sz="1100" b="1" spc="100" kern="0" dirty="0">
                <a:solidFill>
                  <a:srgbClr val="1C7293"/>
                </a:solidFill>
                <a:latin typeface="BIZ UDゴシック" pitchFamily="34" charset="0"/>
                <a:ea typeface="BIZ UDゴシック" pitchFamily="34" charset="-122"/>
                <a:cs typeface="BIZ UDゴシック" pitchFamily="34" charset="-120"/>
              </a:rPr>
              <a:t>SECTION 25</a:t>
            </a:r>
            <a:endParaRPr lang="en-US" sz="1100" dirty="0"/>
          </a:p>
        </p:txBody>
      </p:sp>
      <p:sp>
        <p:nvSpPr>
          <p:cNvPr id="5" name="Text 3"/>
          <p:cNvSpPr/>
          <p:nvPr/>
        </p:nvSpPr>
        <p:spPr>
          <a:xfrm>
            <a:off x="1280160" y="713232"/>
            <a:ext cx="10362895" cy="566928"/>
          </a:xfrm>
          <a:prstGeom prst="rect">
            <a:avLst/>
          </a:prstGeom>
          <a:noFill/>
          <a:ln/>
        </p:spPr>
        <p:txBody>
          <a:bodyPr wrap="square" lIns="0" tIns="0" rIns="0" bIns="0" rtlCol="0" anchor="t"/>
          <a:lstStyle/>
          <a:p>
            <a:pPr indent="0" marL="0">
              <a:buNone/>
            </a:pPr>
            <a:r>
              <a:rPr lang="en-US" sz="2500" b="1" dirty="0">
                <a:solidFill>
                  <a:srgbClr val="1A1A2E"/>
                </a:solidFill>
                <a:latin typeface="BIZ UDゴシック" pitchFamily="34" charset="0"/>
                <a:ea typeface="BIZ UDゴシック" pitchFamily="34" charset="-122"/>
                <a:cs typeface="BIZ UDゴシック" pitchFamily="34" charset="-120"/>
              </a:rPr>
              <a:t>代表的なテストシナリオ</a:t>
            </a:r>
            <a:endParaRPr lang="en-US" sz="2500" dirty="0"/>
          </a:p>
        </p:txBody>
      </p:sp>
      <p:sp>
        <p:nvSpPr>
          <p:cNvPr id="6" name="Text 4"/>
          <p:cNvSpPr/>
          <p:nvPr/>
        </p:nvSpPr>
        <p:spPr>
          <a:xfrm>
            <a:off x="548640" y="6446520"/>
            <a:ext cx="4572000" cy="274320"/>
          </a:xfrm>
          <a:prstGeom prst="rect">
            <a:avLst/>
          </a:prstGeom>
          <a:noFill/>
          <a:ln/>
        </p:spPr>
        <p:txBody>
          <a:bodyPr wrap="square" lIns="0" tIns="0" rIns="0" bIns="0" rtlCol="0" anchor="ctr"/>
          <a:lstStyle/>
          <a:p>
            <a:pPr indent="0" marL="0">
              <a:buNone/>
            </a:pPr>
            <a:r>
              <a:rPr lang="en-US" sz="900" dirty="0">
                <a:solidFill>
                  <a:srgbClr val="5C6B73"/>
                </a:solidFill>
                <a:latin typeface="BIZ UDゴシック" pitchFamily="34" charset="0"/>
                <a:ea typeface="BIZ UDゴシック" pitchFamily="34" charset="-122"/>
                <a:cs typeface="BIZ UDゴシック" pitchFamily="34" charset="-120"/>
              </a:rPr>
              <a:t>Observability AI PoC</a:t>
            </a:r>
            <a:endParaRPr lang="en-US" sz="900" dirty="0"/>
          </a:p>
        </p:txBody>
      </p:sp>
      <p:sp>
        <p:nvSpPr>
          <p:cNvPr id="7" name="Text 5"/>
          <p:cNvSpPr/>
          <p:nvPr/>
        </p:nvSpPr>
        <p:spPr>
          <a:xfrm>
            <a:off x="9814255" y="6446520"/>
            <a:ext cx="1828800" cy="274320"/>
          </a:xfrm>
          <a:prstGeom prst="rect">
            <a:avLst/>
          </a:prstGeom>
          <a:noFill/>
          <a:ln/>
        </p:spPr>
        <p:txBody>
          <a:bodyPr wrap="square" lIns="0" tIns="0" rIns="0" bIns="0" rtlCol="0" anchor="ctr"/>
          <a:lstStyle/>
          <a:p>
            <a:pPr algn="r" indent="0" marL="0">
              <a:buNone/>
            </a:pPr>
            <a:r>
              <a:rPr lang="en-US" sz="900" dirty="0">
                <a:solidFill>
                  <a:srgbClr val="5C6B73"/>
                </a:solidFill>
                <a:latin typeface="BIZ UDゴシック" pitchFamily="34" charset="0"/>
                <a:ea typeface="BIZ UDゴシック" pitchFamily="34" charset="-122"/>
                <a:cs typeface="BIZ UDゴシック" pitchFamily="34" charset="-120"/>
              </a:rPr>
              <a:t>25</a:t>
            </a:r>
            <a:endParaRPr lang="en-US" sz="900" dirty="0"/>
          </a:p>
        </p:txBody>
      </p:sp>
      <p:sp>
        <p:nvSpPr>
          <p:cNvPr id="8" name="Shape 6"/>
          <p:cNvSpPr/>
          <p:nvPr/>
        </p:nvSpPr>
        <p:spPr>
          <a:xfrm>
            <a:off x="1280160" y="1508760"/>
            <a:ext cx="3271418" cy="4480560"/>
          </a:xfrm>
          <a:prstGeom prst="roundRect">
            <a:avLst>
              <a:gd name="adj" fmla="val 2236"/>
            </a:avLst>
          </a:prstGeom>
          <a:solidFill>
            <a:srgbClr val="EAF2F6"/>
          </a:solidFill>
          <a:ln/>
        </p:spPr>
      </p:sp>
      <p:sp>
        <p:nvSpPr>
          <p:cNvPr id="9" name="Shape 7"/>
          <p:cNvSpPr/>
          <p:nvPr/>
        </p:nvSpPr>
        <p:spPr>
          <a:xfrm>
            <a:off x="1280160" y="1508760"/>
            <a:ext cx="3271418" cy="777240"/>
          </a:xfrm>
          <a:prstGeom prst="roundRect">
            <a:avLst>
              <a:gd name="adj" fmla="val 9412"/>
            </a:avLst>
          </a:prstGeom>
          <a:solidFill>
            <a:srgbClr val="2C7A5B"/>
          </a:solidFill>
          <a:ln/>
        </p:spPr>
      </p:sp>
      <p:sp>
        <p:nvSpPr>
          <p:cNvPr id="10" name="Text 8"/>
          <p:cNvSpPr/>
          <p:nvPr/>
        </p:nvSpPr>
        <p:spPr>
          <a:xfrm>
            <a:off x="1280160" y="1600200"/>
            <a:ext cx="3271418" cy="320040"/>
          </a:xfrm>
          <a:prstGeom prst="rect">
            <a:avLst/>
          </a:prstGeom>
          <a:noFill/>
          <a:ln/>
        </p:spPr>
        <p:txBody>
          <a:bodyPr wrap="square" lIns="0" tIns="0" rIns="0" bIns="0" rtlCol="0" anchor="ctr"/>
          <a:lstStyle/>
          <a:p>
            <a:pPr algn="ctr" indent="0" marL="0">
              <a:buNone/>
            </a:pPr>
            <a:r>
              <a:rPr lang="en-US" sz="1200" dirty="0">
                <a:solidFill>
                  <a:srgbClr val="FFFFFF"/>
                </a:solidFill>
                <a:latin typeface="BIZ UDゴシック" pitchFamily="34" charset="0"/>
                <a:ea typeface="BIZ UDゴシック" pitchFamily="34" charset="-122"/>
                <a:cs typeface="BIZ UDゴシック" pitchFamily="34" charset="-120"/>
              </a:rPr>
              <a:t>Scenario A</a:t>
            </a:r>
            <a:endParaRPr lang="en-US" sz="1200" dirty="0"/>
          </a:p>
        </p:txBody>
      </p:sp>
      <p:sp>
        <p:nvSpPr>
          <p:cNvPr id="11" name="Text 9"/>
          <p:cNvSpPr/>
          <p:nvPr/>
        </p:nvSpPr>
        <p:spPr>
          <a:xfrm>
            <a:off x="1280160" y="1874520"/>
            <a:ext cx="3271418" cy="365760"/>
          </a:xfrm>
          <a:prstGeom prst="rect">
            <a:avLst/>
          </a:prstGeom>
          <a:noFill/>
          <a:ln/>
        </p:spPr>
        <p:txBody>
          <a:bodyPr wrap="square" lIns="0" tIns="0" rIns="0" bIns="0" rtlCol="0" anchor="ctr"/>
          <a:lstStyle/>
          <a:p>
            <a:pPr algn="ctr" indent="0" marL="0">
              <a:buNone/>
            </a:pPr>
            <a:r>
              <a:rPr lang="en-US" sz="1500" b="1" dirty="0">
                <a:solidFill>
                  <a:srgbClr val="FFFFFF"/>
                </a:solidFill>
                <a:latin typeface="BIZ UDゴシック" pitchFamily="34" charset="0"/>
                <a:ea typeface="BIZ UDゴシック" pitchFamily="34" charset="-122"/>
                <a:cs typeface="BIZ UDゴシック" pitchFamily="34" charset="-120"/>
              </a:rPr>
              <a:t>NORMAL</a:t>
            </a:r>
            <a:endParaRPr lang="en-US" sz="1500" dirty="0"/>
          </a:p>
        </p:txBody>
      </p:sp>
      <p:sp>
        <p:nvSpPr>
          <p:cNvPr id="12" name="Text 10"/>
          <p:cNvSpPr/>
          <p:nvPr/>
        </p:nvSpPr>
        <p:spPr>
          <a:xfrm>
            <a:off x="1463040" y="2514600"/>
            <a:ext cx="2905658" cy="3291840"/>
          </a:xfrm>
          <a:prstGeom prst="rect">
            <a:avLst/>
          </a:prstGeom>
          <a:noFill/>
          <a:ln/>
        </p:spPr>
        <p:txBody>
          <a:bodyPr wrap="square" lIns="0" tIns="0" rIns="0" bIns="0" rtlCol="0" anchor="t"/>
          <a:lstStyle/>
          <a:p>
            <a:pPr marL="177800" indent="-177800">
              <a:lnSpc>
                <a:spcPct val="120000"/>
              </a:lnSpc>
              <a:spcAft>
                <a:spcPts val="1000"/>
              </a:spcAft>
              <a:buSzPct val="100000"/>
              <a:buChar char="●"/>
            </a:pPr>
            <a:r>
              <a:rPr lang="en-US" sz="1150" dirty="0">
                <a:solidFill>
                  <a:srgbClr val="1A1A2E"/>
                </a:solidFill>
                <a:latin typeface="BIZ UDゴシック" pitchFamily="34" charset="0"/>
                <a:ea typeface="BIZ UDゴシック" pitchFamily="34" charset="-122"/>
                <a:cs typeface="BIZ UDゴシック" pitchFamily="34" charset="-120"/>
              </a:rPr>
              <a:t>HTTP 200</a:t>
            </a:r>
            <a:endParaRPr lang="en-US" sz="1150" dirty="0"/>
          </a:p>
          <a:p>
            <a:pPr marL="177800" indent="-177800">
              <a:lnSpc>
                <a:spcPct val="120000"/>
              </a:lnSpc>
              <a:spcAft>
                <a:spcPts val="1000"/>
              </a:spcAft>
              <a:buSzPct val="100000"/>
              <a:buChar char="●"/>
            </a:pPr>
            <a:r>
              <a:rPr lang="en-US" sz="1150" dirty="0">
                <a:solidFill>
                  <a:srgbClr val="1A1A2E"/>
                </a:solidFill>
                <a:latin typeface="BIZ UDゴシック" pitchFamily="34" charset="0"/>
                <a:ea typeface="BIZ UDゴシック" pitchFamily="34" charset="-122"/>
                <a:cs typeface="BIZ UDゴシック" pitchFamily="34" charset="-120"/>
              </a:rPr>
              <a:t>Splunkログ正常</a:t>
            </a:r>
            <a:endParaRPr lang="en-US" sz="1150" dirty="0"/>
          </a:p>
          <a:p>
            <a:pPr marL="177800" indent="-177800">
              <a:lnSpc>
                <a:spcPct val="120000"/>
              </a:lnSpc>
              <a:spcAft>
                <a:spcPts val="1000"/>
              </a:spcAft>
              <a:buSzPct val="100000"/>
              <a:buChar char="●"/>
            </a:pPr>
            <a:r>
              <a:rPr lang="en-US" sz="1150" dirty="0">
                <a:solidFill>
                  <a:srgbClr val="1A1A2E"/>
                </a:solidFill>
                <a:latin typeface="BIZ UDゴシック" pitchFamily="34" charset="0"/>
                <a:ea typeface="BIZ UDゴシック" pitchFamily="34" charset="-122"/>
                <a:cs typeface="BIZ UDゴシック" pitchFamily="34" charset="-120"/>
              </a:rPr>
              <a:t>New Relic transaction正常</a:t>
            </a:r>
            <a:endParaRPr lang="en-US" sz="1150" dirty="0"/>
          </a:p>
          <a:p>
            <a:pPr marL="177800" indent="-177800">
              <a:lnSpc>
                <a:spcPct val="120000"/>
              </a:lnSpc>
              <a:spcAft>
                <a:spcPts val="1000"/>
              </a:spcAft>
              <a:buSzPct val="100000"/>
              <a:buChar char="●"/>
            </a:pPr>
            <a:r>
              <a:rPr lang="en-US" sz="1150" dirty="0">
                <a:solidFill>
                  <a:srgbClr val="1A1A2E"/>
                </a:solidFill>
                <a:latin typeface="BIZ UDゴシック" pitchFamily="34" charset="0"/>
                <a:ea typeface="BIZ UDゴシック" pitchFamily="34" charset="-122"/>
                <a:cs typeface="BIZ UDゴシック" pitchFamily="34" charset="-120"/>
              </a:rPr>
              <a:t>UIに重大障害を表示しない</a:t>
            </a:r>
            <a:endParaRPr lang="en-US" sz="1150" dirty="0"/>
          </a:p>
        </p:txBody>
      </p:sp>
      <p:sp>
        <p:nvSpPr>
          <p:cNvPr id="13" name="Shape 11"/>
          <p:cNvSpPr/>
          <p:nvPr/>
        </p:nvSpPr>
        <p:spPr>
          <a:xfrm>
            <a:off x="4825898" y="1508760"/>
            <a:ext cx="3271418" cy="4480560"/>
          </a:xfrm>
          <a:prstGeom prst="roundRect">
            <a:avLst>
              <a:gd name="adj" fmla="val 2236"/>
            </a:avLst>
          </a:prstGeom>
          <a:solidFill>
            <a:srgbClr val="EAF2F6"/>
          </a:solidFill>
          <a:ln/>
        </p:spPr>
      </p:sp>
      <p:sp>
        <p:nvSpPr>
          <p:cNvPr id="14" name="Shape 12"/>
          <p:cNvSpPr/>
          <p:nvPr/>
        </p:nvSpPr>
        <p:spPr>
          <a:xfrm>
            <a:off x="4825898" y="1508760"/>
            <a:ext cx="3271418" cy="777240"/>
          </a:xfrm>
          <a:prstGeom prst="roundRect">
            <a:avLst>
              <a:gd name="adj" fmla="val 9412"/>
            </a:avLst>
          </a:prstGeom>
          <a:solidFill>
            <a:srgbClr val="B85042"/>
          </a:solidFill>
          <a:ln/>
        </p:spPr>
      </p:sp>
      <p:sp>
        <p:nvSpPr>
          <p:cNvPr id="15" name="Text 13"/>
          <p:cNvSpPr/>
          <p:nvPr/>
        </p:nvSpPr>
        <p:spPr>
          <a:xfrm>
            <a:off x="4825898" y="1600200"/>
            <a:ext cx="3271418" cy="320040"/>
          </a:xfrm>
          <a:prstGeom prst="rect">
            <a:avLst/>
          </a:prstGeom>
          <a:noFill/>
          <a:ln/>
        </p:spPr>
        <p:txBody>
          <a:bodyPr wrap="square" lIns="0" tIns="0" rIns="0" bIns="0" rtlCol="0" anchor="ctr"/>
          <a:lstStyle/>
          <a:p>
            <a:pPr algn="ctr" indent="0" marL="0">
              <a:buNone/>
            </a:pPr>
            <a:r>
              <a:rPr lang="en-US" sz="1200" dirty="0">
                <a:solidFill>
                  <a:srgbClr val="FFFFFF"/>
                </a:solidFill>
                <a:latin typeface="BIZ UDゴシック" pitchFamily="34" charset="0"/>
                <a:ea typeface="BIZ UDゴシック" pitchFamily="34" charset="-122"/>
                <a:cs typeface="BIZ UDゴシック" pitchFamily="34" charset="-120"/>
              </a:rPr>
              <a:t>Scenario B</a:t>
            </a:r>
            <a:endParaRPr lang="en-US" sz="1200" dirty="0"/>
          </a:p>
        </p:txBody>
      </p:sp>
      <p:sp>
        <p:nvSpPr>
          <p:cNvPr id="16" name="Text 14"/>
          <p:cNvSpPr/>
          <p:nvPr/>
        </p:nvSpPr>
        <p:spPr>
          <a:xfrm>
            <a:off x="4825898" y="1874520"/>
            <a:ext cx="3271418" cy="365760"/>
          </a:xfrm>
          <a:prstGeom prst="rect">
            <a:avLst/>
          </a:prstGeom>
          <a:noFill/>
          <a:ln/>
        </p:spPr>
        <p:txBody>
          <a:bodyPr wrap="square" lIns="0" tIns="0" rIns="0" bIns="0" rtlCol="0" anchor="ctr"/>
          <a:lstStyle/>
          <a:p>
            <a:pPr algn="ctr" indent="0" marL="0">
              <a:buNone/>
            </a:pPr>
            <a:r>
              <a:rPr lang="en-US" sz="1500" b="1" dirty="0">
                <a:solidFill>
                  <a:srgbClr val="FFFFFF"/>
                </a:solidFill>
                <a:latin typeface="BIZ UDゴシック" pitchFamily="34" charset="0"/>
                <a:ea typeface="BIZ UDゴシック" pitchFamily="34" charset="-122"/>
                <a:cs typeface="BIZ UDゴシック" pitchFamily="34" charset="-120"/>
              </a:rPr>
              <a:t>Payment Error</a:t>
            </a:r>
            <a:endParaRPr lang="en-US" sz="1500" dirty="0"/>
          </a:p>
        </p:txBody>
      </p:sp>
      <p:sp>
        <p:nvSpPr>
          <p:cNvPr id="17" name="Text 15"/>
          <p:cNvSpPr/>
          <p:nvPr/>
        </p:nvSpPr>
        <p:spPr>
          <a:xfrm>
            <a:off x="5008778" y="2514600"/>
            <a:ext cx="2905658" cy="3291840"/>
          </a:xfrm>
          <a:prstGeom prst="rect">
            <a:avLst/>
          </a:prstGeom>
          <a:noFill/>
          <a:ln/>
        </p:spPr>
        <p:txBody>
          <a:bodyPr wrap="square" lIns="0" tIns="0" rIns="0" bIns="0" rtlCol="0" anchor="t"/>
          <a:lstStyle/>
          <a:p>
            <a:pPr marL="177800" indent="-177800">
              <a:lnSpc>
                <a:spcPct val="120000"/>
              </a:lnSpc>
              <a:spcAft>
                <a:spcPts val="1000"/>
              </a:spcAft>
              <a:buSzPct val="100000"/>
              <a:buChar char="●"/>
            </a:pPr>
            <a:r>
              <a:rPr lang="en-US" sz="1150" dirty="0">
                <a:solidFill>
                  <a:srgbClr val="1A1A2E"/>
                </a:solidFill>
                <a:latin typeface="BIZ UDゴシック" pitchFamily="34" charset="0"/>
                <a:ea typeface="BIZ UDゴシック" pitchFamily="34" charset="-122"/>
                <a:cs typeface="BIZ UDゴシック" pitchFamily="34" charset="-120"/>
              </a:rPr>
              <a:t>Payment Service error / API Gateway 500</a:t>
            </a:r>
            <a:endParaRPr lang="en-US" sz="1150" dirty="0"/>
          </a:p>
          <a:p>
            <a:pPr marL="177800" indent="-177800">
              <a:lnSpc>
                <a:spcPct val="120000"/>
              </a:lnSpc>
              <a:spcAft>
                <a:spcPts val="1000"/>
              </a:spcAft>
              <a:buSzPct val="100000"/>
              <a:buChar char="●"/>
            </a:pPr>
            <a:r>
              <a:rPr lang="en-US" sz="1150" dirty="0">
                <a:solidFill>
                  <a:srgbClr val="1A1A2E"/>
                </a:solidFill>
                <a:latin typeface="BIZ UDゴシック" pitchFamily="34" charset="0"/>
                <a:ea typeface="BIZ UDゴシック" pitchFamily="34" charset="-122"/>
                <a:cs typeface="BIZ UDゴシック" pitchFamily="34" charset="-120"/>
              </a:rPr>
              <a:t>Splunk error log / New Relic error transaction</a:t>
            </a:r>
            <a:endParaRPr lang="en-US" sz="1150" dirty="0"/>
          </a:p>
          <a:p>
            <a:pPr marL="177800" indent="-177800">
              <a:lnSpc>
                <a:spcPct val="120000"/>
              </a:lnSpc>
              <a:spcAft>
                <a:spcPts val="1000"/>
              </a:spcAft>
              <a:buSzPct val="100000"/>
              <a:buChar char="●"/>
            </a:pPr>
            <a:r>
              <a:rPr lang="en-US" sz="1150" dirty="0">
                <a:solidFill>
                  <a:srgbClr val="1A1A2E"/>
                </a:solidFill>
                <a:latin typeface="BIZ UDゴシック" pitchFamily="34" charset="0"/>
                <a:ea typeface="BIZ UDゴシック" pitchFamily="34" charset="-122"/>
                <a:cs typeface="BIZ UDゴシック" pitchFamily="34" charset="-120"/>
              </a:rPr>
              <a:t>AIがPayment系Evidenceを優先</a:t>
            </a:r>
            <a:endParaRPr lang="en-US" sz="1150" dirty="0"/>
          </a:p>
          <a:p>
            <a:pPr marL="177800" indent="-177800">
              <a:lnSpc>
                <a:spcPct val="120000"/>
              </a:lnSpc>
              <a:spcAft>
                <a:spcPts val="1000"/>
              </a:spcAft>
              <a:buSzPct val="100000"/>
              <a:buChar char="●"/>
            </a:pPr>
            <a:r>
              <a:rPr lang="en-US" sz="1150" dirty="0">
                <a:solidFill>
                  <a:srgbClr val="1A1A2E"/>
                </a:solidFill>
                <a:latin typeface="BIZ UDゴシック" pitchFamily="34" charset="0"/>
                <a:ea typeface="BIZ UDゴシック" pitchFamily="34" charset="-122"/>
                <a:cs typeface="BIZ UDゴシック" pitchFamily="34" charset="-120"/>
              </a:rPr>
              <a:t>UIがerror-oriented layoutへ変化</a:t>
            </a:r>
            <a:endParaRPr lang="en-US" sz="1150" dirty="0"/>
          </a:p>
        </p:txBody>
      </p:sp>
      <p:sp>
        <p:nvSpPr>
          <p:cNvPr id="18" name="Shape 16"/>
          <p:cNvSpPr/>
          <p:nvPr/>
        </p:nvSpPr>
        <p:spPr>
          <a:xfrm>
            <a:off x="8371637" y="1508760"/>
            <a:ext cx="3271418" cy="4480560"/>
          </a:xfrm>
          <a:prstGeom prst="roundRect">
            <a:avLst>
              <a:gd name="adj" fmla="val 2236"/>
            </a:avLst>
          </a:prstGeom>
          <a:solidFill>
            <a:srgbClr val="EAF2F6"/>
          </a:solidFill>
          <a:ln/>
        </p:spPr>
      </p:sp>
      <p:sp>
        <p:nvSpPr>
          <p:cNvPr id="19" name="Shape 17"/>
          <p:cNvSpPr/>
          <p:nvPr/>
        </p:nvSpPr>
        <p:spPr>
          <a:xfrm>
            <a:off x="8371637" y="1508760"/>
            <a:ext cx="3271418" cy="777240"/>
          </a:xfrm>
          <a:prstGeom prst="roundRect">
            <a:avLst>
              <a:gd name="adj" fmla="val 9412"/>
            </a:avLst>
          </a:prstGeom>
          <a:solidFill>
            <a:srgbClr val="065A82"/>
          </a:solidFill>
          <a:ln/>
        </p:spPr>
      </p:sp>
      <p:sp>
        <p:nvSpPr>
          <p:cNvPr id="20" name="Text 18"/>
          <p:cNvSpPr/>
          <p:nvPr/>
        </p:nvSpPr>
        <p:spPr>
          <a:xfrm>
            <a:off x="8371637" y="1600200"/>
            <a:ext cx="3271418" cy="320040"/>
          </a:xfrm>
          <a:prstGeom prst="rect">
            <a:avLst/>
          </a:prstGeom>
          <a:noFill/>
          <a:ln/>
        </p:spPr>
        <p:txBody>
          <a:bodyPr wrap="square" lIns="0" tIns="0" rIns="0" bIns="0" rtlCol="0" anchor="ctr"/>
          <a:lstStyle/>
          <a:p>
            <a:pPr algn="ctr" indent="0" marL="0">
              <a:buNone/>
            </a:pPr>
            <a:r>
              <a:rPr lang="en-US" sz="1200" dirty="0">
                <a:solidFill>
                  <a:srgbClr val="FFFFFF"/>
                </a:solidFill>
                <a:latin typeface="BIZ UDゴシック" pitchFamily="34" charset="0"/>
                <a:ea typeface="BIZ UDゴシック" pitchFamily="34" charset="-122"/>
                <a:cs typeface="BIZ UDゴシック" pitchFamily="34" charset="-120"/>
              </a:rPr>
              <a:t>Scenario C</a:t>
            </a:r>
            <a:endParaRPr lang="en-US" sz="1200" dirty="0"/>
          </a:p>
        </p:txBody>
      </p:sp>
      <p:sp>
        <p:nvSpPr>
          <p:cNvPr id="21" name="Text 19"/>
          <p:cNvSpPr/>
          <p:nvPr/>
        </p:nvSpPr>
        <p:spPr>
          <a:xfrm>
            <a:off x="8371637" y="1874520"/>
            <a:ext cx="3271418" cy="365760"/>
          </a:xfrm>
          <a:prstGeom prst="rect">
            <a:avLst/>
          </a:prstGeom>
          <a:noFill/>
          <a:ln/>
        </p:spPr>
        <p:txBody>
          <a:bodyPr wrap="square" lIns="0" tIns="0" rIns="0" bIns="0" rtlCol="0" anchor="ctr"/>
          <a:lstStyle/>
          <a:p>
            <a:pPr algn="ctr" indent="0" marL="0">
              <a:buNone/>
            </a:pPr>
            <a:r>
              <a:rPr lang="en-US" sz="1500" b="1" dirty="0">
                <a:solidFill>
                  <a:srgbClr val="FFFFFF"/>
                </a:solidFill>
                <a:latin typeface="BIZ UDゴシック" pitchFamily="34" charset="0"/>
                <a:ea typeface="BIZ UDゴシック" pitchFamily="34" charset="-122"/>
                <a:cs typeface="BIZ UDゴシック" pitchFamily="34" charset="-120"/>
              </a:rPr>
              <a:t>Latency</a:t>
            </a:r>
            <a:endParaRPr lang="en-US" sz="1500" dirty="0"/>
          </a:p>
        </p:txBody>
      </p:sp>
      <p:sp>
        <p:nvSpPr>
          <p:cNvPr id="22" name="Text 20"/>
          <p:cNvSpPr/>
          <p:nvPr/>
        </p:nvSpPr>
        <p:spPr>
          <a:xfrm>
            <a:off x="8554517" y="2514600"/>
            <a:ext cx="2905658" cy="3291840"/>
          </a:xfrm>
          <a:prstGeom prst="rect">
            <a:avLst/>
          </a:prstGeom>
          <a:noFill/>
          <a:ln/>
        </p:spPr>
        <p:txBody>
          <a:bodyPr wrap="square" lIns="0" tIns="0" rIns="0" bIns="0" rtlCol="0" anchor="t"/>
          <a:lstStyle/>
          <a:p>
            <a:pPr marL="177800" indent="-177800">
              <a:lnSpc>
                <a:spcPct val="120000"/>
              </a:lnSpc>
              <a:spcAft>
                <a:spcPts val="1000"/>
              </a:spcAft>
              <a:buSzPct val="100000"/>
              <a:buChar char="●"/>
            </a:pPr>
            <a:r>
              <a:rPr lang="en-US" sz="1150" dirty="0">
                <a:solidFill>
                  <a:srgbClr val="1A1A2E"/>
                </a:solidFill>
                <a:latin typeface="BIZ UDゴシック" pitchFamily="34" charset="0"/>
                <a:ea typeface="BIZ UDゴシック" pitchFamily="34" charset="-122"/>
                <a:cs typeface="BIZ UDゴシック" pitchFamily="34" charset="-120"/>
              </a:rPr>
              <a:t>latency増加 / New Relic duration増加</a:t>
            </a:r>
            <a:endParaRPr lang="en-US" sz="1150" dirty="0"/>
          </a:p>
          <a:p>
            <a:pPr marL="177800" indent="-177800">
              <a:lnSpc>
                <a:spcPct val="120000"/>
              </a:lnSpc>
              <a:spcAft>
                <a:spcPts val="1000"/>
              </a:spcAft>
              <a:buSzPct val="100000"/>
              <a:buChar char="●"/>
            </a:pPr>
            <a:r>
              <a:rPr lang="en-US" sz="1150" dirty="0">
                <a:solidFill>
                  <a:srgbClr val="1A1A2E"/>
                </a:solidFill>
                <a:latin typeface="BIZ UDゴシック" pitchFamily="34" charset="0"/>
                <a:ea typeface="BIZ UDゴシック" pitchFamily="34" charset="-122"/>
                <a:cs typeface="BIZ UDゴシック" pitchFamily="34" charset="-120"/>
              </a:rPr>
              <a:t>trace確認</a:t>
            </a:r>
            <a:endParaRPr lang="en-US" sz="1150" dirty="0"/>
          </a:p>
          <a:p>
            <a:pPr marL="177800" indent="-177800">
              <a:lnSpc>
                <a:spcPct val="120000"/>
              </a:lnSpc>
              <a:spcAft>
                <a:spcPts val="1000"/>
              </a:spcAft>
              <a:buSzPct val="100000"/>
              <a:buChar char="●"/>
            </a:pPr>
            <a:r>
              <a:rPr lang="en-US" sz="1150" dirty="0">
                <a:solidFill>
                  <a:srgbClr val="1A1A2E"/>
                </a:solidFill>
                <a:latin typeface="BIZ UDゴシック" pitchFamily="34" charset="0"/>
                <a:ea typeface="BIZ UDゴシック" pitchFamily="34" charset="-122"/>
                <a:cs typeface="BIZ UDゴシック" pitchFamily="34" charset="-120"/>
              </a:rPr>
              <a:t>latency chartを優先表示</a:t>
            </a:r>
            <a:endParaRPr lang="en-US" sz="11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502920"/>
            <a:ext cx="566928" cy="566928"/>
          </a:xfrm>
          <a:prstGeom prst="ellipse">
            <a:avLst/>
          </a:prstGeom>
          <a:solidFill>
            <a:srgbClr val="21295C"/>
          </a:solidFill>
          <a:ln/>
        </p:spPr>
      </p:sp>
      <p:sp>
        <p:nvSpPr>
          <p:cNvPr id="3" name="Text 1"/>
          <p:cNvSpPr/>
          <p:nvPr/>
        </p:nvSpPr>
        <p:spPr>
          <a:xfrm>
            <a:off x="548640" y="502920"/>
            <a:ext cx="566928" cy="566928"/>
          </a:xfrm>
          <a:prstGeom prst="rect">
            <a:avLst/>
          </a:prstGeom>
          <a:noFill/>
          <a:ln/>
        </p:spPr>
        <p:txBody>
          <a:bodyPr wrap="square" lIns="0" tIns="0" rIns="0" bIns="0" rtlCol="0" anchor="ctr"/>
          <a:lstStyle/>
          <a:p>
            <a:pPr algn="ctr" indent="0" marL="0">
              <a:buNone/>
            </a:pPr>
            <a:r>
              <a:rPr lang="en-US" sz="1500" b="1" dirty="0">
                <a:solidFill>
                  <a:srgbClr val="FFFFFF"/>
                </a:solidFill>
                <a:latin typeface="BIZ UDゴシック" pitchFamily="34" charset="0"/>
                <a:ea typeface="BIZ UDゴシック" pitchFamily="34" charset="-122"/>
                <a:cs typeface="BIZ UDゴシック" pitchFamily="34" charset="-120"/>
              </a:rPr>
              <a:t>26</a:t>
            </a:r>
            <a:endParaRPr lang="en-US" sz="1500" dirty="0"/>
          </a:p>
        </p:txBody>
      </p:sp>
      <p:sp>
        <p:nvSpPr>
          <p:cNvPr id="4" name="Text 2"/>
          <p:cNvSpPr/>
          <p:nvPr/>
        </p:nvSpPr>
        <p:spPr>
          <a:xfrm>
            <a:off x="1280160" y="438912"/>
            <a:ext cx="10362895" cy="274320"/>
          </a:xfrm>
          <a:prstGeom prst="rect">
            <a:avLst/>
          </a:prstGeom>
          <a:noFill/>
          <a:ln/>
        </p:spPr>
        <p:txBody>
          <a:bodyPr wrap="square" lIns="0" tIns="0" rIns="0" bIns="0" rtlCol="0" anchor="ctr"/>
          <a:lstStyle/>
          <a:p>
            <a:pPr indent="0" marL="0">
              <a:buNone/>
            </a:pPr>
            <a:r>
              <a:rPr lang="en-US" sz="1100" b="1" spc="100" kern="0" dirty="0">
                <a:solidFill>
                  <a:srgbClr val="1C7293"/>
                </a:solidFill>
                <a:latin typeface="BIZ UDゴシック" pitchFamily="34" charset="0"/>
                <a:ea typeface="BIZ UDゴシック" pitchFamily="34" charset="-122"/>
                <a:cs typeface="BIZ UDゴシック" pitchFamily="34" charset="-120"/>
              </a:rPr>
              <a:t>SECTION 26</a:t>
            </a:r>
            <a:endParaRPr lang="en-US" sz="1100" dirty="0"/>
          </a:p>
        </p:txBody>
      </p:sp>
      <p:sp>
        <p:nvSpPr>
          <p:cNvPr id="5" name="Text 3"/>
          <p:cNvSpPr/>
          <p:nvPr/>
        </p:nvSpPr>
        <p:spPr>
          <a:xfrm>
            <a:off x="1280160" y="713232"/>
            <a:ext cx="10362895" cy="566928"/>
          </a:xfrm>
          <a:prstGeom prst="rect">
            <a:avLst/>
          </a:prstGeom>
          <a:noFill/>
          <a:ln/>
        </p:spPr>
        <p:txBody>
          <a:bodyPr wrap="square" lIns="0" tIns="0" rIns="0" bIns="0" rtlCol="0" anchor="t"/>
          <a:lstStyle/>
          <a:p>
            <a:pPr indent="0" marL="0">
              <a:buNone/>
            </a:pPr>
            <a:r>
              <a:rPr lang="en-US" sz="2500" b="1" dirty="0">
                <a:solidFill>
                  <a:srgbClr val="1A1A2E"/>
                </a:solidFill>
                <a:latin typeface="BIZ UDゴシック" pitchFamily="34" charset="0"/>
                <a:ea typeface="BIZ UDゴシック" pitchFamily="34" charset="-122"/>
                <a:cs typeface="BIZ UDゴシック" pitchFamily="34" charset="-120"/>
              </a:rPr>
              <a:t>このPoCの特徴</a:t>
            </a:r>
            <a:endParaRPr lang="en-US" sz="2500" dirty="0"/>
          </a:p>
        </p:txBody>
      </p:sp>
      <p:sp>
        <p:nvSpPr>
          <p:cNvPr id="6" name="Text 4"/>
          <p:cNvSpPr/>
          <p:nvPr/>
        </p:nvSpPr>
        <p:spPr>
          <a:xfrm>
            <a:off x="548640" y="6446520"/>
            <a:ext cx="4572000" cy="274320"/>
          </a:xfrm>
          <a:prstGeom prst="rect">
            <a:avLst/>
          </a:prstGeom>
          <a:noFill/>
          <a:ln/>
        </p:spPr>
        <p:txBody>
          <a:bodyPr wrap="square" lIns="0" tIns="0" rIns="0" bIns="0" rtlCol="0" anchor="ctr"/>
          <a:lstStyle/>
          <a:p>
            <a:pPr indent="0" marL="0">
              <a:buNone/>
            </a:pPr>
            <a:r>
              <a:rPr lang="en-US" sz="900" dirty="0">
                <a:solidFill>
                  <a:srgbClr val="5C6B73"/>
                </a:solidFill>
                <a:latin typeface="BIZ UDゴシック" pitchFamily="34" charset="0"/>
                <a:ea typeface="BIZ UDゴシック" pitchFamily="34" charset="-122"/>
                <a:cs typeface="BIZ UDゴシック" pitchFamily="34" charset="-120"/>
              </a:rPr>
              <a:t>Observability AI PoC</a:t>
            </a:r>
            <a:endParaRPr lang="en-US" sz="900" dirty="0"/>
          </a:p>
        </p:txBody>
      </p:sp>
      <p:sp>
        <p:nvSpPr>
          <p:cNvPr id="7" name="Text 5"/>
          <p:cNvSpPr/>
          <p:nvPr/>
        </p:nvSpPr>
        <p:spPr>
          <a:xfrm>
            <a:off x="9814255" y="6446520"/>
            <a:ext cx="1828800" cy="274320"/>
          </a:xfrm>
          <a:prstGeom prst="rect">
            <a:avLst/>
          </a:prstGeom>
          <a:noFill/>
          <a:ln/>
        </p:spPr>
        <p:txBody>
          <a:bodyPr wrap="square" lIns="0" tIns="0" rIns="0" bIns="0" rtlCol="0" anchor="ctr"/>
          <a:lstStyle/>
          <a:p>
            <a:pPr algn="r" indent="0" marL="0">
              <a:buNone/>
            </a:pPr>
            <a:r>
              <a:rPr lang="en-US" sz="900" dirty="0">
                <a:solidFill>
                  <a:srgbClr val="5C6B73"/>
                </a:solidFill>
                <a:latin typeface="BIZ UDゴシック" pitchFamily="34" charset="0"/>
                <a:ea typeface="BIZ UDゴシック" pitchFamily="34" charset="-122"/>
                <a:cs typeface="BIZ UDゴシック" pitchFamily="34" charset="-120"/>
              </a:rPr>
              <a:t>26</a:t>
            </a:r>
            <a:endParaRPr lang="en-US" sz="900" dirty="0"/>
          </a:p>
        </p:txBody>
      </p:sp>
      <p:sp>
        <p:nvSpPr>
          <p:cNvPr id="8" name="Shape 6"/>
          <p:cNvSpPr/>
          <p:nvPr/>
        </p:nvSpPr>
        <p:spPr>
          <a:xfrm>
            <a:off x="1280160" y="1508760"/>
            <a:ext cx="4998568" cy="2377440"/>
          </a:xfrm>
          <a:prstGeom prst="roundRect">
            <a:avLst>
              <a:gd name="adj" fmla="val 3077"/>
            </a:avLst>
          </a:prstGeom>
          <a:solidFill>
            <a:srgbClr val="EAF2F6"/>
          </a:solidFill>
          <a:ln/>
        </p:spPr>
      </p:sp>
      <p:sp>
        <p:nvSpPr>
          <p:cNvPr id="9" name="Text 7"/>
          <p:cNvSpPr/>
          <p:nvPr/>
        </p:nvSpPr>
        <p:spPr>
          <a:xfrm>
            <a:off x="1463040" y="1691640"/>
            <a:ext cx="4632808" cy="548640"/>
          </a:xfrm>
          <a:prstGeom prst="rect">
            <a:avLst/>
          </a:prstGeom>
          <a:noFill/>
          <a:ln/>
        </p:spPr>
        <p:txBody>
          <a:bodyPr wrap="square" lIns="0" tIns="0" rIns="0" bIns="0" rtlCol="0" anchor="t"/>
          <a:lstStyle/>
          <a:p>
            <a:pPr indent="0" marL="0">
              <a:lnSpc>
                <a:spcPct val="125000"/>
              </a:lnSpc>
              <a:buNone/>
            </a:pPr>
            <a:r>
              <a:rPr lang="en-US" sz="1400" b="1" dirty="0">
                <a:solidFill>
                  <a:srgbClr val="5C6B73"/>
                </a:solidFill>
                <a:latin typeface="BIZ UDゴシック" pitchFamily="34" charset="0"/>
                <a:ea typeface="BIZ UDゴシック" pitchFamily="34" charset="-122"/>
                <a:cs typeface="BIZ UDゴシック" pitchFamily="34" charset="-120"/>
              </a:rPr>
              <a:t>一般的な Observability AI</a:t>
            </a:r>
            <a:endParaRPr lang="en-US" sz="1400" dirty="0"/>
          </a:p>
        </p:txBody>
      </p:sp>
      <p:sp>
        <p:nvSpPr>
          <p:cNvPr id="10" name="Shape 8"/>
          <p:cNvSpPr/>
          <p:nvPr/>
        </p:nvSpPr>
        <p:spPr>
          <a:xfrm>
            <a:off x="2865044" y="2194560"/>
            <a:ext cx="1828800" cy="457200"/>
          </a:xfrm>
          <a:prstGeom prst="roundRect">
            <a:avLst>
              <a:gd name="adj" fmla="val 12000"/>
            </a:avLst>
          </a:prstGeom>
          <a:solidFill>
            <a:srgbClr val="5C6B73"/>
          </a:solidFill>
          <a:ln/>
        </p:spPr>
      </p:sp>
      <p:sp>
        <p:nvSpPr>
          <p:cNvPr id="11" name="Text 9"/>
          <p:cNvSpPr/>
          <p:nvPr/>
        </p:nvSpPr>
        <p:spPr>
          <a:xfrm>
            <a:off x="2865044" y="2194560"/>
            <a:ext cx="1828800" cy="457200"/>
          </a:xfrm>
          <a:prstGeom prst="rect">
            <a:avLst/>
          </a:prstGeom>
          <a:noFill/>
          <a:ln/>
        </p:spPr>
        <p:txBody>
          <a:bodyPr wrap="square" lIns="0" tIns="0" rIns="0" bIns="0" rtlCol="0" anchor="ctr"/>
          <a:lstStyle/>
          <a:p>
            <a:pPr algn="ctr" indent="0" marL="0">
              <a:buNone/>
            </a:pPr>
            <a:r>
              <a:rPr lang="en-US" sz="1300" dirty="0">
                <a:solidFill>
                  <a:srgbClr val="FFFFFF"/>
                </a:solidFill>
                <a:latin typeface="BIZ UDゴシック" pitchFamily="34" charset="0"/>
                <a:ea typeface="BIZ UDゴシック" pitchFamily="34" charset="-122"/>
                <a:cs typeface="BIZ UDゴシック" pitchFamily="34" charset="-120"/>
              </a:rPr>
              <a:t>Alert</a:t>
            </a:r>
            <a:endParaRPr lang="en-US" sz="1300" dirty="0"/>
          </a:p>
        </p:txBody>
      </p:sp>
      <p:sp>
        <p:nvSpPr>
          <p:cNvPr id="12" name="Shape 10"/>
          <p:cNvSpPr/>
          <p:nvPr/>
        </p:nvSpPr>
        <p:spPr>
          <a:xfrm>
            <a:off x="2865044" y="2816352"/>
            <a:ext cx="1828800" cy="457200"/>
          </a:xfrm>
          <a:prstGeom prst="roundRect">
            <a:avLst>
              <a:gd name="adj" fmla="val 12000"/>
            </a:avLst>
          </a:prstGeom>
          <a:solidFill>
            <a:srgbClr val="5C6B73"/>
          </a:solidFill>
          <a:ln/>
        </p:spPr>
      </p:sp>
      <p:sp>
        <p:nvSpPr>
          <p:cNvPr id="13" name="Text 11"/>
          <p:cNvSpPr/>
          <p:nvPr/>
        </p:nvSpPr>
        <p:spPr>
          <a:xfrm>
            <a:off x="2865044" y="2816352"/>
            <a:ext cx="1828800" cy="457200"/>
          </a:xfrm>
          <a:prstGeom prst="rect">
            <a:avLst/>
          </a:prstGeom>
          <a:noFill/>
          <a:ln/>
        </p:spPr>
        <p:txBody>
          <a:bodyPr wrap="square" lIns="0" tIns="0" rIns="0" bIns="0" rtlCol="0" anchor="ctr"/>
          <a:lstStyle/>
          <a:p>
            <a:pPr algn="ctr" indent="0" marL="0">
              <a:buNone/>
            </a:pPr>
            <a:r>
              <a:rPr lang="en-US" sz="1300" dirty="0">
                <a:solidFill>
                  <a:srgbClr val="FFFFFF"/>
                </a:solidFill>
                <a:latin typeface="BIZ UDゴシック" pitchFamily="34" charset="0"/>
                <a:ea typeface="BIZ UDゴシック" pitchFamily="34" charset="-122"/>
                <a:cs typeface="BIZ UDゴシック" pitchFamily="34" charset="-120"/>
              </a:rPr>
              <a:t>LLM</a:t>
            </a:r>
            <a:endParaRPr lang="en-US" sz="1300" dirty="0"/>
          </a:p>
        </p:txBody>
      </p:sp>
      <p:sp>
        <p:nvSpPr>
          <p:cNvPr id="14" name="Shape 12"/>
          <p:cNvSpPr/>
          <p:nvPr/>
        </p:nvSpPr>
        <p:spPr>
          <a:xfrm>
            <a:off x="2865044" y="3438144"/>
            <a:ext cx="1828800" cy="457200"/>
          </a:xfrm>
          <a:prstGeom prst="roundRect">
            <a:avLst>
              <a:gd name="adj" fmla="val 12000"/>
            </a:avLst>
          </a:prstGeom>
          <a:solidFill>
            <a:srgbClr val="5C6B73"/>
          </a:solidFill>
          <a:ln/>
        </p:spPr>
      </p:sp>
      <p:sp>
        <p:nvSpPr>
          <p:cNvPr id="15" name="Text 13"/>
          <p:cNvSpPr/>
          <p:nvPr/>
        </p:nvSpPr>
        <p:spPr>
          <a:xfrm>
            <a:off x="2865044" y="3438144"/>
            <a:ext cx="1828800" cy="457200"/>
          </a:xfrm>
          <a:prstGeom prst="rect">
            <a:avLst/>
          </a:prstGeom>
          <a:noFill/>
          <a:ln/>
        </p:spPr>
        <p:txBody>
          <a:bodyPr wrap="square" lIns="0" tIns="0" rIns="0" bIns="0" rtlCol="0" anchor="ctr"/>
          <a:lstStyle/>
          <a:p>
            <a:pPr algn="ctr" indent="0" marL="0">
              <a:buNone/>
            </a:pPr>
            <a:r>
              <a:rPr lang="en-US" sz="1300" dirty="0">
                <a:solidFill>
                  <a:srgbClr val="FFFFFF"/>
                </a:solidFill>
                <a:latin typeface="BIZ UDゴシック" pitchFamily="34" charset="0"/>
                <a:ea typeface="BIZ UDゴシック" pitchFamily="34" charset="-122"/>
                <a:cs typeface="BIZ UDゴシック" pitchFamily="34" charset="-120"/>
              </a:rPr>
              <a:t>文章回答</a:t>
            </a:r>
            <a:endParaRPr lang="en-US" sz="1300" dirty="0"/>
          </a:p>
        </p:txBody>
      </p:sp>
      <p:sp>
        <p:nvSpPr>
          <p:cNvPr id="16" name="Shape 14"/>
          <p:cNvSpPr/>
          <p:nvPr/>
        </p:nvSpPr>
        <p:spPr>
          <a:xfrm>
            <a:off x="6644488" y="1508760"/>
            <a:ext cx="4998568" cy="4480560"/>
          </a:xfrm>
          <a:prstGeom prst="roundRect">
            <a:avLst>
              <a:gd name="adj" fmla="val 1633"/>
            </a:avLst>
          </a:prstGeom>
          <a:solidFill>
            <a:srgbClr val="21295C"/>
          </a:solidFill>
          <a:ln/>
        </p:spPr>
      </p:sp>
      <p:sp>
        <p:nvSpPr>
          <p:cNvPr id="17" name="Text 15"/>
          <p:cNvSpPr/>
          <p:nvPr/>
        </p:nvSpPr>
        <p:spPr>
          <a:xfrm>
            <a:off x="6644488" y="1691640"/>
            <a:ext cx="4998568" cy="320040"/>
          </a:xfrm>
          <a:prstGeom prst="rect">
            <a:avLst/>
          </a:prstGeom>
          <a:noFill/>
          <a:ln/>
        </p:spPr>
        <p:txBody>
          <a:bodyPr wrap="square" lIns="0" tIns="0" rIns="0" bIns="0" rtlCol="0" anchor="ctr"/>
          <a:lstStyle/>
          <a:p>
            <a:pPr algn="ctr" indent="0" marL="0">
              <a:buNone/>
            </a:pPr>
            <a:r>
              <a:rPr lang="en-US" sz="1400" b="1" dirty="0">
                <a:solidFill>
                  <a:srgbClr val="FFFFFF"/>
                </a:solidFill>
                <a:latin typeface="BIZ UDゴシック" pitchFamily="34" charset="0"/>
                <a:ea typeface="BIZ UDゴシック" pitchFamily="34" charset="-122"/>
                <a:cs typeface="BIZ UDゴシック" pitchFamily="34" charset="-120"/>
              </a:rPr>
              <a:t>本PoC</a:t>
            </a:r>
            <a:endParaRPr lang="en-US" sz="1400" dirty="0"/>
          </a:p>
        </p:txBody>
      </p:sp>
      <p:sp>
        <p:nvSpPr>
          <p:cNvPr id="18" name="Shape 16"/>
          <p:cNvSpPr/>
          <p:nvPr/>
        </p:nvSpPr>
        <p:spPr>
          <a:xfrm>
            <a:off x="6964528" y="2103120"/>
            <a:ext cx="4358488" cy="329184"/>
          </a:xfrm>
          <a:prstGeom prst="roundRect">
            <a:avLst>
              <a:gd name="adj" fmla="val 13889"/>
            </a:avLst>
          </a:prstGeom>
          <a:solidFill>
            <a:srgbClr val="1C7293"/>
          </a:solidFill>
          <a:ln/>
        </p:spPr>
      </p:sp>
      <p:sp>
        <p:nvSpPr>
          <p:cNvPr id="19" name="Text 17"/>
          <p:cNvSpPr/>
          <p:nvPr/>
        </p:nvSpPr>
        <p:spPr>
          <a:xfrm>
            <a:off x="6964528" y="2103120"/>
            <a:ext cx="4358488" cy="329184"/>
          </a:xfrm>
          <a:prstGeom prst="rect">
            <a:avLst/>
          </a:prstGeom>
          <a:noFill/>
          <a:ln/>
        </p:spPr>
        <p:txBody>
          <a:bodyPr wrap="square" lIns="0" tIns="0" rIns="0" bIns="0" rtlCol="0" anchor="ctr"/>
          <a:lstStyle/>
          <a:p>
            <a:pPr algn="ctr" indent="0" marL="0">
              <a:buNone/>
            </a:pPr>
            <a:r>
              <a:rPr lang="en-US" sz="1050" dirty="0">
                <a:solidFill>
                  <a:srgbClr val="FFFFFF"/>
                </a:solidFill>
                <a:latin typeface="BIZ UDゴシック" pitchFamily="34" charset="0"/>
                <a:ea typeface="BIZ UDゴシック" pitchFamily="34" charset="-122"/>
                <a:cs typeface="BIZ UDゴシック" pitchFamily="34" charset="-120"/>
              </a:rPr>
              <a:t>Alert / Logs / APM</a:t>
            </a:r>
            <a:endParaRPr lang="en-US" sz="1050" dirty="0"/>
          </a:p>
        </p:txBody>
      </p:sp>
      <p:sp>
        <p:nvSpPr>
          <p:cNvPr id="20" name="Shape 18"/>
          <p:cNvSpPr/>
          <p:nvPr/>
        </p:nvSpPr>
        <p:spPr>
          <a:xfrm>
            <a:off x="6964528" y="2368296"/>
            <a:ext cx="4358488" cy="329184"/>
          </a:xfrm>
          <a:prstGeom prst="roundRect">
            <a:avLst>
              <a:gd name="adj" fmla="val 13889"/>
            </a:avLst>
          </a:prstGeom>
          <a:solidFill>
            <a:srgbClr val="1C7293"/>
          </a:solidFill>
          <a:ln/>
        </p:spPr>
      </p:sp>
      <p:sp>
        <p:nvSpPr>
          <p:cNvPr id="21" name="Text 19"/>
          <p:cNvSpPr/>
          <p:nvPr/>
        </p:nvSpPr>
        <p:spPr>
          <a:xfrm>
            <a:off x="6964528" y="2368296"/>
            <a:ext cx="4358488" cy="329184"/>
          </a:xfrm>
          <a:prstGeom prst="rect">
            <a:avLst/>
          </a:prstGeom>
          <a:noFill/>
          <a:ln/>
        </p:spPr>
        <p:txBody>
          <a:bodyPr wrap="square" lIns="0" tIns="0" rIns="0" bIns="0" rtlCol="0" anchor="ctr"/>
          <a:lstStyle/>
          <a:p>
            <a:pPr algn="ctr" indent="0" marL="0">
              <a:buNone/>
            </a:pPr>
            <a:r>
              <a:rPr lang="en-US" sz="1050" dirty="0">
                <a:solidFill>
                  <a:srgbClr val="FFFFFF"/>
                </a:solidFill>
                <a:latin typeface="BIZ UDゴシック" pitchFamily="34" charset="0"/>
                <a:ea typeface="BIZ UDゴシック" pitchFamily="34" charset="-122"/>
                <a:cs typeface="BIZ UDゴシック" pitchFamily="34" charset="-120"/>
              </a:rPr>
              <a:t>Correlation</a:t>
            </a:r>
            <a:endParaRPr lang="en-US" sz="1050" dirty="0"/>
          </a:p>
        </p:txBody>
      </p:sp>
      <p:sp>
        <p:nvSpPr>
          <p:cNvPr id="22" name="Shape 20"/>
          <p:cNvSpPr/>
          <p:nvPr/>
        </p:nvSpPr>
        <p:spPr>
          <a:xfrm>
            <a:off x="6964528" y="2633472"/>
            <a:ext cx="4358488" cy="329184"/>
          </a:xfrm>
          <a:prstGeom prst="roundRect">
            <a:avLst>
              <a:gd name="adj" fmla="val 13889"/>
            </a:avLst>
          </a:prstGeom>
          <a:solidFill>
            <a:srgbClr val="1C7293"/>
          </a:solidFill>
          <a:ln/>
        </p:spPr>
      </p:sp>
      <p:sp>
        <p:nvSpPr>
          <p:cNvPr id="23" name="Text 21"/>
          <p:cNvSpPr/>
          <p:nvPr/>
        </p:nvSpPr>
        <p:spPr>
          <a:xfrm>
            <a:off x="6964528" y="2633472"/>
            <a:ext cx="4358488" cy="329184"/>
          </a:xfrm>
          <a:prstGeom prst="rect">
            <a:avLst/>
          </a:prstGeom>
          <a:noFill/>
          <a:ln/>
        </p:spPr>
        <p:txBody>
          <a:bodyPr wrap="square" lIns="0" tIns="0" rIns="0" bIns="0" rtlCol="0" anchor="ctr"/>
          <a:lstStyle/>
          <a:p>
            <a:pPr algn="ctr" indent="0" marL="0">
              <a:buNone/>
            </a:pPr>
            <a:r>
              <a:rPr lang="en-US" sz="1050" dirty="0">
                <a:solidFill>
                  <a:srgbClr val="FFFFFF"/>
                </a:solidFill>
                <a:latin typeface="BIZ UDゴシック" pitchFamily="34" charset="0"/>
                <a:ea typeface="BIZ UDゴシック" pitchFamily="34" charset="-122"/>
                <a:cs typeface="BIZ UDゴシック" pitchFamily="34" charset="-120"/>
              </a:rPr>
              <a:t>EvidenceBundle</a:t>
            </a:r>
            <a:endParaRPr lang="en-US" sz="1050" dirty="0"/>
          </a:p>
        </p:txBody>
      </p:sp>
      <p:sp>
        <p:nvSpPr>
          <p:cNvPr id="24" name="Shape 22"/>
          <p:cNvSpPr/>
          <p:nvPr/>
        </p:nvSpPr>
        <p:spPr>
          <a:xfrm>
            <a:off x="6964528" y="2898648"/>
            <a:ext cx="4358488" cy="329184"/>
          </a:xfrm>
          <a:prstGeom prst="roundRect">
            <a:avLst>
              <a:gd name="adj" fmla="val 13889"/>
            </a:avLst>
          </a:prstGeom>
          <a:solidFill>
            <a:srgbClr val="1C7293"/>
          </a:solidFill>
          <a:ln/>
        </p:spPr>
      </p:sp>
      <p:sp>
        <p:nvSpPr>
          <p:cNvPr id="25" name="Text 23"/>
          <p:cNvSpPr/>
          <p:nvPr/>
        </p:nvSpPr>
        <p:spPr>
          <a:xfrm>
            <a:off x="6964528" y="2898648"/>
            <a:ext cx="4358488" cy="329184"/>
          </a:xfrm>
          <a:prstGeom prst="rect">
            <a:avLst/>
          </a:prstGeom>
          <a:noFill/>
          <a:ln/>
        </p:spPr>
        <p:txBody>
          <a:bodyPr wrap="square" lIns="0" tIns="0" rIns="0" bIns="0" rtlCol="0" anchor="ctr"/>
          <a:lstStyle/>
          <a:p>
            <a:pPr algn="ctr" indent="0" marL="0">
              <a:buNone/>
            </a:pPr>
            <a:r>
              <a:rPr lang="en-US" sz="1050" dirty="0">
                <a:solidFill>
                  <a:srgbClr val="FFFFFF"/>
                </a:solidFill>
                <a:latin typeface="BIZ UDゴシック" pitchFamily="34" charset="0"/>
                <a:ea typeface="BIZ UDゴシック" pitchFamily="34" charset="-122"/>
                <a:cs typeface="BIZ UDゴシック" pitchFamily="34" charset="-120"/>
              </a:rPr>
              <a:t>LLM</a:t>
            </a:r>
            <a:endParaRPr lang="en-US" sz="1050" dirty="0"/>
          </a:p>
        </p:txBody>
      </p:sp>
      <p:sp>
        <p:nvSpPr>
          <p:cNvPr id="26" name="Shape 24"/>
          <p:cNvSpPr/>
          <p:nvPr/>
        </p:nvSpPr>
        <p:spPr>
          <a:xfrm>
            <a:off x="6964528" y="3163824"/>
            <a:ext cx="4358488" cy="329184"/>
          </a:xfrm>
          <a:prstGeom prst="roundRect">
            <a:avLst>
              <a:gd name="adj" fmla="val 13889"/>
            </a:avLst>
          </a:prstGeom>
          <a:solidFill>
            <a:srgbClr val="1C7293"/>
          </a:solidFill>
          <a:ln/>
        </p:spPr>
      </p:sp>
      <p:sp>
        <p:nvSpPr>
          <p:cNvPr id="27" name="Text 25"/>
          <p:cNvSpPr/>
          <p:nvPr/>
        </p:nvSpPr>
        <p:spPr>
          <a:xfrm>
            <a:off x="6964528" y="3163824"/>
            <a:ext cx="4358488" cy="329184"/>
          </a:xfrm>
          <a:prstGeom prst="rect">
            <a:avLst/>
          </a:prstGeom>
          <a:noFill/>
          <a:ln/>
        </p:spPr>
        <p:txBody>
          <a:bodyPr wrap="square" lIns="0" tIns="0" rIns="0" bIns="0" rtlCol="0" anchor="ctr"/>
          <a:lstStyle/>
          <a:p>
            <a:pPr algn="ctr" indent="0" marL="0">
              <a:buNone/>
            </a:pPr>
            <a:r>
              <a:rPr lang="en-US" sz="1050" dirty="0">
                <a:solidFill>
                  <a:srgbClr val="FFFFFF"/>
                </a:solidFill>
                <a:latin typeface="BIZ UDゴシック" pitchFamily="34" charset="0"/>
                <a:ea typeface="BIZ UDゴシック" pitchFamily="34" charset="-122"/>
                <a:cs typeface="BIZ UDゴシック" pitchFamily="34" charset="-120"/>
              </a:rPr>
              <a:t>構造化 IncidentAnalysis</a:t>
            </a:r>
            <a:endParaRPr lang="en-US" sz="1050" dirty="0"/>
          </a:p>
        </p:txBody>
      </p:sp>
      <p:sp>
        <p:nvSpPr>
          <p:cNvPr id="28" name="Shape 26"/>
          <p:cNvSpPr/>
          <p:nvPr/>
        </p:nvSpPr>
        <p:spPr>
          <a:xfrm>
            <a:off x="6964528" y="3429000"/>
            <a:ext cx="4358488" cy="329184"/>
          </a:xfrm>
          <a:prstGeom prst="roundRect">
            <a:avLst>
              <a:gd name="adj" fmla="val 13889"/>
            </a:avLst>
          </a:prstGeom>
          <a:solidFill>
            <a:srgbClr val="1C7293"/>
          </a:solidFill>
          <a:ln/>
        </p:spPr>
      </p:sp>
      <p:sp>
        <p:nvSpPr>
          <p:cNvPr id="29" name="Text 27"/>
          <p:cNvSpPr/>
          <p:nvPr/>
        </p:nvSpPr>
        <p:spPr>
          <a:xfrm>
            <a:off x="6964528" y="3429000"/>
            <a:ext cx="4358488" cy="329184"/>
          </a:xfrm>
          <a:prstGeom prst="rect">
            <a:avLst/>
          </a:prstGeom>
          <a:noFill/>
          <a:ln/>
        </p:spPr>
        <p:txBody>
          <a:bodyPr wrap="square" lIns="0" tIns="0" rIns="0" bIns="0" rtlCol="0" anchor="ctr"/>
          <a:lstStyle/>
          <a:p>
            <a:pPr algn="ctr" indent="0" marL="0">
              <a:buNone/>
            </a:pPr>
            <a:r>
              <a:rPr lang="en-US" sz="1050" dirty="0">
                <a:solidFill>
                  <a:srgbClr val="FFFFFF"/>
                </a:solidFill>
                <a:latin typeface="BIZ UDゴシック" pitchFamily="34" charset="0"/>
                <a:ea typeface="BIZ UDゴシック" pitchFamily="34" charset="-122"/>
                <a:cs typeface="BIZ UDゴシック" pitchFamily="34" charset="-120"/>
              </a:rPr>
              <a:t>Validation</a:t>
            </a:r>
            <a:endParaRPr lang="en-US" sz="1050" dirty="0"/>
          </a:p>
        </p:txBody>
      </p:sp>
      <p:sp>
        <p:nvSpPr>
          <p:cNvPr id="30" name="Shape 28"/>
          <p:cNvSpPr/>
          <p:nvPr/>
        </p:nvSpPr>
        <p:spPr>
          <a:xfrm>
            <a:off x="6964528" y="3694176"/>
            <a:ext cx="4358488" cy="329184"/>
          </a:xfrm>
          <a:prstGeom prst="roundRect">
            <a:avLst>
              <a:gd name="adj" fmla="val 13889"/>
            </a:avLst>
          </a:prstGeom>
          <a:solidFill>
            <a:srgbClr val="1C7293"/>
          </a:solidFill>
          <a:ln/>
        </p:spPr>
      </p:sp>
      <p:sp>
        <p:nvSpPr>
          <p:cNvPr id="31" name="Text 29"/>
          <p:cNvSpPr/>
          <p:nvPr/>
        </p:nvSpPr>
        <p:spPr>
          <a:xfrm>
            <a:off x="6964528" y="3694176"/>
            <a:ext cx="4358488" cy="329184"/>
          </a:xfrm>
          <a:prstGeom prst="rect">
            <a:avLst/>
          </a:prstGeom>
          <a:noFill/>
          <a:ln/>
        </p:spPr>
        <p:txBody>
          <a:bodyPr wrap="square" lIns="0" tIns="0" rIns="0" bIns="0" rtlCol="0" anchor="ctr"/>
          <a:lstStyle/>
          <a:p>
            <a:pPr algn="ctr" indent="0" marL="0">
              <a:buNone/>
            </a:pPr>
            <a:r>
              <a:rPr lang="en-US" sz="1050" dirty="0">
                <a:solidFill>
                  <a:srgbClr val="FFFFFF"/>
                </a:solidFill>
                <a:latin typeface="BIZ UDゴシック" pitchFamily="34" charset="0"/>
                <a:ea typeface="BIZ UDゴシック" pitchFamily="34" charset="-122"/>
                <a:cs typeface="BIZ UDゴシック" pitchFamily="34" charset="-120"/>
              </a:rPr>
              <a:t>AG-UI</a:t>
            </a:r>
            <a:endParaRPr lang="en-US" sz="1050" dirty="0"/>
          </a:p>
        </p:txBody>
      </p:sp>
      <p:sp>
        <p:nvSpPr>
          <p:cNvPr id="32" name="Shape 30"/>
          <p:cNvSpPr/>
          <p:nvPr/>
        </p:nvSpPr>
        <p:spPr>
          <a:xfrm>
            <a:off x="6964528" y="3959352"/>
            <a:ext cx="4358488" cy="329184"/>
          </a:xfrm>
          <a:prstGeom prst="roundRect">
            <a:avLst>
              <a:gd name="adj" fmla="val 13889"/>
            </a:avLst>
          </a:prstGeom>
          <a:solidFill>
            <a:srgbClr val="1C7293"/>
          </a:solidFill>
          <a:ln/>
        </p:spPr>
      </p:sp>
      <p:sp>
        <p:nvSpPr>
          <p:cNvPr id="33" name="Text 31"/>
          <p:cNvSpPr/>
          <p:nvPr/>
        </p:nvSpPr>
        <p:spPr>
          <a:xfrm>
            <a:off x="6964528" y="3959352"/>
            <a:ext cx="4358488" cy="329184"/>
          </a:xfrm>
          <a:prstGeom prst="rect">
            <a:avLst/>
          </a:prstGeom>
          <a:noFill/>
          <a:ln/>
        </p:spPr>
        <p:txBody>
          <a:bodyPr wrap="square" lIns="0" tIns="0" rIns="0" bIns="0" rtlCol="0" anchor="ctr"/>
          <a:lstStyle/>
          <a:p>
            <a:pPr algn="ctr" indent="0" marL="0">
              <a:buNone/>
            </a:pPr>
            <a:r>
              <a:rPr lang="en-US" sz="1050" dirty="0">
                <a:solidFill>
                  <a:srgbClr val="FFFFFF"/>
                </a:solidFill>
                <a:latin typeface="BIZ UDゴシック" pitchFamily="34" charset="0"/>
                <a:ea typeface="BIZ UDゴシック" pitchFamily="34" charset="-122"/>
                <a:cs typeface="BIZ UDゴシック" pitchFamily="34" charset="-120"/>
              </a:rPr>
              <a:t>A2UI</a:t>
            </a:r>
            <a:endParaRPr lang="en-US" sz="1050" dirty="0"/>
          </a:p>
        </p:txBody>
      </p:sp>
      <p:sp>
        <p:nvSpPr>
          <p:cNvPr id="34" name="Shape 32"/>
          <p:cNvSpPr/>
          <p:nvPr/>
        </p:nvSpPr>
        <p:spPr>
          <a:xfrm>
            <a:off x="6964528" y="4224528"/>
            <a:ext cx="4358488" cy="329184"/>
          </a:xfrm>
          <a:prstGeom prst="roundRect">
            <a:avLst>
              <a:gd name="adj" fmla="val 13889"/>
            </a:avLst>
          </a:prstGeom>
          <a:solidFill>
            <a:srgbClr val="1C7293"/>
          </a:solidFill>
          <a:ln/>
        </p:spPr>
      </p:sp>
      <p:sp>
        <p:nvSpPr>
          <p:cNvPr id="35" name="Text 33"/>
          <p:cNvSpPr/>
          <p:nvPr/>
        </p:nvSpPr>
        <p:spPr>
          <a:xfrm>
            <a:off x="6964528" y="4224528"/>
            <a:ext cx="4358488" cy="329184"/>
          </a:xfrm>
          <a:prstGeom prst="rect">
            <a:avLst/>
          </a:prstGeom>
          <a:noFill/>
          <a:ln/>
        </p:spPr>
        <p:txBody>
          <a:bodyPr wrap="square" lIns="0" tIns="0" rIns="0" bIns="0" rtlCol="0" anchor="ctr"/>
          <a:lstStyle/>
          <a:p>
            <a:pPr algn="ctr" indent="0" marL="0">
              <a:buNone/>
            </a:pPr>
            <a:r>
              <a:rPr lang="en-US" sz="1050" dirty="0">
                <a:solidFill>
                  <a:srgbClr val="FFFFFF"/>
                </a:solidFill>
                <a:latin typeface="BIZ UDゴシック" pitchFamily="34" charset="0"/>
                <a:ea typeface="BIZ UDゴシック" pitchFamily="34" charset="-122"/>
                <a:cs typeface="BIZ UDゴシック" pitchFamily="34" charset="-120"/>
              </a:rPr>
              <a:t>Dynamic UI</a:t>
            </a:r>
            <a:endParaRPr lang="en-US" sz="1050" dirty="0"/>
          </a:p>
        </p:txBody>
      </p:sp>
      <p:sp>
        <p:nvSpPr>
          <p:cNvPr id="36" name="Text 34"/>
          <p:cNvSpPr/>
          <p:nvPr/>
        </p:nvSpPr>
        <p:spPr>
          <a:xfrm>
            <a:off x="1280160" y="4069080"/>
            <a:ext cx="4998568" cy="777240"/>
          </a:xfrm>
          <a:prstGeom prst="rect">
            <a:avLst/>
          </a:prstGeom>
          <a:noFill/>
          <a:ln/>
        </p:spPr>
        <p:txBody>
          <a:bodyPr wrap="square" lIns="0" tIns="0" rIns="0" bIns="0" rtlCol="0" anchor="t"/>
          <a:lstStyle/>
          <a:p>
            <a:pPr indent="0" marL="0">
              <a:lnSpc>
                <a:spcPct val="125000"/>
              </a:lnSpc>
              <a:buNone/>
            </a:pPr>
            <a:r>
              <a:rPr lang="en-US" sz="1250" dirty="0">
                <a:solidFill>
                  <a:srgbClr val="1A1A2E"/>
                </a:solidFill>
                <a:latin typeface="BIZ UDゴシック" pitchFamily="34" charset="0"/>
                <a:ea typeface="BIZ UDゴシック" pitchFamily="34" charset="-122"/>
                <a:cs typeface="BIZ UDゴシック" pitchFamily="34" charset="-120"/>
              </a:rPr>
              <a:t>違い：「AIに分析させる」だけでなく、AIの分析結果によって監視画面そのものを変える。</a:t>
            </a:r>
            <a:endParaRPr lang="en-US" sz="12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502920"/>
            <a:ext cx="566928" cy="566928"/>
          </a:xfrm>
          <a:prstGeom prst="ellipse">
            <a:avLst/>
          </a:prstGeom>
          <a:solidFill>
            <a:srgbClr val="21295C"/>
          </a:solidFill>
          <a:ln/>
        </p:spPr>
      </p:sp>
      <p:sp>
        <p:nvSpPr>
          <p:cNvPr id="3" name="Text 1"/>
          <p:cNvSpPr/>
          <p:nvPr/>
        </p:nvSpPr>
        <p:spPr>
          <a:xfrm>
            <a:off x="548640" y="502920"/>
            <a:ext cx="566928" cy="566928"/>
          </a:xfrm>
          <a:prstGeom prst="rect">
            <a:avLst/>
          </a:prstGeom>
          <a:noFill/>
          <a:ln/>
        </p:spPr>
        <p:txBody>
          <a:bodyPr wrap="square" lIns="0" tIns="0" rIns="0" bIns="0" rtlCol="0" anchor="ctr"/>
          <a:lstStyle/>
          <a:p>
            <a:pPr algn="ctr" indent="0" marL="0">
              <a:buNone/>
            </a:pPr>
            <a:r>
              <a:rPr lang="en-US" sz="1500" b="1" dirty="0">
                <a:solidFill>
                  <a:srgbClr val="FFFFFF"/>
                </a:solidFill>
                <a:latin typeface="BIZ UDゴシック" pitchFamily="34" charset="0"/>
                <a:ea typeface="BIZ UDゴシック" pitchFamily="34" charset="-122"/>
                <a:cs typeface="BIZ UDゴシック" pitchFamily="34" charset="-120"/>
              </a:rPr>
              <a:t>27</a:t>
            </a:r>
            <a:endParaRPr lang="en-US" sz="1500" dirty="0"/>
          </a:p>
        </p:txBody>
      </p:sp>
      <p:sp>
        <p:nvSpPr>
          <p:cNvPr id="4" name="Text 2"/>
          <p:cNvSpPr/>
          <p:nvPr/>
        </p:nvSpPr>
        <p:spPr>
          <a:xfrm>
            <a:off x="1280160" y="438912"/>
            <a:ext cx="10362895" cy="274320"/>
          </a:xfrm>
          <a:prstGeom prst="rect">
            <a:avLst/>
          </a:prstGeom>
          <a:noFill/>
          <a:ln/>
        </p:spPr>
        <p:txBody>
          <a:bodyPr wrap="square" lIns="0" tIns="0" rIns="0" bIns="0" rtlCol="0" anchor="ctr"/>
          <a:lstStyle/>
          <a:p>
            <a:pPr indent="0" marL="0">
              <a:buNone/>
            </a:pPr>
            <a:r>
              <a:rPr lang="en-US" sz="1100" b="1" spc="100" kern="0" dirty="0">
                <a:solidFill>
                  <a:srgbClr val="1C7293"/>
                </a:solidFill>
                <a:latin typeface="BIZ UDゴシック" pitchFamily="34" charset="0"/>
                <a:ea typeface="BIZ UDゴシック" pitchFamily="34" charset="-122"/>
                <a:cs typeface="BIZ UDゴシック" pitchFamily="34" charset="-120"/>
              </a:rPr>
              <a:t>SECTION 27</a:t>
            </a:r>
            <a:endParaRPr lang="en-US" sz="1100" dirty="0"/>
          </a:p>
        </p:txBody>
      </p:sp>
      <p:sp>
        <p:nvSpPr>
          <p:cNvPr id="5" name="Text 3"/>
          <p:cNvSpPr/>
          <p:nvPr/>
        </p:nvSpPr>
        <p:spPr>
          <a:xfrm>
            <a:off x="1280160" y="713232"/>
            <a:ext cx="10362895" cy="566928"/>
          </a:xfrm>
          <a:prstGeom prst="rect">
            <a:avLst/>
          </a:prstGeom>
          <a:noFill/>
          <a:ln/>
        </p:spPr>
        <p:txBody>
          <a:bodyPr wrap="square" lIns="0" tIns="0" rIns="0" bIns="0" rtlCol="0" anchor="t"/>
          <a:lstStyle/>
          <a:p>
            <a:pPr indent="0" marL="0">
              <a:buNone/>
            </a:pPr>
            <a:r>
              <a:rPr lang="en-US" sz="2500" b="1" dirty="0">
                <a:solidFill>
                  <a:srgbClr val="1A1A2E"/>
                </a:solidFill>
                <a:latin typeface="BIZ UDゴシック" pitchFamily="34" charset="0"/>
                <a:ea typeface="BIZ UDゴシック" pitchFamily="34" charset="-122"/>
                <a:cs typeface="BIZ UDゴシック" pitchFamily="34" charset="-120"/>
              </a:rPr>
              <a:t>A2UI / AG-UI を入れる価値</a:t>
            </a:r>
            <a:endParaRPr lang="en-US" sz="2500" dirty="0"/>
          </a:p>
        </p:txBody>
      </p:sp>
      <p:sp>
        <p:nvSpPr>
          <p:cNvPr id="6" name="Text 4"/>
          <p:cNvSpPr/>
          <p:nvPr/>
        </p:nvSpPr>
        <p:spPr>
          <a:xfrm>
            <a:off x="548640" y="6446520"/>
            <a:ext cx="4572000" cy="274320"/>
          </a:xfrm>
          <a:prstGeom prst="rect">
            <a:avLst/>
          </a:prstGeom>
          <a:noFill/>
          <a:ln/>
        </p:spPr>
        <p:txBody>
          <a:bodyPr wrap="square" lIns="0" tIns="0" rIns="0" bIns="0" rtlCol="0" anchor="ctr"/>
          <a:lstStyle/>
          <a:p>
            <a:pPr indent="0" marL="0">
              <a:buNone/>
            </a:pPr>
            <a:r>
              <a:rPr lang="en-US" sz="900" dirty="0">
                <a:solidFill>
                  <a:srgbClr val="5C6B73"/>
                </a:solidFill>
                <a:latin typeface="BIZ UDゴシック" pitchFamily="34" charset="0"/>
                <a:ea typeface="BIZ UDゴシック" pitchFamily="34" charset="-122"/>
                <a:cs typeface="BIZ UDゴシック" pitchFamily="34" charset="-120"/>
              </a:rPr>
              <a:t>Observability AI PoC</a:t>
            </a:r>
            <a:endParaRPr lang="en-US" sz="900" dirty="0"/>
          </a:p>
        </p:txBody>
      </p:sp>
      <p:sp>
        <p:nvSpPr>
          <p:cNvPr id="7" name="Text 5"/>
          <p:cNvSpPr/>
          <p:nvPr/>
        </p:nvSpPr>
        <p:spPr>
          <a:xfrm>
            <a:off x="9814255" y="6446520"/>
            <a:ext cx="1828800" cy="274320"/>
          </a:xfrm>
          <a:prstGeom prst="rect">
            <a:avLst/>
          </a:prstGeom>
          <a:noFill/>
          <a:ln/>
        </p:spPr>
        <p:txBody>
          <a:bodyPr wrap="square" lIns="0" tIns="0" rIns="0" bIns="0" rtlCol="0" anchor="ctr"/>
          <a:lstStyle/>
          <a:p>
            <a:pPr algn="r" indent="0" marL="0">
              <a:buNone/>
            </a:pPr>
            <a:r>
              <a:rPr lang="en-US" sz="900" dirty="0">
                <a:solidFill>
                  <a:srgbClr val="5C6B73"/>
                </a:solidFill>
                <a:latin typeface="BIZ UDゴシック" pitchFamily="34" charset="0"/>
                <a:ea typeface="BIZ UDゴシック" pitchFamily="34" charset="-122"/>
                <a:cs typeface="BIZ UDゴシック" pitchFamily="34" charset="-120"/>
              </a:rPr>
              <a:t>27</a:t>
            </a:r>
            <a:endParaRPr lang="en-US" sz="900" dirty="0"/>
          </a:p>
        </p:txBody>
      </p:sp>
      <p:sp>
        <p:nvSpPr>
          <p:cNvPr id="8" name="Text 6"/>
          <p:cNvSpPr/>
          <p:nvPr/>
        </p:nvSpPr>
        <p:spPr>
          <a:xfrm>
            <a:off x="1280160" y="1536192"/>
            <a:ext cx="10362895" cy="685800"/>
          </a:xfrm>
          <a:prstGeom prst="rect">
            <a:avLst/>
          </a:prstGeom>
          <a:noFill/>
          <a:ln/>
        </p:spPr>
        <p:txBody>
          <a:bodyPr wrap="square" lIns="0" tIns="0" rIns="0" bIns="0" rtlCol="0" anchor="t"/>
          <a:lstStyle/>
          <a:p>
            <a:pPr indent="0" marL="0">
              <a:lnSpc>
                <a:spcPct val="125000"/>
              </a:lnSpc>
              <a:buNone/>
            </a:pPr>
            <a:r>
              <a:rPr lang="en-US" sz="1400" dirty="0">
                <a:solidFill>
                  <a:srgbClr val="1A1A2E"/>
                </a:solidFill>
                <a:latin typeface="BIZ UDゴシック" pitchFamily="34" charset="0"/>
                <a:ea typeface="BIZ UDゴシック" pitchFamily="34" charset="-122"/>
                <a:cs typeface="BIZ UDゴシック" pitchFamily="34" charset="-120"/>
              </a:rPr>
              <a:t>A2UI / AG-UIを使わなくても、LLMによる障害分析は可能。しかし、その場合は多くの場合、Chat UI + テキスト回答 で終わる。</a:t>
            </a:r>
            <a:endParaRPr lang="en-US" sz="1400" dirty="0"/>
          </a:p>
        </p:txBody>
      </p:sp>
      <p:sp>
        <p:nvSpPr>
          <p:cNvPr id="9" name="Text 7"/>
          <p:cNvSpPr/>
          <p:nvPr/>
        </p:nvSpPr>
        <p:spPr>
          <a:xfrm>
            <a:off x="1280160" y="2331720"/>
            <a:ext cx="10362895" cy="365760"/>
          </a:xfrm>
          <a:prstGeom prst="rect">
            <a:avLst/>
          </a:prstGeom>
          <a:noFill/>
          <a:ln/>
        </p:spPr>
        <p:txBody>
          <a:bodyPr wrap="square" lIns="0" tIns="0" rIns="0" bIns="0" rtlCol="0" anchor="t"/>
          <a:lstStyle/>
          <a:p>
            <a:pPr indent="0" marL="0">
              <a:lnSpc>
                <a:spcPct val="125000"/>
              </a:lnSpc>
              <a:buNone/>
            </a:pPr>
            <a:r>
              <a:rPr lang="en-US" sz="1500" b="1" dirty="0">
                <a:solidFill>
                  <a:srgbClr val="21295C"/>
                </a:solidFill>
                <a:latin typeface="BIZ UDゴシック" pitchFamily="34" charset="0"/>
                <a:ea typeface="BIZ UDゴシック" pitchFamily="34" charset="-122"/>
                <a:cs typeface="BIZ UDゴシック" pitchFamily="34" charset="-120"/>
              </a:rPr>
              <a:t>A2UI / AG-UIを使うことで得られる違い</a:t>
            </a:r>
            <a:endParaRPr lang="en-US" sz="1500" dirty="0"/>
          </a:p>
        </p:txBody>
      </p:sp>
      <p:sp>
        <p:nvSpPr>
          <p:cNvPr id="10" name="Text 8"/>
          <p:cNvSpPr/>
          <p:nvPr/>
        </p:nvSpPr>
        <p:spPr>
          <a:xfrm>
            <a:off x="1280160" y="2743200"/>
            <a:ext cx="10362895" cy="2926080"/>
          </a:xfrm>
          <a:prstGeom prst="rect">
            <a:avLst/>
          </a:prstGeom>
          <a:noFill/>
          <a:ln/>
        </p:spPr>
        <p:txBody>
          <a:bodyPr wrap="square" lIns="0" tIns="0" rIns="0" bIns="0" rtlCol="0" anchor="t"/>
          <a:lstStyle/>
          <a:p>
            <a:pPr marL="177800" indent="-177800">
              <a:lnSpc>
                <a:spcPct val="120000"/>
              </a:lnSpc>
              <a:spcAft>
                <a:spcPts val="1400"/>
              </a:spcAft>
              <a:buSzPct val="100000"/>
              <a:buChar char="●"/>
            </a:pPr>
            <a:r>
              <a:rPr lang="en-US" sz="1500" dirty="0">
                <a:solidFill>
                  <a:srgbClr val="1A1A2E"/>
                </a:solidFill>
                <a:latin typeface="BIZ UDゴシック" pitchFamily="34" charset="0"/>
                <a:ea typeface="BIZ UDゴシック" pitchFamily="34" charset="-122"/>
                <a:cs typeface="BIZ UDゴシック" pitchFamily="34" charset="-120"/>
              </a:rPr>
              <a:t>AIが何を調査しているか見える</a:t>
            </a:r>
            <a:endParaRPr lang="en-US" sz="1500" dirty="0"/>
          </a:p>
          <a:p>
            <a:pPr marL="177800" indent="-177800">
              <a:lnSpc>
                <a:spcPct val="120000"/>
              </a:lnSpc>
              <a:spcAft>
                <a:spcPts val="1400"/>
              </a:spcAft>
              <a:buSzPct val="100000"/>
              <a:buChar char="●"/>
            </a:pPr>
            <a:r>
              <a:rPr lang="en-US" sz="1500" dirty="0">
                <a:solidFill>
                  <a:srgbClr val="1A1A2E"/>
                </a:solidFill>
                <a:latin typeface="BIZ UDゴシック" pitchFamily="34" charset="0"/>
                <a:ea typeface="BIZ UDゴシック" pitchFamily="34" charset="-122"/>
                <a:cs typeface="BIZ UDゴシック" pitchFamily="34" charset="-120"/>
              </a:rPr>
              <a:t>インシデントごとにUIを変えられる</a:t>
            </a:r>
            <a:endParaRPr lang="en-US" sz="1500" dirty="0"/>
          </a:p>
          <a:p>
            <a:pPr marL="177800" indent="-177800">
              <a:lnSpc>
                <a:spcPct val="120000"/>
              </a:lnSpc>
              <a:spcAft>
                <a:spcPts val="1400"/>
              </a:spcAft>
              <a:buSzPct val="100000"/>
              <a:buChar char="●"/>
            </a:pPr>
            <a:r>
              <a:rPr lang="en-US" sz="1500" dirty="0">
                <a:solidFill>
                  <a:srgbClr val="1A1A2E"/>
                </a:solidFill>
                <a:latin typeface="BIZ UDゴシック" pitchFamily="34" charset="0"/>
                <a:ea typeface="BIZ UDゴシック" pitchFamily="34" charset="-122"/>
                <a:cs typeface="BIZ UDゴシック" pitchFamily="34" charset="-120"/>
              </a:rPr>
              <a:t>Evidenceを視覚的に提示できる</a:t>
            </a:r>
            <a:endParaRPr lang="en-US" sz="1500" dirty="0"/>
          </a:p>
          <a:p>
            <a:pPr marL="177800" indent="-177800">
              <a:lnSpc>
                <a:spcPct val="120000"/>
              </a:lnSpc>
              <a:spcAft>
                <a:spcPts val="1400"/>
              </a:spcAft>
              <a:buSzPct val="100000"/>
              <a:buChar char="●"/>
            </a:pPr>
            <a:r>
              <a:rPr lang="en-US" sz="1500" dirty="0">
                <a:solidFill>
                  <a:srgbClr val="1A1A2E"/>
                </a:solidFill>
                <a:latin typeface="BIZ UDゴシック" pitchFamily="34" charset="0"/>
                <a:ea typeface="BIZ UDゴシック" pitchFamily="34" charset="-122"/>
                <a:cs typeface="BIZ UDゴシック" pitchFamily="34" charset="-120"/>
              </a:rPr>
              <a:t>グラフや表を動的選択できる</a:t>
            </a:r>
            <a:endParaRPr lang="en-US" sz="1500" dirty="0"/>
          </a:p>
          <a:p>
            <a:pPr marL="177800" indent="-177800">
              <a:lnSpc>
                <a:spcPct val="120000"/>
              </a:lnSpc>
              <a:spcAft>
                <a:spcPts val="1400"/>
              </a:spcAft>
              <a:buSzPct val="100000"/>
              <a:buChar char="●"/>
            </a:pPr>
            <a:r>
              <a:rPr lang="en-US" sz="1500" dirty="0">
                <a:solidFill>
                  <a:srgbClr val="1A1A2E"/>
                </a:solidFill>
                <a:latin typeface="BIZ UDゴシック" pitchFamily="34" charset="0"/>
                <a:ea typeface="BIZ UDゴシック" pitchFamily="34" charset="-122"/>
                <a:cs typeface="BIZ UDゴシック" pitchFamily="34" charset="-120"/>
              </a:rPr>
              <a:t>AI分析を「業務画面」に組み込める</a:t>
            </a:r>
            <a:endParaRPr lang="en-US" sz="15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502920"/>
            <a:ext cx="566928" cy="566928"/>
          </a:xfrm>
          <a:prstGeom prst="ellipse">
            <a:avLst/>
          </a:prstGeom>
          <a:solidFill>
            <a:srgbClr val="21295C"/>
          </a:solidFill>
          <a:ln/>
        </p:spPr>
      </p:sp>
      <p:sp>
        <p:nvSpPr>
          <p:cNvPr id="3" name="Text 1"/>
          <p:cNvSpPr/>
          <p:nvPr/>
        </p:nvSpPr>
        <p:spPr>
          <a:xfrm>
            <a:off x="548640" y="502920"/>
            <a:ext cx="566928" cy="566928"/>
          </a:xfrm>
          <a:prstGeom prst="rect">
            <a:avLst/>
          </a:prstGeom>
          <a:noFill/>
          <a:ln/>
        </p:spPr>
        <p:txBody>
          <a:bodyPr wrap="square" lIns="0" tIns="0" rIns="0" bIns="0" rtlCol="0" anchor="ctr"/>
          <a:lstStyle/>
          <a:p>
            <a:pPr algn="ctr" indent="0" marL="0">
              <a:buNone/>
            </a:pPr>
            <a:r>
              <a:rPr lang="en-US" sz="1500" b="1" dirty="0">
                <a:solidFill>
                  <a:srgbClr val="FFFFFF"/>
                </a:solidFill>
                <a:latin typeface="BIZ UDゴシック" pitchFamily="34" charset="0"/>
                <a:ea typeface="BIZ UDゴシック" pitchFamily="34" charset="-122"/>
                <a:cs typeface="BIZ UDゴシック" pitchFamily="34" charset="-120"/>
              </a:rPr>
              <a:t>28</a:t>
            </a:r>
            <a:endParaRPr lang="en-US" sz="1500" dirty="0"/>
          </a:p>
        </p:txBody>
      </p:sp>
      <p:sp>
        <p:nvSpPr>
          <p:cNvPr id="4" name="Text 2"/>
          <p:cNvSpPr/>
          <p:nvPr/>
        </p:nvSpPr>
        <p:spPr>
          <a:xfrm>
            <a:off x="1280160" y="438912"/>
            <a:ext cx="10362895" cy="274320"/>
          </a:xfrm>
          <a:prstGeom prst="rect">
            <a:avLst/>
          </a:prstGeom>
          <a:noFill/>
          <a:ln/>
        </p:spPr>
        <p:txBody>
          <a:bodyPr wrap="square" lIns="0" tIns="0" rIns="0" bIns="0" rtlCol="0" anchor="ctr"/>
          <a:lstStyle/>
          <a:p>
            <a:pPr indent="0" marL="0">
              <a:buNone/>
            </a:pPr>
            <a:r>
              <a:rPr lang="en-US" sz="1100" b="1" spc="100" kern="0" dirty="0">
                <a:solidFill>
                  <a:srgbClr val="1C7293"/>
                </a:solidFill>
                <a:latin typeface="BIZ UDゴシック" pitchFamily="34" charset="0"/>
                <a:ea typeface="BIZ UDゴシック" pitchFamily="34" charset="-122"/>
                <a:cs typeface="BIZ UDゴシック" pitchFamily="34" charset="-120"/>
              </a:rPr>
              <a:t>SECTION 28</a:t>
            </a:r>
            <a:endParaRPr lang="en-US" sz="1100" dirty="0"/>
          </a:p>
        </p:txBody>
      </p:sp>
      <p:sp>
        <p:nvSpPr>
          <p:cNvPr id="5" name="Text 3"/>
          <p:cNvSpPr/>
          <p:nvPr/>
        </p:nvSpPr>
        <p:spPr>
          <a:xfrm>
            <a:off x="1280160" y="713232"/>
            <a:ext cx="10362895" cy="566928"/>
          </a:xfrm>
          <a:prstGeom prst="rect">
            <a:avLst/>
          </a:prstGeom>
          <a:noFill/>
          <a:ln/>
        </p:spPr>
        <p:txBody>
          <a:bodyPr wrap="square" lIns="0" tIns="0" rIns="0" bIns="0" rtlCol="0" anchor="t"/>
          <a:lstStyle/>
          <a:p>
            <a:pPr indent="0" marL="0">
              <a:buNone/>
            </a:pPr>
            <a:r>
              <a:rPr lang="en-US" sz="2500" b="1" dirty="0">
                <a:solidFill>
                  <a:srgbClr val="1A1A2E"/>
                </a:solidFill>
                <a:latin typeface="BIZ UDゴシック" pitchFamily="34" charset="0"/>
                <a:ea typeface="BIZ UDゴシック" pitchFamily="34" charset="-122"/>
                <a:cs typeface="BIZ UDゴシック" pitchFamily="34" charset="-120"/>
              </a:rPr>
              <a:t>固定ダッシュボードとの比較</a:t>
            </a:r>
            <a:endParaRPr lang="en-US" sz="2500" dirty="0"/>
          </a:p>
        </p:txBody>
      </p:sp>
      <p:sp>
        <p:nvSpPr>
          <p:cNvPr id="6" name="Text 4"/>
          <p:cNvSpPr/>
          <p:nvPr/>
        </p:nvSpPr>
        <p:spPr>
          <a:xfrm>
            <a:off x="548640" y="6446520"/>
            <a:ext cx="4572000" cy="274320"/>
          </a:xfrm>
          <a:prstGeom prst="rect">
            <a:avLst/>
          </a:prstGeom>
          <a:noFill/>
          <a:ln/>
        </p:spPr>
        <p:txBody>
          <a:bodyPr wrap="square" lIns="0" tIns="0" rIns="0" bIns="0" rtlCol="0" anchor="ctr"/>
          <a:lstStyle/>
          <a:p>
            <a:pPr indent="0" marL="0">
              <a:buNone/>
            </a:pPr>
            <a:r>
              <a:rPr lang="en-US" sz="900" dirty="0">
                <a:solidFill>
                  <a:srgbClr val="5C6B73"/>
                </a:solidFill>
                <a:latin typeface="BIZ UDゴシック" pitchFamily="34" charset="0"/>
                <a:ea typeface="BIZ UDゴシック" pitchFamily="34" charset="-122"/>
                <a:cs typeface="BIZ UDゴシック" pitchFamily="34" charset="-120"/>
              </a:rPr>
              <a:t>Observability AI PoC</a:t>
            </a:r>
            <a:endParaRPr lang="en-US" sz="900" dirty="0"/>
          </a:p>
        </p:txBody>
      </p:sp>
      <p:sp>
        <p:nvSpPr>
          <p:cNvPr id="7" name="Text 5"/>
          <p:cNvSpPr/>
          <p:nvPr/>
        </p:nvSpPr>
        <p:spPr>
          <a:xfrm>
            <a:off x="9814255" y="6446520"/>
            <a:ext cx="1828800" cy="274320"/>
          </a:xfrm>
          <a:prstGeom prst="rect">
            <a:avLst/>
          </a:prstGeom>
          <a:noFill/>
          <a:ln/>
        </p:spPr>
        <p:txBody>
          <a:bodyPr wrap="square" lIns="0" tIns="0" rIns="0" bIns="0" rtlCol="0" anchor="ctr"/>
          <a:lstStyle/>
          <a:p>
            <a:pPr algn="r" indent="0" marL="0">
              <a:buNone/>
            </a:pPr>
            <a:r>
              <a:rPr lang="en-US" sz="900" dirty="0">
                <a:solidFill>
                  <a:srgbClr val="5C6B73"/>
                </a:solidFill>
                <a:latin typeface="BIZ UDゴシック" pitchFamily="34" charset="0"/>
                <a:ea typeface="BIZ UDゴシック" pitchFamily="34" charset="-122"/>
                <a:cs typeface="BIZ UDゴシック" pitchFamily="34" charset="-120"/>
              </a:rPr>
              <a:t>28</a:t>
            </a:r>
            <a:endParaRPr lang="en-US" sz="900" dirty="0"/>
          </a:p>
        </p:txBody>
      </p:sp>
      <p:graphicFrame>
        <p:nvGraphicFramePr>
          <p:cNvPr id="34" name="Table 0"/>
          <p:cNvGraphicFramePr>
            <a:graphicFrameLocks noGrp="1"/>
          </p:cNvGraphicFramePr>
          <p:nvPr>
            <p:extLst>
              <p:ext uri="{D42A27DB-BD31-4B8C-83A1-F6EECF244321}">
                <p14:modId xmlns:p14="http://schemas.microsoft.com/office/powerpoint/2010/main" val="1579011935"/>
              </p:ext>
            </p:extLst>
          </p:nvPr>
        </p:nvGraphicFramePr>
        <p:xfrm>
          <a:off x="1280160" y="1536192"/>
          <a:ext cx="10362895" cy="914400"/>
        </p:xfrm>
        <a:graphic>
          <a:graphicData uri="http://schemas.openxmlformats.org/drawingml/2006/table">
            <a:tbl>
              <a:tblPr/>
              <a:tblGrid>
                <a:gridCol w="2560320"/>
                <a:gridCol w="3657600"/>
                <a:gridCol w="4144975"/>
              </a:tblGrid>
              <a:tr h="457200">
                <a:tc>
                  <a:txBody>
                    <a:bodyPr/>
                    <a:lstStyle/>
                    <a:p>
                      <a:pPr indent="0" marL="0">
                        <a:buNone/>
                      </a:pPr>
                      <a:r>
                        <a:rPr lang="en-US" sz="1300" b="1" dirty="0">
                          <a:solidFill>
                            <a:srgbClr val="FFFFFF"/>
                          </a:solidFill>
                          <a:latin typeface="BIZ UDゴシック" pitchFamily="34" charset="0"/>
                          <a:ea typeface="BIZ UDゴシック" pitchFamily="34" charset="-122"/>
                          <a:cs typeface="BIZ UDゴシック" pitchFamily="34" charset="-120"/>
                        </a:rPr>
                        <a:t>項目</a:t>
                      </a:r>
                      <a:endParaRPr lang="en-US" sz="1300" dirty="0">
                        <a:latin typeface="BIZ UDゴシック" charset="0"/>
                        <a:ea typeface="BIZ UDゴシック" charset="0"/>
                        <a:cs typeface="BIZ UDゴシック" charset="0"/>
                      </a:endParaRPr>
                    </a:p>
                  </a:txBody>
                  <a:tcPr marL="91440" marR="91440" marT="45720" marB="45720" anchor="ctr">
                    <a:lnL w="9525" cap="flat" cmpd="sng" algn="ctr">
                      <a:solidFill>
                        <a:srgbClr val="D6E3E8"/>
                      </a:solidFill>
                      <a:prstDash val="solid"/>
                      <a:round/>
                      <a:headEnd type="none" w="med" len="med"/>
                      <a:tailEnd type="none" w="med" len="med"/>
                    </a:lnL>
                    <a:lnR w="9525" cap="flat" cmpd="sng" algn="ctr">
                      <a:solidFill>
                        <a:srgbClr val="D6E3E8"/>
                      </a:solidFill>
                      <a:prstDash val="solid"/>
                      <a:round/>
                      <a:headEnd type="none" w="med" len="med"/>
                      <a:tailEnd type="none" w="med" len="med"/>
                    </a:lnR>
                    <a:lnT w="9525" cap="flat" cmpd="sng" algn="ctr">
                      <a:solidFill>
                        <a:srgbClr val="D6E3E8"/>
                      </a:solidFill>
                      <a:prstDash val="solid"/>
                      <a:round/>
                      <a:headEnd type="none" w="med" len="med"/>
                      <a:tailEnd type="none" w="med" len="med"/>
                    </a:lnT>
                    <a:lnB w="9525" cap="flat" cmpd="sng" algn="ctr">
                      <a:solidFill>
                        <a:srgbClr val="D6E3E8"/>
                      </a:solidFill>
                      <a:prstDash val="solid"/>
                      <a:round/>
                      <a:headEnd type="none" w="med" len="med"/>
                      <a:tailEnd type="none" w="med" len="med"/>
                    </a:lnB>
                    <a:solidFill>
                      <a:srgbClr val="21295C"/>
                    </a:solidFill>
                  </a:tcPr>
                </a:tc>
                <a:tc>
                  <a:txBody>
                    <a:bodyPr/>
                    <a:lstStyle/>
                    <a:p>
                      <a:pPr indent="0" marL="0">
                        <a:buNone/>
                      </a:pPr>
                      <a:r>
                        <a:rPr lang="en-US" sz="1300" b="1" dirty="0">
                          <a:solidFill>
                            <a:srgbClr val="FFFFFF"/>
                          </a:solidFill>
                          <a:latin typeface="BIZ UDゴシック" pitchFamily="34" charset="0"/>
                          <a:ea typeface="BIZ UDゴシック" pitchFamily="34" charset="-122"/>
                          <a:cs typeface="BIZ UDゴシック" pitchFamily="34" charset="-120"/>
                        </a:rPr>
                        <a:t>固定ダッシュボード</a:t>
                      </a:r>
                      <a:endParaRPr lang="en-US" sz="1300" dirty="0">
                        <a:latin typeface="BIZ UDゴシック" charset="0"/>
                        <a:ea typeface="BIZ UDゴシック" charset="0"/>
                        <a:cs typeface="BIZ UDゴシック" charset="0"/>
                      </a:endParaRPr>
                    </a:p>
                  </a:txBody>
                  <a:tcPr marL="91440" marR="91440" marT="45720" marB="45720" anchor="ctr">
                    <a:lnL w="9525" cap="flat" cmpd="sng" algn="ctr">
                      <a:solidFill>
                        <a:srgbClr val="D6E3E8"/>
                      </a:solidFill>
                      <a:prstDash val="solid"/>
                      <a:round/>
                      <a:headEnd type="none" w="med" len="med"/>
                      <a:tailEnd type="none" w="med" len="med"/>
                    </a:lnL>
                    <a:lnR w="9525" cap="flat" cmpd="sng" algn="ctr">
                      <a:solidFill>
                        <a:srgbClr val="D6E3E8"/>
                      </a:solidFill>
                      <a:prstDash val="solid"/>
                      <a:round/>
                      <a:headEnd type="none" w="med" len="med"/>
                      <a:tailEnd type="none" w="med" len="med"/>
                    </a:lnR>
                    <a:lnT w="9525" cap="flat" cmpd="sng" algn="ctr">
                      <a:solidFill>
                        <a:srgbClr val="D6E3E8"/>
                      </a:solidFill>
                      <a:prstDash val="solid"/>
                      <a:round/>
                      <a:headEnd type="none" w="med" len="med"/>
                      <a:tailEnd type="none" w="med" len="med"/>
                    </a:lnT>
                    <a:lnB w="9525" cap="flat" cmpd="sng" algn="ctr">
                      <a:solidFill>
                        <a:srgbClr val="D6E3E8"/>
                      </a:solidFill>
                      <a:prstDash val="solid"/>
                      <a:round/>
                      <a:headEnd type="none" w="med" len="med"/>
                      <a:tailEnd type="none" w="med" len="med"/>
                    </a:lnB>
                    <a:solidFill>
                      <a:srgbClr val="21295C"/>
                    </a:solidFill>
                  </a:tcPr>
                </a:tc>
                <a:tc>
                  <a:txBody>
                    <a:bodyPr/>
                    <a:lstStyle/>
                    <a:p>
                      <a:pPr indent="0" marL="0">
                        <a:buNone/>
                      </a:pPr>
                      <a:r>
                        <a:rPr lang="en-US" sz="1300" b="1" dirty="0">
                          <a:solidFill>
                            <a:srgbClr val="FFFFFF"/>
                          </a:solidFill>
                          <a:latin typeface="BIZ UDゴシック" pitchFamily="34" charset="0"/>
                          <a:ea typeface="BIZ UDゴシック" pitchFamily="34" charset="-122"/>
                          <a:cs typeface="BIZ UDゴシック" pitchFamily="34" charset="-120"/>
                        </a:rPr>
                        <a:t>A2UI / AG-UI型</a:t>
                      </a:r>
                      <a:endParaRPr lang="en-US" sz="1300" dirty="0">
                        <a:latin typeface="BIZ UDゴシック" charset="0"/>
                        <a:ea typeface="BIZ UDゴシック" charset="0"/>
                        <a:cs typeface="BIZ UDゴシック" charset="0"/>
                      </a:endParaRPr>
                    </a:p>
                  </a:txBody>
                  <a:tcPr marL="91440" marR="91440" marT="45720" marB="45720" anchor="ctr">
                    <a:lnL w="9525" cap="flat" cmpd="sng" algn="ctr">
                      <a:solidFill>
                        <a:srgbClr val="D6E3E8"/>
                      </a:solidFill>
                      <a:prstDash val="solid"/>
                      <a:round/>
                      <a:headEnd type="none" w="med" len="med"/>
                      <a:tailEnd type="none" w="med" len="med"/>
                    </a:lnL>
                    <a:lnR w="9525" cap="flat" cmpd="sng" algn="ctr">
                      <a:solidFill>
                        <a:srgbClr val="D6E3E8"/>
                      </a:solidFill>
                      <a:prstDash val="solid"/>
                      <a:round/>
                      <a:headEnd type="none" w="med" len="med"/>
                      <a:tailEnd type="none" w="med" len="med"/>
                    </a:lnR>
                    <a:lnT w="9525" cap="flat" cmpd="sng" algn="ctr">
                      <a:solidFill>
                        <a:srgbClr val="D6E3E8"/>
                      </a:solidFill>
                      <a:prstDash val="solid"/>
                      <a:round/>
                      <a:headEnd type="none" w="med" len="med"/>
                      <a:tailEnd type="none" w="med" len="med"/>
                    </a:lnT>
                    <a:lnB w="9525" cap="flat" cmpd="sng" algn="ctr">
                      <a:solidFill>
                        <a:srgbClr val="D6E3E8"/>
                      </a:solidFill>
                      <a:prstDash val="solid"/>
                      <a:round/>
                      <a:headEnd type="none" w="med" len="med"/>
                      <a:tailEnd type="none" w="med" len="med"/>
                    </a:lnB>
                    <a:solidFill>
                      <a:srgbClr val="21295C"/>
                    </a:solidFill>
                  </a:tcPr>
                </a:tc>
              </a:tr>
              <a:tr h="457200">
                <a:tc>
                  <a:txBody>
                    <a:bodyPr/>
                    <a:lstStyle/>
                    <a:p>
                      <a:pPr indent="0" marL="0">
                        <a:buNone/>
                      </a:pPr>
                      <a:r>
                        <a:rPr lang="en-US" sz="1300" b="1" dirty="0">
                          <a:solidFill>
                            <a:srgbClr val="21295C"/>
                          </a:solidFill>
                          <a:latin typeface="BIZ UDゴシック" pitchFamily="34" charset="0"/>
                          <a:ea typeface="BIZ UDゴシック" pitchFamily="34" charset="-122"/>
                          <a:cs typeface="BIZ UDゴシック" pitchFamily="34" charset="-120"/>
                        </a:rPr>
                        <a:t>UI</a:t>
                      </a:r>
                      <a:endParaRPr lang="en-US" sz="1300" dirty="0">
                        <a:latin typeface="BIZ UDゴシック" charset="0"/>
                        <a:ea typeface="BIZ UDゴシック" charset="0"/>
                        <a:cs typeface="BIZ UDゴシック" charset="0"/>
                      </a:endParaRPr>
                    </a:p>
                  </a:txBody>
                  <a:tcPr marL="91440" marR="91440" marT="45720" marB="45720" anchor="ctr">
                    <a:lnL w="9525" cap="flat" cmpd="sng" algn="ctr">
                      <a:solidFill>
                        <a:srgbClr val="D6E3E8"/>
                      </a:solidFill>
                      <a:prstDash val="solid"/>
                      <a:round/>
                      <a:headEnd type="none" w="med" len="med"/>
                      <a:tailEnd type="none" w="med" len="med"/>
                    </a:lnL>
                    <a:lnR w="9525" cap="flat" cmpd="sng" algn="ctr">
                      <a:solidFill>
                        <a:srgbClr val="D6E3E8"/>
                      </a:solidFill>
                      <a:prstDash val="solid"/>
                      <a:round/>
                      <a:headEnd type="none" w="med" len="med"/>
                      <a:tailEnd type="none" w="med" len="med"/>
                    </a:lnR>
                    <a:lnT w="9525" cap="flat" cmpd="sng" algn="ctr">
                      <a:solidFill>
                        <a:srgbClr val="D6E3E8"/>
                      </a:solidFill>
                      <a:prstDash val="solid"/>
                      <a:round/>
                      <a:headEnd type="none" w="med" len="med"/>
                      <a:tailEnd type="none" w="med" len="med"/>
                    </a:lnT>
                    <a:lnB w="9525" cap="flat" cmpd="sng" algn="ctr">
                      <a:solidFill>
                        <a:srgbClr val="D6E3E8"/>
                      </a:solidFill>
                      <a:prstDash val="solid"/>
                      <a:round/>
                      <a:headEnd type="none" w="med" len="med"/>
                      <a:tailEnd type="none" w="med" len="med"/>
                    </a:lnB>
                    <a:solidFill>
                      <a:srgbClr val="FFFFFF"/>
                    </a:solidFill>
                  </a:tcPr>
                </a:tc>
                <a:tc>
                  <a:txBody>
                    <a:bodyPr/>
                    <a:lstStyle/>
                    <a:p>
                      <a:pPr indent="0" marL="0">
                        <a:buNone/>
                      </a:pPr>
                      <a:r>
                        <a:rPr lang="en-US" sz="1300" dirty="0">
                          <a:solidFill>
                            <a:srgbClr val="1A1A2E"/>
                          </a:solidFill>
                          <a:latin typeface="BIZ UDゴシック" pitchFamily="34" charset="0"/>
                          <a:ea typeface="BIZ UDゴシック" pitchFamily="34" charset="-122"/>
                          <a:cs typeface="BIZ UDゴシック" pitchFamily="34" charset="-120"/>
                        </a:rPr>
                        <a:t>事前設計</a:t>
                      </a:r>
                      <a:endParaRPr lang="en-US" sz="1300" dirty="0">
                        <a:latin typeface="BIZ UDゴシック" charset="0"/>
                        <a:ea typeface="BIZ UDゴシック" charset="0"/>
                        <a:cs typeface="BIZ UDゴシック" charset="0"/>
                      </a:endParaRPr>
                    </a:p>
                  </a:txBody>
                  <a:tcPr marL="91440" marR="91440" marT="45720" marB="45720" anchor="ctr">
                    <a:lnL w="9525" cap="flat" cmpd="sng" algn="ctr">
                      <a:solidFill>
                        <a:srgbClr val="D6E3E8"/>
                      </a:solidFill>
                      <a:prstDash val="solid"/>
                      <a:round/>
                      <a:headEnd type="none" w="med" len="med"/>
                      <a:tailEnd type="none" w="med" len="med"/>
                    </a:lnL>
                    <a:lnR w="9525" cap="flat" cmpd="sng" algn="ctr">
                      <a:solidFill>
                        <a:srgbClr val="D6E3E8"/>
                      </a:solidFill>
                      <a:prstDash val="solid"/>
                      <a:round/>
                      <a:headEnd type="none" w="med" len="med"/>
                      <a:tailEnd type="none" w="med" len="med"/>
                    </a:lnR>
                    <a:lnT w="9525" cap="flat" cmpd="sng" algn="ctr">
                      <a:solidFill>
                        <a:srgbClr val="D6E3E8"/>
                      </a:solidFill>
                      <a:prstDash val="solid"/>
                      <a:round/>
                      <a:headEnd type="none" w="med" len="med"/>
                      <a:tailEnd type="none" w="med" len="med"/>
                    </a:lnT>
                    <a:lnB w="9525" cap="flat" cmpd="sng" algn="ctr">
                      <a:solidFill>
                        <a:srgbClr val="D6E3E8"/>
                      </a:solidFill>
                      <a:prstDash val="solid"/>
                      <a:round/>
                      <a:headEnd type="none" w="med" len="med"/>
                      <a:tailEnd type="none" w="med" len="med"/>
                    </a:lnB>
                    <a:solidFill>
                      <a:srgbClr val="FFFFFF"/>
                    </a:solidFill>
                  </a:tcPr>
                </a:tc>
                <a:tc>
                  <a:txBody>
                    <a:bodyPr/>
                    <a:lstStyle/>
                    <a:p>
                      <a:pPr indent="0" marL="0">
                        <a:buNone/>
                      </a:pPr>
                      <a:r>
                        <a:rPr lang="en-US" sz="1300" dirty="0">
                          <a:solidFill>
                            <a:srgbClr val="1A1A2E"/>
                          </a:solidFill>
                          <a:latin typeface="BIZ UDゴシック" pitchFamily="34" charset="0"/>
                          <a:ea typeface="BIZ UDゴシック" pitchFamily="34" charset="-122"/>
                          <a:cs typeface="BIZ UDゴシック" pitchFamily="34" charset="-120"/>
                        </a:rPr>
                        <a:t>動的生成</a:t>
                      </a:r>
                      <a:endParaRPr lang="en-US" sz="1300" dirty="0">
                        <a:latin typeface="BIZ UDゴシック" charset="0"/>
                        <a:ea typeface="BIZ UDゴシック" charset="0"/>
                        <a:cs typeface="BIZ UDゴシック" charset="0"/>
                      </a:endParaRPr>
                    </a:p>
                  </a:txBody>
                  <a:tcPr marL="91440" marR="91440" marT="45720" marB="45720" anchor="ctr">
                    <a:lnL w="9525" cap="flat" cmpd="sng" algn="ctr">
                      <a:solidFill>
                        <a:srgbClr val="D6E3E8"/>
                      </a:solidFill>
                      <a:prstDash val="solid"/>
                      <a:round/>
                      <a:headEnd type="none" w="med" len="med"/>
                      <a:tailEnd type="none" w="med" len="med"/>
                    </a:lnL>
                    <a:lnR w="9525" cap="flat" cmpd="sng" algn="ctr">
                      <a:solidFill>
                        <a:srgbClr val="D6E3E8"/>
                      </a:solidFill>
                      <a:prstDash val="solid"/>
                      <a:round/>
                      <a:headEnd type="none" w="med" len="med"/>
                      <a:tailEnd type="none" w="med" len="med"/>
                    </a:lnR>
                    <a:lnT w="9525" cap="flat" cmpd="sng" algn="ctr">
                      <a:solidFill>
                        <a:srgbClr val="D6E3E8"/>
                      </a:solidFill>
                      <a:prstDash val="solid"/>
                      <a:round/>
                      <a:headEnd type="none" w="med" len="med"/>
                      <a:tailEnd type="none" w="med" len="med"/>
                    </a:lnT>
                    <a:lnB w="9525" cap="flat" cmpd="sng" algn="ctr">
                      <a:solidFill>
                        <a:srgbClr val="D6E3E8"/>
                      </a:solidFill>
                      <a:prstDash val="solid"/>
                      <a:round/>
                      <a:headEnd type="none" w="med" len="med"/>
                      <a:tailEnd type="none" w="med" len="med"/>
                    </a:lnB>
                    <a:solidFill>
                      <a:srgbClr val="FFFFFF"/>
                    </a:solidFill>
                  </a:tcPr>
                </a:tc>
              </a:tr>
              <a:tr h="457200">
                <a:tc>
                  <a:txBody>
                    <a:bodyPr/>
                    <a:lstStyle/>
                    <a:p>
                      <a:pPr indent="0" marL="0">
                        <a:buNone/>
                      </a:pPr>
                      <a:r>
                        <a:rPr lang="en-US" sz="1300" b="1" dirty="0">
                          <a:solidFill>
                            <a:srgbClr val="21295C"/>
                          </a:solidFill>
                          <a:latin typeface="BIZ UDゴシック" pitchFamily="34" charset="0"/>
                          <a:ea typeface="BIZ UDゴシック" pitchFamily="34" charset="-122"/>
                          <a:cs typeface="BIZ UDゴシック" pitchFamily="34" charset="-120"/>
                        </a:rPr>
                        <a:t>表示データ</a:t>
                      </a:r>
                      <a:endParaRPr lang="en-US" sz="1300" dirty="0">
                        <a:latin typeface="BIZ UDゴシック" charset="0"/>
                        <a:ea typeface="BIZ UDゴシック" charset="0"/>
                        <a:cs typeface="BIZ UDゴシック" charset="0"/>
                      </a:endParaRPr>
                    </a:p>
                  </a:txBody>
                  <a:tcPr marL="91440" marR="91440" marT="45720" marB="45720" anchor="ctr">
                    <a:lnL w="9525" cap="flat" cmpd="sng" algn="ctr">
                      <a:solidFill>
                        <a:srgbClr val="D6E3E8"/>
                      </a:solidFill>
                      <a:prstDash val="solid"/>
                      <a:round/>
                      <a:headEnd type="none" w="med" len="med"/>
                      <a:tailEnd type="none" w="med" len="med"/>
                    </a:lnL>
                    <a:lnR w="9525" cap="flat" cmpd="sng" algn="ctr">
                      <a:solidFill>
                        <a:srgbClr val="D6E3E8"/>
                      </a:solidFill>
                      <a:prstDash val="solid"/>
                      <a:round/>
                      <a:headEnd type="none" w="med" len="med"/>
                      <a:tailEnd type="none" w="med" len="med"/>
                    </a:lnR>
                    <a:lnT w="9525" cap="flat" cmpd="sng" algn="ctr">
                      <a:solidFill>
                        <a:srgbClr val="D6E3E8"/>
                      </a:solidFill>
                      <a:prstDash val="solid"/>
                      <a:round/>
                      <a:headEnd type="none" w="med" len="med"/>
                      <a:tailEnd type="none" w="med" len="med"/>
                    </a:lnT>
                    <a:lnB w="9525" cap="flat" cmpd="sng" algn="ctr">
                      <a:solidFill>
                        <a:srgbClr val="D6E3E8"/>
                      </a:solidFill>
                      <a:prstDash val="solid"/>
                      <a:round/>
                      <a:headEnd type="none" w="med" len="med"/>
                      <a:tailEnd type="none" w="med" len="med"/>
                    </a:lnB>
                    <a:solidFill>
                      <a:srgbClr val="EAF2F6"/>
                    </a:solidFill>
                  </a:tcPr>
                </a:tc>
                <a:tc>
                  <a:txBody>
                    <a:bodyPr/>
                    <a:lstStyle/>
                    <a:p>
                      <a:pPr indent="0" marL="0">
                        <a:buNone/>
                      </a:pPr>
                      <a:r>
                        <a:rPr lang="en-US" sz="1300" dirty="0">
                          <a:solidFill>
                            <a:srgbClr val="1A1A2E"/>
                          </a:solidFill>
                          <a:latin typeface="BIZ UDゴシック" pitchFamily="34" charset="0"/>
                          <a:ea typeface="BIZ UDゴシック" pitchFamily="34" charset="-122"/>
                          <a:cs typeface="BIZ UDゴシック" pitchFamily="34" charset="-120"/>
                        </a:rPr>
                        <a:t>常に同じ</a:t>
                      </a:r>
                      <a:endParaRPr lang="en-US" sz="1300" dirty="0">
                        <a:latin typeface="BIZ UDゴシック" charset="0"/>
                        <a:ea typeface="BIZ UDゴシック" charset="0"/>
                        <a:cs typeface="BIZ UDゴシック" charset="0"/>
                      </a:endParaRPr>
                    </a:p>
                  </a:txBody>
                  <a:tcPr marL="91440" marR="91440" marT="45720" marB="45720" anchor="ctr">
                    <a:lnL w="9525" cap="flat" cmpd="sng" algn="ctr">
                      <a:solidFill>
                        <a:srgbClr val="D6E3E8"/>
                      </a:solidFill>
                      <a:prstDash val="solid"/>
                      <a:round/>
                      <a:headEnd type="none" w="med" len="med"/>
                      <a:tailEnd type="none" w="med" len="med"/>
                    </a:lnL>
                    <a:lnR w="9525" cap="flat" cmpd="sng" algn="ctr">
                      <a:solidFill>
                        <a:srgbClr val="D6E3E8"/>
                      </a:solidFill>
                      <a:prstDash val="solid"/>
                      <a:round/>
                      <a:headEnd type="none" w="med" len="med"/>
                      <a:tailEnd type="none" w="med" len="med"/>
                    </a:lnR>
                    <a:lnT w="9525" cap="flat" cmpd="sng" algn="ctr">
                      <a:solidFill>
                        <a:srgbClr val="D6E3E8"/>
                      </a:solidFill>
                      <a:prstDash val="solid"/>
                      <a:round/>
                      <a:headEnd type="none" w="med" len="med"/>
                      <a:tailEnd type="none" w="med" len="med"/>
                    </a:lnT>
                    <a:lnB w="9525" cap="flat" cmpd="sng" algn="ctr">
                      <a:solidFill>
                        <a:srgbClr val="D6E3E8"/>
                      </a:solidFill>
                      <a:prstDash val="solid"/>
                      <a:round/>
                      <a:headEnd type="none" w="med" len="med"/>
                      <a:tailEnd type="none" w="med" len="med"/>
                    </a:lnB>
                    <a:solidFill>
                      <a:srgbClr val="EAF2F6"/>
                    </a:solidFill>
                  </a:tcPr>
                </a:tc>
                <a:tc>
                  <a:txBody>
                    <a:bodyPr/>
                    <a:lstStyle/>
                    <a:p>
                      <a:pPr indent="0" marL="0">
                        <a:buNone/>
                      </a:pPr>
                      <a:r>
                        <a:rPr lang="en-US" sz="1300" dirty="0">
                          <a:solidFill>
                            <a:srgbClr val="1A1A2E"/>
                          </a:solidFill>
                          <a:latin typeface="BIZ UDゴシック" pitchFamily="34" charset="0"/>
                          <a:ea typeface="BIZ UDゴシック" pitchFamily="34" charset="-122"/>
                          <a:cs typeface="BIZ UDゴシック" pitchFamily="34" charset="-120"/>
                        </a:rPr>
                        <a:t>事象ごとに変更</a:t>
                      </a:r>
                      <a:endParaRPr lang="en-US" sz="1300" dirty="0">
                        <a:latin typeface="BIZ UDゴシック" charset="0"/>
                        <a:ea typeface="BIZ UDゴシック" charset="0"/>
                        <a:cs typeface="BIZ UDゴシック" charset="0"/>
                      </a:endParaRPr>
                    </a:p>
                  </a:txBody>
                  <a:tcPr marL="91440" marR="91440" marT="45720" marB="45720" anchor="ctr">
                    <a:lnL w="9525" cap="flat" cmpd="sng" algn="ctr">
                      <a:solidFill>
                        <a:srgbClr val="D6E3E8"/>
                      </a:solidFill>
                      <a:prstDash val="solid"/>
                      <a:round/>
                      <a:headEnd type="none" w="med" len="med"/>
                      <a:tailEnd type="none" w="med" len="med"/>
                    </a:lnL>
                    <a:lnR w="9525" cap="flat" cmpd="sng" algn="ctr">
                      <a:solidFill>
                        <a:srgbClr val="D6E3E8"/>
                      </a:solidFill>
                      <a:prstDash val="solid"/>
                      <a:round/>
                      <a:headEnd type="none" w="med" len="med"/>
                      <a:tailEnd type="none" w="med" len="med"/>
                    </a:lnR>
                    <a:lnT w="9525" cap="flat" cmpd="sng" algn="ctr">
                      <a:solidFill>
                        <a:srgbClr val="D6E3E8"/>
                      </a:solidFill>
                      <a:prstDash val="solid"/>
                      <a:round/>
                      <a:headEnd type="none" w="med" len="med"/>
                      <a:tailEnd type="none" w="med" len="med"/>
                    </a:lnT>
                    <a:lnB w="9525" cap="flat" cmpd="sng" algn="ctr">
                      <a:solidFill>
                        <a:srgbClr val="D6E3E8"/>
                      </a:solidFill>
                      <a:prstDash val="solid"/>
                      <a:round/>
                      <a:headEnd type="none" w="med" len="med"/>
                      <a:tailEnd type="none" w="med" len="med"/>
                    </a:lnB>
                    <a:solidFill>
                      <a:srgbClr val="EAF2F6"/>
                    </a:solidFill>
                  </a:tcPr>
                </a:tc>
              </a:tr>
              <a:tr h="457200">
                <a:tc>
                  <a:txBody>
                    <a:bodyPr/>
                    <a:lstStyle/>
                    <a:p>
                      <a:pPr indent="0" marL="0">
                        <a:buNone/>
                      </a:pPr>
                      <a:r>
                        <a:rPr lang="en-US" sz="1300" b="1" dirty="0">
                          <a:solidFill>
                            <a:srgbClr val="21295C"/>
                          </a:solidFill>
                          <a:latin typeface="BIZ UDゴシック" pitchFamily="34" charset="0"/>
                          <a:ea typeface="BIZ UDゴシック" pitchFamily="34" charset="-122"/>
                          <a:cs typeface="BIZ UDゴシック" pitchFamily="34" charset="-120"/>
                        </a:rPr>
                        <a:t>AI</a:t>
                      </a:r>
                      <a:endParaRPr lang="en-US" sz="1300" dirty="0">
                        <a:latin typeface="BIZ UDゴシック" charset="0"/>
                        <a:ea typeface="BIZ UDゴシック" charset="0"/>
                        <a:cs typeface="BIZ UDゴシック" charset="0"/>
                      </a:endParaRPr>
                    </a:p>
                  </a:txBody>
                  <a:tcPr marL="91440" marR="91440" marT="45720" marB="45720" anchor="ctr">
                    <a:lnL w="9525" cap="flat" cmpd="sng" algn="ctr">
                      <a:solidFill>
                        <a:srgbClr val="D6E3E8"/>
                      </a:solidFill>
                      <a:prstDash val="solid"/>
                      <a:round/>
                      <a:headEnd type="none" w="med" len="med"/>
                      <a:tailEnd type="none" w="med" len="med"/>
                    </a:lnL>
                    <a:lnR w="9525" cap="flat" cmpd="sng" algn="ctr">
                      <a:solidFill>
                        <a:srgbClr val="D6E3E8"/>
                      </a:solidFill>
                      <a:prstDash val="solid"/>
                      <a:round/>
                      <a:headEnd type="none" w="med" len="med"/>
                      <a:tailEnd type="none" w="med" len="med"/>
                    </a:lnR>
                    <a:lnT w="9525" cap="flat" cmpd="sng" algn="ctr">
                      <a:solidFill>
                        <a:srgbClr val="D6E3E8"/>
                      </a:solidFill>
                      <a:prstDash val="solid"/>
                      <a:round/>
                      <a:headEnd type="none" w="med" len="med"/>
                      <a:tailEnd type="none" w="med" len="med"/>
                    </a:lnT>
                    <a:lnB w="9525" cap="flat" cmpd="sng" algn="ctr">
                      <a:solidFill>
                        <a:srgbClr val="D6E3E8"/>
                      </a:solidFill>
                      <a:prstDash val="solid"/>
                      <a:round/>
                      <a:headEnd type="none" w="med" len="med"/>
                      <a:tailEnd type="none" w="med" len="med"/>
                    </a:lnB>
                    <a:solidFill>
                      <a:srgbClr val="FFFFFF"/>
                    </a:solidFill>
                  </a:tcPr>
                </a:tc>
                <a:tc>
                  <a:txBody>
                    <a:bodyPr/>
                    <a:lstStyle/>
                    <a:p>
                      <a:pPr indent="0" marL="0">
                        <a:buNone/>
                      </a:pPr>
                      <a:r>
                        <a:rPr lang="en-US" sz="1300" dirty="0">
                          <a:solidFill>
                            <a:srgbClr val="1A1A2E"/>
                          </a:solidFill>
                          <a:latin typeface="BIZ UDゴシック" pitchFamily="34" charset="0"/>
                          <a:ea typeface="BIZ UDゴシック" pitchFamily="34" charset="-122"/>
                          <a:cs typeface="BIZ UDゴシック" pitchFamily="34" charset="-120"/>
                        </a:rPr>
                        <a:t>補助的</a:t>
                      </a:r>
                      <a:endParaRPr lang="en-US" sz="1300" dirty="0">
                        <a:latin typeface="BIZ UDゴシック" charset="0"/>
                        <a:ea typeface="BIZ UDゴシック" charset="0"/>
                        <a:cs typeface="BIZ UDゴシック" charset="0"/>
                      </a:endParaRPr>
                    </a:p>
                  </a:txBody>
                  <a:tcPr marL="91440" marR="91440" marT="45720" marB="45720" anchor="ctr">
                    <a:lnL w="9525" cap="flat" cmpd="sng" algn="ctr">
                      <a:solidFill>
                        <a:srgbClr val="D6E3E8"/>
                      </a:solidFill>
                      <a:prstDash val="solid"/>
                      <a:round/>
                      <a:headEnd type="none" w="med" len="med"/>
                      <a:tailEnd type="none" w="med" len="med"/>
                    </a:lnL>
                    <a:lnR w="9525" cap="flat" cmpd="sng" algn="ctr">
                      <a:solidFill>
                        <a:srgbClr val="D6E3E8"/>
                      </a:solidFill>
                      <a:prstDash val="solid"/>
                      <a:round/>
                      <a:headEnd type="none" w="med" len="med"/>
                      <a:tailEnd type="none" w="med" len="med"/>
                    </a:lnR>
                    <a:lnT w="9525" cap="flat" cmpd="sng" algn="ctr">
                      <a:solidFill>
                        <a:srgbClr val="D6E3E8"/>
                      </a:solidFill>
                      <a:prstDash val="solid"/>
                      <a:round/>
                      <a:headEnd type="none" w="med" len="med"/>
                      <a:tailEnd type="none" w="med" len="med"/>
                    </a:lnT>
                    <a:lnB w="9525" cap="flat" cmpd="sng" algn="ctr">
                      <a:solidFill>
                        <a:srgbClr val="D6E3E8"/>
                      </a:solidFill>
                      <a:prstDash val="solid"/>
                      <a:round/>
                      <a:headEnd type="none" w="med" len="med"/>
                      <a:tailEnd type="none" w="med" len="med"/>
                    </a:lnB>
                    <a:solidFill>
                      <a:srgbClr val="FFFFFF"/>
                    </a:solidFill>
                  </a:tcPr>
                </a:tc>
                <a:tc>
                  <a:txBody>
                    <a:bodyPr/>
                    <a:lstStyle/>
                    <a:p>
                      <a:pPr indent="0" marL="0">
                        <a:buNone/>
                      </a:pPr>
                      <a:r>
                        <a:rPr lang="en-US" sz="1300" dirty="0">
                          <a:solidFill>
                            <a:srgbClr val="1A1A2E"/>
                          </a:solidFill>
                          <a:latin typeface="BIZ UDゴシック" pitchFamily="34" charset="0"/>
                          <a:ea typeface="BIZ UDゴシック" pitchFamily="34" charset="-122"/>
                          <a:cs typeface="BIZ UDゴシック" pitchFamily="34" charset="-120"/>
                        </a:rPr>
                        <a:t>UI構成にも利用</a:t>
                      </a:r>
                      <a:endParaRPr lang="en-US" sz="1300" dirty="0">
                        <a:latin typeface="BIZ UDゴシック" charset="0"/>
                        <a:ea typeface="BIZ UDゴシック" charset="0"/>
                        <a:cs typeface="BIZ UDゴシック" charset="0"/>
                      </a:endParaRPr>
                    </a:p>
                  </a:txBody>
                  <a:tcPr marL="91440" marR="91440" marT="45720" marB="45720" anchor="ctr">
                    <a:lnL w="9525" cap="flat" cmpd="sng" algn="ctr">
                      <a:solidFill>
                        <a:srgbClr val="D6E3E8"/>
                      </a:solidFill>
                      <a:prstDash val="solid"/>
                      <a:round/>
                      <a:headEnd type="none" w="med" len="med"/>
                      <a:tailEnd type="none" w="med" len="med"/>
                    </a:lnL>
                    <a:lnR w="9525" cap="flat" cmpd="sng" algn="ctr">
                      <a:solidFill>
                        <a:srgbClr val="D6E3E8"/>
                      </a:solidFill>
                      <a:prstDash val="solid"/>
                      <a:round/>
                      <a:headEnd type="none" w="med" len="med"/>
                      <a:tailEnd type="none" w="med" len="med"/>
                    </a:lnR>
                    <a:lnT w="9525" cap="flat" cmpd="sng" algn="ctr">
                      <a:solidFill>
                        <a:srgbClr val="D6E3E8"/>
                      </a:solidFill>
                      <a:prstDash val="solid"/>
                      <a:round/>
                      <a:headEnd type="none" w="med" len="med"/>
                      <a:tailEnd type="none" w="med" len="med"/>
                    </a:lnT>
                    <a:lnB w="9525" cap="flat" cmpd="sng" algn="ctr">
                      <a:solidFill>
                        <a:srgbClr val="D6E3E8"/>
                      </a:solidFill>
                      <a:prstDash val="solid"/>
                      <a:round/>
                      <a:headEnd type="none" w="med" len="med"/>
                      <a:tailEnd type="none" w="med" len="med"/>
                    </a:lnB>
                    <a:solidFill>
                      <a:srgbClr val="FFFFFF"/>
                    </a:solidFill>
                  </a:tcPr>
                </a:tc>
              </a:tr>
              <a:tr h="457200">
                <a:tc>
                  <a:txBody>
                    <a:bodyPr/>
                    <a:lstStyle/>
                    <a:p>
                      <a:pPr indent="0" marL="0">
                        <a:buNone/>
                      </a:pPr>
                      <a:r>
                        <a:rPr lang="en-US" sz="1300" b="1" dirty="0">
                          <a:solidFill>
                            <a:srgbClr val="21295C"/>
                          </a:solidFill>
                          <a:latin typeface="BIZ UDゴシック" pitchFamily="34" charset="0"/>
                          <a:ea typeface="BIZ UDゴシック" pitchFamily="34" charset="-122"/>
                          <a:cs typeface="BIZ UDゴシック" pitchFamily="34" charset="-120"/>
                        </a:rPr>
                        <a:t>調査状況</a:t>
                      </a:r>
                      <a:endParaRPr lang="en-US" sz="1300" dirty="0">
                        <a:latin typeface="BIZ UDゴシック" charset="0"/>
                        <a:ea typeface="BIZ UDゴシック" charset="0"/>
                        <a:cs typeface="BIZ UDゴシック" charset="0"/>
                      </a:endParaRPr>
                    </a:p>
                  </a:txBody>
                  <a:tcPr marL="91440" marR="91440" marT="45720" marB="45720" anchor="ctr">
                    <a:lnL w="9525" cap="flat" cmpd="sng" algn="ctr">
                      <a:solidFill>
                        <a:srgbClr val="D6E3E8"/>
                      </a:solidFill>
                      <a:prstDash val="solid"/>
                      <a:round/>
                      <a:headEnd type="none" w="med" len="med"/>
                      <a:tailEnd type="none" w="med" len="med"/>
                    </a:lnL>
                    <a:lnR w="9525" cap="flat" cmpd="sng" algn="ctr">
                      <a:solidFill>
                        <a:srgbClr val="D6E3E8"/>
                      </a:solidFill>
                      <a:prstDash val="solid"/>
                      <a:round/>
                      <a:headEnd type="none" w="med" len="med"/>
                      <a:tailEnd type="none" w="med" len="med"/>
                    </a:lnR>
                    <a:lnT w="9525" cap="flat" cmpd="sng" algn="ctr">
                      <a:solidFill>
                        <a:srgbClr val="D6E3E8"/>
                      </a:solidFill>
                      <a:prstDash val="solid"/>
                      <a:round/>
                      <a:headEnd type="none" w="med" len="med"/>
                      <a:tailEnd type="none" w="med" len="med"/>
                    </a:lnT>
                    <a:lnB w="9525" cap="flat" cmpd="sng" algn="ctr">
                      <a:solidFill>
                        <a:srgbClr val="D6E3E8"/>
                      </a:solidFill>
                      <a:prstDash val="solid"/>
                      <a:round/>
                      <a:headEnd type="none" w="med" len="med"/>
                      <a:tailEnd type="none" w="med" len="med"/>
                    </a:lnB>
                    <a:solidFill>
                      <a:srgbClr val="EAF2F6"/>
                    </a:solidFill>
                  </a:tcPr>
                </a:tc>
                <a:tc>
                  <a:txBody>
                    <a:bodyPr/>
                    <a:lstStyle/>
                    <a:p>
                      <a:pPr indent="0" marL="0">
                        <a:buNone/>
                      </a:pPr>
                      <a:r>
                        <a:rPr lang="en-US" sz="1300" dirty="0">
                          <a:solidFill>
                            <a:srgbClr val="1A1A2E"/>
                          </a:solidFill>
                          <a:latin typeface="BIZ UDゴシック" pitchFamily="34" charset="0"/>
                          <a:ea typeface="BIZ UDゴシック" pitchFamily="34" charset="-122"/>
                          <a:cs typeface="BIZ UDゴシック" pitchFamily="34" charset="-120"/>
                        </a:rPr>
                        <a:t>見えにくい</a:t>
                      </a:r>
                      <a:endParaRPr lang="en-US" sz="1300" dirty="0">
                        <a:latin typeface="BIZ UDゴシック" charset="0"/>
                        <a:ea typeface="BIZ UDゴシック" charset="0"/>
                        <a:cs typeface="BIZ UDゴシック" charset="0"/>
                      </a:endParaRPr>
                    </a:p>
                  </a:txBody>
                  <a:tcPr marL="91440" marR="91440" marT="45720" marB="45720" anchor="ctr">
                    <a:lnL w="9525" cap="flat" cmpd="sng" algn="ctr">
                      <a:solidFill>
                        <a:srgbClr val="D6E3E8"/>
                      </a:solidFill>
                      <a:prstDash val="solid"/>
                      <a:round/>
                      <a:headEnd type="none" w="med" len="med"/>
                      <a:tailEnd type="none" w="med" len="med"/>
                    </a:lnL>
                    <a:lnR w="9525" cap="flat" cmpd="sng" algn="ctr">
                      <a:solidFill>
                        <a:srgbClr val="D6E3E8"/>
                      </a:solidFill>
                      <a:prstDash val="solid"/>
                      <a:round/>
                      <a:headEnd type="none" w="med" len="med"/>
                      <a:tailEnd type="none" w="med" len="med"/>
                    </a:lnR>
                    <a:lnT w="9525" cap="flat" cmpd="sng" algn="ctr">
                      <a:solidFill>
                        <a:srgbClr val="D6E3E8"/>
                      </a:solidFill>
                      <a:prstDash val="solid"/>
                      <a:round/>
                      <a:headEnd type="none" w="med" len="med"/>
                      <a:tailEnd type="none" w="med" len="med"/>
                    </a:lnT>
                    <a:lnB w="9525" cap="flat" cmpd="sng" algn="ctr">
                      <a:solidFill>
                        <a:srgbClr val="D6E3E8"/>
                      </a:solidFill>
                      <a:prstDash val="solid"/>
                      <a:round/>
                      <a:headEnd type="none" w="med" len="med"/>
                      <a:tailEnd type="none" w="med" len="med"/>
                    </a:lnB>
                    <a:solidFill>
                      <a:srgbClr val="EAF2F6"/>
                    </a:solidFill>
                  </a:tcPr>
                </a:tc>
                <a:tc>
                  <a:txBody>
                    <a:bodyPr/>
                    <a:lstStyle/>
                    <a:p>
                      <a:pPr indent="0" marL="0">
                        <a:buNone/>
                      </a:pPr>
                      <a:r>
                        <a:rPr lang="en-US" sz="1300" dirty="0">
                          <a:solidFill>
                            <a:srgbClr val="1A1A2E"/>
                          </a:solidFill>
                          <a:latin typeface="BIZ UDゴシック" pitchFamily="34" charset="0"/>
                          <a:ea typeface="BIZ UDゴシック" pitchFamily="34" charset="-122"/>
                          <a:cs typeface="BIZ UDゴシック" pitchFamily="34" charset="-120"/>
                        </a:rPr>
                        <a:t>AG-UIイベントで可視化</a:t>
                      </a:r>
                      <a:endParaRPr lang="en-US" sz="1300" dirty="0">
                        <a:latin typeface="BIZ UDゴシック" charset="0"/>
                        <a:ea typeface="BIZ UDゴシック" charset="0"/>
                        <a:cs typeface="BIZ UDゴシック" charset="0"/>
                      </a:endParaRPr>
                    </a:p>
                  </a:txBody>
                  <a:tcPr marL="91440" marR="91440" marT="45720" marB="45720" anchor="ctr">
                    <a:lnL w="9525" cap="flat" cmpd="sng" algn="ctr">
                      <a:solidFill>
                        <a:srgbClr val="D6E3E8"/>
                      </a:solidFill>
                      <a:prstDash val="solid"/>
                      <a:round/>
                      <a:headEnd type="none" w="med" len="med"/>
                      <a:tailEnd type="none" w="med" len="med"/>
                    </a:lnL>
                    <a:lnR w="9525" cap="flat" cmpd="sng" algn="ctr">
                      <a:solidFill>
                        <a:srgbClr val="D6E3E8"/>
                      </a:solidFill>
                      <a:prstDash val="solid"/>
                      <a:round/>
                      <a:headEnd type="none" w="med" len="med"/>
                      <a:tailEnd type="none" w="med" len="med"/>
                    </a:lnR>
                    <a:lnT w="9525" cap="flat" cmpd="sng" algn="ctr">
                      <a:solidFill>
                        <a:srgbClr val="D6E3E8"/>
                      </a:solidFill>
                      <a:prstDash val="solid"/>
                      <a:round/>
                      <a:headEnd type="none" w="med" len="med"/>
                      <a:tailEnd type="none" w="med" len="med"/>
                    </a:lnT>
                    <a:lnB w="9525" cap="flat" cmpd="sng" algn="ctr">
                      <a:solidFill>
                        <a:srgbClr val="D6E3E8"/>
                      </a:solidFill>
                      <a:prstDash val="solid"/>
                      <a:round/>
                      <a:headEnd type="none" w="med" len="med"/>
                      <a:tailEnd type="none" w="med" len="med"/>
                    </a:lnB>
                    <a:solidFill>
                      <a:srgbClr val="EAF2F6"/>
                    </a:solidFill>
                  </a:tcPr>
                </a:tc>
              </a:tr>
              <a:tr h="457200">
                <a:tc>
                  <a:txBody>
                    <a:bodyPr/>
                    <a:lstStyle/>
                    <a:p>
                      <a:pPr indent="0" marL="0">
                        <a:buNone/>
                      </a:pPr>
                      <a:r>
                        <a:rPr lang="en-US" sz="1300" b="1" dirty="0">
                          <a:solidFill>
                            <a:srgbClr val="21295C"/>
                          </a:solidFill>
                          <a:latin typeface="BIZ UDゴシック" pitchFamily="34" charset="0"/>
                          <a:ea typeface="BIZ UDゴシック" pitchFamily="34" charset="-122"/>
                          <a:cs typeface="BIZ UDゴシック" pitchFamily="34" charset="-120"/>
                        </a:rPr>
                        <a:t>Evidence</a:t>
                      </a:r>
                      <a:endParaRPr lang="en-US" sz="1300" dirty="0">
                        <a:latin typeface="BIZ UDゴシック" charset="0"/>
                        <a:ea typeface="BIZ UDゴシック" charset="0"/>
                        <a:cs typeface="BIZ UDゴシック" charset="0"/>
                      </a:endParaRPr>
                    </a:p>
                  </a:txBody>
                  <a:tcPr marL="91440" marR="91440" marT="45720" marB="45720" anchor="ctr">
                    <a:lnL w="9525" cap="flat" cmpd="sng" algn="ctr">
                      <a:solidFill>
                        <a:srgbClr val="D6E3E8"/>
                      </a:solidFill>
                      <a:prstDash val="solid"/>
                      <a:round/>
                      <a:headEnd type="none" w="med" len="med"/>
                      <a:tailEnd type="none" w="med" len="med"/>
                    </a:lnL>
                    <a:lnR w="9525" cap="flat" cmpd="sng" algn="ctr">
                      <a:solidFill>
                        <a:srgbClr val="D6E3E8"/>
                      </a:solidFill>
                      <a:prstDash val="solid"/>
                      <a:round/>
                      <a:headEnd type="none" w="med" len="med"/>
                      <a:tailEnd type="none" w="med" len="med"/>
                    </a:lnR>
                    <a:lnT w="9525" cap="flat" cmpd="sng" algn="ctr">
                      <a:solidFill>
                        <a:srgbClr val="D6E3E8"/>
                      </a:solidFill>
                      <a:prstDash val="solid"/>
                      <a:round/>
                      <a:headEnd type="none" w="med" len="med"/>
                      <a:tailEnd type="none" w="med" len="med"/>
                    </a:lnT>
                    <a:lnB w="9525" cap="flat" cmpd="sng" algn="ctr">
                      <a:solidFill>
                        <a:srgbClr val="D6E3E8"/>
                      </a:solidFill>
                      <a:prstDash val="solid"/>
                      <a:round/>
                      <a:headEnd type="none" w="med" len="med"/>
                      <a:tailEnd type="none" w="med" len="med"/>
                    </a:lnB>
                    <a:solidFill>
                      <a:srgbClr val="FFFFFF"/>
                    </a:solidFill>
                  </a:tcPr>
                </a:tc>
                <a:tc>
                  <a:txBody>
                    <a:bodyPr/>
                    <a:lstStyle/>
                    <a:p>
                      <a:pPr indent="0" marL="0">
                        <a:buNone/>
                      </a:pPr>
                      <a:r>
                        <a:rPr lang="en-US" sz="1300" dirty="0">
                          <a:solidFill>
                            <a:srgbClr val="1A1A2E"/>
                          </a:solidFill>
                          <a:latin typeface="BIZ UDゴシック" pitchFamily="34" charset="0"/>
                          <a:ea typeface="BIZ UDゴシック" pitchFamily="34" charset="-122"/>
                          <a:cs typeface="BIZ UDゴシック" pitchFamily="34" charset="-120"/>
                        </a:rPr>
                        <a:t>人が探す</a:t>
                      </a:r>
                      <a:endParaRPr lang="en-US" sz="1300" dirty="0">
                        <a:latin typeface="BIZ UDゴシック" charset="0"/>
                        <a:ea typeface="BIZ UDゴシック" charset="0"/>
                        <a:cs typeface="BIZ UDゴシック" charset="0"/>
                      </a:endParaRPr>
                    </a:p>
                  </a:txBody>
                  <a:tcPr marL="91440" marR="91440" marT="45720" marB="45720" anchor="ctr">
                    <a:lnL w="9525" cap="flat" cmpd="sng" algn="ctr">
                      <a:solidFill>
                        <a:srgbClr val="D6E3E8"/>
                      </a:solidFill>
                      <a:prstDash val="solid"/>
                      <a:round/>
                      <a:headEnd type="none" w="med" len="med"/>
                      <a:tailEnd type="none" w="med" len="med"/>
                    </a:lnL>
                    <a:lnR w="9525" cap="flat" cmpd="sng" algn="ctr">
                      <a:solidFill>
                        <a:srgbClr val="D6E3E8"/>
                      </a:solidFill>
                      <a:prstDash val="solid"/>
                      <a:round/>
                      <a:headEnd type="none" w="med" len="med"/>
                      <a:tailEnd type="none" w="med" len="med"/>
                    </a:lnR>
                    <a:lnT w="9525" cap="flat" cmpd="sng" algn="ctr">
                      <a:solidFill>
                        <a:srgbClr val="D6E3E8"/>
                      </a:solidFill>
                      <a:prstDash val="solid"/>
                      <a:round/>
                      <a:headEnd type="none" w="med" len="med"/>
                      <a:tailEnd type="none" w="med" len="med"/>
                    </a:lnT>
                    <a:lnB w="9525" cap="flat" cmpd="sng" algn="ctr">
                      <a:solidFill>
                        <a:srgbClr val="D6E3E8"/>
                      </a:solidFill>
                      <a:prstDash val="solid"/>
                      <a:round/>
                      <a:headEnd type="none" w="med" len="med"/>
                      <a:tailEnd type="none" w="med" len="med"/>
                    </a:lnB>
                    <a:solidFill>
                      <a:srgbClr val="FFFFFF"/>
                    </a:solidFill>
                  </a:tcPr>
                </a:tc>
                <a:tc>
                  <a:txBody>
                    <a:bodyPr/>
                    <a:lstStyle/>
                    <a:p>
                      <a:pPr indent="0" marL="0">
                        <a:buNone/>
                      </a:pPr>
                      <a:r>
                        <a:rPr lang="en-US" sz="1300" dirty="0">
                          <a:solidFill>
                            <a:srgbClr val="1A1A2E"/>
                          </a:solidFill>
                          <a:latin typeface="BIZ UDゴシック" pitchFamily="34" charset="0"/>
                          <a:ea typeface="BIZ UDゴシック" pitchFamily="34" charset="-122"/>
                          <a:cs typeface="BIZ UDゴシック" pitchFamily="34" charset="-120"/>
                        </a:rPr>
                        <a:t>AIが収集・整理</a:t>
                      </a:r>
                      <a:endParaRPr lang="en-US" sz="1300" dirty="0">
                        <a:latin typeface="BIZ UDゴシック" charset="0"/>
                        <a:ea typeface="BIZ UDゴシック" charset="0"/>
                        <a:cs typeface="BIZ UDゴシック" charset="0"/>
                      </a:endParaRPr>
                    </a:p>
                  </a:txBody>
                  <a:tcPr marL="91440" marR="91440" marT="45720" marB="45720" anchor="ctr">
                    <a:lnL w="9525" cap="flat" cmpd="sng" algn="ctr">
                      <a:solidFill>
                        <a:srgbClr val="D6E3E8"/>
                      </a:solidFill>
                      <a:prstDash val="solid"/>
                      <a:round/>
                      <a:headEnd type="none" w="med" len="med"/>
                      <a:tailEnd type="none" w="med" len="med"/>
                    </a:lnL>
                    <a:lnR w="9525" cap="flat" cmpd="sng" algn="ctr">
                      <a:solidFill>
                        <a:srgbClr val="D6E3E8"/>
                      </a:solidFill>
                      <a:prstDash val="solid"/>
                      <a:round/>
                      <a:headEnd type="none" w="med" len="med"/>
                      <a:tailEnd type="none" w="med" len="med"/>
                    </a:lnR>
                    <a:lnT w="9525" cap="flat" cmpd="sng" algn="ctr">
                      <a:solidFill>
                        <a:srgbClr val="D6E3E8"/>
                      </a:solidFill>
                      <a:prstDash val="solid"/>
                      <a:round/>
                      <a:headEnd type="none" w="med" len="med"/>
                      <a:tailEnd type="none" w="med" len="med"/>
                    </a:lnT>
                    <a:lnB w="9525" cap="flat" cmpd="sng" algn="ctr">
                      <a:solidFill>
                        <a:srgbClr val="D6E3E8"/>
                      </a:solidFill>
                      <a:prstDash val="solid"/>
                      <a:round/>
                      <a:headEnd type="none" w="med" len="med"/>
                      <a:tailEnd type="none" w="med" len="med"/>
                    </a:lnB>
                    <a:solidFill>
                      <a:srgbClr val="FFFFFF"/>
                    </a:solidFill>
                  </a:tcPr>
                </a:tc>
              </a:tr>
              <a:tr h="457200">
                <a:tc>
                  <a:txBody>
                    <a:bodyPr/>
                    <a:lstStyle/>
                    <a:p>
                      <a:pPr indent="0" marL="0">
                        <a:buNone/>
                      </a:pPr>
                      <a:r>
                        <a:rPr lang="en-US" sz="1300" b="1" dirty="0">
                          <a:solidFill>
                            <a:srgbClr val="21295C"/>
                          </a:solidFill>
                          <a:latin typeface="BIZ UDゴシック" pitchFamily="34" charset="0"/>
                          <a:ea typeface="BIZ UDゴシック" pitchFamily="34" charset="-122"/>
                          <a:cs typeface="BIZ UDゴシック" pitchFamily="34" charset="-120"/>
                        </a:rPr>
                        <a:t>障害種別対応</a:t>
                      </a:r>
                      <a:endParaRPr lang="en-US" sz="1300" dirty="0">
                        <a:latin typeface="BIZ UDゴシック" charset="0"/>
                        <a:ea typeface="BIZ UDゴシック" charset="0"/>
                        <a:cs typeface="BIZ UDゴシック" charset="0"/>
                      </a:endParaRPr>
                    </a:p>
                  </a:txBody>
                  <a:tcPr marL="91440" marR="91440" marT="45720" marB="45720" anchor="ctr">
                    <a:lnL w="9525" cap="flat" cmpd="sng" algn="ctr">
                      <a:solidFill>
                        <a:srgbClr val="D6E3E8"/>
                      </a:solidFill>
                      <a:prstDash val="solid"/>
                      <a:round/>
                      <a:headEnd type="none" w="med" len="med"/>
                      <a:tailEnd type="none" w="med" len="med"/>
                    </a:lnL>
                    <a:lnR w="9525" cap="flat" cmpd="sng" algn="ctr">
                      <a:solidFill>
                        <a:srgbClr val="D6E3E8"/>
                      </a:solidFill>
                      <a:prstDash val="solid"/>
                      <a:round/>
                      <a:headEnd type="none" w="med" len="med"/>
                      <a:tailEnd type="none" w="med" len="med"/>
                    </a:lnR>
                    <a:lnT w="9525" cap="flat" cmpd="sng" algn="ctr">
                      <a:solidFill>
                        <a:srgbClr val="D6E3E8"/>
                      </a:solidFill>
                      <a:prstDash val="solid"/>
                      <a:round/>
                      <a:headEnd type="none" w="med" len="med"/>
                      <a:tailEnd type="none" w="med" len="med"/>
                    </a:lnT>
                    <a:lnB w="9525" cap="flat" cmpd="sng" algn="ctr">
                      <a:solidFill>
                        <a:srgbClr val="D6E3E8"/>
                      </a:solidFill>
                      <a:prstDash val="solid"/>
                      <a:round/>
                      <a:headEnd type="none" w="med" len="med"/>
                      <a:tailEnd type="none" w="med" len="med"/>
                    </a:lnB>
                    <a:solidFill>
                      <a:srgbClr val="EAF2F6"/>
                    </a:solidFill>
                  </a:tcPr>
                </a:tc>
                <a:tc>
                  <a:txBody>
                    <a:bodyPr/>
                    <a:lstStyle/>
                    <a:p>
                      <a:pPr indent="0" marL="0">
                        <a:buNone/>
                      </a:pPr>
                      <a:r>
                        <a:rPr lang="en-US" sz="1300" dirty="0">
                          <a:solidFill>
                            <a:srgbClr val="1A1A2E"/>
                          </a:solidFill>
                          <a:latin typeface="BIZ UDゴシック" pitchFamily="34" charset="0"/>
                          <a:ea typeface="BIZ UDゴシック" pitchFamily="34" charset="-122"/>
                          <a:cs typeface="BIZ UDゴシック" pitchFamily="34" charset="-120"/>
                        </a:rPr>
                        <a:t>Dashboard追加</a:t>
                      </a:r>
                      <a:endParaRPr lang="en-US" sz="1300" dirty="0">
                        <a:latin typeface="BIZ UDゴシック" charset="0"/>
                        <a:ea typeface="BIZ UDゴシック" charset="0"/>
                        <a:cs typeface="BIZ UDゴシック" charset="0"/>
                      </a:endParaRPr>
                    </a:p>
                  </a:txBody>
                  <a:tcPr marL="91440" marR="91440" marT="45720" marB="45720" anchor="ctr">
                    <a:lnL w="9525" cap="flat" cmpd="sng" algn="ctr">
                      <a:solidFill>
                        <a:srgbClr val="D6E3E8"/>
                      </a:solidFill>
                      <a:prstDash val="solid"/>
                      <a:round/>
                      <a:headEnd type="none" w="med" len="med"/>
                      <a:tailEnd type="none" w="med" len="med"/>
                    </a:lnL>
                    <a:lnR w="9525" cap="flat" cmpd="sng" algn="ctr">
                      <a:solidFill>
                        <a:srgbClr val="D6E3E8"/>
                      </a:solidFill>
                      <a:prstDash val="solid"/>
                      <a:round/>
                      <a:headEnd type="none" w="med" len="med"/>
                      <a:tailEnd type="none" w="med" len="med"/>
                    </a:lnR>
                    <a:lnT w="9525" cap="flat" cmpd="sng" algn="ctr">
                      <a:solidFill>
                        <a:srgbClr val="D6E3E8"/>
                      </a:solidFill>
                      <a:prstDash val="solid"/>
                      <a:round/>
                      <a:headEnd type="none" w="med" len="med"/>
                      <a:tailEnd type="none" w="med" len="med"/>
                    </a:lnT>
                    <a:lnB w="9525" cap="flat" cmpd="sng" algn="ctr">
                      <a:solidFill>
                        <a:srgbClr val="D6E3E8"/>
                      </a:solidFill>
                      <a:prstDash val="solid"/>
                      <a:round/>
                      <a:headEnd type="none" w="med" len="med"/>
                      <a:tailEnd type="none" w="med" len="med"/>
                    </a:lnB>
                    <a:solidFill>
                      <a:srgbClr val="EAF2F6"/>
                    </a:solidFill>
                  </a:tcPr>
                </a:tc>
                <a:tc>
                  <a:txBody>
                    <a:bodyPr/>
                    <a:lstStyle/>
                    <a:p>
                      <a:pPr indent="0" marL="0">
                        <a:buNone/>
                      </a:pPr>
                      <a:r>
                        <a:rPr lang="en-US" sz="1300" dirty="0">
                          <a:solidFill>
                            <a:srgbClr val="1A1A2E"/>
                          </a:solidFill>
                          <a:latin typeface="BIZ UDゴシック" pitchFamily="34" charset="0"/>
                          <a:ea typeface="BIZ UDゴシック" pitchFamily="34" charset="-122"/>
                          <a:cs typeface="BIZ UDゴシック" pitchFamily="34" charset="-120"/>
                        </a:rPr>
                        <a:t>UI構成を動的変更</a:t>
                      </a:r>
                      <a:endParaRPr lang="en-US" sz="1300" dirty="0">
                        <a:latin typeface="BIZ UDゴシック" charset="0"/>
                        <a:ea typeface="BIZ UDゴシック" charset="0"/>
                        <a:cs typeface="BIZ UDゴシック" charset="0"/>
                      </a:endParaRPr>
                    </a:p>
                  </a:txBody>
                  <a:tcPr marL="91440" marR="91440" marT="45720" marB="45720" anchor="ctr">
                    <a:lnL w="9525" cap="flat" cmpd="sng" algn="ctr">
                      <a:solidFill>
                        <a:srgbClr val="D6E3E8"/>
                      </a:solidFill>
                      <a:prstDash val="solid"/>
                      <a:round/>
                      <a:headEnd type="none" w="med" len="med"/>
                      <a:tailEnd type="none" w="med" len="med"/>
                    </a:lnL>
                    <a:lnR w="9525" cap="flat" cmpd="sng" algn="ctr">
                      <a:solidFill>
                        <a:srgbClr val="D6E3E8"/>
                      </a:solidFill>
                      <a:prstDash val="solid"/>
                      <a:round/>
                      <a:headEnd type="none" w="med" len="med"/>
                      <a:tailEnd type="none" w="med" len="med"/>
                    </a:lnR>
                    <a:lnT w="9525" cap="flat" cmpd="sng" algn="ctr">
                      <a:solidFill>
                        <a:srgbClr val="D6E3E8"/>
                      </a:solidFill>
                      <a:prstDash val="solid"/>
                      <a:round/>
                      <a:headEnd type="none" w="med" len="med"/>
                      <a:tailEnd type="none" w="med" len="med"/>
                    </a:lnT>
                    <a:lnB w="9525" cap="flat" cmpd="sng" algn="ctr">
                      <a:solidFill>
                        <a:srgbClr val="D6E3E8"/>
                      </a:solidFill>
                      <a:prstDash val="solid"/>
                      <a:round/>
                      <a:headEnd type="none" w="med" len="med"/>
                      <a:tailEnd type="none" w="med" len="med"/>
                    </a:lnB>
                    <a:solidFill>
                      <a:srgbClr val="EAF2F6"/>
                    </a:solidFill>
                  </a:tcPr>
                </a:tc>
              </a:tr>
              <a:tr h="457200">
                <a:tc>
                  <a:txBody>
                    <a:bodyPr/>
                    <a:lstStyle/>
                    <a:p>
                      <a:pPr indent="0" marL="0">
                        <a:buNone/>
                      </a:pPr>
                      <a:r>
                        <a:rPr lang="en-US" sz="1300" b="1" dirty="0">
                          <a:solidFill>
                            <a:srgbClr val="21295C"/>
                          </a:solidFill>
                          <a:latin typeface="BIZ UDゴシック" pitchFamily="34" charset="0"/>
                          <a:ea typeface="BIZ UDゴシック" pitchFamily="34" charset="-122"/>
                          <a:cs typeface="BIZ UDゴシック" pitchFamily="34" charset="-120"/>
                        </a:rPr>
                        <a:t>拡張</a:t>
                      </a:r>
                      <a:endParaRPr lang="en-US" sz="1300" dirty="0">
                        <a:latin typeface="BIZ UDゴシック" charset="0"/>
                        <a:ea typeface="BIZ UDゴシック" charset="0"/>
                        <a:cs typeface="BIZ UDゴシック" charset="0"/>
                      </a:endParaRPr>
                    </a:p>
                  </a:txBody>
                  <a:tcPr marL="91440" marR="91440" marT="45720" marB="45720" anchor="ctr">
                    <a:lnL w="9525" cap="flat" cmpd="sng" algn="ctr">
                      <a:solidFill>
                        <a:srgbClr val="D6E3E8"/>
                      </a:solidFill>
                      <a:prstDash val="solid"/>
                      <a:round/>
                      <a:headEnd type="none" w="med" len="med"/>
                      <a:tailEnd type="none" w="med" len="med"/>
                    </a:lnL>
                    <a:lnR w="9525" cap="flat" cmpd="sng" algn="ctr">
                      <a:solidFill>
                        <a:srgbClr val="D6E3E8"/>
                      </a:solidFill>
                      <a:prstDash val="solid"/>
                      <a:round/>
                      <a:headEnd type="none" w="med" len="med"/>
                      <a:tailEnd type="none" w="med" len="med"/>
                    </a:lnR>
                    <a:lnT w="9525" cap="flat" cmpd="sng" algn="ctr">
                      <a:solidFill>
                        <a:srgbClr val="D6E3E8"/>
                      </a:solidFill>
                      <a:prstDash val="solid"/>
                      <a:round/>
                      <a:headEnd type="none" w="med" len="med"/>
                      <a:tailEnd type="none" w="med" len="med"/>
                    </a:lnT>
                    <a:lnB w="9525" cap="flat" cmpd="sng" algn="ctr">
                      <a:solidFill>
                        <a:srgbClr val="D6E3E8"/>
                      </a:solidFill>
                      <a:prstDash val="solid"/>
                      <a:round/>
                      <a:headEnd type="none" w="med" len="med"/>
                      <a:tailEnd type="none" w="med" len="med"/>
                    </a:lnB>
                    <a:solidFill>
                      <a:srgbClr val="FFFFFF"/>
                    </a:solidFill>
                  </a:tcPr>
                </a:tc>
                <a:tc>
                  <a:txBody>
                    <a:bodyPr/>
                    <a:lstStyle/>
                    <a:p>
                      <a:pPr indent="0" marL="0">
                        <a:buNone/>
                      </a:pPr>
                      <a:r>
                        <a:rPr lang="en-US" sz="1300" dirty="0">
                          <a:solidFill>
                            <a:srgbClr val="1A1A2E"/>
                          </a:solidFill>
                          <a:latin typeface="BIZ UDゴシック" pitchFamily="34" charset="0"/>
                          <a:ea typeface="BIZ UDゴシック" pitchFamily="34" charset="-122"/>
                          <a:cs typeface="BIZ UDゴシック" pitchFamily="34" charset="-120"/>
                        </a:rPr>
                        <a:t>画面改修</a:t>
                      </a:r>
                      <a:endParaRPr lang="en-US" sz="1300" dirty="0">
                        <a:latin typeface="BIZ UDゴシック" charset="0"/>
                        <a:ea typeface="BIZ UDゴシック" charset="0"/>
                        <a:cs typeface="BIZ UDゴシック" charset="0"/>
                      </a:endParaRPr>
                    </a:p>
                  </a:txBody>
                  <a:tcPr marL="91440" marR="91440" marT="45720" marB="45720" anchor="ctr">
                    <a:lnL w="9525" cap="flat" cmpd="sng" algn="ctr">
                      <a:solidFill>
                        <a:srgbClr val="D6E3E8"/>
                      </a:solidFill>
                      <a:prstDash val="solid"/>
                      <a:round/>
                      <a:headEnd type="none" w="med" len="med"/>
                      <a:tailEnd type="none" w="med" len="med"/>
                    </a:lnL>
                    <a:lnR w="9525" cap="flat" cmpd="sng" algn="ctr">
                      <a:solidFill>
                        <a:srgbClr val="D6E3E8"/>
                      </a:solidFill>
                      <a:prstDash val="solid"/>
                      <a:round/>
                      <a:headEnd type="none" w="med" len="med"/>
                      <a:tailEnd type="none" w="med" len="med"/>
                    </a:lnR>
                    <a:lnT w="9525" cap="flat" cmpd="sng" algn="ctr">
                      <a:solidFill>
                        <a:srgbClr val="D6E3E8"/>
                      </a:solidFill>
                      <a:prstDash val="solid"/>
                      <a:round/>
                      <a:headEnd type="none" w="med" len="med"/>
                      <a:tailEnd type="none" w="med" len="med"/>
                    </a:lnT>
                    <a:lnB w="9525" cap="flat" cmpd="sng" algn="ctr">
                      <a:solidFill>
                        <a:srgbClr val="D6E3E8"/>
                      </a:solidFill>
                      <a:prstDash val="solid"/>
                      <a:round/>
                      <a:headEnd type="none" w="med" len="med"/>
                      <a:tailEnd type="none" w="med" len="med"/>
                    </a:lnB>
                    <a:solidFill>
                      <a:srgbClr val="FFFFFF"/>
                    </a:solidFill>
                  </a:tcPr>
                </a:tc>
                <a:tc>
                  <a:txBody>
                    <a:bodyPr/>
                    <a:lstStyle/>
                    <a:p>
                      <a:pPr indent="0" marL="0">
                        <a:buNone/>
                      </a:pPr>
                      <a:r>
                        <a:rPr lang="en-US" sz="1300" dirty="0">
                          <a:solidFill>
                            <a:srgbClr val="1A1A2E"/>
                          </a:solidFill>
                          <a:latin typeface="BIZ UDゴシック" pitchFamily="34" charset="0"/>
                          <a:ea typeface="BIZ UDゴシック" pitchFamily="34" charset="-122"/>
                          <a:cs typeface="BIZ UDゴシック" pitchFamily="34" charset="-120"/>
                        </a:rPr>
                        <a:t>Component追加</a:t>
                      </a:r>
                      <a:endParaRPr lang="en-US" sz="1300" dirty="0">
                        <a:latin typeface="BIZ UDゴシック" charset="0"/>
                        <a:ea typeface="BIZ UDゴシック" charset="0"/>
                        <a:cs typeface="BIZ UDゴシック" charset="0"/>
                      </a:endParaRPr>
                    </a:p>
                  </a:txBody>
                  <a:tcPr marL="91440" marR="91440" marT="45720" marB="45720" anchor="ctr">
                    <a:lnL w="9525" cap="flat" cmpd="sng" algn="ctr">
                      <a:solidFill>
                        <a:srgbClr val="D6E3E8"/>
                      </a:solidFill>
                      <a:prstDash val="solid"/>
                      <a:round/>
                      <a:headEnd type="none" w="med" len="med"/>
                      <a:tailEnd type="none" w="med" len="med"/>
                    </a:lnL>
                    <a:lnR w="9525" cap="flat" cmpd="sng" algn="ctr">
                      <a:solidFill>
                        <a:srgbClr val="D6E3E8"/>
                      </a:solidFill>
                      <a:prstDash val="solid"/>
                      <a:round/>
                      <a:headEnd type="none" w="med" len="med"/>
                      <a:tailEnd type="none" w="med" len="med"/>
                    </a:lnR>
                    <a:lnT w="9525" cap="flat" cmpd="sng" algn="ctr">
                      <a:solidFill>
                        <a:srgbClr val="D6E3E8"/>
                      </a:solidFill>
                      <a:prstDash val="solid"/>
                      <a:round/>
                      <a:headEnd type="none" w="med" len="med"/>
                      <a:tailEnd type="none" w="med" len="med"/>
                    </a:lnT>
                    <a:lnB w="9525" cap="flat" cmpd="sng" algn="ctr">
                      <a:solidFill>
                        <a:srgbClr val="D6E3E8"/>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502920"/>
            <a:ext cx="566928" cy="566928"/>
          </a:xfrm>
          <a:prstGeom prst="ellipse">
            <a:avLst/>
          </a:prstGeom>
          <a:solidFill>
            <a:srgbClr val="21295C"/>
          </a:solidFill>
          <a:ln/>
        </p:spPr>
      </p:sp>
      <p:sp>
        <p:nvSpPr>
          <p:cNvPr id="3" name="Text 1"/>
          <p:cNvSpPr/>
          <p:nvPr/>
        </p:nvSpPr>
        <p:spPr>
          <a:xfrm>
            <a:off x="548640" y="502920"/>
            <a:ext cx="566928" cy="566928"/>
          </a:xfrm>
          <a:prstGeom prst="rect">
            <a:avLst/>
          </a:prstGeom>
          <a:noFill/>
          <a:ln/>
        </p:spPr>
        <p:txBody>
          <a:bodyPr wrap="square" lIns="0" tIns="0" rIns="0" bIns="0" rtlCol="0" anchor="ctr"/>
          <a:lstStyle/>
          <a:p>
            <a:pPr algn="ctr" indent="0" marL="0">
              <a:buNone/>
            </a:pPr>
            <a:r>
              <a:rPr lang="en-US" sz="1500" b="1" dirty="0">
                <a:solidFill>
                  <a:srgbClr val="FFFFFF"/>
                </a:solidFill>
                <a:latin typeface="BIZ UDゴシック" pitchFamily="34" charset="0"/>
                <a:ea typeface="BIZ UDゴシック" pitchFamily="34" charset="-122"/>
                <a:cs typeface="BIZ UDゴシック" pitchFamily="34" charset="-120"/>
              </a:rPr>
              <a:t>29</a:t>
            </a:r>
            <a:endParaRPr lang="en-US" sz="1500" dirty="0"/>
          </a:p>
        </p:txBody>
      </p:sp>
      <p:sp>
        <p:nvSpPr>
          <p:cNvPr id="4" name="Text 2"/>
          <p:cNvSpPr/>
          <p:nvPr/>
        </p:nvSpPr>
        <p:spPr>
          <a:xfrm>
            <a:off x="1280160" y="438912"/>
            <a:ext cx="10362895" cy="274320"/>
          </a:xfrm>
          <a:prstGeom prst="rect">
            <a:avLst/>
          </a:prstGeom>
          <a:noFill/>
          <a:ln/>
        </p:spPr>
        <p:txBody>
          <a:bodyPr wrap="square" lIns="0" tIns="0" rIns="0" bIns="0" rtlCol="0" anchor="ctr"/>
          <a:lstStyle/>
          <a:p>
            <a:pPr indent="0" marL="0">
              <a:buNone/>
            </a:pPr>
            <a:r>
              <a:rPr lang="en-US" sz="1100" b="1" spc="100" kern="0" dirty="0">
                <a:solidFill>
                  <a:srgbClr val="1C7293"/>
                </a:solidFill>
                <a:latin typeface="BIZ UDゴシック" pitchFamily="34" charset="0"/>
                <a:ea typeface="BIZ UDゴシック" pitchFamily="34" charset="-122"/>
                <a:cs typeface="BIZ UDゴシック" pitchFamily="34" charset="-120"/>
              </a:rPr>
              <a:t>SECTION 29</a:t>
            </a:r>
            <a:endParaRPr lang="en-US" sz="1100" dirty="0"/>
          </a:p>
        </p:txBody>
      </p:sp>
      <p:sp>
        <p:nvSpPr>
          <p:cNvPr id="5" name="Text 3"/>
          <p:cNvSpPr/>
          <p:nvPr/>
        </p:nvSpPr>
        <p:spPr>
          <a:xfrm>
            <a:off x="1280160" y="713232"/>
            <a:ext cx="10362895" cy="566928"/>
          </a:xfrm>
          <a:prstGeom prst="rect">
            <a:avLst/>
          </a:prstGeom>
          <a:noFill/>
          <a:ln/>
        </p:spPr>
        <p:txBody>
          <a:bodyPr wrap="square" lIns="0" tIns="0" rIns="0" bIns="0" rtlCol="0" anchor="t"/>
          <a:lstStyle/>
          <a:p>
            <a:pPr indent="0" marL="0">
              <a:buNone/>
            </a:pPr>
            <a:r>
              <a:rPr lang="en-US" sz="2500" b="1" dirty="0">
                <a:solidFill>
                  <a:srgbClr val="1A1A2E"/>
                </a:solidFill>
                <a:latin typeface="BIZ UDゴシック" pitchFamily="34" charset="0"/>
                <a:ea typeface="BIZ UDゴシック" pitchFamily="34" charset="-122"/>
                <a:cs typeface="BIZ UDゴシック" pitchFamily="34" charset="-120"/>
              </a:rPr>
              <a:t>セキュリティ上の考慮点</a:t>
            </a:r>
            <a:endParaRPr lang="en-US" sz="2500" dirty="0"/>
          </a:p>
        </p:txBody>
      </p:sp>
      <p:sp>
        <p:nvSpPr>
          <p:cNvPr id="6" name="Text 4"/>
          <p:cNvSpPr/>
          <p:nvPr/>
        </p:nvSpPr>
        <p:spPr>
          <a:xfrm>
            <a:off x="548640" y="6446520"/>
            <a:ext cx="4572000" cy="274320"/>
          </a:xfrm>
          <a:prstGeom prst="rect">
            <a:avLst/>
          </a:prstGeom>
          <a:noFill/>
          <a:ln/>
        </p:spPr>
        <p:txBody>
          <a:bodyPr wrap="square" lIns="0" tIns="0" rIns="0" bIns="0" rtlCol="0" anchor="ctr"/>
          <a:lstStyle/>
          <a:p>
            <a:pPr indent="0" marL="0">
              <a:buNone/>
            </a:pPr>
            <a:r>
              <a:rPr lang="en-US" sz="900" dirty="0">
                <a:solidFill>
                  <a:srgbClr val="5C6B73"/>
                </a:solidFill>
                <a:latin typeface="BIZ UDゴシック" pitchFamily="34" charset="0"/>
                <a:ea typeface="BIZ UDゴシック" pitchFamily="34" charset="-122"/>
                <a:cs typeface="BIZ UDゴシック" pitchFamily="34" charset="-120"/>
              </a:rPr>
              <a:t>Observability AI PoC</a:t>
            </a:r>
            <a:endParaRPr lang="en-US" sz="900" dirty="0"/>
          </a:p>
        </p:txBody>
      </p:sp>
      <p:sp>
        <p:nvSpPr>
          <p:cNvPr id="7" name="Text 5"/>
          <p:cNvSpPr/>
          <p:nvPr/>
        </p:nvSpPr>
        <p:spPr>
          <a:xfrm>
            <a:off x="9814255" y="6446520"/>
            <a:ext cx="1828800" cy="274320"/>
          </a:xfrm>
          <a:prstGeom prst="rect">
            <a:avLst/>
          </a:prstGeom>
          <a:noFill/>
          <a:ln/>
        </p:spPr>
        <p:txBody>
          <a:bodyPr wrap="square" lIns="0" tIns="0" rIns="0" bIns="0" rtlCol="0" anchor="ctr"/>
          <a:lstStyle/>
          <a:p>
            <a:pPr algn="r" indent="0" marL="0">
              <a:buNone/>
            </a:pPr>
            <a:r>
              <a:rPr lang="en-US" sz="900" dirty="0">
                <a:solidFill>
                  <a:srgbClr val="5C6B73"/>
                </a:solidFill>
                <a:latin typeface="BIZ UDゴシック" pitchFamily="34" charset="0"/>
                <a:ea typeface="BIZ UDゴシック" pitchFamily="34" charset="-122"/>
                <a:cs typeface="BIZ UDゴシック" pitchFamily="34" charset="-120"/>
              </a:rPr>
              <a:t>29</a:t>
            </a:r>
            <a:endParaRPr lang="en-US" sz="900" dirty="0"/>
          </a:p>
        </p:txBody>
      </p:sp>
      <p:sp>
        <p:nvSpPr>
          <p:cNvPr id="8" name="Shape 6"/>
          <p:cNvSpPr/>
          <p:nvPr/>
        </p:nvSpPr>
        <p:spPr>
          <a:xfrm>
            <a:off x="1280160" y="1508760"/>
            <a:ext cx="10362895" cy="1051560"/>
          </a:xfrm>
          <a:prstGeom prst="roundRect">
            <a:avLst>
              <a:gd name="adj" fmla="val 6957"/>
            </a:avLst>
          </a:prstGeom>
          <a:solidFill>
            <a:srgbClr val="EAF2F6"/>
          </a:solidFill>
          <a:ln/>
        </p:spPr>
      </p:sp>
      <p:sp>
        <p:nvSpPr>
          <p:cNvPr id="9" name="Shape 7"/>
          <p:cNvSpPr/>
          <p:nvPr/>
        </p:nvSpPr>
        <p:spPr>
          <a:xfrm>
            <a:off x="1463040" y="1691640"/>
            <a:ext cx="1636776" cy="310896"/>
          </a:xfrm>
          <a:prstGeom prst="roundRect">
            <a:avLst>
              <a:gd name="adj" fmla="val 17647"/>
            </a:avLst>
          </a:prstGeom>
          <a:solidFill>
            <a:srgbClr val="065A82"/>
          </a:solidFill>
          <a:ln/>
        </p:spPr>
      </p:sp>
      <p:sp>
        <p:nvSpPr>
          <p:cNvPr id="10" name="Text 8"/>
          <p:cNvSpPr/>
          <p:nvPr/>
        </p:nvSpPr>
        <p:spPr>
          <a:xfrm>
            <a:off x="1463040" y="1691640"/>
            <a:ext cx="163677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BIZ UDゴシック" pitchFamily="34" charset="0"/>
                <a:ea typeface="BIZ UDゴシック" pitchFamily="34" charset="-122"/>
                <a:cs typeface="BIZ UDゴシック" pitchFamily="34" charset="-120"/>
              </a:rPr>
              <a:t>Read-Only</a:t>
            </a:r>
            <a:endParaRPr lang="en-US" sz="1100" dirty="0"/>
          </a:p>
        </p:txBody>
      </p:sp>
      <p:sp>
        <p:nvSpPr>
          <p:cNvPr id="11" name="Text 9"/>
          <p:cNvSpPr/>
          <p:nvPr/>
        </p:nvSpPr>
        <p:spPr>
          <a:xfrm>
            <a:off x="3566160" y="1691640"/>
            <a:ext cx="7802575" cy="777240"/>
          </a:xfrm>
          <a:prstGeom prst="rect">
            <a:avLst/>
          </a:prstGeom>
          <a:noFill/>
          <a:ln/>
        </p:spPr>
        <p:txBody>
          <a:bodyPr wrap="square" lIns="0" tIns="0" rIns="0" bIns="0" rtlCol="0" anchor="t"/>
          <a:lstStyle/>
          <a:p>
            <a:pPr indent="0" marL="0">
              <a:lnSpc>
                <a:spcPct val="125000"/>
              </a:lnSpc>
              <a:buNone/>
            </a:pPr>
            <a:r>
              <a:rPr lang="en-US" sz="1200" dirty="0">
                <a:solidFill>
                  <a:srgbClr val="1A1A2E"/>
                </a:solidFill>
                <a:latin typeface="BIZ UDゴシック" pitchFamily="34" charset="0"/>
                <a:ea typeface="BIZ UDゴシック" pitchFamily="34" charset="-122"/>
                <a:cs typeface="BIZ UDゴシック" pitchFamily="34" charset="-120"/>
              </a:rPr>
              <a:t>Splunk / New Relicは検索用途のみ。</a:t>
            </a:r>
            <a:endParaRPr lang="en-US" sz="1200" dirty="0"/>
          </a:p>
        </p:txBody>
      </p:sp>
      <p:sp>
        <p:nvSpPr>
          <p:cNvPr id="12" name="Shape 10"/>
          <p:cNvSpPr/>
          <p:nvPr/>
        </p:nvSpPr>
        <p:spPr>
          <a:xfrm>
            <a:off x="1280160" y="2697480"/>
            <a:ext cx="10362895" cy="1051560"/>
          </a:xfrm>
          <a:prstGeom prst="roundRect">
            <a:avLst>
              <a:gd name="adj" fmla="val 6957"/>
            </a:avLst>
          </a:prstGeom>
          <a:solidFill>
            <a:srgbClr val="EAF2F6"/>
          </a:solidFill>
          <a:ln/>
        </p:spPr>
      </p:sp>
      <p:sp>
        <p:nvSpPr>
          <p:cNvPr id="13" name="Shape 11"/>
          <p:cNvSpPr/>
          <p:nvPr/>
        </p:nvSpPr>
        <p:spPr>
          <a:xfrm>
            <a:off x="1463040" y="2880360"/>
            <a:ext cx="1197864" cy="310896"/>
          </a:xfrm>
          <a:prstGeom prst="roundRect">
            <a:avLst>
              <a:gd name="adj" fmla="val 17647"/>
            </a:avLst>
          </a:prstGeom>
          <a:solidFill>
            <a:srgbClr val="065A82"/>
          </a:solidFill>
          <a:ln/>
        </p:spPr>
      </p:sp>
      <p:sp>
        <p:nvSpPr>
          <p:cNvPr id="14" name="Text 12"/>
          <p:cNvSpPr/>
          <p:nvPr/>
        </p:nvSpPr>
        <p:spPr>
          <a:xfrm>
            <a:off x="1463040" y="2880360"/>
            <a:ext cx="1197864"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BIZ UDゴシック" pitchFamily="34" charset="0"/>
                <a:ea typeface="BIZ UDゴシック" pitchFamily="34" charset="-122"/>
                <a:cs typeface="BIZ UDゴシック" pitchFamily="34" charset="-120"/>
              </a:rPr>
              <a:t>Secret</a:t>
            </a:r>
            <a:endParaRPr lang="en-US" sz="1100" dirty="0"/>
          </a:p>
        </p:txBody>
      </p:sp>
      <p:sp>
        <p:nvSpPr>
          <p:cNvPr id="15" name="Text 13"/>
          <p:cNvSpPr/>
          <p:nvPr/>
        </p:nvSpPr>
        <p:spPr>
          <a:xfrm>
            <a:off x="3566160" y="2880360"/>
            <a:ext cx="7802575" cy="777240"/>
          </a:xfrm>
          <a:prstGeom prst="rect">
            <a:avLst/>
          </a:prstGeom>
          <a:noFill/>
          <a:ln/>
        </p:spPr>
        <p:txBody>
          <a:bodyPr wrap="square" lIns="0" tIns="0" rIns="0" bIns="0" rtlCol="0" anchor="t"/>
          <a:lstStyle/>
          <a:p>
            <a:pPr indent="0" marL="0">
              <a:lnSpc>
                <a:spcPct val="125000"/>
              </a:lnSpc>
              <a:buNone/>
            </a:pPr>
            <a:r>
              <a:rPr lang="en-US" sz="1200" dirty="0">
                <a:solidFill>
                  <a:srgbClr val="1A1A2E"/>
                </a:solidFill>
                <a:latin typeface="BIZ UDゴシック" pitchFamily="34" charset="0"/>
                <a:ea typeface="BIZ UDゴシック" pitchFamily="34" charset="-122"/>
                <a:cs typeface="BIZ UDゴシック" pitchFamily="34" charset="-120"/>
              </a:rPr>
              <a:t>.envへ格納し、ZIPには含めない。対象：API key / Token / Proxy password / Splunk password</a:t>
            </a:r>
            <a:endParaRPr lang="en-US" sz="1200" dirty="0"/>
          </a:p>
        </p:txBody>
      </p:sp>
      <p:sp>
        <p:nvSpPr>
          <p:cNvPr id="16" name="Shape 14"/>
          <p:cNvSpPr/>
          <p:nvPr/>
        </p:nvSpPr>
        <p:spPr>
          <a:xfrm>
            <a:off x="1280160" y="3886200"/>
            <a:ext cx="10362895" cy="1051560"/>
          </a:xfrm>
          <a:prstGeom prst="roundRect">
            <a:avLst>
              <a:gd name="adj" fmla="val 6957"/>
            </a:avLst>
          </a:prstGeom>
          <a:solidFill>
            <a:srgbClr val="EAF2F6"/>
          </a:solidFill>
          <a:ln/>
        </p:spPr>
      </p:sp>
      <p:sp>
        <p:nvSpPr>
          <p:cNvPr id="17" name="Shape 15"/>
          <p:cNvSpPr/>
          <p:nvPr/>
        </p:nvSpPr>
        <p:spPr>
          <a:xfrm>
            <a:off x="1463040" y="4069080"/>
            <a:ext cx="1783080" cy="310896"/>
          </a:xfrm>
          <a:prstGeom prst="roundRect">
            <a:avLst>
              <a:gd name="adj" fmla="val 17647"/>
            </a:avLst>
          </a:prstGeom>
          <a:solidFill>
            <a:srgbClr val="065A82"/>
          </a:solidFill>
          <a:ln/>
        </p:spPr>
      </p:sp>
      <p:sp>
        <p:nvSpPr>
          <p:cNvPr id="18" name="Text 16"/>
          <p:cNvSpPr/>
          <p:nvPr/>
        </p:nvSpPr>
        <p:spPr>
          <a:xfrm>
            <a:off x="1463040" y="4069080"/>
            <a:ext cx="1783080"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BIZ UDゴシック" pitchFamily="34" charset="0"/>
                <a:ea typeface="BIZ UDゴシック" pitchFamily="34" charset="-122"/>
                <a:cs typeface="BIZ UDゴシック" pitchFamily="34" charset="-120"/>
              </a:rPr>
              <a:t>Zscaler CA</a:t>
            </a:r>
            <a:endParaRPr lang="en-US" sz="1100" dirty="0"/>
          </a:p>
        </p:txBody>
      </p:sp>
      <p:sp>
        <p:nvSpPr>
          <p:cNvPr id="19" name="Text 17"/>
          <p:cNvSpPr/>
          <p:nvPr/>
        </p:nvSpPr>
        <p:spPr>
          <a:xfrm>
            <a:off x="3566160" y="4069080"/>
            <a:ext cx="7802575" cy="777240"/>
          </a:xfrm>
          <a:prstGeom prst="rect">
            <a:avLst/>
          </a:prstGeom>
          <a:noFill/>
          <a:ln/>
        </p:spPr>
        <p:txBody>
          <a:bodyPr wrap="square" lIns="0" tIns="0" rIns="0" bIns="0" rtlCol="0" anchor="t"/>
          <a:lstStyle/>
          <a:p>
            <a:pPr indent="0" marL="0">
              <a:lnSpc>
                <a:spcPct val="125000"/>
              </a:lnSpc>
              <a:buNone/>
            </a:pPr>
            <a:r>
              <a:rPr lang="en-US" sz="1200" dirty="0">
                <a:solidFill>
                  <a:srgbClr val="1A1A2E"/>
                </a:solidFill>
                <a:latin typeface="BIZ UDゴシック" pitchFamily="34" charset="0"/>
                <a:ea typeface="BIZ UDゴシック" pitchFamily="34" charset="-122"/>
                <a:cs typeface="BIZ UDゴシック" pitchFamily="34" charset="-120"/>
              </a:rPr>
              <a:t>実CAファイルは配布物に含めない。利用環境側で certs/zscaler-ca.crt へ配置する。</a:t>
            </a:r>
            <a:endParaRPr lang="en-US" sz="1200" dirty="0"/>
          </a:p>
        </p:txBody>
      </p:sp>
      <p:sp>
        <p:nvSpPr>
          <p:cNvPr id="20" name="Shape 18"/>
          <p:cNvSpPr/>
          <p:nvPr/>
        </p:nvSpPr>
        <p:spPr>
          <a:xfrm>
            <a:off x="1280160" y="5074920"/>
            <a:ext cx="10362895" cy="1051560"/>
          </a:xfrm>
          <a:prstGeom prst="roundRect">
            <a:avLst>
              <a:gd name="adj" fmla="val 6957"/>
            </a:avLst>
          </a:prstGeom>
          <a:solidFill>
            <a:srgbClr val="EAF2F6"/>
          </a:solidFill>
          <a:ln/>
        </p:spPr>
      </p:sp>
      <p:sp>
        <p:nvSpPr>
          <p:cNvPr id="21" name="Shape 19"/>
          <p:cNvSpPr/>
          <p:nvPr/>
        </p:nvSpPr>
        <p:spPr>
          <a:xfrm>
            <a:off x="1463040" y="5257800"/>
            <a:ext cx="1344168" cy="310896"/>
          </a:xfrm>
          <a:prstGeom prst="roundRect">
            <a:avLst>
              <a:gd name="adj" fmla="val 17647"/>
            </a:avLst>
          </a:prstGeom>
          <a:solidFill>
            <a:srgbClr val="065A82"/>
          </a:solidFill>
          <a:ln/>
        </p:spPr>
      </p:sp>
      <p:sp>
        <p:nvSpPr>
          <p:cNvPr id="22" name="Text 20"/>
          <p:cNvSpPr/>
          <p:nvPr/>
        </p:nvSpPr>
        <p:spPr>
          <a:xfrm>
            <a:off x="1463040" y="5257800"/>
            <a:ext cx="1344168"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BIZ UDゴシック" pitchFamily="34" charset="0"/>
                <a:ea typeface="BIZ UDゴシック" pitchFamily="34" charset="-122"/>
                <a:cs typeface="BIZ UDゴシック" pitchFamily="34" charset="-120"/>
              </a:rPr>
              <a:t>Proxy認証</a:t>
            </a:r>
            <a:endParaRPr lang="en-US" sz="1100" dirty="0"/>
          </a:p>
        </p:txBody>
      </p:sp>
      <p:sp>
        <p:nvSpPr>
          <p:cNvPr id="23" name="Text 21"/>
          <p:cNvSpPr/>
          <p:nvPr/>
        </p:nvSpPr>
        <p:spPr>
          <a:xfrm>
            <a:off x="3566160" y="5257800"/>
            <a:ext cx="7802575" cy="777240"/>
          </a:xfrm>
          <a:prstGeom prst="rect">
            <a:avLst/>
          </a:prstGeom>
          <a:noFill/>
          <a:ln/>
        </p:spPr>
        <p:txBody>
          <a:bodyPr wrap="square" lIns="0" tIns="0" rIns="0" bIns="0" rtlCol="0" anchor="t"/>
          <a:lstStyle/>
          <a:p>
            <a:pPr indent="0" marL="0">
              <a:lnSpc>
                <a:spcPct val="125000"/>
              </a:lnSpc>
              <a:buNone/>
            </a:pPr>
            <a:r>
              <a:rPr lang="en-US" sz="1200" dirty="0">
                <a:solidFill>
                  <a:srgbClr val="1A1A2E"/>
                </a:solidFill>
                <a:latin typeface="BIZ UDゴシック" pitchFamily="34" charset="0"/>
                <a:ea typeface="BIZ UDゴシック" pitchFamily="34" charset="-122"/>
                <a:cs typeface="BIZ UDゴシック" pitchFamily="34" charset="-120"/>
              </a:rPr>
              <a:t>Proxy URLをログへ出さない。特に docker compose config はSecretが表示される可能性があるため注意する。</a:t>
            </a:r>
            <a:endParaRPr lang="en-US" sz="12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502920"/>
            <a:ext cx="566928" cy="566928"/>
          </a:xfrm>
          <a:prstGeom prst="ellipse">
            <a:avLst/>
          </a:prstGeom>
          <a:solidFill>
            <a:srgbClr val="21295C"/>
          </a:solidFill>
          <a:ln/>
        </p:spPr>
      </p:sp>
      <p:sp>
        <p:nvSpPr>
          <p:cNvPr id="3" name="Text 1"/>
          <p:cNvSpPr/>
          <p:nvPr/>
        </p:nvSpPr>
        <p:spPr>
          <a:xfrm>
            <a:off x="548640" y="502920"/>
            <a:ext cx="566928" cy="566928"/>
          </a:xfrm>
          <a:prstGeom prst="rect">
            <a:avLst/>
          </a:prstGeom>
          <a:noFill/>
          <a:ln/>
        </p:spPr>
        <p:txBody>
          <a:bodyPr wrap="square" lIns="0" tIns="0" rIns="0" bIns="0" rtlCol="0" anchor="ctr"/>
          <a:lstStyle/>
          <a:p>
            <a:pPr algn="ctr" indent="0" marL="0">
              <a:buNone/>
            </a:pPr>
            <a:r>
              <a:rPr lang="en-US" sz="1500" b="1" dirty="0">
                <a:solidFill>
                  <a:srgbClr val="FFFFFF"/>
                </a:solidFill>
                <a:latin typeface="BIZ UDゴシック" pitchFamily="34" charset="0"/>
                <a:ea typeface="BIZ UDゴシック" pitchFamily="34" charset="-122"/>
                <a:cs typeface="BIZ UDゴシック" pitchFamily="34" charset="-120"/>
              </a:rPr>
              <a:t>30</a:t>
            </a:r>
            <a:endParaRPr lang="en-US" sz="1500" dirty="0"/>
          </a:p>
        </p:txBody>
      </p:sp>
      <p:sp>
        <p:nvSpPr>
          <p:cNvPr id="4" name="Text 2"/>
          <p:cNvSpPr/>
          <p:nvPr/>
        </p:nvSpPr>
        <p:spPr>
          <a:xfrm>
            <a:off x="1280160" y="438912"/>
            <a:ext cx="10362895" cy="274320"/>
          </a:xfrm>
          <a:prstGeom prst="rect">
            <a:avLst/>
          </a:prstGeom>
          <a:noFill/>
          <a:ln/>
        </p:spPr>
        <p:txBody>
          <a:bodyPr wrap="square" lIns="0" tIns="0" rIns="0" bIns="0" rtlCol="0" anchor="ctr"/>
          <a:lstStyle/>
          <a:p>
            <a:pPr indent="0" marL="0">
              <a:buNone/>
            </a:pPr>
            <a:r>
              <a:rPr lang="en-US" sz="1100" b="1" spc="100" kern="0" dirty="0">
                <a:solidFill>
                  <a:srgbClr val="1C7293"/>
                </a:solidFill>
                <a:latin typeface="BIZ UDゴシック" pitchFamily="34" charset="0"/>
                <a:ea typeface="BIZ UDゴシック" pitchFamily="34" charset="-122"/>
                <a:cs typeface="BIZ UDゴシック" pitchFamily="34" charset="-120"/>
              </a:rPr>
              <a:t>SECTION 30</a:t>
            </a:r>
            <a:endParaRPr lang="en-US" sz="1100" dirty="0"/>
          </a:p>
        </p:txBody>
      </p:sp>
      <p:sp>
        <p:nvSpPr>
          <p:cNvPr id="5" name="Text 3"/>
          <p:cNvSpPr/>
          <p:nvPr/>
        </p:nvSpPr>
        <p:spPr>
          <a:xfrm>
            <a:off x="1280160" y="713232"/>
            <a:ext cx="10362895" cy="566928"/>
          </a:xfrm>
          <a:prstGeom prst="rect">
            <a:avLst/>
          </a:prstGeom>
          <a:noFill/>
          <a:ln/>
        </p:spPr>
        <p:txBody>
          <a:bodyPr wrap="square" lIns="0" tIns="0" rIns="0" bIns="0" rtlCol="0" anchor="t"/>
          <a:lstStyle/>
          <a:p>
            <a:pPr indent="0" marL="0">
              <a:buNone/>
            </a:pPr>
            <a:r>
              <a:rPr lang="en-US" sz="2500" b="1" dirty="0">
                <a:solidFill>
                  <a:srgbClr val="1A1A2E"/>
                </a:solidFill>
                <a:latin typeface="BIZ UDゴシック" pitchFamily="34" charset="0"/>
                <a:ea typeface="BIZ UDゴシック" pitchFamily="34" charset="-122"/>
                <a:cs typeface="BIZ UDゴシック" pitchFamily="34" charset="-120"/>
              </a:rPr>
              <a:t>今後の拡張候補</a:t>
            </a:r>
            <a:endParaRPr lang="en-US" sz="2500" dirty="0"/>
          </a:p>
        </p:txBody>
      </p:sp>
      <p:sp>
        <p:nvSpPr>
          <p:cNvPr id="6" name="Text 4"/>
          <p:cNvSpPr/>
          <p:nvPr/>
        </p:nvSpPr>
        <p:spPr>
          <a:xfrm>
            <a:off x="548640" y="6446520"/>
            <a:ext cx="4572000" cy="274320"/>
          </a:xfrm>
          <a:prstGeom prst="rect">
            <a:avLst/>
          </a:prstGeom>
          <a:noFill/>
          <a:ln/>
        </p:spPr>
        <p:txBody>
          <a:bodyPr wrap="square" lIns="0" tIns="0" rIns="0" bIns="0" rtlCol="0" anchor="ctr"/>
          <a:lstStyle/>
          <a:p>
            <a:pPr indent="0" marL="0">
              <a:buNone/>
            </a:pPr>
            <a:r>
              <a:rPr lang="en-US" sz="900" dirty="0">
                <a:solidFill>
                  <a:srgbClr val="5C6B73"/>
                </a:solidFill>
                <a:latin typeface="BIZ UDゴシック" pitchFamily="34" charset="0"/>
                <a:ea typeface="BIZ UDゴシック" pitchFamily="34" charset="-122"/>
                <a:cs typeface="BIZ UDゴシック" pitchFamily="34" charset="-120"/>
              </a:rPr>
              <a:t>Observability AI PoC</a:t>
            </a:r>
            <a:endParaRPr lang="en-US" sz="900" dirty="0"/>
          </a:p>
        </p:txBody>
      </p:sp>
      <p:sp>
        <p:nvSpPr>
          <p:cNvPr id="7" name="Text 5"/>
          <p:cNvSpPr/>
          <p:nvPr/>
        </p:nvSpPr>
        <p:spPr>
          <a:xfrm>
            <a:off x="9814255" y="6446520"/>
            <a:ext cx="1828800" cy="274320"/>
          </a:xfrm>
          <a:prstGeom prst="rect">
            <a:avLst/>
          </a:prstGeom>
          <a:noFill/>
          <a:ln/>
        </p:spPr>
        <p:txBody>
          <a:bodyPr wrap="square" lIns="0" tIns="0" rIns="0" bIns="0" rtlCol="0" anchor="ctr"/>
          <a:lstStyle/>
          <a:p>
            <a:pPr algn="r" indent="0" marL="0">
              <a:buNone/>
            </a:pPr>
            <a:r>
              <a:rPr lang="en-US" sz="900" dirty="0">
                <a:solidFill>
                  <a:srgbClr val="5C6B73"/>
                </a:solidFill>
                <a:latin typeface="BIZ UDゴシック" pitchFamily="34" charset="0"/>
                <a:ea typeface="BIZ UDゴシック" pitchFamily="34" charset="-122"/>
                <a:cs typeface="BIZ UDゴシック" pitchFamily="34" charset="-120"/>
              </a:rPr>
              <a:t>30</a:t>
            </a:r>
            <a:endParaRPr lang="en-US" sz="900" dirty="0"/>
          </a:p>
        </p:txBody>
      </p:sp>
      <p:sp>
        <p:nvSpPr>
          <p:cNvPr id="8" name="Shape 6"/>
          <p:cNvSpPr/>
          <p:nvPr/>
        </p:nvSpPr>
        <p:spPr>
          <a:xfrm>
            <a:off x="1280160" y="1508760"/>
            <a:ext cx="3271418" cy="4480560"/>
          </a:xfrm>
          <a:prstGeom prst="roundRect">
            <a:avLst>
              <a:gd name="adj" fmla="val 2236"/>
            </a:avLst>
          </a:prstGeom>
          <a:solidFill>
            <a:srgbClr val="EAF2F6"/>
          </a:solidFill>
          <a:ln/>
        </p:spPr>
      </p:sp>
      <p:sp>
        <p:nvSpPr>
          <p:cNvPr id="9" name="Shape 7"/>
          <p:cNvSpPr/>
          <p:nvPr/>
        </p:nvSpPr>
        <p:spPr>
          <a:xfrm>
            <a:off x="1280160" y="1508760"/>
            <a:ext cx="3271418" cy="548640"/>
          </a:xfrm>
          <a:prstGeom prst="roundRect">
            <a:avLst>
              <a:gd name="adj" fmla="val 13333"/>
            </a:avLst>
          </a:prstGeom>
          <a:solidFill>
            <a:srgbClr val="1C7293"/>
          </a:solidFill>
          <a:ln/>
        </p:spPr>
      </p:sp>
      <p:sp>
        <p:nvSpPr>
          <p:cNvPr id="10" name="Text 8"/>
          <p:cNvSpPr/>
          <p:nvPr/>
        </p:nvSpPr>
        <p:spPr>
          <a:xfrm>
            <a:off x="1280160" y="1508760"/>
            <a:ext cx="3271418" cy="548640"/>
          </a:xfrm>
          <a:prstGeom prst="rect">
            <a:avLst/>
          </a:prstGeom>
          <a:noFill/>
          <a:ln/>
        </p:spPr>
        <p:txBody>
          <a:bodyPr wrap="square" lIns="50800" tIns="50800" rIns="50800" bIns="50800" rtlCol="0" anchor="ctr"/>
          <a:lstStyle/>
          <a:p>
            <a:pPr algn="ctr" indent="0" marL="0">
              <a:buNone/>
            </a:pPr>
            <a:r>
              <a:rPr lang="en-US" sz="1300" b="1" dirty="0">
                <a:solidFill>
                  <a:srgbClr val="FFFFFF"/>
                </a:solidFill>
                <a:latin typeface="BIZ UDゴシック" pitchFamily="34" charset="0"/>
                <a:ea typeface="BIZ UDゴシック" pitchFamily="34" charset="-122"/>
                <a:cs typeface="BIZ UDゴシック" pitchFamily="34" charset="-120"/>
              </a:rPr>
              <a:t>Observability</a:t>
            </a:r>
            <a:endParaRPr lang="en-US" sz="1300" dirty="0"/>
          </a:p>
        </p:txBody>
      </p:sp>
      <p:sp>
        <p:nvSpPr>
          <p:cNvPr id="11" name="Text 9"/>
          <p:cNvSpPr/>
          <p:nvPr/>
        </p:nvSpPr>
        <p:spPr>
          <a:xfrm>
            <a:off x="1463040" y="2194560"/>
            <a:ext cx="2905658" cy="3566160"/>
          </a:xfrm>
          <a:prstGeom prst="rect">
            <a:avLst/>
          </a:prstGeom>
          <a:noFill/>
          <a:ln/>
        </p:spPr>
        <p:txBody>
          <a:bodyPr wrap="square" lIns="0" tIns="0" rIns="0" bIns="0" rtlCol="0" anchor="t"/>
          <a:lstStyle/>
          <a:p>
            <a:pPr marL="177800" indent="-177800">
              <a:lnSpc>
                <a:spcPct val="120000"/>
              </a:lnSpc>
              <a:spcAft>
                <a:spcPts val="1200"/>
              </a:spcAft>
              <a:buSzPct val="100000"/>
              <a:buChar char="●"/>
            </a:pPr>
            <a:r>
              <a:rPr lang="en-US" sz="1300" dirty="0">
                <a:solidFill>
                  <a:srgbClr val="1A1A2E"/>
                </a:solidFill>
                <a:latin typeface="BIZ UDゴシック" pitchFamily="34" charset="0"/>
                <a:ea typeface="BIZ UDゴシック" pitchFamily="34" charset="-122"/>
                <a:cs typeface="BIZ UDゴシック" pitchFamily="34" charset="-120"/>
              </a:rPr>
              <a:t>CloudWatch</a:t>
            </a:r>
            <a:endParaRPr lang="en-US" sz="1300" dirty="0"/>
          </a:p>
          <a:p>
            <a:pPr marL="177800" indent="-177800">
              <a:lnSpc>
                <a:spcPct val="120000"/>
              </a:lnSpc>
              <a:spcAft>
                <a:spcPts val="1200"/>
              </a:spcAft>
              <a:buSzPct val="100000"/>
              <a:buChar char="●"/>
            </a:pPr>
            <a:r>
              <a:rPr lang="en-US" sz="1300" dirty="0">
                <a:solidFill>
                  <a:srgbClr val="1A1A2E"/>
                </a:solidFill>
                <a:latin typeface="BIZ UDゴシック" pitchFamily="34" charset="0"/>
                <a:ea typeface="BIZ UDゴシック" pitchFamily="34" charset="-122"/>
                <a:cs typeface="BIZ UDゴシック" pitchFamily="34" charset="-120"/>
              </a:rPr>
              <a:t>OpenSearch</a:t>
            </a:r>
            <a:endParaRPr lang="en-US" sz="1300" dirty="0"/>
          </a:p>
          <a:p>
            <a:pPr marL="177800" indent="-177800">
              <a:lnSpc>
                <a:spcPct val="120000"/>
              </a:lnSpc>
              <a:spcAft>
                <a:spcPts val="1200"/>
              </a:spcAft>
              <a:buSzPct val="100000"/>
              <a:buChar char="●"/>
            </a:pPr>
            <a:r>
              <a:rPr lang="en-US" sz="1300" dirty="0">
                <a:solidFill>
                  <a:srgbClr val="1A1A2E"/>
                </a:solidFill>
                <a:latin typeface="BIZ UDゴシック" pitchFamily="34" charset="0"/>
                <a:ea typeface="BIZ UDゴシック" pitchFamily="34" charset="-122"/>
                <a:cs typeface="BIZ UDゴシック" pitchFamily="34" charset="-120"/>
              </a:rPr>
              <a:t>Datadog</a:t>
            </a:r>
            <a:endParaRPr lang="en-US" sz="1300" dirty="0"/>
          </a:p>
          <a:p>
            <a:pPr marL="177800" indent="-177800">
              <a:lnSpc>
                <a:spcPct val="120000"/>
              </a:lnSpc>
              <a:spcAft>
                <a:spcPts val="1200"/>
              </a:spcAft>
              <a:buSzPct val="100000"/>
              <a:buChar char="●"/>
            </a:pPr>
            <a:r>
              <a:rPr lang="en-US" sz="1300" dirty="0">
                <a:solidFill>
                  <a:srgbClr val="1A1A2E"/>
                </a:solidFill>
                <a:latin typeface="BIZ UDゴシック" pitchFamily="34" charset="0"/>
                <a:ea typeface="BIZ UDゴシック" pitchFamily="34" charset="-122"/>
                <a:cs typeface="BIZ UDゴシック" pitchFamily="34" charset="-120"/>
              </a:rPr>
              <a:t>Dynatrace</a:t>
            </a:r>
            <a:endParaRPr lang="en-US" sz="1300" dirty="0"/>
          </a:p>
          <a:p>
            <a:pPr marL="177800" indent="-177800">
              <a:lnSpc>
                <a:spcPct val="120000"/>
              </a:lnSpc>
              <a:spcAft>
                <a:spcPts val="1200"/>
              </a:spcAft>
              <a:buSzPct val="100000"/>
              <a:buChar char="●"/>
            </a:pPr>
            <a:r>
              <a:rPr lang="en-US" sz="1300" dirty="0">
                <a:solidFill>
                  <a:srgbClr val="1A1A2E"/>
                </a:solidFill>
                <a:latin typeface="BIZ UDゴシック" pitchFamily="34" charset="0"/>
                <a:ea typeface="BIZ UDゴシック" pitchFamily="34" charset="-122"/>
                <a:cs typeface="BIZ UDゴシック" pitchFamily="34" charset="-120"/>
              </a:rPr>
              <a:t>Grafana</a:t>
            </a:r>
            <a:endParaRPr lang="en-US" sz="1300" dirty="0"/>
          </a:p>
          <a:p>
            <a:pPr marL="177800" indent="-177800">
              <a:lnSpc>
                <a:spcPct val="120000"/>
              </a:lnSpc>
              <a:spcAft>
                <a:spcPts val="1200"/>
              </a:spcAft>
              <a:buSzPct val="100000"/>
              <a:buChar char="●"/>
            </a:pPr>
            <a:r>
              <a:rPr lang="en-US" sz="1300" dirty="0">
                <a:solidFill>
                  <a:srgbClr val="1A1A2E"/>
                </a:solidFill>
                <a:latin typeface="BIZ UDゴシック" pitchFamily="34" charset="0"/>
                <a:ea typeface="BIZ UDゴシック" pitchFamily="34" charset="-122"/>
                <a:cs typeface="BIZ UDゴシック" pitchFamily="34" charset="-120"/>
              </a:rPr>
              <a:t>Prometheus</a:t>
            </a:r>
            <a:endParaRPr lang="en-US" sz="1300" dirty="0"/>
          </a:p>
        </p:txBody>
      </p:sp>
      <p:sp>
        <p:nvSpPr>
          <p:cNvPr id="12" name="Shape 10"/>
          <p:cNvSpPr/>
          <p:nvPr/>
        </p:nvSpPr>
        <p:spPr>
          <a:xfrm>
            <a:off x="4825898" y="1508760"/>
            <a:ext cx="3271418" cy="4480560"/>
          </a:xfrm>
          <a:prstGeom prst="roundRect">
            <a:avLst>
              <a:gd name="adj" fmla="val 2236"/>
            </a:avLst>
          </a:prstGeom>
          <a:solidFill>
            <a:srgbClr val="EAF2F6"/>
          </a:solidFill>
          <a:ln/>
        </p:spPr>
      </p:sp>
      <p:sp>
        <p:nvSpPr>
          <p:cNvPr id="13" name="Shape 11"/>
          <p:cNvSpPr/>
          <p:nvPr/>
        </p:nvSpPr>
        <p:spPr>
          <a:xfrm>
            <a:off x="4825898" y="1508760"/>
            <a:ext cx="3271418" cy="548640"/>
          </a:xfrm>
          <a:prstGeom prst="roundRect">
            <a:avLst>
              <a:gd name="adj" fmla="val 13333"/>
            </a:avLst>
          </a:prstGeom>
          <a:solidFill>
            <a:srgbClr val="1C7293"/>
          </a:solidFill>
          <a:ln/>
        </p:spPr>
      </p:sp>
      <p:sp>
        <p:nvSpPr>
          <p:cNvPr id="14" name="Text 12"/>
          <p:cNvSpPr/>
          <p:nvPr/>
        </p:nvSpPr>
        <p:spPr>
          <a:xfrm>
            <a:off x="4825898" y="1508760"/>
            <a:ext cx="3271418" cy="548640"/>
          </a:xfrm>
          <a:prstGeom prst="rect">
            <a:avLst/>
          </a:prstGeom>
          <a:noFill/>
          <a:ln/>
        </p:spPr>
        <p:txBody>
          <a:bodyPr wrap="square" lIns="50800" tIns="50800" rIns="50800" bIns="50800" rtlCol="0" anchor="ctr"/>
          <a:lstStyle/>
          <a:p>
            <a:pPr algn="ctr" indent="0" marL="0">
              <a:buNone/>
            </a:pPr>
            <a:r>
              <a:rPr lang="en-US" sz="1300" b="1" dirty="0">
                <a:solidFill>
                  <a:srgbClr val="FFFFFF"/>
                </a:solidFill>
                <a:latin typeface="BIZ UDゴシック" pitchFamily="34" charset="0"/>
                <a:ea typeface="BIZ UDゴシック" pitchFamily="34" charset="-122"/>
                <a:cs typeface="BIZ UDゴシック" pitchFamily="34" charset="-120"/>
              </a:rPr>
              <a:t>Agent / Tool</a:t>
            </a:r>
            <a:endParaRPr lang="en-US" sz="1300" dirty="0"/>
          </a:p>
        </p:txBody>
      </p:sp>
      <p:sp>
        <p:nvSpPr>
          <p:cNvPr id="15" name="Text 13"/>
          <p:cNvSpPr/>
          <p:nvPr/>
        </p:nvSpPr>
        <p:spPr>
          <a:xfrm>
            <a:off x="5008778" y="2194560"/>
            <a:ext cx="2905658" cy="3566160"/>
          </a:xfrm>
          <a:prstGeom prst="rect">
            <a:avLst/>
          </a:prstGeom>
          <a:noFill/>
          <a:ln/>
        </p:spPr>
        <p:txBody>
          <a:bodyPr wrap="square" lIns="0" tIns="0" rIns="0" bIns="0" rtlCol="0" anchor="t"/>
          <a:lstStyle/>
          <a:p>
            <a:pPr marL="177800" indent="-177800">
              <a:lnSpc>
                <a:spcPct val="120000"/>
              </a:lnSpc>
              <a:spcAft>
                <a:spcPts val="1200"/>
              </a:spcAft>
              <a:buSzPct val="100000"/>
              <a:buChar char="●"/>
            </a:pPr>
            <a:r>
              <a:rPr lang="en-US" sz="1300" dirty="0">
                <a:solidFill>
                  <a:srgbClr val="1A1A2E"/>
                </a:solidFill>
                <a:latin typeface="BIZ UDゴシック" pitchFamily="34" charset="0"/>
                <a:ea typeface="BIZ UDゴシック" pitchFamily="34" charset="-122"/>
                <a:cs typeface="BIZ UDゴシック" pitchFamily="34" charset="-120"/>
              </a:rPr>
              <a:t>MCP Serverを追加することで拡張可能</a:t>
            </a:r>
            <a:endParaRPr lang="en-US" sz="1300" dirty="0"/>
          </a:p>
        </p:txBody>
      </p:sp>
      <p:sp>
        <p:nvSpPr>
          <p:cNvPr id="16" name="Shape 14"/>
          <p:cNvSpPr/>
          <p:nvPr/>
        </p:nvSpPr>
        <p:spPr>
          <a:xfrm>
            <a:off x="8371637" y="1508760"/>
            <a:ext cx="3271418" cy="4480560"/>
          </a:xfrm>
          <a:prstGeom prst="roundRect">
            <a:avLst>
              <a:gd name="adj" fmla="val 2236"/>
            </a:avLst>
          </a:prstGeom>
          <a:solidFill>
            <a:srgbClr val="EAF2F6"/>
          </a:solidFill>
          <a:ln/>
        </p:spPr>
      </p:sp>
      <p:sp>
        <p:nvSpPr>
          <p:cNvPr id="17" name="Shape 15"/>
          <p:cNvSpPr/>
          <p:nvPr/>
        </p:nvSpPr>
        <p:spPr>
          <a:xfrm>
            <a:off x="8371637" y="1508760"/>
            <a:ext cx="3271418" cy="548640"/>
          </a:xfrm>
          <a:prstGeom prst="roundRect">
            <a:avLst>
              <a:gd name="adj" fmla="val 13333"/>
            </a:avLst>
          </a:prstGeom>
          <a:solidFill>
            <a:srgbClr val="1C7293"/>
          </a:solidFill>
          <a:ln/>
        </p:spPr>
      </p:sp>
      <p:sp>
        <p:nvSpPr>
          <p:cNvPr id="18" name="Text 16"/>
          <p:cNvSpPr/>
          <p:nvPr/>
        </p:nvSpPr>
        <p:spPr>
          <a:xfrm>
            <a:off x="8371637" y="1508760"/>
            <a:ext cx="3271418" cy="548640"/>
          </a:xfrm>
          <a:prstGeom prst="rect">
            <a:avLst/>
          </a:prstGeom>
          <a:noFill/>
          <a:ln/>
        </p:spPr>
        <p:txBody>
          <a:bodyPr wrap="square" lIns="50800" tIns="50800" rIns="50800" bIns="50800" rtlCol="0" anchor="ctr"/>
          <a:lstStyle/>
          <a:p>
            <a:pPr algn="ctr" indent="0" marL="0">
              <a:buNone/>
            </a:pPr>
            <a:r>
              <a:rPr lang="en-US" sz="1300" b="1" dirty="0">
                <a:solidFill>
                  <a:srgbClr val="FFFFFF"/>
                </a:solidFill>
                <a:latin typeface="BIZ UDゴシック" pitchFamily="34" charset="0"/>
                <a:ea typeface="BIZ UDゴシック" pitchFamily="34" charset="-122"/>
                <a:cs typeface="BIZ UDゴシック" pitchFamily="34" charset="-120"/>
              </a:rPr>
              <a:t>UI（A2UI Component）</a:t>
            </a:r>
            <a:endParaRPr lang="en-US" sz="1300" dirty="0"/>
          </a:p>
        </p:txBody>
      </p:sp>
      <p:sp>
        <p:nvSpPr>
          <p:cNvPr id="19" name="Text 17"/>
          <p:cNvSpPr/>
          <p:nvPr/>
        </p:nvSpPr>
        <p:spPr>
          <a:xfrm>
            <a:off x="8554517" y="2194560"/>
            <a:ext cx="2905658" cy="3566160"/>
          </a:xfrm>
          <a:prstGeom prst="rect">
            <a:avLst/>
          </a:prstGeom>
          <a:noFill/>
          <a:ln/>
        </p:spPr>
        <p:txBody>
          <a:bodyPr wrap="square" lIns="0" tIns="0" rIns="0" bIns="0" rtlCol="0" anchor="t"/>
          <a:lstStyle/>
          <a:p>
            <a:pPr marL="177800" indent="-177800">
              <a:lnSpc>
                <a:spcPct val="120000"/>
              </a:lnSpc>
              <a:spcAft>
                <a:spcPts val="1200"/>
              </a:spcAft>
              <a:buSzPct val="100000"/>
              <a:buChar char="●"/>
            </a:pPr>
            <a:r>
              <a:rPr lang="en-US" sz="1300" dirty="0">
                <a:solidFill>
                  <a:srgbClr val="1A1A2E"/>
                </a:solidFill>
                <a:latin typeface="BIZ UDゴシック" pitchFamily="34" charset="0"/>
                <a:ea typeface="BIZ UDゴシック" pitchFamily="34" charset="-122"/>
                <a:cs typeface="BIZ UDゴシック" pitchFamily="34" charset="-120"/>
              </a:rPr>
              <a:t>dependency graph</a:t>
            </a:r>
            <a:endParaRPr lang="en-US" sz="1300" dirty="0"/>
          </a:p>
          <a:p>
            <a:pPr marL="177800" indent="-177800">
              <a:lnSpc>
                <a:spcPct val="120000"/>
              </a:lnSpc>
              <a:spcAft>
                <a:spcPts val="1200"/>
              </a:spcAft>
              <a:buSzPct val="100000"/>
              <a:buChar char="●"/>
            </a:pPr>
            <a:r>
              <a:rPr lang="en-US" sz="1300" dirty="0">
                <a:solidFill>
                  <a:srgbClr val="1A1A2E"/>
                </a:solidFill>
                <a:latin typeface="BIZ UDゴシック" pitchFamily="34" charset="0"/>
                <a:ea typeface="BIZ UDゴシック" pitchFamily="34" charset="-122"/>
                <a:cs typeface="BIZ UDゴシック" pitchFamily="34" charset="-120"/>
              </a:rPr>
              <a:t>topology</a:t>
            </a:r>
            <a:endParaRPr lang="en-US" sz="1300" dirty="0"/>
          </a:p>
          <a:p>
            <a:pPr marL="177800" indent="-177800">
              <a:lnSpc>
                <a:spcPct val="120000"/>
              </a:lnSpc>
              <a:spcAft>
                <a:spcPts val="1200"/>
              </a:spcAft>
              <a:buSzPct val="100000"/>
              <a:buChar char="●"/>
            </a:pPr>
            <a:r>
              <a:rPr lang="en-US" sz="1300" dirty="0">
                <a:solidFill>
                  <a:srgbClr val="1A1A2E"/>
                </a:solidFill>
                <a:latin typeface="BIZ UDゴシック" pitchFamily="34" charset="0"/>
                <a:ea typeface="BIZ UDゴシック" pitchFamily="34" charset="-122"/>
                <a:cs typeface="BIZ UDゴシック" pitchFamily="34" charset="-120"/>
              </a:rPr>
              <a:t>flame graph</a:t>
            </a:r>
            <a:endParaRPr lang="en-US" sz="1300" dirty="0"/>
          </a:p>
          <a:p>
            <a:pPr marL="177800" indent="-177800">
              <a:lnSpc>
                <a:spcPct val="120000"/>
              </a:lnSpc>
              <a:spcAft>
                <a:spcPts val="1200"/>
              </a:spcAft>
              <a:buSzPct val="100000"/>
              <a:buChar char="●"/>
            </a:pPr>
            <a:r>
              <a:rPr lang="en-US" sz="1300" dirty="0">
                <a:solidFill>
                  <a:srgbClr val="1A1A2E"/>
                </a:solidFill>
                <a:latin typeface="BIZ UDゴシック" pitchFamily="34" charset="0"/>
                <a:ea typeface="BIZ UDゴシック" pitchFamily="34" charset="-122"/>
                <a:cs typeface="BIZ UDゴシック" pitchFamily="34" charset="-120"/>
              </a:rPr>
              <a:t>timeline</a:t>
            </a:r>
            <a:endParaRPr lang="en-US" sz="1300" dirty="0"/>
          </a:p>
          <a:p>
            <a:pPr marL="177800" indent="-177800">
              <a:lnSpc>
                <a:spcPct val="120000"/>
              </a:lnSpc>
              <a:spcAft>
                <a:spcPts val="1200"/>
              </a:spcAft>
              <a:buSzPct val="100000"/>
              <a:buChar char="●"/>
            </a:pPr>
            <a:r>
              <a:rPr lang="en-US" sz="1300" dirty="0">
                <a:solidFill>
                  <a:srgbClr val="1A1A2E"/>
                </a:solidFill>
                <a:latin typeface="BIZ UDゴシック" pitchFamily="34" charset="0"/>
                <a:ea typeface="BIZ UDゴシック" pitchFamily="34" charset="-122"/>
                <a:cs typeface="BIZ UDゴシック" pitchFamily="34" charset="-120"/>
              </a:rPr>
              <a:t>anomaly chart</a:t>
            </a:r>
            <a:endParaRPr lang="en-US" sz="1300" dirty="0"/>
          </a:p>
          <a:p>
            <a:pPr marL="177800" indent="-177800">
              <a:lnSpc>
                <a:spcPct val="120000"/>
              </a:lnSpc>
              <a:spcAft>
                <a:spcPts val="1200"/>
              </a:spcAft>
              <a:buSzPct val="100000"/>
              <a:buChar char="●"/>
            </a:pPr>
            <a:r>
              <a:rPr lang="en-US" sz="1300" dirty="0">
                <a:solidFill>
                  <a:srgbClr val="1A1A2E"/>
                </a:solidFill>
                <a:latin typeface="BIZ UDゴシック" pitchFamily="34" charset="0"/>
                <a:ea typeface="BIZ UDゴシック" pitchFamily="34" charset="-122"/>
                <a:cs typeface="BIZ UDゴシック" pitchFamily="34" charset="-120"/>
              </a:rPr>
              <a:t>deployment marker</a:t>
            </a:r>
            <a:endParaRPr lang="en-US" sz="13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502920"/>
            <a:ext cx="566928" cy="566928"/>
          </a:xfrm>
          <a:prstGeom prst="ellipse">
            <a:avLst/>
          </a:prstGeom>
          <a:solidFill>
            <a:srgbClr val="21295C"/>
          </a:solidFill>
          <a:ln/>
        </p:spPr>
      </p:sp>
      <p:sp>
        <p:nvSpPr>
          <p:cNvPr id="3" name="Text 1"/>
          <p:cNvSpPr/>
          <p:nvPr/>
        </p:nvSpPr>
        <p:spPr>
          <a:xfrm>
            <a:off x="548640" y="502920"/>
            <a:ext cx="566928" cy="566928"/>
          </a:xfrm>
          <a:prstGeom prst="rect">
            <a:avLst/>
          </a:prstGeom>
          <a:noFill/>
          <a:ln/>
        </p:spPr>
        <p:txBody>
          <a:bodyPr wrap="square" lIns="0" tIns="0" rIns="0" bIns="0" rtlCol="0" anchor="ctr"/>
          <a:lstStyle/>
          <a:p>
            <a:pPr algn="ctr" indent="0" marL="0">
              <a:buNone/>
            </a:pPr>
            <a:r>
              <a:rPr lang="en-US" sz="1500" b="1" dirty="0">
                <a:solidFill>
                  <a:srgbClr val="FFFFFF"/>
                </a:solidFill>
                <a:latin typeface="BIZ UDゴシック" pitchFamily="34" charset="0"/>
                <a:ea typeface="BIZ UDゴシック" pitchFamily="34" charset="-122"/>
                <a:cs typeface="BIZ UDゴシック" pitchFamily="34" charset="-120"/>
              </a:rPr>
              <a:t>31</a:t>
            </a:r>
            <a:endParaRPr lang="en-US" sz="1500" dirty="0"/>
          </a:p>
        </p:txBody>
      </p:sp>
      <p:sp>
        <p:nvSpPr>
          <p:cNvPr id="4" name="Text 2"/>
          <p:cNvSpPr/>
          <p:nvPr/>
        </p:nvSpPr>
        <p:spPr>
          <a:xfrm>
            <a:off x="1280160" y="438912"/>
            <a:ext cx="10362895" cy="274320"/>
          </a:xfrm>
          <a:prstGeom prst="rect">
            <a:avLst/>
          </a:prstGeom>
          <a:noFill/>
          <a:ln/>
        </p:spPr>
        <p:txBody>
          <a:bodyPr wrap="square" lIns="0" tIns="0" rIns="0" bIns="0" rtlCol="0" anchor="ctr"/>
          <a:lstStyle/>
          <a:p>
            <a:pPr indent="0" marL="0">
              <a:buNone/>
            </a:pPr>
            <a:r>
              <a:rPr lang="en-US" sz="1100" b="1" spc="100" kern="0" dirty="0">
                <a:solidFill>
                  <a:srgbClr val="1C7293"/>
                </a:solidFill>
                <a:latin typeface="BIZ UDゴシック" pitchFamily="34" charset="0"/>
                <a:ea typeface="BIZ UDゴシック" pitchFamily="34" charset="-122"/>
                <a:cs typeface="BIZ UDゴシック" pitchFamily="34" charset="-120"/>
              </a:rPr>
              <a:t>SECTION 31</a:t>
            </a:r>
            <a:endParaRPr lang="en-US" sz="1100" dirty="0"/>
          </a:p>
        </p:txBody>
      </p:sp>
      <p:sp>
        <p:nvSpPr>
          <p:cNvPr id="5" name="Text 3"/>
          <p:cNvSpPr/>
          <p:nvPr/>
        </p:nvSpPr>
        <p:spPr>
          <a:xfrm>
            <a:off x="1280160" y="713232"/>
            <a:ext cx="10362895" cy="566928"/>
          </a:xfrm>
          <a:prstGeom prst="rect">
            <a:avLst/>
          </a:prstGeom>
          <a:noFill/>
          <a:ln/>
        </p:spPr>
        <p:txBody>
          <a:bodyPr wrap="square" lIns="0" tIns="0" rIns="0" bIns="0" rtlCol="0" anchor="t"/>
          <a:lstStyle/>
          <a:p>
            <a:pPr indent="0" marL="0">
              <a:buNone/>
            </a:pPr>
            <a:r>
              <a:rPr lang="en-US" sz="2500" b="1" dirty="0">
                <a:solidFill>
                  <a:srgbClr val="1A1A2E"/>
                </a:solidFill>
                <a:latin typeface="BIZ UDゴシック" pitchFamily="34" charset="0"/>
                <a:ea typeface="BIZ UDゴシック" pitchFamily="34" charset="-122"/>
                <a:cs typeface="BIZ UDゴシック" pitchFamily="34" charset="-120"/>
              </a:rPr>
              <a:t>将来的な運用イメージ</a:t>
            </a:r>
            <a:endParaRPr lang="en-US" sz="2500" dirty="0"/>
          </a:p>
        </p:txBody>
      </p:sp>
      <p:sp>
        <p:nvSpPr>
          <p:cNvPr id="6" name="Text 4"/>
          <p:cNvSpPr/>
          <p:nvPr/>
        </p:nvSpPr>
        <p:spPr>
          <a:xfrm>
            <a:off x="548640" y="6446520"/>
            <a:ext cx="4572000" cy="274320"/>
          </a:xfrm>
          <a:prstGeom prst="rect">
            <a:avLst/>
          </a:prstGeom>
          <a:noFill/>
          <a:ln/>
        </p:spPr>
        <p:txBody>
          <a:bodyPr wrap="square" lIns="0" tIns="0" rIns="0" bIns="0" rtlCol="0" anchor="ctr"/>
          <a:lstStyle/>
          <a:p>
            <a:pPr indent="0" marL="0">
              <a:buNone/>
            </a:pPr>
            <a:r>
              <a:rPr lang="en-US" sz="900" dirty="0">
                <a:solidFill>
                  <a:srgbClr val="5C6B73"/>
                </a:solidFill>
                <a:latin typeface="BIZ UDゴシック" pitchFamily="34" charset="0"/>
                <a:ea typeface="BIZ UDゴシック" pitchFamily="34" charset="-122"/>
                <a:cs typeface="BIZ UDゴシック" pitchFamily="34" charset="-120"/>
              </a:rPr>
              <a:t>Observability AI PoC</a:t>
            </a:r>
            <a:endParaRPr lang="en-US" sz="900" dirty="0"/>
          </a:p>
        </p:txBody>
      </p:sp>
      <p:sp>
        <p:nvSpPr>
          <p:cNvPr id="7" name="Text 5"/>
          <p:cNvSpPr/>
          <p:nvPr/>
        </p:nvSpPr>
        <p:spPr>
          <a:xfrm>
            <a:off x="9814255" y="6446520"/>
            <a:ext cx="1828800" cy="274320"/>
          </a:xfrm>
          <a:prstGeom prst="rect">
            <a:avLst/>
          </a:prstGeom>
          <a:noFill/>
          <a:ln/>
        </p:spPr>
        <p:txBody>
          <a:bodyPr wrap="square" lIns="0" tIns="0" rIns="0" bIns="0" rtlCol="0" anchor="ctr"/>
          <a:lstStyle/>
          <a:p>
            <a:pPr algn="r" indent="0" marL="0">
              <a:buNone/>
            </a:pPr>
            <a:r>
              <a:rPr lang="en-US" sz="900" dirty="0">
                <a:solidFill>
                  <a:srgbClr val="5C6B73"/>
                </a:solidFill>
                <a:latin typeface="BIZ UDゴシック" pitchFamily="34" charset="0"/>
                <a:ea typeface="BIZ UDゴシック" pitchFamily="34" charset="-122"/>
                <a:cs typeface="BIZ UDゴシック" pitchFamily="34" charset="-120"/>
              </a:rPr>
              <a:t>31</a:t>
            </a:r>
            <a:endParaRPr lang="en-US" sz="900" dirty="0"/>
          </a:p>
        </p:txBody>
      </p:sp>
      <p:sp>
        <p:nvSpPr>
          <p:cNvPr id="8" name="Shape 6"/>
          <p:cNvSpPr/>
          <p:nvPr/>
        </p:nvSpPr>
        <p:spPr>
          <a:xfrm>
            <a:off x="1280160" y="1508760"/>
            <a:ext cx="2468880" cy="475488"/>
          </a:xfrm>
          <a:prstGeom prst="roundRect">
            <a:avLst>
              <a:gd name="adj" fmla="val 11538"/>
            </a:avLst>
          </a:prstGeom>
          <a:solidFill>
            <a:srgbClr val="065A82"/>
          </a:solidFill>
          <a:ln/>
        </p:spPr>
      </p:sp>
      <p:sp>
        <p:nvSpPr>
          <p:cNvPr id="9" name="Text 7"/>
          <p:cNvSpPr/>
          <p:nvPr/>
        </p:nvSpPr>
        <p:spPr>
          <a:xfrm>
            <a:off x="1280160" y="1508760"/>
            <a:ext cx="2468880" cy="475488"/>
          </a:xfrm>
          <a:prstGeom prst="rect">
            <a:avLst/>
          </a:prstGeom>
          <a:noFill/>
          <a:ln/>
        </p:spPr>
        <p:txBody>
          <a:bodyPr wrap="square" lIns="25400" tIns="25400" rIns="25400" bIns="25400" rtlCol="0" anchor="ctr"/>
          <a:lstStyle/>
          <a:p>
            <a:pPr algn="ctr" indent="0" marL="0">
              <a:buNone/>
            </a:pPr>
            <a:r>
              <a:rPr lang="en-US" sz="1200" b="1" dirty="0">
                <a:solidFill>
                  <a:srgbClr val="FFFFFF"/>
                </a:solidFill>
                <a:latin typeface="BIZ UDゴシック" pitchFamily="34" charset="0"/>
                <a:ea typeface="BIZ UDゴシック" pitchFamily="34" charset="-122"/>
                <a:cs typeface="BIZ UDゴシック" pitchFamily="34" charset="-120"/>
              </a:rPr>
              <a:t>監視アラート</a:t>
            </a:r>
            <a:endParaRPr lang="en-US" sz="1200" dirty="0"/>
          </a:p>
        </p:txBody>
      </p:sp>
      <p:sp>
        <p:nvSpPr>
          <p:cNvPr id="10" name="Shape 8"/>
          <p:cNvSpPr/>
          <p:nvPr/>
        </p:nvSpPr>
        <p:spPr>
          <a:xfrm>
            <a:off x="2441448" y="1984248"/>
            <a:ext cx="146304" cy="182880"/>
          </a:xfrm>
          <a:prstGeom prst="downArrow">
            <a:avLst/>
          </a:prstGeom>
          <a:solidFill>
            <a:srgbClr val="5C6B73"/>
          </a:solidFill>
          <a:ln/>
        </p:spPr>
      </p:sp>
      <p:sp>
        <p:nvSpPr>
          <p:cNvPr id="11" name="Shape 9"/>
          <p:cNvSpPr/>
          <p:nvPr/>
        </p:nvSpPr>
        <p:spPr>
          <a:xfrm>
            <a:off x="1280160" y="2240280"/>
            <a:ext cx="2468880" cy="475488"/>
          </a:xfrm>
          <a:prstGeom prst="roundRect">
            <a:avLst>
              <a:gd name="adj" fmla="val 11538"/>
            </a:avLst>
          </a:prstGeom>
          <a:solidFill>
            <a:srgbClr val="1C7293"/>
          </a:solidFill>
          <a:ln/>
        </p:spPr>
      </p:sp>
      <p:sp>
        <p:nvSpPr>
          <p:cNvPr id="12" name="Text 10"/>
          <p:cNvSpPr/>
          <p:nvPr/>
        </p:nvSpPr>
        <p:spPr>
          <a:xfrm>
            <a:off x="1280160" y="2240280"/>
            <a:ext cx="2468880" cy="475488"/>
          </a:xfrm>
          <a:prstGeom prst="rect">
            <a:avLst/>
          </a:prstGeom>
          <a:noFill/>
          <a:ln/>
        </p:spPr>
        <p:txBody>
          <a:bodyPr wrap="square" lIns="25400" tIns="25400" rIns="25400" bIns="25400" rtlCol="0" anchor="ctr"/>
          <a:lstStyle/>
          <a:p>
            <a:pPr algn="ctr" indent="0" marL="0">
              <a:buNone/>
            </a:pPr>
            <a:r>
              <a:rPr lang="en-US" sz="1200" b="1" dirty="0">
                <a:solidFill>
                  <a:srgbClr val="FFFFFF"/>
                </a:solidFill>
                <a:latin typeface="BIZ UDゴシック" pitchFamily="34" charset="0"/>
                <a:ea typeface="BIZ UDゴシック" pitchFamily="34" charset="-122"/>
                <a:cs typeface="BIZ UDゴシック" pitchFamily="34" charset="-120"/>
              </a:rPr>
              <a:t>AI Investigation開始</a:t>
            </a:r>
            <a:endParaRPr lang="en-US" sz="1200" dirty="0"/>
          </a:p>
        </p:txBody>
      </p:sp>
      <p:sp>
        <p:nvSpPr>
          <p:cNvPr id="13" name="Shape 11"/>
          <p:cNvSpPr/>
          <p:nvPr/>
        </p:nvSpPr>
        <p:spPr>
          <a:xfrm>
            <a:off x="2441448" y="2715768"/>
            <a:ext cx="146304" cy="182880"/>
          </a:xfrm>
          <a:prstGeom prst="downArrow">
            <a:avLst/>
          </a:prstGeom>
          <a:solidFill>
            <a:srgbClr val="5C6B73"/>
          </a:solidFill>
          <a:ln/>
        </p:spPr>
      </p:sp>
      <p:sp>
        <p:nvSpPr>
          <p:cNvPr id="14" name="Shape 12"/>
          <p:cNvSpPr/>
          <p:nvPr/>
        </p:nvSpPr>
        <p:spPr>
          <a:xfrm>
            <a:off x="1280160" y="2971800"/>
            <a:ext cx="2468880" cy="475488"/>
          </a:xfrm>
          <a:prstGeom prst="roundRect">
            <a:avLst>
              <a:gd name="adj" fmla="val 11538"/>
            </a:avLst>
          </a:prstGeom>
          <a:solidFill>
            <a:srgbClr val="065A82"/>
          </a:solidFill>
          <a:ln/>
        </p:spPr>
      </p:sp>
      <p:sp>
        <p:nvSpPr>
          <p:cNvPr id="15" name="Text 13"/>
          <p:cNvSpPr/>
          <p:nvPr/>
        </p:nvSpPr>
        <p:spPr>
          <a:xfrm>
            <a:off x="1280160" y="2971800"/>
            <a:ext cx="2468880" cy="475488"/>
          </a:xfrm>
          <a:prstGeom prst="rect">
            <a:avLst/>
          </a:prstGeom>
          <a:noFill/>
          <a:ln/>
        </p:spPr>
        <p:txBody>
          <a:bodyPr wrap="square" lIns="25400" tIns="25400" rIns="25400" bIns="25400" rtlCol="0" anchor="ctr"/>
          <a:lstStyle/>
          <a:p>
            <a:pPr algn="ctr" indent="0" marL="0">
              <a:buNone/>
            </a:pPr>
            <a:r>
              <a:rPr lang="en-US" sz="1200" b="1" dirty="0">
                <a:solidFill>
                  <a:srgbClr val="FFFFFF"/>
                </a:solidFill>
                <a:latin typeface="BIZ UDゴシック" pitchFamily="34" charset="0"/>
                <a:ea typeface="BIZ UDゴシック" pitchFamily="34" charset="-122"/>
                <a:cs typeface="BIZ UDゴシック" pitchFamily="34" charset="-120"/>
              </a:rPr>
              <a:t>Splunk / APM / Metrics検索</a:t>
            </a:r>
            <a:endParaRPr lang="en-US" sz="1200" dirty="0"/>
          </a:p>
        </p:txBody>
      </p:sp>
      <p:sp>
        <p:nvSpPr>
          <p:cNvPr id="16" name="Shape 14"/>
          <p:cNvSpPr/>
          <p:nvPr/>
        </p:nvSpPr>
        <p:spPr>
          <a:xfrm>
            <a:off x="2441448" y="3447288"/>
            <a:ext cx="146304" cy="182880"/>
          </a:xfrm>
          <a:prstGeom prst="downArrow">
            <a:avLst/>
          </a:prstGeom>
          <a:solidFill>
            <a:srgbClr val="5C6B73"/>
          </a:solidFill>
          <a:ln/>
        </p:spPr>
      </p:sp>
      <p:sp>
        <p:nvSpPr>
          <p:cNvPr id="17" name="Shape 15"/>
          <p:cNvSpPr/>
          <p:nvPr/>
        </p:nvSpPr>
        <p:spPr>
          <a:xfrm>
            <a:off x="1280160" y="3703320"/>
            <a:ext cx="2468880" cy="475488"/>
          </a:xfrm>
          <a:prstGeom prst="roundRect">
            <a:avLst>
              <a:gd name="adj" fmla="val 11538"/>
            </a:avLst>
          </a:prstGeom>
          <a:solidFill>
            <a:srgbClr val="1C7293"/>
          </a:solidFill>
          <a:ln/>
        </p:spPr>
      </p:sp>
      <p:sp>
        <p:nvSpPr>
          <p:cNvPr id="18" name="Text 16"/>
          <p:cNvSpPr/>
          <p:nvPr/>
        </p:nvSpPr>
        <p:spPr>
          <a:xfrm>
            <a:off x="1280160" y="3703320"/>
            <a:ext cx="2468880" cy="475488"/>
          </a:xfrm>
          <a:prstGeom prst="rect">
            <a:avLst/>
          </a:prstGeom>
          <a:noFill/>
          <a:ln/>
        </p:spPr>
        <p:txBody>
          <a:bodyPr wrap="square" lIns="25400" tIns="25400" rIns="25400" bIns="25400" rtlCol="0" anchor="ctr"/>
          <a:lstStyle/>
          <a:p>
            <a:pPr algn="ctr" indent="0" marL="0">
              <a:buNone/>
            </a:pPr>
            <a:r>
              <a:rPr lang="en-US" sz="1200" b="1" dirty="0">
                <a:solidFill>
                  <a:srgbClr val="FFFFFF"/>
                </a:solidFill>
                <a:latin typeface="BIZ UDゴシック" pitchFamily="34" charset="0"/>
                <a:ea typeface="BIZ UDゴシック" pitchFamily="34" charset="-122"/>
                <a:cs typeface="BIZ UDゴシック" pitchFamily="34" charset="-120"/>
              </a:rPr>
              <a:t>Evidence整理</a:t>
            </a:r>
            <a:endParaRPr lang="en-US" sz="1200" dirty="0"/>
          </a:p>
        </p:txBody>
      </p:sp>
      <p:sp>
        <p:nvSpPr>
          <p:cNvPr id="19" name="Shape 17"/>
          <p:cNvSpPr/>
          <p:nvPr/>
        </p:nvSpPr>
        <p:spPr>
          <a:xfrm>
            <a:off x="5120640" y="1508760"/>
            <a:ext cx="2468880" cy="475488"/>
          </a:xfrm>
          <a:prstGeom prst="roundRect">
            <a:avLst>
              <a:gd name="adj" fmla="val 11538"/>
            </a:avLst>
          </a:prstGeom>
          <a:solidFill>
            <a:srgbClr val="065A82"/>
          </a:solidFill>
          <a:ln/>
        </p:spPr>
      </p:sp>
      <p:sp>
        <p:nvSpPr>
          <p:cNvPr id="20" name="Text 18"/>
          <p:cNvSpPr/>
          <p:nvPr/>
        </p:nvSpPr>
        <p:spPr>
          <a:xfrm>
            <a:off x="5120640" y="1508760"/>
            <a:ext cx="2468880" cy="475488"/>
          </a:xfrm>
          <a:prstGeom prst="rect">
            <a:avLst/>
          </a:prstGeom>
          <a:noFill/>
          <a:ln/>
        </p:spPr>
        <p:txBody>
          <a:bodyPr wrap="square" lIns="25400" tIns="25400" rIns="25400" bIns="25400" rtlCol="0" anchor="ctr"/>
          <a:lstStyle/>
          <a:p>
            <a:pPr algn="ctr" indent="0" marL="0">
              <a:buNone/>
            </a:pPr>
            <a:r>
              <a:rPr lang="en-US" sz="1200" b="1" dirty="0">
                <a:solidFill>
                  <a:srgbClr val="FFFFFF"/>
                </a:solidFill>
                <a:latin typeface="BIZ UDゴシック" pitchFamily="34" charset="0"/>
                <a:ea typeface="BIZ UDゴシック" pitchFamily="34" charset="-122"/>
                <a:cs typeface="BIZ UDゴシック" pitchFamily="34" charset="-120"/>
              </a:rPr>
              <a:t>原因候補・影響範囲分析</a:t>
            </a:r>
            <a:endParaRPr lang="en-US" sz="1200" dirty="0"/>
          </a:p>
        </p:txBody>
      </p:sp>
      <p:sp>
        <p:nvSpPr>
          <p:cNvPr id="21" name="Shape 19"/>
          <p:cNvSpPr/>
          <p:nvPr/>
        </p:nvSpPr>
        <p:spPr>
          <a:xfrm>
            <a:off x="6281928" y="1984248"/>
            <a:ext cx="146304" cy="182880"/>
          </a:xfrm>
          <a:prstGeom prst="downArrow">
            <a:avLst/>
          </a:prstGeom>
          <a:solidFill>
            <a:srgbClr val="5C6B73"/>
          </a:solidFill>
          <a:ln/>
        </p:spPr>
      </p:sp>
      <p:sp>
        <p:nvSpPr>
          <p:cNvPr id="22" name="Shape 20"/>
          <p:cNvSpPr/>
          <p:nvPr/>
        </p:nvSpPr>
        <p:spPr>
          <a:xfrm>
            <a:off x="5120640" y="2240280"/>
            <a:ext cx="2468880" cy="475488"/>
          </a:xfrm>
          <a:prstGeom prst="roundRect">
            <a:avLst>
              <a:gd name="adj" fmla="val 11538"/>
            </a:avLst>
          </a:prstGeom>
          <a:solidFill>
            <a:srgbClr val="1C7293"/>
          </a:solidFill>
          <a:ln/>
        </p:spPr>
      </p:sp>
      <p:sp>
        <p:nvSpPr>
          <p:cNvPr id="23" name="Text 21"/>
          <p:cNvSpPr/>
          <p:nvPr/>
        </p:nvSpPr>
        <p:spPr>
          <a:xfrm>
            <a:off x="5120640" y="2240280"/>
            <a:ext cx="2468880" cy="475488"/>
          </a:xfrm>
          <a:prstGeom prst="rect">
            <a:avLst/>
          </a:prstGeom>
          <a:noFill/>
          <a:ln/>
        </p:spPr>
        <p:txBody>
          <a:bodyPr wrap="square" lIns="25400" tIns="25400" rIns="25400" bIns="25400" rtlCol="0" anchor="ctr"/>
          <a:lstStyle/>
          <a:p>
            <a:pPr algn="ctr" indent="0" marL="0">
              <a:buNone/>
            </a:pPr>
            <a:r>
              <a:rPr lang="en-US" sz="1200" b="1" dirty="0">
                <a:solidFill>
                  <a:srgbClr val="FFFFFF"/>
                </a:solidFill>
                <a:latin typeface="BIZ UDゴシック" pitchFamily="34" charset="0"/>
                <a:ea typeface="BIZ UDゴシック" pitchFamily="34" charset="-122"/>
                <a:cs typeface="BIZ UDゴシック" pitchFamily="34" charset="-120"/>
              </a:rPr>
              <a:t>AIが必要UIを選択</a:t>
            </a:r>
            <a:endParaRPr lang="en-US" sz="1200" dirty="0"/>
          </a:p>
        </p:txBody>
      </p:sp>
      <p:sp>
        <p:nvSpPr>
          <p:cNvPr id="24" name="Shape 22"/>
          <p:cNvSpPr/>
          <p:nvPr/>
        </p:nvSpPr>
        <p:spPr>
          <a:xfrm>
            <a:off x="6281928" y="2715768"/>
            <a:ext cx="146304" cy="182880"/>
          </a:xfrm>
          <a:prstGeom prst="downArrow">
            <a:avLst/>
          </a:prstGeom>
          <a:solidFill>
            <a:srgbClr val="5C6B73"/>
          </a:solidFill>
          <a:ln/>
        </p:spPr>
      </p:sp>
      <p:sp>
        <p:nvSpPr>
          <p:cNvPr id="25" name="Shape 23"/>
          <p:cNvSpPr/>
          <p:nvPr/>
        </p:nvSpPr>
        <p:spPr>
          <a:xfrm>
            <a:off x="5120640" y="2971800"/>
            <a:ext cx="2468880" cy="475488"/>
          </a:xfrm>
          <a:prstGeom prst="roundRect">
            <a:avLst>
              <a:gd name="adj" fmla="val 11538"/>
            </a:avLst>
          </a:prstGeom>
          <a:solidFill>
            <a:srgbClr val="065A82"/>
          </a:solidFill>
          <a:ln/>
        </p:spPr>
      </p:sp>
      <p:sp>
        <p:nvSpPr>
          <p:cNvPr id="26" name="Text 24"/>
          <p:cNvSpPr/>
          <p:nvPr/>
        </p:nvSpPr>
        <p:spPr>
          <a:xfrm>
            <a:off x="5120640" y="2971800"/>
            <a:ext cx="2468880" cy="475488"/>
          </a:xfrm>
          <a:prstGeom prst="rect">
            <a:avLst/>
          </a:prstGeom>
          <a:noFill/>
          <a:ln/>
        </p:spPr>
        <p:txBody>
          <a:bodyPr wrap="square" lIns="25400" tIns="25400" rIns="25400" bIns="25400" rtlCol="0" anchor="ctr"/>
          <a:lstStyle/>
          <a:p>
            <a:pPr algn="ctr" indent="0" marL="0">
              <a:buNone/>
            </a:pPr>
            <a:r>
              <a:rPr lang="en-US" sz="1200" b="1" dirty="0">
                <a:solidFill>
                  <a:srgbClr val="FFFFFF"/>
                </a:solidFill>
                <a:latin typeface="BIZ UDゴシック" pitchFamily="34" charset="0"/>
                <a:ea typeface="BIZ UDゴシック" pitchFamily="34" charset="-122"/>
                <a:cs typeface="BIZ UDゴシック" pitchFamily="34" charset="-120"/>
              </a:rPr>
              <a:t>Incident専用画面生成</a:t>
            </a:r>
            <a:endParaRPr lang="en-US" sz="1200" dirty="0"/>
          </a:p>
        </p:txBody>
      </p:sp>
      <p:sp>
        <p:nvSpPr>
          <p:cNvPr id="27" name="Shape 25"/>
          <p:cNvSpPr/>
          <p:nvPr/>
        </p:nvSpPr>
        <p:spPr>
          <a:xfrm>
            <a:off x="6281928" y="3447288"/>
            <a:ext cx="146304" cy="182880"/>
          </a:xfrm>
          <a:prstGeom prst="downArrow">
            <a:avLst/>
          </a:prstGeom>
          <a:solidFill>
            <a:srgbClr val="5C6B73"/>
          </a:solidFill>
          <a:ln/>
        </p:spPr>
      </p:sp>
      <p:sp>
        <p:nvSpPr>
          <p:cNvPr id="28" name="Shape 26"/>
          <p:cNvSpPr/>
          <p:nvPr/>
        </p:nvSpPr>
        <p:spPr>
          <a:xfrm>
            <a:off x="5120640" y="3703320"/>
            <a:ext cx="2468880" cy="475488"/>
          </a:xfrm>
          <a:prstGeom prst="roundRect">
            <a:avLst>
              <a:gd name="adj" fmla="val 11538"/>
            </a:avLst>
          </a:prstGeom>
          <a:solidFill>
            <a:srgbClr val="1C7293"/>
          </a:solidFill>
          <a:ln/>
        </p:spPr>
      </p:sp>
      <p:sp>
        <p:nvSpPr>
          <p:cNvPr id="29" name="Text 27"/>
          <p:cNvSpPr/>
          <p:nvPr/>
        </p:nvSpPr>
        <p:spPr>
          <a:xfrm>
            <a:off x="5120640" y="3703320"/>
            <a:ext cx="2468880" cy="475488"/>
          </a:xfrm>
          <a:prstGeom prst="rect">
            <a:avLst/>
          </a:prstGeom>
          <a:noFill/>
          <a:ln/>
        </p:spPr>
        <p:txBody>
          <a:bodyPr wrap="square" lIns="25400" tIns="25400" rIns="25400" bIns="25400" rtlCol="0" anchor="ctr"/>
          <a:lstStyle/>
          <a:p>
            <a:pPr algn="ctr" indent="0" marL="0">
              <a:buNone/>
            </a:pPr>
            <a:r>
              <a:rPr lang="en-US" sz="1200" b="1" dirty="0">
                <a:solidFill>
                  <a:srgbClr val="FFFFFF"/>
                </a:solidFill>
                <a:latin typeface="BIZ UDゴシック" pitchFamily="34" charset="0"/>
                <a:ea typeface="BIZ UDゴシック" pitchFamily="34" charset="-122"/>
                <a:cs typeface="BIZ UDゴシック" pitchFamily="34" charset="-120"/>
              </a:rPr>
              <a:t>運用担当者が確認</a:t>
            </a:r>
            <a:endParaRPr lang="en-US" sz="1200" dirty="0"/>
          </a:p>
        </p:txBody>
      </p:sp>
      <p:sp>
        <p:nvSpPr>
          <p:cNvPr id="30" name="Shape 28"/>
          <p:cNvSpPr/>
          <p:nvPr/>
        </p:nvSpPr>
        <p:spPr>
          <a:xfrm>
            <a:off x="3886200" y="2551176"/>
            <a:ext cx="1097280" cy="182880"/>
          </a:xfrm>
          <a:prstGeom prst="rightArrow">
            <a:avLst/>
          </a:prstGeom>
          <a:solidFill>
            <a:srgbClr val="5C6B73"/>
          </a:solidFill>
          <a:ln/>
        </p:spPr>
      </p:sp>
      <p:sp>
        <p:nvSpPr>
          <p:cNvPr id="31" name="Shape 29"/>
          <p:cNvSpPr/>
          <p:nvPr/>
        </p:nvSpPr>
        <p:spPr>
          <a:xfrm>
            <a:off x="1280160" y="4251960"/>
            <a:ext cx="10362895" cy="1828800"/>
          </a:xfrm>
          <a:prstGeom prst="roundRect">
            <a:avLst>
              <a:gd name="adj" fmla="val 4000"/>
            </a:avLst>
          </a:prstGeom>
          <a:solidFill>
            <a:srgbClr val="21295C"/>
          </a:solidFill>
          <a:ln/>
        </p:spPr>
      </p:sp>
      <p:sp>
        <p:nvSpPr>
          <p:cNvPr id="32" name="Text 30"/>
          <p:cNvSpPr/>
          <p:nvPr/>
        </p:nvSpPr>
        <p:spPr>
          <a:xfrm>
            <a:off x="1554480" y="4434840"/>
            <a:ext cx="9814255" cy="320040"/>
          </a:xfrm>
          <a:prstGeom prst="rect">
            <a:avLst/>
          </a:prstGeom>
          <a:noFill/>
          <a:ln/>
        </p:spPr>
        <p:txBody>
          <a:bodyPr wrap="square" lIns="0" tIns="0" rIns="0" bIns="0" rtlCol="0" anchor="ctr"/>
          <a:lstStyle/>
          <a:p>
            <a:pPr indent="0" marL="0">
              <a:buNone/>
            </a:pPr>
            <a:r>
              <a:rPr lang="en-US" sz="1400" b="1" dirty="0">
                <a:solidFill>
                  <a:srgbClr val="FFFFFF"/>
                </a:solidFill>
                <a:latin typeface="BIZ UDゴシック" pitchFamily="34" charset="0"/>
                <a:ea typeface="BIZ UDゴシック" pitchFamily="34" charset="-122"/>
                <a:cs typeface="BIZ UDゴシック" pitchFamily="34" charset="-120"/>
              </a:rPr>
              <a:t>目指している状態</a:t>
            </a:r>
            <a:endParaRPr lang="en-US" sz="1400" dirty="0"/>
          </a:p>
        </p:txBody>
      </p:sp>
      <p:sp>
        <p:nvSpPr>
          <p:cNvPr id="33" name="Text 31"/>
          <p:cNvSpPr/>
          <p:nvPr/>
        </p:nvSpPr>
        <p:spPr>
          <a:xfrm>
            <a:off x="1554480" y="4800600"/>
            <a:ext cx="9814255" cy="1097280"/>
          </a:xfrm>
          <a:prstGeom prst="rect">
            <a:avLst/>
          </a:prstGeom>
          <a:noFill/>
          <a:ln/>
        </p:spPr>
        <p:txBody>
          <a:bodyPr wrap="square" lIns="0" tIns="0" rIns="0" bIns="0" rtlCol="0" anchor="ctr"/>
          <a:lstStyle/>
          <a:p>
            <a:pPr indent="0" marL="0">
              <a:lnSpc>
                <a:spcPct val="140000"/>
              </a:lnSpc>
              <a:buNone/>
            </a:pPr>
            <a:r>
              <a:rPr lang="en-US" sz="1500" dirty="0">
                <a:solidFill>
                  <a:srgbClr val="EAF2F6"/>
                </a:solidFill>
                <a:latin typeface="BIZ UDゴシック" pitchFamily="34" charset="0"/>
                <a:ea typeface="BIZ UDゴシック" pitchFamily="34" charset="-122"/>
                <a:cs typeface="BIZ UDゴシック" pitchFamily="34" charset="-120"/>
              </a:rPr>
              <a:t>人が複数の監視画面を行き来して調査するのではなく、インシデントごとにAIが「調査済みの画面」を作る。</a:t>
            </a:r>
            <a:endParaRPr lang="en-US" sz="15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502920"/>
            <a:ext cx="566928" cy="566928"/>
          </a:xfrm>
          <a:prstGeom prst="ellipse">
            <a:avLst/>
          </a:prstGeom>
          <a:solidFill>
            <a:srgbClr val="21295C"/>
          </a:solidFill>
          <a:ln/>
        </p:spPr>
      </p:sp>
      <p:sp>
        <p:nvSpPr>
          <p:cNvPr id="3" name="Text 1"/>
          <p:cNvSpPr/>
          <p:nvPr/>
        </p:nvSpPr>
        <p:spPr>
          <a:xfrm>
            <a:off x="548640" y="502920"/>
            <a:ext cx="566928" cy="566928"/>
          </a:xfrm>
          <a:prstGeom prst="rect">
            <a:avLst/>
          </a:prstGeom>
          <a:noFill/>
          <a:ln/>
        </p:spPr>
        <p:txBody>
          <a:bodyPr wrap="square" lIns="0" tIns="0" rIns="0" bIns="0" rtlCol="0" anchor="ctr"/>
          <a:lstStyle/>
          <a:p>
            <a:pPr algn="ctr" indent="0" marL="0">
              <a:buNone/>
            </a:pPr>
            <a:r>
              <a:rPr lang="en-US" sz="1500" b="1" dirty="0">
                <a:solidFill>
                  <a:srgbClr val="FFFFFF"/>
                </a:solidFill>
                <a:latin typeface="BIZ UDゴシック" pitchFamily="34" charset="0"/>
                <a:ea typeface="BIZ UDゴシック" pitchFamily="34" charset="-122"/>
                <a:cs typeface="BIZ UDゴシック" pitchFamily="34" charset="-120"/>
              </a:rPr>
              <a:t>32</a:t>
            </a:r>
            <a:endParaRPr lang="en-US" sz="1500" dirty="0"/>
          </a:p>
        </p:txBody>
      </p:sp>
      <p:sp>
        <p:nvSpPr>
          <p:cNvPr id="4" name="Text 2"/>
          <p:cNvSpPr/>
          <p:nvPr/>
        </p:nvSpPr>
        <p:spPr>
          <a:xfrm>
            <a:off x="1280160" y="438912"/>
            <a:ext cx="10362895" cy="274320"/>
          </a:xfrm>
          <a:prstGeom prst="rect">
            <a:avLst/>
          </a:prstGeom>
          <a:noFill/>
          <a:ln/>
        </p:spPr>
        <p:txBody>
          <a:bodyPr wrap="square" lIns="0" tIns="0" rIns="0" bIns="0" rtlCol="0" anchor="ctr"/>
          <a:lstStyle/>
          <a:p>
            <a:pPr indent="0" marL="0">
              <a:buNone/>
            </a:pPr>
            <a:r>
              <a:rPr lang="en-US" sz="1100" b="1" spc="100" kern="0" dirty="0">
                <a:solidFill>
                  <a:srgbClr val="1C7293"/>
                </a:solidFill>
                <a:latin typeface="BIZ UDゴシック" pitchFamily="34" charset="0"/>
                <a:ea typeface="BIZ UDゴシック" pitchFamily="34" charset="-122"/>
                <a:cs typeface="BIZ UDゴシック" pitchFamily="34" charset="-120"/>
              </a:rPr>
              <a:t>SECTION 32</a:t>
            </a:r>
            <a:endParaRPr lang="en-US" sz="1100" dirty="0"/>
          </a:p>
        </p:txBody>
      </p:sp>
      <p:sp>
        <p:nvSpPr>
          <p:cNvPr id="5" name="Text 3"/>
          <p:cNvSpPr/>
          <p:nvPr/>
        </p:nvSpPr>
        <p:spPr>
          <a:xfrm>
            <a:off x="1280160" y="713232"/>
            <a:ext cx="10362895" cy="566928"/>
          </a:xfrm>
          <a:prstGeom prst="rect">
            <a:avLst/>
          </a:prstGeom>
          <a:noFill/>
          <a:ln/>
        </p:spPr>
        <p:txBody>
          <a:bodyPr wrap="square" lIns="0" tIns="0" rIns="0" bIns="0" rtlCol="0" anchor="t"/>
          <a:lstStyle/>
          <a:p>
            <a:pPr indent="0" marL="0">
              <a:buNone/>
            </a:pPr>
            <a:r>
              <a:rPr lang="en-US" sz="2500" b="1" dirty="0">
                <a:solidFill>
                  <a:srgbClr val="1A1A2E"/>
                </a:solidFill>
                <a:latin typeface="BIZ UDゴシック" pitchFamily="34" charset="0"/>
                <a:ea typeface="BIZ UDゴシック" pitchFamily="34" charset="-122"/>
                <a:cs typeface="BIZ UDゴシック" pitchFamily="34" charset="-120"/>
              </a:rPr>
              <a:t>デモ時の説明ポイント</a:t>
            </a:r>
            <a:endParaRPr lang="en-US" sz="2500" dirty="0"/>
          </a:p>
        </p:txBody>
      </p:sp>
      <p:sp>
        <p:nvSpPr>
          <p:cNvPr id="6" name="Text 4"/>
          <p:cNvSpPr/>
          <p:nvPr/>
        </p:nvSpPr>
        <p:spPr>
          <a:xfrm>
            <a:off x="548640" y="6446520"/>
            <a:ext cx="4572000" cy="274320"/>
          </a:xfrm>
          <a:prstGeom prst="rect">
            <a:avLst/>
          </a:prstGeom>
          <a:noFill/>
          <a:ln/>
        </p:spPr>
        <p:txBody>
          <a:bodyPr wrap="square" lIns="0" tIns="0" rIns="0" bIns="0" rtlCol="0" anchor="ctr"/>
          <a:lstStyle/>
          <a:p>
            <a:pPr indent="0" marL="0">
              <a:buNone/>
            </a:pPr>
            <a:r>
              <a:rPr lang="en-US" sz="900" dirty="0">
                <a:solidFill>
                  <a:srgbClr val="5C6B73"/>
                </a:solidFill>
                <a:latin typeface="BIZ UDゴシック" pitchFamily="34" charset="0"/>
                <a:ea typeface="BIZ UDゴシック" pitchFamily="34" charset="-122"/>
                <a:cs typeface="BIZ UDゴシック" pitchFamily="34" charset="-120"/>
              </a:rPr>
              <a:t>Observability AI PoC</a:t>
            </a:r>
            <a:endParaRPr lang="en-US" sz="900" dirty="0"/>
          </a:p>
        </p:txBody>
      </p:sp>
      <p:sp>
        <p:nvSpPr>
          <p:cNvPr id="7" name="Text 5"/>
          <p:cNvSpPr/>
          <p:nvPr/>
        </p:nvSpPr>
        <p:spPr>
          <a:xfrm>
            <a:off x="9814255" y="6446520"/>
            <a:ext cx="1828800" cy="274320"/>
          </a:xfrm>
          <a:prstGeom prst="rect">
            <a:avLst/>
          </a:prstGeom>
          <a:noFill/>
          <a:ln/>
        </p:spPr>
        <p:txBody>
          <a:bodyPr wrap="square" lIns="0" tIns="0" rIns="0" bIns="0" rtlCol="0" anchor="ctr"/>
          <a:lstStyle/>
          <a:p>
            <a:pPr algn="r" indent="0" marL="0">
              <a:buNone/>
            </a:pPr>
            <a:r>
              <a:rPr lang="en-US" sz="900" dirty="0">
                <a:solidFill>
                  <a:srgbClr val="5C6B73"/>
                </a:solidFill>
                <a:latin typeface="BIZ UDゴシック" pitchFamily="34" charset="0"/>
                <a:ea typeface="BIZ UDゴシック" pitchFamily="34" charset="-122"/>
                <a:cs typeface="BIZ UDゴシック" pitchFamily="34" charset="-120"/>
              </a:rPr>
              <a:t>32</a:t>
            </a:r>
            <a:endParaRPr lang="en-US" sz="900" dirty="0"/>
          </a:p>
        </p:txBody>
      </p:sp>
      <p:sp>
        <p:nvSpPr>
          <p:cNvPr id="8" name="Text 6"/>
          <p:cNvSpPr/>
          <p:nvPr/>
        </p:nvSpPr>
        <p:spPr>
          <a:xfrm>
            <a:off x="1280160" y="1508760"/>
            <a:ext cx="10362895" cy="365760"/>
          </a:xfrm>
          <a:prstGeom prst="rect">
            <a:avLst/>
          </a:prstGeom>
          <a:noFill/>
          <a:ln/>
        </p:spPr>
        <p:txBody>
          <a:bodyPr wrap="square" lIns="0" tIns="0" rIns="0" bIns="0" rtlCol="0" anchor="t"/>
          <a:lstStyle/>
          <a:p>
            <a:pPr indent="0" marL="0">
              <a:lnSpc>
                <a:spcPct val="125000"/>
              </a:lnSpc>
              <a:buNone/>
            </a:pPr>
            <a:r>
              <a:rPr lang="en-US" sz="1400" dirty="0">
                <a:solidFill>
                  <a:srgbClr val="1A1A2E"/>
                </a:solidFill>
                <a:latin typeface="BIZ UDゴシック" pitchFamily="34" charset="0"/>
                <a:ea typeface="BIZ UDゴシック" pitchFamily="34" charset="-122"/>
                <a:cs typeface="BIZ UDゴシック" pitchFamily="34" charset="-120"/>
              </a:rPr>
              <a:t>実演では、次の順序で見せると理解されやすい。</a:t>
            </a:r>
            <a:endParaRPr lang="en-US" sz="1400" dirty="0"/>
          </a:p>
        </p:txBody>
      </p:sp>
      <p:sp>
        <p:nvSpPr>
          <p:cNvPr id="9" name="Text 7"/>
          <p:cNvSpPr/>
          <p:nvPr/>
        </p:nvSpPr>
        <p:spPr>
          <a:xfrm>
            <a:off x="1280160" y="1920240"/>
            <a:ext cx="5166360" cy="3291840"/>
          </a:xfrm>
          <a:prstGeom prst="rect">
            <a:avLst/>
          </a:prstGeom>
          <a:noFill/>
          <a:ln/>
        </p:spPr>
        <p:txBody>
          <a:bodyPr wrap="square" lIns="0" tIns="0" rIns="0" bIns="0" rtlCol="0" anchor="t"/>
          <a:lstStyle/>
          <a:p>
            <a:pPr indent="0" marL="0">
              <a:lnSpc>
                <a:spcPct val="115000"/>
              </a:lnSpc>
              <a:spcAft>
                <a:spcPts val="1200"/>
              </a:spcAft>
              <a:buNone/>
            </a:pPr>
            <a:r>
              <a:rPr lang="en-US" sz="1250" dirty="0">
                <a:solidFill>
                  <a:srgbClr val="1A1A2E"/>
                </a:solidFill>
                <a:latin typeface="BIZ UDゴシック" pitchFamily="34" charset="0"/>
                <a:ea typeface="BIZ UDゴシック" pitchFamily="34" charset="-122"/>
                <a:cs typeface="BIZ UDゴシック" pitchFamily="34" charset="-120"/>
              </a:rPr>
              <a:t>01   NORMAL状態を表示</a:t>
            </a:r>
            <a:endParaRPr lang="en-US" sz="1250" dirty="0"/>
          </a:p>
          <a:p>
            <a:pPr indent="0" marL="0">
              <a:lnSpc>
                <a:spcPct val="115000"/>
              </a:lnSpc>
              <a:spcAft>
                <a:spcPts val="1200"/>
              </a:spcAft>
              <a:buNone/>
            </a:pPr>
            <a:r>
              <a:rPr lang="en-US" sz="1250" dirty="0">
                <a:solidFill>
                  <a:srgbClr val="1A1A2E"/>
                </a:solidFill>
                <a:latin typeface="BIZ UDゴシック" pitchFamily="34" charset="0"/>
                <a:ea typeface="BIZ UDゴシック" pitchFamily="34" charset="-122"/>
                <a:cs typeface="BIZ UDゴシック" pitchFamily="34" charset="-120"/>
              </a:rPr>
              <a:t>02   障害Scenarioへ変更</a:t>
            </a:r>
            <a:endParaRPr lang="en-US" sz="1250" dirty="0"/>
          </a:p>
          <a:p>
            <a:pPr indent="0" marL="0">
              <a:lnSpc>
                <a:spcPct val="115000"/>
              </a:lnSpc>
              <a:spcAft>
                <a:spcPts val="1200"/>
              </a:spcAft>
              <a:buNone/>
            </a:pPr>
            <a:r>
              <a:rPr lang="en-US" sz="1250" dirty="0">
                <a:solidFill>
                  <a:srgbClr val="1A1A2E"/>
                </a:solidFill>
                <a:latin typeface="BIZ UDゴシック" pitchFamily="34" charset="0"/>
                <a:ea typeface="BIZ UDゴシック" pitchFamily="34" charset="-122"/>
                <a:cs typeface="BIZ UDゴシック" pitchFamily="34" charset="-120"/>
              </a:rPr>
              <a:t>03   Demo Commerceでエラーを発生</a:t>
            </a:r>
            <a:endParaRPr lang="en-US" sz="1250" dirty="0"/>
          </a:p>
          <a:p>
            <a:pPr indent="0" marL="0">
              <a:lnSpc>
                <a:spcPct val="115000"/>
              </a:lnSpc>
              <a:spcAft>
                <a:spcPts val="1200"/>
              </a:spcAft>
              <a:buNone/>
            </a:pPr>
            <a:r>
              <a:rPr lang="en-US" sz="1250" dirty="0">
                <a:solidFill>
                  <a:srgbClr val="1A1A2E"/>
                </a:solidFill>
                <a:latin typeface="BIZ UDゴシック" pitchFamily="34" charset="0"/>
                <a:ea typeface="BIZ UDゴシック" pitchFamily="34" charset="-122"/>
                <a:cs typeface="BIZ UDゴシック" pitchFamily="34" charset="-120"/>
              </a:rPr>
              <a:t>04   Splunkログを確認</a:t>
            </a:r>
            <a:endParaRPr lang="en-US" sz="1250" dirty="0"/>
          </a:p>
          <a:p>
            <a:pPr indent="0" marL="0">
              <a:lnSpc>
                <a:spcPct val="115000"/>
              </a:lnSpc>
              <a:spcAft>
                <a:spcPts val="1200"/>
              </a:spcAft>
              <a:buNone/>
            </a:pPr>
            <a:r>
              <a:rPr lang="en-US" sz="1250" dirty="0">
                <a:solidFill>
                  <a:srgbClr val="1A1A2E"/>
                </a:solidFill>
                <a:latin typeface="BIZ UDゴシック" pitchFamily="34" charset="0"/>
                <a:ea typeface="BIZ UDゴシック" pitchFamily="34" charset="-122"/>
                <a:cs typeface="BIZ UDゴシック" pitchFamily="34" charset="-120"/>
              </a:rPr>
              <a:t>05   New Relic APMを確認</a:t>
            </a:r>
            <a:endParaRPr lang="en-US" sz="1250" dirty="0"/>
          </a:p>
          <a:p>
            <a:pPr indent="0" marL="0">
              <a:lnSpc>
                <a:spcPct val="115000"/>
              </a:lnSpc>
              <a:spcAft>
                <a:spcPts val="1200"/>
              </a:spcAft>
              <a:buNone/>
            </a:pPr>
            <a:r>
              <a:rPr lang="en-US" sz="1250" dirty="0">
                <a:solidFill>
                  <a:srgbClr val="1A1A2E"/>
                </a:solidFill>
                <a:latin typeface="BIZ UDゴシック" pitchFamily="34" charset="0"/>
                <a:ea typeface="BIZ UDゴシック" pitchFamily="34" charset="-122"/>
                <a:cs typeface="BIZ UDゴシック" pitchFamily="34" charset="-120"/>
              </a:rPr>
              <a:t>06   AI Investigationを開始</a:t>
            </a:r>
            <a:endParaRPr lang="en-US" sz="1250" dirty="0"/>
          </a:p>
        </p:txBody>
      </p:sp>
      <p:sp>
        <p:nvSpPr>
          <p:cNvPr id="10" name="Text 8"/>
          <p:cNvSpPr/>
          <p:nvPr/>
        </p:nvSpPr>
        <p:spPr>
          <a:xfrm>
            <a:off x="6766560" y="1920240"/>
            <a:ext cx="5212080" cy="3291840"/>
          </a:xfrm>
          <a:prstGeom prst="rect">
            <a:avLst/>
          </a:prstGeom>
          <a:noFill/>
          <a:ln/>
        </p:spPr>
        <p:txBody>
          <a:bodyPr wrap="square" lIns="0" tIns="0" rIns="0" bIns="0" rtlCol="0" anchor="t"/>
          <a:lstStyle/>
          <a:p>
            <a:pPr indent="0" marL="0">
              <a:lnSpc>
                <a:spcPct val="115000"/>
              </a:lnSpc>
              <a:spcAft>
                <a:spcPts val="1200"/>
              </a:spcAft>
              <a:buNone/>
            </a:pPr>
            <a:r>
              <a:rPr lang="en-US" sz="1250" dirty="0">
                <a:solidFill>
                  <a:srgbClr val="1A1A2E"/>
                </a:solidFill>
                <a:latin typeface="BIZ UDゴシック" pitchFamily="34" charset="0"/>
                <a:ea typeface="BIZ UDゴシック" pitchFamily="34" charset="-122"/>
                <a:cs typeface="BIZ UDゴシック" pitchFamily="34" charset="-120"/>
              </a:rPr>
              <a:t>07   AG-UIで調査状況を表示</a:t>
            </a:r>
            <a:endParaRPr lang="en-US" sz="1250" dirty="0"/>
          </a:p>
          <a:p>
            <a:pPr indent="0" marL="0">
              <a:lnSpc>
                <a:spcPct val="115000"/>
              </a:lnSpc>
              <a:spcAft>
                <a:spcPts val="1200"/>
              </a:spcAft>
              <a:buNone/>
            </a:pPr>
            <a:r>
              <a:rPr lang="en-US" sz="1250" dirty="0">
                <a:solidFill>
                  <a:srgbClr val="1A1A2E"/>
                </a:solidFill>
                <a:latin typeface="BIZ UDゴシック" pitchFamily="34" charset="0"/>
                <a:ea typeface="BIZ UDゴシック" pitchFamily="34" charset="-122"/>
                <a:cs typeface="BIZ UDゴシック" pitchFamily="34" charset="-120"/>
              </a:rPr>
              <a:t>08   AI分析結果を表示</a:t>
            </a:r>
            <a:endParaRPr lang="en-US" sz="1250" dirty="0"/>
          </a:p>
          <a:p>
            <a:pPr indent="0" marL="0">
              <a:lnSpc>
                <a:spcPct val="115000"/>
              </a:lnSpc>
              <a:spcAft>
                <a:spcPts val="1200"/>
              </a:spcAft>
              <a:buNone/>
            </a:pPr>
            <a:r>
              <a:rPr lang="en-US" sz="1250" dirty="0">
                <a:solidFill>
                  <a:srgbClr val="1A1A2E"/>
                </a:solidFill>
                <a:latin typeface="BIZ UDゴシック" pitchFamily="34" charset="0"/>
                <a:ea typeface="BIZ UDゴシック" pitchFamily="34" charset="-122"/>
                <a:cs typeface="BIZ UDゴシック" pitchFamily="34" charset="-120"/>
              </a:rPr>
              <a:t>09   A2UIによりUI構成が変わることを説明</a:t>
            </a:r>
            <a:endParaRPr lang="en-US" sz="1250" dirty="0"/>
          </a:p>
          <a:p>
            <a:pPr indent="0" marL="0">
              <a:lnSpc>
                <a:spcPct val="115000"/>
              </a:lnSpc>
              <a:spcAft>
                <a:spcPts val="1200"/>
              </a:spcAft>
              <a:buNone/>
            </a:pPr>
            <a:r>
              <a:rPr lang="en-US" sz="1250" dirty="0">
                <a:solidFill>
                  <a:srgbClr val="1A1A2E"/>
                </a:solidFill>
                <a:latin typeface="BIZ UDゴシック" pitchFamily="34" charset="0"/>
                <a:ea typeface="BIZ UDゴシック" pitchFamily="34" charset="-122"/>
                <a:cs typeface="BIZ UDゴシック" pitchFamily="34" charset="-120"/>
              </a:rPr>
              <a:t>10   Evidenceをクリックして根拠を確認</a:t>
            </a:r>
            <a:endParaRPr lang="en-US" sz="1250" dirty="0"/>
          </a:p>
          <a:p>
            <a:pPr indent="0" marL="0">
              <a:lnSpc>
                <a:spcPct val="115000"/>
              </a:lnSpc>
              <a:spcAft>
                <a:spcPts val="1200"/>
              </a:spcAft>
              <a:buNone/>
            </a:pPr>
            <a:r>
              <a:rPr lang="en-US" sz="1250" dirty="0">
                <a:solidFill>
                  <a:srgbClr val="1A1A2E"/>
                </a:solidFill>
                <a:latin typeface="BIZ UDゴシック" pitchFamily="34" charset="0"/>
                <a:ea typeface="BIZ UDゴシック" pitchFamily="34" charset="-122"/>
                <a:cs typeface="BIZ UDゴシック" pitchFamily="34" charset="-120"/>
              </a:rPr>
              <a:t>11   Recommendationは実行ではなく提案であることを説明</a:t>
            </a:r>
            <a:endParaRPr lang="en-US" sz="125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502920"/>
            <a:ext cx="566928" cy="566928"/>
          </a:xfrm>
          <a:prstGeom prst="ellipse">
            <a:avLst/>
          </a:prstGeom>
          <a:solidFill>
            <a:srgbClr val="21295C"/>
          </a:solidFill>
          <a:ln/>
        </p:spPr>
      </p:sp>
      <p:sp>
        <p:nvSpPr>
          <p:cNvPr id="3" name="Text 1"/>
          <p:cNvSpPr/>
          <p:nvPr/>
        </p:nvSpPr>
        <p:spPr>
          <a:xfrm>
            <a:off x="548640" y="502920"/>
            <a:ext cx="566928" cy="566928"/>
          </a:xfrm>
          <a:prstGeom prst="rect">
            <a:avLst/>
          </a:prstGeom>
          <a:noFill/>
          <a:ln/>
        </p:spPr>
        <p:txBody>
          <a:bodyPr wrap="square" lIns="0" tIns="0" rIns="0" bIns="0" rtlCol="0" anchor="ctr"/>
          <a:lstStyle/>
          <a:p>
            <a:pPr algn="ctr" indent="0" marL="0">
              <a:buNone/>
            </a:pPr>
            <a:r>
              <a:rPr lang="en-US" sz="1500" b="1" dirty="0">
                <a:solidFill>
                  <a:srgbClr val="FFFFFF"/>
                </a:solidFill>
                <a:latin typeface="BIZ UDゴシック" pitchFamily="34" charset="0"/>
                <a:ea typeface="BIZ UDゴシック" pitchFamily="34" charset="-122"/>
                <a:cs typeface="BIZ UDゴシック" pitchFamily="34" charset="-120"/>
              </a:rPr>
              <a:t>33</a:t>
            </a:r>
            <a:endParaRPr lang="en-US" sz="1500" dirty="0"/>
          </a:p>
        </p:txBody>
      </p:sp>
      <p:sp>
        <p:nvSpPr>
          <p:cNvPr id="4" name="Text 2"/>
          <p:cNvSpPr/>
          <p:nvPr/>
        </p:nvSpPr>
        <p:spPr>
          <a:xfrm>
            <a:off x="1280160" y="438912"/>
            <a:ext cx="10362895" cy="274320"/>
          </a:xfrm>
          <a:prstGeom prst="rect">
            <a:avLst/>
          </a:prstGeom>
          <a:noFill/>
          <a:ln/>
        </p:spPr>
        <p:txBody>
          <a:bodyPr wrap="square" lIns="0" tIns="0" rIns="0" bIns="0" rtlCol="0" anchor="ctr"/>
          <a:lstStyle/>
          <a:p>
            <a:pPr indent="0" marL="0">
              <a:buNone/>
            </a:pPr>
            <a:r>
              <a:rPr lang="en-US" sz="1100" b="1" spc="100" kern="0" dirty="0">
                <a:solidFill>
                  <a:srgbClr val="1C7293"/>
                </a:solidFill>
                <a:latin typeface="BIZ UDゴシック" pitchFamily="34" charset="0"/>
                <a:ea typeface="BIZ UDゴシック" pitchFamily="34" charset="-122"/>
                <a:cs typeface="BIZ UDゴシック" pitchFamily="34" charset="-120"/>
              </a:rPr>
              <a:t>SECTION 33</a:t>
            </a:r>
            <a:endParaRPr lang="en-US" sz="1100" dirty="0"/>
          </a:p>
        </p:txBody>
      </p:sp>
      <p:sp>
        <p:nvSpPr>
          <p:cNvPr id="5" name="Text 3"/>
          <p:cNvSpPr/>
          <p:nvPr/>
        </p:nvSpPr>
        <p:spPr>
          <a:xfrm>
            <a:off x="1280160" y="713232"/>
            <a:ext cx="10362895" cy="566928"/>
          </a:xfrm>
          <a:prstGeom prst="rect">
            <a:avLst/>
          </a:prstGeom>
          <a:noFill/>
          <a:ln/>
        </p:spPr>
        <p:txBody>
          <a:bodyPr wrap="square" lIns="0" tIns="0" rIns="0" bIns="0" rtlCol="0" anchor="t"/>
          <a:lstStyle/>
          <a:p>
            <a:pPr indent="0" marL="0">
              <a:buNone/>
            </a:pPr>
            <a:r>
              <a:rPr lang="en-US" sz="2500" b="1" dirty="0">
                <a:solidFill>
                  <a:srgbClr val="1A1A2E"/>
                </a:solidFill>
                <a:latin typeface="BIZ UDゴシック" pitchFamily="34" charset="0"/>
                <a:ea typeface="BIZ UDゴシック" pitchFamily="34" charset="-122"/>
                <a:cs typeface="BIZ UDゴシック" pitchFamily="34" charset="-120"/>
              </a:rPr>
              <a:t>発表時のメッセージ</a:t>
            </a:r>
            <a:endParaRPr lang="en-US" sz="2500" dirty="0"/>
          </a:p>
        </p:txBody>
      </p:sp>
      <p:sp>
        <p:nvSpPr>
          <p:cNvPr id="6" name="Text 4"/>
          <p:cNvSpPr/>
          <p:nvPr/>
        </p:nvSpPr>
        <p:spPr>
          <a:xfrm>
            <a:off x="548640" y="6446520"/>
            <a:ext cx="4572000" cy="274320"/>
          </a:xfrm>
          <a:prstGeom prst="rect">
            <a:avLst/>
          </a:prstGeom>
          <a:noFill/>
          <a:ln/>
        </p:spPr>
        <p:txBody>
          <a:bodyPr wrap="square" lIns="0" tIns="0" rIns="0" bIns="0" rtlCol="0" anchor="ctr"/>
          <a:lstStyle/>
          <a:p>
            <a:pPr indent="0" marL="0">
              <a:buNone/>
            </a:pPr>
            <a:r>
              <a:rPr lang="en-US" sz="900" dirty="0">
                <a:solidFill>
                  <a:srgbClr val="5C6B73"/>
                </a:solidFill>
                <a:latin typeface="BIZ UDゴシック" pitchFamily="34" charset="0"/>
                <a:ea typeface="BIZ UDゴシック" pitchFamily="34" charset="-122"/>
                <a:cs typeface="BIZ UDゴシック" pitchFamily="34" charset="-120"/>
              </a:rPr>
              <a:t>Observability AI PoC</a:t>
            </a:r>
            <a:endParaRPr lang="en-US" sz="900" dirty="0"/>
          </a:p>
        </p:txBody>
      </p:sp>
      <p:sp>
        <p:nvSpPr>
          <p:cNvPr id="7" name="Text 5"/>
          <p:cNvSpPr/>
          <p:nvPr/>
        </p:nvSpPr>
        <p:spPr>
          <a:xfrm>
            <a:off x="9814255" y="6446520"/>
            <a:ext cx="1828800" cy="274320"/>
          </a:xfrm>
          <a:prstGeom prst="rect">
            <a:avLst/>
          </a:prstGeom>
          <a:noFill/>
          <a:ln/>
        </p:spPr>
        <p:txBody>
          <a:bodyPr wrap="square" lIns="0" tIns="0" rIns="0" bIns="0" rtlCol="0" anchor="ctr"/>
          <a:lstStyle/>
          <a:p>
            <a:pPr algn="r" indent="0" marL="0">
              <a:buNone/>
            </a:pPr>
            <a:r>
              <a:rPr lang="en-US" sz="900" dirty="0">
                <a:solidFill>
                  <a:srgbClr val="5C6B73"/>
                </a:solidFill>
                <a:latin typeface="BIZ UDゴシック" pitchFamily="34" charset="0"/>
                <a:ea typeface="BIZ UDゴシック" pitchFamily="34" charset="-122"/>
                <a:cs typeface="BIZ UDゴシック" pitchFamily="34" charset="-120"/>
              </a:rPr>
              <a:t>33</a:t>
            </a:r>
            <a:endParaRPr lang="en-US" sz="900" dirty="0"/>
          </a:p>
        </p:txBody>
      </p:sp>
      <p:sp>
        <p:nvSpPr>
          <p:cNvPr id="8" name="Text 6"/>
          <p:cNvSpPr/>
          <p:nvPr/>
        </p:nvSpPr>
        <p:spPr>
          <a:xfrm>
            <a:off x="1280160" y="1554480"/>
            <a:ext cx="10362895" cy="365760"/>
          </a:xfrm>
          <a:prstGeom prst="rect">
            <a:avLst/>
          </a:prstGeom>
          <a:noFill/>
          <a:ln/>
        </p:spPr>
        <p:txBody>
          <a:bodyPr wrap="square" lIns="0" tIns="0" rIns="0" bIns="0" rtlCol="0" anchor="t"/>
          <a:lstStyle/>
          <a:p>
            <a:pPr indent="0" marL="0">
              <a:lnSpc>
                <a:spcPct val="125000"/>
              </a:lnSpc>
              <a:buNone/>
            </a:pPr>
            <a:r>
              <a:rPr lang="en-US" sz="1600" b="1" dirty="0">
                <a:solidFill>
                  <a:srgbClr val="21295C"/>
                </a:solidFill>
                <a:latin typeface="BIZ UDゴシック" pitchFamily="34" charset="0"/>
                <a:ea typeface="BIZ UDゴシック" pitchFamily="34" charset="-122"/>
                <a:cs typeface="BIZ UDゴシック" pitchFamily="34" charset="-120"/>
              </a:rPr>
              <a:t>一番伝えたいこと</a:t>
            </a:r>
            <a:endParaRPr lang="en-US" sz="1600" dirty="0"/>
          </a:p>
        </p:txBody>
      </p:sp>
      <p:sp>
        <p:nvSpPr>
          <p:cNvPr id="9" name="Text 7"/>
          <p:cNvSpPr/>
          <p:nvPr/>
        </p:nvSpPr>
        <p:spPr>
          <a:xfrm>
            <a:off x="1280160" y="1965960"/>
            <a:ext cx="10362895" cy="502920"/>
          </a:xfrm>
          <a:prstGeom prst="rect">
            <a:avLst/>
          </a:prstGeom>
          <a:noFill/>
          <a:ln/>
        </p:spPr>
        <p:txBody>
          <a:bodyPr wrap="square" lIns="0" tIns="0" rIns="0" bIns="0" rtlCol="0" anchor="t"/>
          <a:lstStyle/>
          <a:p>
            <a:pPr indent="0" marL="0">
              <a:lnSpc>
                <a:spcPct val="125000"/>
              </a:lnSpc>
              <a:buNone/>
            </a:pPr>
            <a:r>
              <a:rPr lang="en-US" sz="1500" dirty="0">
                <a:solidFill>
                  <a:srgbClr val="1A1A2E"/>
                </a:solidFill>
                <a:latin typeface="BIZ UDゴシック" pitchFamily="34" charset="0"/>
                <a:ea typeface="BIZ UDゴシック" pitchFamily="34" charset="-122"/>
                <a:cs typeface="BIZ UDゴシック" pitchFamily="34" charset="-120"/>
              </a:rPr>
              <a:t>このPoCの目的は、「LLMに監視データを読ませること」だけではない。</a:t>
            </a:r>
            <a:endParaRPr lang="en-US" sz="1500" dirty="0"/>
          </a:p>
        </p:txBody>
      </p:sp>
      <p:sp>
        <p:nvSpPr>
          <p:cNvPr id="10" name="Text 8"/>
          <p:cNvSpPr/>
          <p:nvPr/>
        </p:nvSpPr>
        <p:spPr>
          <a:xfrm>
            <a:off x="1280160" y="2514600"/>
            <a:ext cx="10362895" cy="914400"/>
          </a:xfrm>
          <a:prstGeom prst="rect">
            <a:avLst/>
          </a:prstGeom>
          <a:noFill/>
          <a:ln/>
        </p:spPr>
        <p:txBody>
          <a:bodyPr wrap="square" lIns="0" tIns="0" rIns="0" bIns="0" rtlCol="0" anchor="t"/>
          <a:lstStyle/>
          <a:p>
            <a:pPr indent="0" marL="0">
              <a:lnSpc>
                <a:spcPct val="125000"/>
              </a:lnSpc>
              <a:buNone/>
            </a:pPr>
            <a:r>
              <a:rPr lang="en-US" sz="1500" dirty="0">
                <a:solidFill>
                  <a:srgbClr val="1A1A2E"/>
                </a:solidFill>
                <a:latin typeface="BIZ UDゴシック" pitchFamily="34" charset="0"/>
                <a:ea typeface="BIZ UDゴシック" pitchFamily="34" charset="-122"/>
                <a:cs typeface="BIZ UDゴシック" pitchFamily="34" charset="-120"/>
              </a:rPr>
              <a:t>監視データをEvidenceとして整理し、AIが分析し、その結果に応じて、ユーザーが見るべき画面そのものを動的に生成することを検証している。</a:t>
            </a:r>
            <a:endParaRPr lang="en-US" sz="1500" dirty="0"/>
          </a:p>
        </p:txBody>
      </p:sp>
      <p:sp>
        <p:nvSpPr>
          <p:cNvPr id="11" name="Shape 9"/>
          <p:cNvSpPr/>
          <p:nvPr/>
        </p:nvSpPr>
        <p:spPr>
          <a:xfrm>
            <a:off x="1280160" y="3703320"/>
            <a:ext cx="10362895" cy="1828800"/>
          </a:xfrm>
          <a:prstGeom prst="roundRect">
            <a:avLst>
              <a:gd name="adj" fmla="val 4000"/>
            </a:avLst>
          </a:prstGeom>
          <a:solidFill>
            <a:srgbClr val="21295C"/>
          </a:solidFill>
          <a:ln/>
        </p:spPr>
      </p:sp>
      <p:sp>
        <p:nvSpPr>
          <p:cNvPr id="12" name="Text 10"/>
          <p:cNvSpPr/>
          <p:nvPr/>
        </p:nvSpPr>
        <p:spPr>
          <a:xfrm>
            <a:off x="1600200" y="3886200"/>
            <a:ext cx="9722815" cy="365760"/>
          </a:xfrm>
          <a:prstGeom prst="rect">
            <a:avLst/>
          </a:prstGeom>
          <a:noFill/>
          <a:ln/>
        </p:spPr>
        <p:txBody>
          <a:bodyPr wrap="square" lIns="0" tIns="0" rIns="0" bIns="0" rtlCol="0" anchor="ctr"/>
          <a:lstStyle/>
          <a:p>
            <a:pPr indent="0" marL="0">
              <a:buNone/>
            </a:pPr>
            <a:r>
              <a:rPr lang="en-US" sz="1400" dirty="0">
                <a:solidFill>
                  <a:srgbClr val="EAF2F6"/>
                </a:solidFill>
                <a:latin typeface="BIZ UDゴシック" pitchFamily="34" charset="0"/>
                <a:ea typeface="BIZ UDゴシック" pitchFamily="34" charset="-122"/>
                <a:cs typeface="BIZ UDゴシック" pitchFamily="34" charset="-120"/>
              </a:rPr>
              <a:t>A2UIとAG-UIを組み合わせることで、</a:t>
            </a:r>
            <a:endParaRPr lang="en-US" sz="1400" dirty="0"/>
          </a:p>
        </p:txBody>
      </p:sp>
      <p:sp>
        <p:nvSpPr>
          <p:cNvPr id="13" name="Text 11"/>
          <p:cNvSpPr/>
          <p:nvPr/>
        </p:nvSpPr>
        <p:spPr>
          <a:xfrm>
            <a:off x="1600200" y="4251960"/>
            <a:ext cx="9722815" cy="548640"/>
          </a:xfrm>
          <a:prstGeom prst="rect">
            <a:avLst/>
          </a:prstGeom>
          <a:noFill/>
          <a:ln/>
        </p:spPr>
        <p:txBody>
          <a:bodyPr wrap="square" lIns="0" tIns="0" rIns="0" bIns="0" rtlCol="0" anchor="ctr"/>
          <a:lstStyle/>
          <a:p>
            <a:pPr indent="0" marL="0">
              <a:buNone/>
            </a:pPr>
            <a:r>
              <a:rPr lang="en-US" sz="2400" b="1" dirty="0">
                <a:solidFill>
                  <a:srgbClr val="FFFFFF"/>
                </a:solidFill>
                <a:latin typeface="BIZ UDゴシック" pitchFamily="34" charset="0"/>
                <a:ea typeface="BIZ UDゴシック" pitchFamily="34" charset="-122"/>
                <a:cs typeface="BIZ UDゴシック" pitchFamily="34" charset="-120"/>
              </a:rPr>
              <a:t>Observability + AI + Dynamic UI</a:t>
            </a:r>
            <a:endParaRPr lang="en-US" sz="2400" dirty="0"/>
          </a:p>
        </p:txBody>
      </p:sp>
      <p:sp>
        <p:nvSpPr>
          <p:cNvPr id="14" name="Text 12"/>
          <p:cNvSpPr/>
          <p:nvPr/>
        </p:nvSpPr>
        <p:spPr>
          <a:xfrm>
            <a:off x="1600200" y="4846320"/>
            <a:ext cx="9722815" cy="548640"/>
          </a:xfrm>
          <a:prstGeom prst="rect">
            <a:avLst/>
          </a:prstGeom>
          <a:noFill/>
          <a:ln/>
        </p:spPr>
        <p:txBody>
          <a:bodyPr wrap="square" lIns="0" tIns="0" rIns="0" bIns="0" rtlCol="0" anchor="ctr"/>
          <a:lstStyle/>
          <a:p>
            <a:pPr indent="0" marL="0">
              <a:buNone/>
            </a:pPr>
            <a:r>
              <a:rPr lang="en-US" sz="1400" dirty="0">
                <a:solidFill>
                  <a:srgbClr val="EAF2F6"/>
                </a:solidFill>
                <a:latin typeface="BIZ UDゴシック" pitchFamily="34" charset="0"/>
                <a:ea typeface="BIZ UDゴシック" pitchFamily="34" charset="-122"/>
                <a:cs typeface="BIZ UDゴシック" pitchFamily="34" charset="-120"/>
              </a:rPr>
              <a:t>という新しい運用インターフェースを実現できる可能性がある。</a:t>
            </a:r>
            <a:endParaRPr lang="en-US" sz="14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502920"/>
            <a:ext cx="566928" cy="566928"/>
          </a:xfrm>
          <a:prstGeom prst="ellipse">
            <a:avLst/>
          </a:prstGeom>
          <a:solidFill>
            <a:srgbClr val="21295C"/>
          </a:solidFill>
          <a:ln/>
        </p:spPr>
      </p:sp>
      <p:sp>
        <p:nvSpPr>
          <p:cNvPr id="3" name="Text 1"/>
          <p:cNvSpPr/>
          <p:nvPr/>
        </p:nvSpPr>
        <p:spPr>
          <a:xfrm>
            <a:off x="548640" y="502920"/>
            <a:ext cx="566928" cy="566928"/>
          </a:xfrm>
          <a:prstGeom prst="rect">
            <a:avLst/>
          </a:prstGeom>
          <a:noFill/>
          <a:ln/>
        </p:spPr>
        <p:txBody>
          <a:bodyPr wrap="square" lIns="0" tIns="0" rIns="0" bIns="0" rtlCol="0" anchor="ctr"/>
          <a:lstStyle/>
          <a:p>
            <a:pPr algn="ctr" indent="0" marL="0">
              <a:buNone/>
            </a:pPr>
            <a:r>
              <a:rPr lang="en-US" sz="1500" b="1" dirty="0">
                <a:solidFill>
                  <a:srgbClr val="FFFFFF"/>
                </a:solidFill>
                <a:latin typeface="BIZ UDゴシック" pitchFamily="34" charset="0"/>
                <a:ea typeface="BIZ UDゴシック" pitchFamily="34" charset="-122"/>
                <a:cs typeface="BIZ UDゴシック" pitchFamily="34" charset="-120"/>
              </a:rPr>
              <a:t>34</a:t>
            </a:r>
            <a:endParaRPr lang="en-US" sz="1500" dirty="0"/>
          </a:p>
        </p:txBody>
      </p:sp>
      <p:sp>
        <p:nvSpPr>
          <p:cNvPr id="4" name="Text 2"/>
          <p:cNvSpPr/>
          <p:nvPr/>
        </p:nvSpPr>
        <p:spPr>
          <a:xfrm>
            <a:off x="1280160" y="438912"/>
            <a:ext cx="10362895" cy="274320"/>
          </a:xfrm>
          <a:prstGeom prst="rect">
            <a:avLst/>
          </a:prstGeom>
          <a:noFill/>
          <a:ln/>
        </p:spPr>
        <p:txBody>
          <a:bodyPr wrap="square" lIns="0" tIns="0" rIns="0" bIns="0" rtlCol="0" anchor="ctr"/>
          <a:lstStyle/>
          <a:p>
            <a:pPr indent="0" marL="0">
              <a:buNone/>
            </a:pPr>
            <a:r>
              <a:rPr lang="en-US" sz="1100" b="1" spc="100" kern="0" dirty="0">
                <a:solidFill>
                  <a:srgbClr val="1C7293"/>
                </a:solidFill>
                <a:latin typeface="BIZ UDゴシック" pitchFamily="34" charset="0"/>
                <a:ea typeface="BIZ UDゴシック" pitchFamily="34" charset="-122"/>
                <a:cs typeface="BIZ UDゴシック" pitchFamily="34" charset="-120"/>
              </a:rPr>
              <a:t>SECTION 34</a:t>
            </a:r>
            <a:endParaRPr lang="en-US" sz="1100" dirty="0"/>
          </a:p>
        </p:txBody>
      </p:sp>
      <p:sp>
        <p:nvSpPr>
          <p:cNvPr id="5" name="Text 3"/>
          <p:cNvSpPr/>
          <p:nvPr/>
        </p:nvSpPr>
        <p:spPr>
          <a:xfrm>
            <a:off x="1280160" y="713232"/>
            <a:ext cx="10362895" cy="566928"/>
          </a:xfrm>
          <a:prstGeom prst="rect">
            <a:avLst/>
          </a:prstGeom>
          <a:noFill/>
          <a:ln/>
        </p:spPr>
        <p:txBody>
          <a:bodyPr wrap="square" lIns="0" tIns="0" rIns="0" bIns="0" rtlCol="0" anchor="t"/>
          <a:lstStyle/>
          <a:p>
            <a:pPr indent="0" marL="0">
              <a:buNone/>
            </a:pPr>
            <a:r>
              <a:rPr lang="en-US" sz="2500" b="1" dirty="0">
                <a:solidFill>
                  <a:srgbClr val="1A1A2E"/>
                </a:solidFill>
                <a:latin typeface="BIZ UDゴシック" pitchFamily="34" charset="0"/>
                <a:ea typeface="BIZ UDゴシック" pitchFamily="34" charset="-122"/>
                <a:cs typeface="BIZ UDゴシック" pitchFamily="34" charset="-120"/>
              </a:rPr>
              <a:t>まとめ</a:t>
            </a:r>
            <a:endParaRPr lang="en-US" sz="2500" dirty="0"/>
          </a:p>
        </p:txBody>
      </p:sp>
      <p:sp>
        <p:nvSpPr>
          <p:cNvPr id="6" name="Text 4"/>
          <p:cNvSpPr/>
          <p:nvPr/>
        </p:nvSpPr>
        <p:spPr>
          <a:xfrm>
            <a:off x="548640" y="6446520"/>
            <a:ext cx="4572000" cy="274320"/>
          </a:xfrm>
          <a:prstGeom prst="rect">
            <a:avLst/>
          </a:prstGeom>
          <a:noFill/>
          <a:ln/>
        </p:spPr>
        <p:txBody>
          <a:bodyPr wrap="square" lIns="0" tIns="0" rIns="0" bIns="0" rtlCol="0" anchor="ctr"/>
          <a:lstStyle/>
          <a:p>
            <a:pPr indent="0" marL="0">
              <a:buNone/>
            </a:pPr>
            <a:r>
              <a:rPr lang="en-US" sz="900" dirty="0">
                <a:solidFill>
                  <a:srgbClr val="5C6B73"/>
                </a:solidFill>
                <a:latin typeface="BIZ UDゴシック" pitchFamily="34" charset="0"/>
                <a:ea typeface="BIZ UDゴシック" pitchFamily="34" charset="-122"/>
                <a:cs typeface="BIZ UDゴシック" pitchFamily="34" charset="-120"/>
              </a:rPr>
              <a:t>Observability AI PoC</a:t>
            </a:r>
            <a:endParaRPr lang="en-US" sz="900" dirty="0"/>
          </a:p>
        </p:txBody>
      </p:sp>
      <p:sp>
        <p:nvSpPr>
          <p:cNvPr id="7" name="Text 5"/>
          <p:cNvSpPr/>
          <p:nvPr/>
        </p:nvSpPr>
        <p:spPr>
          <a:xfrm>
            <a:off x="9814255" y="6446520"/>
            <a:ext cx="1828800" cy="274320"/>
          </a:xfrm>
          <a:prstGeom prst="rect">
            <a:avLst/>
          </a:prstGeom>
          <a:noFill/>
          <a:ln/>
        </p:spPr>
        <p:txBody>
          <a:bodyPr wrap="square" lIns="0" tIns="0" rIns="0" bIns="0" rtlCol="0" anchor="ctr"/>
          <a:lstStyle/>
          <a:p>
            <a:pPr algn="r" indent="0" marL="0">
              <a:buNone/>
            </a:pPr>
            <a:r>
              <a:rPr lang="en-US" sz="900" dirty="0">
                <a:solidFill>
                  <a:srgbClr val="5C6B73"/>
                </a:solidFill>
                <a:latin typeface="BIZ UDゴシック" pitchFamily="34" charset="0"/>
                <a:ea typeface="BIZ UDゴシック" pitchFamily="34" charset="-122"/>
                <a:cs typeface="BIZ UDゴシック" pitchFamily="34" charset="-120"/>
              </a:rPr>
              <a:t>34</a:t>
            </a:r>
            <a:endParaRPr lang="en-US" sz="900" dirty="0"/>
          </a:p>
        </p:txBody>
      </p:sp>
      <p:sp>
        <p:nvSpPr>
          <p:cNvPr id="8" name="Shape 6"/>
          <p:cNvSpPr/>
          <p:nvPr/>
        </p:nvSpPr>
        <p:spPr>
          <a:xfrm>
            <a:off x="1280160" y="1508760"/>
            <a:ext cx="4998568" cy="3291840"/>
          </a:xfrm>
          <a:prstGeom prst="roundRect">
            <a:avLst>
              <a:gd name="adj" fmla="val 2222"/>
            </a:avLst>
          </a:prstGeom>
          <a:solidFill>
            <a:srgbClr val="EAF2F6"/>
          </a:solidFill>
          <a:ln/>
        </p:spPr>
      </p:sp>
      <p:sp>
        <p:nvSpPr>
          <p:cNvPr id="9" name="Text 7"/>
          <p:cNvSpPr/>
          <p:nvPr/>
        </p:nvSpPr>
        <p:spPr>
          <a:xfrm>
            <a:off x="1463040" y="1664208"/>
            <a:ext cx="4632808" cy="548640"/>
          </a:xfrm>
          <a:prstGeom prst="rect">
            <a:avLst/>
          </a:prstGeom>
          <a:noFill/>
          <a:ln/>
        </p:spPr>
        <p:txBody>
          <a:bodyPr wrap="square" lIns="0" tIns="0" rIns="0" bIns="0" rtlCol="0" anchor="t"/>
          <a:lstStyle/>
          <a:p>
            <a:pPr indent="0" marL="0">
              <a:lnSpc>
                <a:spcPct val="125000"/>
              </a:lnSpc>
              <a:buNone/>
            </a:pPr>
            <a:r>
              <a:rPr lang="en-US" sz="1400" b="1" dirty="0">
                <a:solidFill>
                  <a:srgbClr val="21295C"/>
                </a:solidFill>
                <a:latin typeface="BIZ UDゴシック" pitchFamily="34" charset="0"/>
                <a:ea typeface="BIZ UDゴシック" pitchFamily="34" charset="-122"/>
                <a:cs typeface="BIZ UDゴシック" pitchFamily="34" charset="-120"/>
              </a:rPr>
              <a:t>本PoCで実装したもの</a:t>
            </a:r>
            <a:endParaRPr lang="en-US" sz="1400" dirty="0"/>
          </a:p>
        </p:txBody>
      </p:sp>
      <p:sp>
        <p:nvSpPr>
          <p:cNvPr id="10" name="Text 8"/>
          <p:cNvSpPr/>
          <p:nvPr/>
        </p:nvSpPr>
        <p:spPr>
          <a:xfrm>
            <a:off x="1463040" y="2057400"/>
            <a:ext cx="4632808" cy="2651760"/>
          </a:xfrm>
          <a:prstGeom prst="rect">
            <a:avLst/>
          </a:prstGeom>
          <a:noFill/>
          <a:ln/>
        </p:spPr>
        <p:txBody>
          <a:bodyPr wrap="square" lIns="0" tIns="0" rIns="0" bIns="0" rtlCol="0" anchor="t"/>
          <a:lstStyle/>
          <a:p>
            <a:pPr marL="177800" indent="-177800">
              <a:lnSpc>
                <a:spcPct val="120000"/>
              </a:lnSpc>
              <a:spcAft>
                <a:spcPts val="700"/>
              </a:spcAft>
              <a:buSzPct val="100000"/>
              <a:buChar char="●"/>
            </a:pPr>
            <a:r>
              <a:rPr lang="en-US" sz="1200" dirty="0">
                <a:solidFill>
                  <a:srgbClr val="1A1A2E"/>
                </a:solidFill>
                <a:latin typeface="BIZ UDゴシック" pitchFamily="34" charset="0"/>
                <a:ea typeface="BIZ UDゴシック" pitchFamily="34" charset="-122"/>
                <a:cs typeface="BIZ UDゴシック" pitchFamily="34" charset="-120"/>
              </a:rPr>
              <a:t>Demo Commerceマイクロサービス</a:t>
            </a:r>
            <a:endParaRPr lang="en-US" sz="1200" dirty="0"/>
          </a:p>
          <a:p>
            <a:pPr marL="177800" indent="-177800">
              <a:lnSpc>
                <a:spcPct val="120000"/>
              </a:lnSpc>
              <a:spcAft>
                <a:spcPts val="700"/>
              </a:spcAft>
              <a:buSzPct val="100000"/>
              <a:buChar char="●"/>
            </a:pPr>
            <a:r>
              <a:rPr lang="en-US" sz="1200" dirty="0">
                <a:solidFill>
                  <a:srgbClr val="1A1A2E"/>
                </a:solidFill>
                <a:latin typeface="BIZ UDゴシック" pitchFamily="34" charset="0"/>
                <a:ea typeface="BIZ UDゴシック" pitchFamily="34" charset="-122"/>
                <a:cs typeface="BIZ UDゴシック" pitchFamily="34" charset="-120"/>
              </a:rPr>
              <a:t>Splunkログ連携 / New Relic APM / MCP</a:t>
            </a:r>
            <a:endParaRPr lang="en-US" sz="1200" dirty="0"/>
          </a:p>
          <a:p>
            <a:pPr marL="177800" indent="-177800">
              <a:lnSpc>
                <a:spcPct val="120000"/>
              </a:lnSpc>
              <a:spcAft>
                <a:spcPts val="700"/>
              </a:spcAft>
              <a:buSzPct val="100000"/>
              <a:buChar char="●"/>
            </a:pPr>
            <a:r>
              <a:rPr lang="en-US" sz="1200" dirty="0">
                <a:solidFill>
                  <a:srgbClr val="1A1A2E"/>
                </a:solidFill>
                <a:latin typeface="BIZ UDゴシック" pitchFamily="34" charset="0"/>
                <a:ea typeface="BIZ UDゴシック" pitchFamily="34" charset="-122"/>
                <a:cs typeface="BIZ UDゴシック" pitchFamily="34" charset="-120"/>
              </a:rPr>
              <a:t>EvidenceBundle</a:t>
            </a:r>
            <a:endParaRPr lang="en-US" sz="1200" dirty="0"/>
          </a:p>
          <a:p>
            <a:pPr marL="177800" indent="-177800">
              <a:lnSpc>
                <a:spcPct val="120000"/>
              </a:lnSpc>
              <a:spcAft>
                <a:spcPts val="700"/>
              </a:spcAft>
              <a:buSzPct val="100000"/>
              <a:buChar char="●"/>
            </a:pPr>
            <a:r>
              <a:rPr lang="en-US" sz="1200" dirty="0">
                <a:solidFill>
                  <a:srgbClr val="1A1A2E"/>
                </a:solidFill>
                <a:latin typeface="BIZ UDゴシック" pitchFamily="34" charset="0"/>
                <a:ea typeface="BIZ UDゴシック" pitchFamily="34" charset="-122"/>
                <a:cs typeface="BIZ UDゴシック" pitchFamily="34" charset="-120"/>
              </a:rPr>
              <a:t>LLM Incident Analysis</a:t>
            </a:r>
            <a:endParaRPr lang="en-US" sz="1200" dirty="0"/>
          </a:p>
          <a:p>
            <a:pPr marL="177800" indent="-177800">
              <a:lnSpc>
                <a:spcPct val="120000"/>
              </a:lnSpc>
              <a:spcAft>
                <a:spcPts val="700"/>
              </a:spcAft>
              <a:buSzPct val="100000"/>
              <a:buChar char="●"/>
            </a:pPr>
            <a:r>
              <a:rPr lang="en-US" sz="1200" dirty="0">
                <a:solidFill>
                  <a:srgbClr val="1A1A2E"/>
                </a:solidFill>
                <a:latin typeface="BIZ UDゴシック" pitchFamily="34" charset="0"/>
                <a:ea typeface="BIZ UDゴシック" pitchFamily="34" charset="-122"/>
                <a:cs typeface="BIZ UDゴシック" pitchFamily="34" charset="-120"/>
              </a:rPr>
              <a:t>Structured Validation</a:t>
            </a:r>
            <a:endParaRPr lang="en-US" sz="1200" dirty="0"/>
          </a:p>
          <a:p>
            <a:pPr marL="177800" indent="-177800">
              <a:lnSpc>
                <a:spcPct val="120000"/>
              </a:lnSpc>
              <a:spcAft>
                <a:spcPts val="700"/>
              </a:spcAft>
              <a:buSzPct val="100000"/>
              <a:buChar char="●"/>
            </a:pPr>
            <a:r>
              <a:rPr lang="en-US" sz="1200" dirty="0">
                <a:solidFill>
                  <a:srgbClr val="1A1A2E"/>
                </a:solidFill>
                <a:latin typeface="BIZ UDゴシック" pitchFamily="34" charset="0"/>
                <a:ea typeface="BIZ UDゴシック" pitchFamily="34" charset="-122"/>
                <a:cs typeface="BIZ UDゴシック" pitchFamily="34" charset="-120"/>
              </a:rPr>
              <a:t>AG-UI / A2UI / React UI</a:t>
            </a:r>
            <a:endParaRPr lang="en-US" sz="1200" dirty="0"/>
          </a:p>
          <a:p>
            <a:pPr marL="177800" indent="-177800">
              <a:lnSpc>
                <a:spcPct val="120000"/>
              </a:lnSpc>
              <a:spcAft>
                <a:spcPts val="700"/>
              </a:spcAft>
              <a:buSzPct val="100000"/>
              <a:buChar char="●"/>
            </a:pPr>
            <a:r>
              <a:rPr lang="en-US" sz="1200" dirty="0">
                <a:solidFill>
                  <a:srgbClr val="1A1A2E"/>
                </a:solidFill>
                <a:latin typeface="BIZ UDゴシック" pitchFamily="34" charset="0"/>
                <a:ea typeface="BIZ UDゴシック" pitchFamily="34" charset="-122"/>
                <a:cs typeface="BIZ UDゴシック" pitchFamily="34" charset="-120"/>
              </a:rPr>
              <a:t>Proxy / Zscaler対応</a:t>
            </a:r>
            <a:endParaRPr lang="en-US" sz="1200" dirty="0"/>
          </a:p>
          <a:p>
            <a:pPr marL="177800" indent="-177800">
              <a:lnSpc>
                <a:spcPct val="120000"/>
              </a:lnSpc>
              <a:spcAft>
                <a:spcPts val="700"/>
              </a:spcAft>
              <a:buSzPct val="100000"/>
              <a:buChar char="●"/>
            </a:pPr>
            <a:r>
              <a:rPr lang="en-US" sz="1200" dirty="0">
                <a:solidFill>
                  <a:srgbClr val="1A1A2E"/>
                </a:solidFill>
                <a:latin typeface="BIZ UDゴシック" pitchFamily="34" charset="0"/>
                <a:ea typeface="BIZ UDゴシック" pitchFamily="34" charset="-122"/>
                <a:cs typeface="BIZ UDゴシック" pitchFamily="34" charset="-120"/>
              </a:rPr>
              <a:t>Read-Only Security</a:t>
            </a:r>
            <a:endParaRPr lang="en-US" sz="1200" dirty="0"/>
          </a:p>
          <a:p>
            <a:pPr marL="177800" indent="-177800">
              <a:lnSpc>
                <a:spcPct val="120000"/>
              </a:lnSpc>
              <a:spcAft>
                <a:spcPts val="700"/>
              </a:spcAft>
              <a:buSzPct val="100000"/>
              <a:buChar char="●"/>
            </a:pPr>
            <a:r>
              <a:rPr lang="en-US" sz="1200" dirty="0">
                <a:solidFill>
                  <a:srgbClr val="1A1A2E"/>
                </a:solidFill>
                <a:latin typeface="BIZ UDゴシック" pitchFamily="34" charset="0"/>
                <a:ea typeface="BIZ UDゴシック" pitchFamily="34" charset="-122"/>
                <a:cs typeface="BIZ UDゴシック" pitchFamily="34" charset="-120"/>
              </a:rPr>
              <a:t>Unit / Integration / E2Eテスト設計</a:t>
            </a:r>
            <a:endParaRPr lang="en-US" sz="1200" dirty="0"/>
          </a:p>
        </p:txBody>
      </p:sp>
      <p:sp>
        <p:nvSpPr>
          <p:cNvPr id="11" name="Shape 9"/>
          <p:cNvSpPr/>
          <p:nvPr/>
        </p:nvSpPr>
        <p:spPr>
          <a:xfrm>
            <a:off x="6644488" y="1508760"/>
            <a:ext cx="4998568" cy="3291840"/>
          </a:xfrm>
          <a:prstGeom prst="roundRect">
            <a:avLst>
              <a:gd name="adj" fmla="val 2222"/>
            </a:avLst>
          </a:prstGeom>
          <a:solidFill>
            <a:srgbClr val="21295C"/>
          </a:solidFill>
          <a:ln/>
        </p:spPr>
      </p:sp>
      <p:sp>
        <p:nvSpPr>
          <p:cNvPr id="12" name="Text 10"/>
          <p:cNvSpPr/>
          <p:nvPr/>
        </p:nvSpPr>
        <p:spPr>
          <a:xfrm>
            <a:off x="6873088" y="1691640"/>
            <a:ext cx="4541368" cy="320040"/>
          </a:xfrm>
          <a:prstGeom prst="rect">
            <a:avLst/>
          </a:prstGeom>
          <a:noFill/>
          <a:ln/>
        </p:spPr>
        <p:txBody>
          <a:bodyPr wrap="square" lIns="0" tIns="0" rIns="0" bIns="0" rtlCol="0" anchor="ctr"/>
          <a:lstStyle/>
          <a:p>
            <a:pPr indent="0" marL="0">
              <a:buNone/>
            </a:pPr>
            <a:r>
              <a:rPr lang="en-US" sz="1400" b="1" dirty="0">
                <a:solidFill>
                  <a:srgbClr val="FFFFFF"/>
                </a:solidFill>
                <a:latin typeface="BIZ UDゴシック" pitchFamily="34" charset="0"/>
                <a:ea typeface="BIZ UDゴシック" pitchFamily="34" charset="-122"/>
                <a:cs typeface="BIZ UDゴシック" pitchFamily="34" charset="-120"/>
              </a:rPr>
              <a:t>PoCの価値</a:t>
            </a:r>
            <a:endParaRPr lang="en-US" sz="1400" dirty="0"/>
          </a:p>
        </p:txBody>
      </p:sp>
      <p:sp>
        <p:nvSpPr>
          <p:cNvPr id="13" name="Text 11"/>
          <p:cNvSpPr/>
          <p:nvPr/>
        </p:nvSpPr>
        <p:spPr>
          <a:xfrm>
            <a:off x="6873088" y="2103120"/>
            <a:ext cx="4541368" cy="2560320"/>
          </a:xfrm>
          <a:prstGeom prst="rect">
            <a:avLst/>
          </a:prstGeom>
          <a:noFill/>
          <a:ln/>
        </p:spPr>
        <p:txBody>
          <a:bodyPr wrap="square" lIns="0" tIns="0" rIns="0" bIns="0" rtlCol="0" anchor="ctr"/>
          <a:lstStyle/>
          <a:p>
            <a:pPr indent="0" marL="0">
              <a:lnSpc>
                <a:spcPct val="150000"/>
              </a:lnSpc>
              <a:buNone/>
            </a:pPr>
            <a:r>
              <a:rPr lang="en-US" sz="1500" dirty="0">
                <a:solidFill>
                  <a:srgbClr val="EAF2F6"/>
                </a:solidFill>
                <a:latin typeface="BIZ UDゴシック" pitchFamily="34" charset="0"/>
                <a:ea typeface="BIZ UDゴシック" pitchFamily="34" charset="-122"/>
                <a:cs typeface="BIZ UDゴシック" pitchFamily="34" charset="-120"/>
              </a:rPr>
              <a:t>単なるAIチャットではなく、AIが監視データを調査し、Evidenceを提示し、インシデントごとに最適な画面を作るという運用体験を検証できる。</a:t>
            </a:r>
            <a:endParaRPr lang="en-US" sz="15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502920"/>
            <a:ext cx="566928" cy="566928"/>
          </a:xfrm>
          <a:prstGeom prst="ellipse">
            <a:avLst/>
          </a:prstGeom>
          <a:solidFill>
            <a:srgbClr val="21295C"/>
          </a:solidFill>
          <a:ln/>
        </p:spPr>
      </p:sp>
      <p:sp>
        <p:nvSpPr>
          <p:cNvPr id="3" name="Text 1"/>
          <p:cNvSpPr/>
          <p:nvPr/>
        </p:nvSpPr>
        <p:spPr>
          <a:xfrm>
            <a:off x="548640" y="502920"/>
            <a:ext cx="566928" cy="566928"/>
          </a:xfrm>
          <a:prstGeom prst="rect">
            <a:avLst/>
          </a:prstGeom>
          <a:noFill/>
          <a:ln/>
        </p:spPr>
        <p:txBody>
          <a:bodyPr wrap="square" lIns="0" tIns="0" rIns="0" bIns="0" rtlCol="0" anchor="ctr"/>
          <a:lstStyle/>
          <a:p>
            <a:pPr algn="ctr" indent="0" marL="0">
              <a:buNone/>
            </a:pPr>
            <a:r>
              <a:rPr lang="en-US" sz="1500" b="1" dirty="0">
                <a:solidFill>
                  <a:srgbClr val="FFFFFF"/>
                </a:solidFill>
                <a:latin typeface="BIZ UDゴシック" pitchFamily="34" charset="0"/>
                <a:ea typeface="BIZ UDゴシック" pitchFamily="34" charset="-122"/>
                <a:cs typeface="BIZ UDゴシック" pitchFamily="34" charset="-120"/>
              </a:rPr>
              <a:t>A</a:t>
            </a:r>
            <a:endParaRPr lang="en-US" sz="1500" dirty="0"/>
          </a:p>
        </p:txBody>
      </p:sp>
      <p:sp>
        <p:nvSpPr>
          <p:cNvPr id="4" name="Text 2"/>
          <p:cNvSpPr/>
          <p:nvPr/>
        </p:nvSpPr>
        <p:spPr>
          <a:xfrm>
            <a:off x="1280160" y="438912"/>
            <a:ext cx="10362895" cy="274320"/>
          </a:xfrm>
          <a:prstGeom prst="rect">
            <a:avLst/>
          </a:prstGeom>
          <a:noFill/>
          <a:ln/>
        </p:spPr>
        <p:txBody>
          <a:bodyPr wrap="square" lIns="0" tIns="0" rIns="0" bIns="0" rtlCol="0" anchor="ctr"/>
          <a:lstStyle/>
          <a:p>
            <a:pPr indent="0" marL="0">
              <a:buNone/>
            </a:pPr>
            <a:r>
              <a:rPr lang="en-US" sz="1100" b="1" spc="100" kern="0" dirty="0">
                <a:solidFill>
                  <a:srgbClr val="1C7293"/>
                </a:solidFill>
                <a:latin typeface="BIZ UDゴシック" pitchFamily="34" charset="0"/>
                <a:ea typeface="BIZ UDゴシック" pitchFamily="34" charset="-122"/>
                <a:cs typeface="BIZ UDゴシック" pitchFamily="34" charset="-120"/>
              </a:rPr>
              <a:t>APPENDIX A</a:t>
            </a:r>
            <a:endParaRPr lang="en-US" sz="1100" dirty="0"/>
          </a:p>
        </p:txBody>
      </p:sp>
      <p:sp>
        <p:nvSpPr>
          <p:cNvPr id="5" name="Text 3"/>
          <p:cNvSpPr/>
          <p:nvPr/>
        </p:nvSpPr>
        <p:spPr>
          <a:xfrm>
            <a:off x="1280160" y="713232"/>
            <a:ext cx="10362895" cy="566928"/>
          </a:xfrm>
          <a:prstGeom prst="rect">
            <a:avLst/>
          </a:prstGeom>
          <a:noFill/>
          <a:ln/>
        </p:spPr>
        <p:txBody>
          <a:bodyPr wrap="square" lIns="0" tIns="0" rIns="0" bIns="0" rtlCol="0" anchor="t"/>
          <a:lstStyle/>
          <a:p>
            <a:pPr indent="0" marL="0">
              <a:buNone/>
            </a:pPr>
            <a:r>
              <a:rPr lang="en-US" sz="2500" b="1" dirty="0">
                <a:solidFill>
                  <a:srgbClr val="1A1A2E"/>
                </a:solidFill>
                <a:latin typeface="BIZ UDゴシック" pitchFamily="34" charset="0"/>
                <a:ea typeface="BIZ UDゴシック" pitchFamily="34" charset="-122"/>
                <a:cs typeface="BIZ UDゴシック" pitchFamily="34" charset="-120"/>
              </a:rPr>
              <a:t>主要ポート</a:t>
            </a:r>
            <a:endParaRPr lang="en-US" sz="2500" dirty="0"/>
          </a:p>
        </p:txBody>
      </p:sp>
      <p:sp>
        <p:nvSpPr>
          <p:cNvPr id="6" name="Text 4"/>
          <p:cNvSpPr/>
          <p:nvPr/>
        </p:nvSpPr>
        <p:spPr>
          <a:xfrm>
            <a:off x="548640" y="6446520"/>
            <a:ext cx="4572000" cy="274320"/>
          </a:xfrm>
          <a:prstGeom prst="rect">
            <a:avLst/>
          </a:prstGeom>
          <a:noFill/>
          <a:ln/>
        </p:spPr>
        <p:txBody>
          <a:bodyPr wrap="square" lIns="0" tIns="0" rIns="0" bIns="0" rtlCol="0" anchor="ctr"/>
          <a:lstStyle/>
          <a:p>
            <a:pPr indent="0" marL="0">
              <a:buNone/>
            </a:pPr>
            <a:r>
              <a:rPr lang="en-US" sz="900" dirty="0">
                <a:solidFill>
                  <a:srgbClr val="5C6B73"/>
                </a:solidFill>
                <a:latin typeface="BIZ UDゴシック" pitchFamily="34" charset="0"/>
                <a:ea typeface="BIZ UDゴシック" pitchFamily="34" charset="-122"/>
                <a:cs typeface="BIZ UDゴシック" pitchFamily="34" charset="-120"/>
              </a:rPr>
              <a:t>Observability AI PoC</a:t>
            </a:r>
            <a:endParaRPr lang="en-US" sz="900" dirty="0"/>
          </a:p>
        </p:txBody>
      </p:sp>
      <p:sp>
        <p:nvSpPr>
          <p:cNvPr id="7" name="Text 5"/>
          <p:cNvSpPr/>
          <p:nvPr/>
        </p:nvSpPr>
        <p:spPr>
          <a:xfrm>
            <a:off x="9814255" y="6446520"/>
            <a:ext cx="1828800" cy="274320"/>
          </a:xfrm>
          <a:prstGeom prst="rect">
            <a:avLst/>
          </a:prstGeom>
          <a:noFill/>
          <a:ln/>
        </p:spPr>
        <p:txBody>
          <a:bodyPr wrap="square" lIns="0" tIns="0" rIns="0" bIns="0" rtlCol="0" anchor="ctr"/>
          <a:lstStyle/>
          <a:p>
            <a:pPr algn="r" indent="0" marL="0">
              <a:buNone/>
            </a:pPr>
            <a:r>
              <a:rPr lang="en-US" sz="900" dirty="0">
                <a:solidFill>
                  <a:srgbClr val="5C6B73"/>
                </a:solidFill>
                <a:latin typeface="BIZ UDゴシック" pitchFamily="34" charset="0"/>
                <a:ea typeface="BIZ UDゴシック" pitchFamily="34" charset="-122"/>
                <a:cs typeface="BIZ UDゴシック" pitchFamily="34" charset="-120"/>
              </a:rPr>
              <a:t>A</a:t>
            </a:r>
            <a:endParaRPr lang="en-US" sz="900" dirty="0"/>
          </a:p>
        </p:txBody>
      </p:sp>
      <p:graphicFrame>
        <p:nvGraphicFramePr>
          <p:cNvPr id="41" name="Table 0"/>
          <p:cNvGraphicFramePr>
            <a:graphicFrameLocks noGrp="1"/>
          </p:cNvGraphicFramePr>
          <p:nvPr>
            <p:extLst>
              <p:ext uri="{D42A27DB-BD31-4B8C-83A1-F6EECF244321}">
                <p14:modId xmlns:p14="http://schemas.microsoft.com/office/powerpoint/2010/main" val="1579011935"/>
              </p:ext>
            </p:extLst>
          </p:nvPr>
        </p:nvGraphicFramePr>
        <p:xfrm>
          <a:off x="1280160" y="1536192"/>
          <a:ext cx="5943600" cy="914400"/>
        </p:xfrm>
        <a:graphic>
          <a:graphicData uri="http://schemas.openxmlformats.org/drawingml/2006/table">
            <a:tbl>
              <a:tblPr/>
              <a:tblGrid>
                <a:gridCol w="3840480"/>
                <a:gridCol w="2103120"/>
              </a:tblGrid>
              <a:tr h="402336">
                <a:tc>
                  <a:txBody>
                    <a:bodyPr/>
                    <a:lstStyle/>
                    <a:p>
                      <a:pPr indent="0" marL="0">
                        <a:buNone/>
                      </a:pPr>
                      <a:r>
                        <a:rPr lang="en-US" sz="1300" b="1" dirty="0">
                          <a:solidFill>
                            <a:srgbClr val="FFFFFF"/>
                          </a:solidFill>
                          <a:latin typeface="BIZ UDゴシック" pitchFamily="34" charset="0"/>
                          <a:ea typeface="BIZ UDゴシック" pitchFamily="34" charset="-122"/>
                          <a:cs typeface="BIZ UDゴシック" pitchFamily="34" charset="-120"/>
                        </a:rPr>
                        <a:t>Component</a:t>
                      </a:r>
                      <a:endParaRPr lang="en-US" sz="1300" dirty="0">
                        <a:latin typeface="BIZ UDゴシック" charset="0"/>
                        <a:ea typeface="BIZ UDゴシック" charset="0"/>
                        <a:cs typeface="BIZ UDゴシック" charset="0"/>
                      </a:endParaRPr>
                    </a:p>
                  </a:txBody>
                  <a:tcPr marL="91440" marR="91440" marT="45720" marB="45720" anchor="ctr">
                    <a:lnL w="9525" cap="flat" cmpd="sng" algn="ctr">
                      <a:solidFill>
                        <a:srgbClr val="D6E3E8"/>
                      </a:solidFill>
                      <a:prstDash val="solid"/>
                      <a:round/>
                      <a:headEnd type="none" w="med" len="med"/>
                      <a:tailEnd type="none" w="med" len="med"/>
                    </a:lnL>
                    <a:lnR w="9525" cap="flat" cmpd="sng" algn="ctr">
                      <a:solidFill>
                        <a:srgbClr val="D6E3E8"/>
                      </a:solidFill>
                      <a:prstDash val="solid"/>
                      <a:round/>
                      <a:headEnd type="none" w="med" len="med"/>
                      <a:tailEnd type="none" w="med" len="med"/>
                    </a:lnR>
                    <a:lnT w="9525" cap="flat" cmpd="sng" algn="ctr">
                      <a:solidFill>
                        <a:srgbClr val="D6E3E8"/>
                      </a:solidFill>
                      <a:prstDash val="solid"/>
                      <a:round/>
                      <a:headEnd type="none" w="med" len="med"/>
                      <a:tailEnd type="none" w="med" len="med"/>
                    </a:lnT>
                    <a:lnB w="9525" cap="flat" cmpd="sng" algn="ctr">
                      <a:solidFill>
                        <a:srgbClr val="D6E3E8"/>
                      </a:solidFill>
                      <a:prstDash val="solid"/>
                      <a:round/>
                      <a:headEnd type="none" w="med" len="med"/>
                      <a:tailEnd type="none" w="med" len="med"/>
                    </a:lnB>
                    <a:solidFill>
                      <a:srgbClr val="21295C"/>
                    </a:solidFill>
                  </a:tcPr>
                </a:tc>
                <a:tc>
                  <a:txBody>
                    <a:bodyPr/>
                    <a:lstStyle/>
                    <a:p>
                      <a:pPr indent="0" marL="0">
                        <a:buNone/>
                      </a:pPr>
                      <a:r>
                        <a:rPr lang="en-US" sz="1300" b="1" dirty="0">
                          <a:solidFill>
                            <a:srgbClr val="FFFFFF"/>
                          </a:solidFill>
                          <a:latin typeface="BIZ UDゴシック" pitchFamily="34" charset="0"/>
                          <a:ea typeface="BIZ UDゴシック" pitchFamily="34" charset="-122"/>
                          <a:cs typeface="BIZ UDゴシック" pitchFamily="34" charset="-120"/>
                        </a:rPr>
                        <a:t>Port</a:t>
                      </a:r>
                      <a:endParaRPr lang="en-US" sz="1300" dirty="0">
                        <a:latin typeface="BIZ UDゴシック" charset="0"/>
                        <a:ea typeface="BIZ UDゴシック" charset="0"/>
                        <a:cs typeface="BIZ UDゴシック" charset="0"/>
                      </a:endParaRPr>
                    </a:p>
                  </a:txBody>
                  <a:tcPr marL="91440" marR="91440" marT="45720" marB="45720" anchor="ctr">
                    <a:lnL w="9525" cap="flat" cmpd="sng" algn="ctr">
                      <a:solidFill>
                        <a:srgbClr val="D6E3E8"/>
                      </a:solidFill>
                      <a:prstDash val="solid"/>
                      <a:round/>
                      <a:headEnd type="none" w="med" len="med"/>
                      <a:tailEnd type="none" w="med" len="med"/>
                    </a:lnL>
                    <a:lnR w="9525" cap="flat" cmpd="sng" algn="ctr">
                      <a:solidFill>
                        <a:srgbClr val="D6E3E8"/>
                      </a:solidFill>
                      <a:prstDash val="solid"/>
                      <a:round/>
                      <a:headEnd type="none" w="med" len="med"/>
                      <a:tailEnd type="none" w="med" len="med"/>
                    </a:lnR>
                    <a:lnT w="9525" cap="flat" cmpd="sng" algn="ctr">
                      <a:solidFill>
                        <a:srgbClr val="D6E3E8"/>
                      </a:solidFill>
                      <a:prstDash val="solid"/>
                      <a:round/>
                      <a:headEnd type="none" w="med" len="med"/>
                      <a:tailEnd type="none" w="med" len="med"/>
                    </a:lnT>
                    <a:lnB w="9525" cap="flat" cmpd="sng" algn="ctr">
                      <a:solidFill>
                        <a:srgbClr val="D6E3E8"/>
                      </a:solidFill>
                      <a:prstDash val="solid"/>
                      <a:round/>
                      <a:headEnd type="none" w="med" len="med"/>
                      <a:tailEnd type="none" w="med" len="med"/>
                    </a:lnB>
                    <a:solidFill>
                      <a:srgbClr val="21295C"/>
                    </a:solidFill>
                  </a:tcPr>
                </a:tc>
              </a:tr>
              <a:tr h="402336">
                <a:tc>
                  <a:txBody>
                    <a:bodyPr/>
                    <a:lstStyle/>
                    <a:p>
                      <a:pPr indent="0" marL="0">
                        <a:buNone/>
                      </a:pPr>
                      <a:r>
                        <a:rPr lang="en-US" sz="1300" dirty="0">
                          <a:solidFill>
                            <a:srgbClr val="1A1A2E"/>
                          </a:solidFill>
                          <a:latin typeface="BIZ UDゴシック" pitchFamily="34" charset="0"/>
                          <a:ea typeface="BIZ UDゴシック" pitchFamily="34" charset="-122"/>
                          <a:cs typeface="BIZ UDゴシック" pitchFamily="34" charset="-120"/>
                        </a:rPr>
                        <a:t>API Gateway</a:t>
                      </a:r>
                      <a:endParaRPr lang="en-US" sz="1300" dirty="0">
                        <a:latin typeface="BIZ UDゴシック" charset="0"/>
                        <a:ea typeface="BIZ UDゴシック" charset="0"/>
                        <a:cs typeface="BIZ UDゴシック" charset="0"/>
                      </a:endParaRPr>
                    </a:p>
                  </a:txBody>
                  <a:tcPr marL="91440" marR="91440" marT="45720" marB="45720" anchor="ctr">
                    <a:lnL w="9525" cap="flat" cmpd="sng" algn="ctr">
                      <a:solidFill>
                        <a:srgbClr val="D6E3E8"/>
                      </a:solidFill>
                      <a:prstDash val="solid"/>
                      <a:round/>
                      <a:headEnd type="none" w="med" len="med"/>
                      <a:tailEnd type="none" w="med" len="med"/>
                    </a:lnL>
                    <a:lnR w="9525" cap="flat" cmpd="sng" algn="ctr">
                      <a:solidFill>
                        <a:srgbClr val="D6E3E8"/>
                      </a:solidFill>
                      <a:prstDash val="solid"/>
                      <a:round/>
                      <a:headEnd type="none" w="med" len="med"/>
                      <a:tailEnd type="none" w="med" len="med"/>
                    </a:lnR>
                    <a:lnT w="9525" cap="flat" cmpd="sng" algn="ctr">
                      <a:solidFill>
                        <a:srgbClr val="D6E3E8"/>
                      </a:solidFill>
                      <a:prstDash val="solid"/>
                      <a:round/>
                      <a:headEnd type="none" w="med" len="med"/>
                      <a:tailEnd type="none" w="med" len="med"/>
                    </a:lnT>
                    <a:lnB w="9525" cap="flat" cmpd="sng" algn="ctr">
                      <a:solidFill>
                        <a:srgbClr val="D6E3E8"/>
                      </a:solidFill>
                      <a:prstDash val="solid"/>
                      <a:round/>
                      <a:headEnd type="none" w="med" len="med"/>
                      <a:tailEnd type="none" w="med" len="med"/>
                    </a:lnB>
                    <a:solidFill>
                      <a:srgbClr val="FFFFFF"/>
                    </a:solidFill>
                  </a:tcPr>
                </a:tc>
                <a:tc>
                  <a:txBody>
                    <a:bodyPr/>
                    <a:lstStyle/>
                    <a:p>
                      <a:pPr algn="r" indent="0" marL="0">
                        <a:buNone/>
                      </a:pPr>
                      <a:r>
                        <a:rPr lang="en-US" sz="1300" dirty="0">
                          <a:solidFill>
                            <a:srgbClr val="1A1A2E"/>
                          </a:solidFill>
                          <a:latin typeface="BIZ UDゴシック" pitchFamily="34" charset="0"/>
                          <a:ea typeface="BIZ UDゴシック" pitchFamily="34" charset="-122"/>
                          <a:cs typeface="BIZ UDゴシック" pitchFamily="34" charset="-120"/>
                        </a:rPr>
                        <a:t>8085</a:t>
                      </a:r>
                      <a:endParaRPr lang="en-US" sz="1300" dirty="0">
                        <a:latin typeface="BIZ UDゴシック" charset="0"/>
                        <a:ea typeface="BIZ UDゴシック" charset="0"/>
                        <a:cs typeface="BIZ UDゴシック" charset="0"/>
                      </a:endParaRPr>
                    </a:p>
                  </a:txBody>
                  <a:tcPr marL="91440" marR="91440" marT="45720" marB="45720" anchor="ctr">
                    <a:lnL w="9525" cap="flat" cmpd="sng" algn="ctr">
                      <a:solidFill>
                        <a:srgbClr val="D6E3E8"/>
                      </a:solidFill>
                      <a:prstDash val="solid"/>
                      <a:round/>
                      <a:headEnd type="none" w="med" len="med"/>
                      <a:tailEnd type="none" w="med" len="med"/>
                    </a:lnL>
                    <a:lnR w="9525" cap="flat" cmpd="sng" algn="ctr">
                      <a:solidFill>
                        <a:srgbClr val="D6E3E8"/>
                      </a:solidFill>
                      <a:prstDash val="solid"/>
                      <a:round/>
                      <a:headEnd type="none" w="med" len="med"/>
                      <a:tailEnd type="none" w="med" len="med"/>
                    </a:lnR>
                    <a:lnT w="9525" cap="flat" cmpd="sng" algn="ctr">
                      <a:solidFill>
                        <a:srgbClr val="D6E3E8"/>
                      </a:solidFill>
                      <a:prstDash val="solid"/>
                      <a:round/>
                      <a:headEnd type="none" w="med" len="med"/>
                      <a:tailEnd type="none" w="med" len="med"/>
                    </a:lnT>
                    <a:lnB w="9525" cap="flat" cmpd="sng" algn="ctr">
                      <a:solidFill>
                        <a:srgbClr val="D6E3E8"/>
                      </a:solidFill>
                      <a:prstDash val="solid"/>
                      <a:round/>
                      <a:headEnd type="none" w="med" len="med"/>
                      <a:tailEnd type="none" w="med" len="med"/>
                    </a:lnB>
                    <a:solidFill>
                      <a:srgbClr val="FFFFFF"/>
                    </a:solidFill>
                  </a:tcPr>
                </a:tc>
              </a:tr>
              <a:tr h="402336">
                <a:tc>
                  <a:txBody>
                    <a:bodyPr/>
                    <a:lstStyle/>
                    <a:p>
                      <a:pPr indent="0" marL="0">
                        <a:buNone/>
                      </a:pPr>
                      <a:r>
                        <a:rPr lang="en-US" sz="1300" dirty="0">
                          <a:solidFill>
                            <a:srgbClr val="1A1A2E"/>
                          </a:solidFill>
                          <a:latin typeface="BIZ UDゴシック" pitchFamily="34" charset="0"/>
                          <a:ea typeface="BIZ UDゴシック" pitchFamily="34" charset="-122"/>
                          <a:cs typeface="BIZ UDゴシック" pitchFamily="34" charset="-120"/>
                        </a:rPr>
                        <a:t>Scenario Controller</a:t>
                      </a:r>
                      <a:endParaRPr lang="en-US" sz="1300" dirty="0">
                        <a:latin typeface="BIZ UDゴシック" charset="0"/>
                        <a:ea typeface="BIZ UDゴシック" charset="0"/>
                        <a:cs typeface="BIZ UDゴシック" charset="0"/>
                      </a:endParaRPr>
                    </a:p>
                  </a:txBody>
                  <a:tcPr marL="91440" marR="91440" marT="45720" marB="45720" anchor="ctr">
                    <a:lnL w="9525" cap="flat" cmpd="sng" algn="ctr">
                      <a:solidFill>
                        <a:srgbClr val="D6E3E8"/>
                      </a:solidFill>
                      <a:prstDash val="solid"/>
                      <a:round/>
                      <a:headEnd type="none" w="med" len="med"/>
                      <a:tailEnd type="none" w="med" len="med"/>
                    </a:lnL>
                    <a:lnR w="9525" cap="flat" cmpd="sng" algn="ctr">
                      <a:solidFill>
                        <a:srgbClr val="D6E3E8"/>
                      </a:solidFill>
                      <a:prstDash val="solid"/>
                      <a:round/>
                      <a:headEnd type="none" w="med" len="med"/>
                      <a:tailEnd type="none" w="med" len="med"/>
                    </a:lnR>
                    <a:lnT w="9525" cap="flat" cmpd="sng" algn="ctr">
                      <a:solidFill>
                        <a:srgbClr val="D6E3E8"/>
                      </a:solidFill>
                      <a:prstDash val="solid"/>
                      <a:round/>
                      <a:headEnd type="none" w="med" len="med"/>
                      <a:tailEnd type="none" w="med" len="med"/>
                    </a:lnT>
                    <a:lnB w="9525" cap="flat" cmpd="sng" algn="ctr">
                      <a:solidFill>
                        <a:srgbClr val="D6E3E8"/>
                      </a:solidFill>
                      <a:prstDash val="solid"/>
                      <a:round/>
                      <a:headEnd type="none" w="med" len="med"/>
                      <a:tailEnd type="none" w="med" len="med"/>
                    </a:lnB>
                    <a:solidFill>
                      <a:srgbClr val="EAF2F6"/>
                    </a:solidFill>
                  </a:tcPr>
                </a:tc>
                <a:tc>
                  <a:txBody>
                    <a:bodyPr/>
                    <a:lstStyle/>
                    <a:p>
                      <a:pPr algn="r" indent="0" marL="0">
                        <a:buNone/>
                      </a:pPr>
                      <a:r>
                        <a:rPr lang="en-US" sz="1300" dirty="0">
                          <a:solidFill>
                            <a:srgbClr val="1A1A2E"/>
                          </a:solidFill>
                          <a:latin typeface="BIZ UDゴシック" pitchFamily="34" charset="0"/>
                          <a:ea typeface="BIZ UDゴシック" pitchFamily="34" charset="-122"/>
                          <a:cs typeface="BIZ UDゴシック" pitchFamily="34" charset="-120"/>
                        </a:rPr>
                        <a:t>8091</a:t>
                      </a:r>
                      <a:endParaRPr lang="en-US" sz="1300" dirty="0">
                        <a:latin typeface="BIZ UDゴシック" charset="0"/>
                        <a:ea typeface="BIZ UDゴシック" charset="0"/>
                        <a:cs typeface="BIZ UDゴシック" charset="0"/>
                      </a:endParaRPr>
                    </a:p>
                  </a:txBody>
                  <a:tcPr marL="91440" marR="91440" marT="45720" marB="45720" anchor="ctr">
                    <a:lnL w="9525" cap="flat" cmpd="sng" algn="ctr">
                      <a:solidFill>
                        <a:srgbClr val="D6E3E8"/>
                      </a:solidFill>
                      <a:prstDash val="solid"/>
                      <a:round/>
                      <a:headEnd type="none" w="med" len="med"/>
                      <a:tailEnd type="none" w="med" len="med"/>
                    </a:lnL>
                    <a:lnR w="9525" cap="flat" cmpd="sng" algn="ctr">
                      <a:solidFill>
                        <a:srgbClr val="D6E3E8"/>
                      </a:solidFill>
                      <a:prstDash val="solid"/>
                      <a:round/>
                      <a:headEnd type="none" w="med" len="med"/>
                      <a:tailEnd type="none" w="med" len="med"/>
                    </a:lnR>
                    <a:lnT w="9525" cap="flat" cmpd="sng" algn="ctr">
                      <a:solidFill>
                        <a:srgbClr val="D6E3E8"/>
                      </a:solidFill>
                      <a:prstDash val="solid"/>
                      <a:round/>
                      <a:headEnd type="none" w="med" len="med"/>
                      <a:tailEnd type="none" w="med" len="med"/>
                    </a:lnT>
                    <a:lnB w="9525" cap="flat" cmpd="sng" algn="ctr">
                      <a:solidFill>
                        <a:srgbClr val="D6E3E8"/>
                      </a:solidFill>
                      <a:prstDash val="solid"/>
                      <a:round/>
                      <a:headEnd type="none" w="med" len="med"/>
                      <a:tailEnd type="none" w="med" len="med"/>
                    </a:lnB>
                    <a:solidFill>
                      <a:srgbClr val="EAF2F6"/>
                    </a:solidFill>
                  </a:tcPr>
                </a:tc>
              </a:tr>
              <a:tr h="402336">
                <a:tc>
                  <a:txBody>
                    <a:bodyPr/>
                    <a:lstStyle/>
                    <a:p>
                      <a:pPr indent="0" marL="0">
                        <a:buNone/>
                      </a:pPr>
                      <a:r>
                        <a:rPr lang="en-US" sz="1300" dirty="0">
                          <a:solidFill>
                            <a:srgbClr val="1A1A2E"/>
                          </a:solidFill>
                          <a:latin typeface="BIZ UDゴシック" pitchFamily="34" charset="0"/>
                          <a:ea typeface="BIZ UDゴシック" pitchFamily="34" charset="-122"/>
                          <a:cs typeface="BIZ UDゴシック" pitchFamily="34" charset="-120"/>
                        </a:rPr>
                        <a:t>Splunk Web</a:t>
                      </a:r>
                      <a:endParaRPr lang="en-US" sz="1300" dirty="0">
                        <a:latin typeface="BIZ UDゴシック" charset="0"/>
                        <a:ea typeface="BIZ UDゴシック" charset="0"/>
                        <a:cs typeface="BIZ UDゴシック" charset="0"/>
                      </a:endParaRPr>
                    </a:p>
                  </a:txBody>
                  <a:tcPr marL="91440" marR="91440" marT="45720" marB="45720" anchor="ctr">
                    <a:lnL w="9525" cap="flat" cmpd="sng" algn="ctr">
                      <a:solidFill>
                        <a:srgbClr val="D6E3E8"/>
                      </a:solidFill>
                      <a:prstDash val="solid"/>
                      <a:round/>
                      <a:headEnd type="none" w="med" len="med"/>
                      <a:tailEnd type="none" w="med" len="med"/>
                    </a:lnL>
                    <a:lnR w="9525" cap="flat" cmpd="sng" algn="ctr">
                      <a:solidFill>
                        <a:srgbClr val="D6E3E8"/>
                      </a:solidFill>
                      <a:prstDash val="solid"/>
                      <a:round/>
                      <a:headEnd type="none" w="med" len="med"/>
                      <a:tailEnd type="none" w="med" len="med"/>
                    </a:lnR>
                    <a:lnT w="9525" cap="flat" cmpd="sng" algn="ctr">
                      <a:solidFill>
                        <a:srgbClr val="D6E3E8"/>
                      </a:solidFill>
                      <a:prstDash val="solid"/>
                      <a:round/>
                      <a:headEnd type="none" w="med" len="med"/>
                      <a:tailEnd type="none" w="med" len="med"/>
                    </a:lnT>
                    <a:lnB w="9525" cap="flat" cmpd="sng" algn="ctr">
                      <a:solidFill>
                        <a:srgbClr val="D6E3E8"/>
                      </a:solidFill>
                      <a:prstDash val="solid"/>
                      <a:round/>
                      <a:headEnd type="none" w="med" len="med"/>
                      <a:tailEnd type="none" w="med" len="med"/>
                    </a:lnB>
                    <a:solidFill>
                      <a:srgbClr val="FFFFFF"/>
                    </a:solidFill>
                  </a:tcPr>
                </a:tc>
                <a:tc>
                  <a:txBody>
                    <a:bodyPr/>
                    <a:lstStyle/>
                    <a:p>
                      <a:pPr algn="r" indent="0" marL="0">
                        <a:buNone/>
                      </a:pPr>
                      <a:r>
                        <a:rPr lang="en-US" sz="1300" dirty="0">
                          <a:solidFill>
                            <a:srgbClr val="1A1A2E"/>
                          </a:solidFill>
                          <a:latin typeface="BIZ UDゴシック" pitchFamily="34" charset="0"/>
                          <a:ea typeface="BIZ UDゴシック" pitchFamily="34" charset="-122"/>
                          <a:cs typeface="BIZ UDゴシック" pitchFamily="34" charset="-120"/>
                        </a:rPr>
                        <a:t>18000</a:t>
                      </a:r>
                      <a:endParaRPr lang="en-US" sz="1300" dirty="0">
                        <a:latin typeface="BIZ UDゴシック" charset="0"/>
                        <a:ea typeface="BIZ UDゴシック" charset="0"/>
                        <a:cs typeface="BIZ UDゴシック" charset="0"/>
                      </a:endParaRPr>
                    </a:p>
                  </a:txBody>
                  <a:tcPr marL="91440" marR="91440" marT="45720" marB="45720" anchor="ctr">
                    <a:lnL w="9525" cap="flat" cmpd="sng" algn="ctr">
                      <a:solidFill>
                        <a:srgbClr val="D6E3E8"/>
                      </a:solidFill>
                      <a:prstDash val="solid"/>
                      <a:round/>
                      <a:headEnd type="none" w="med" len="med"/>
                      <a:tailEnd type="none" w="med" len="med"/>
                    </a:lnL>
                    <a:lnR w="9525" cap="flat" cmpd="sng" algn="ctr">
                      <a:solidFill>
                        <a:srgbClr val="D6E3E8"/>
                      </a:solidFill>
                      <a:prstDash val="solid"/>
                      <a:round/>
                      <a:headEnd type="none" w="med" len="med"/>
                      <a:tailEnd type="none" w="med" len="med"/>
                    </a:lnR>
                    <a:lnT w="9525" cap="flat" cmpd="sng" algn="ctr">
                      <a:solidFill>
                        <a:srgbClr val="D6E3E8"/>
                      </a:solidFill>
                      <a:prstDash val="solid"/>
                      <a:round/>
                      <a:headEnd type="none" w="med" len="med"/>
                      <a:tailEnd type="none" w="med" len="med"/>
                    </a:lnT>
                    <a:lnB w="9525" cap="flat" cmpd="sng" algn="ctr">
                      <a:solidFill>
                        <a:srgbClr val="D6E3E8"/>
                      </a:solidFill>
                      <a:prstDash val="solid"/>
                      <a:round/>
                      <a:headEnd type="none" w="med" len="med"/>
                      <a:tailEnd type="none" w="med" len="med"/>
                    </a:lnB>
                    <a:solidFill>
                      <a:srgbClr val="FFFFFF"/>
                    </a:solidFill>
                  </a:tcPr>
                </a:tc>
              </a:tr>
              <a:tr h="402336">
                <a:tc>
                  <a:txBody>
                    <a:bodyPr/>
                    <a:lstStyle/>
                    <a:p>
                      <a:pPr indent="0" marL="0">
                        <a:buNone/>
                      </a:pPr>
                      <a:r>
                        <a:rPr lang="en-US" sz="1300" dirty="0">
                          <a:solidFill>
                            <a:srgbClr val="1A1A2E"/>
                          </a:solidFill>
                          <a:latin typeface="BIZ UDゴシック" pitchFamily="34" charset="0"/>
                          <a:ea typeface="BIZ UDゴシック" pitchFamily="34" charset="-122"/>
                          <a:cs typeface="BIZ UDゴシック" pitchFamily="34" charset="-120"/>
                        </a:rPr>
                        <a:t>Splunk HEC</a:t>
                      </a:r>
                      <a:endParaRPr lang="en-US" sz="1300" dirty="0">
                        <a:latin typeface="BIZ UDゴシック" charset="0"/>
                        <a:ea typeface="BIZ UDゴシック" charset="0"/>
                        <a:cs typeface="BIZ UDゴシック" charset="0"/>
                      </a:endParaRPr>
                    </a:p>
                  </a:txBody>
                  <a:tcPr marL="91440" marR="91440" marT="45720" marB="45720" anchor="ctr">
                    <a:lnL w="9525" cap="flat" cmpd="sng" algn="ctr">
                      <a:solidFill>
                        <a:srgbClr val="D6E3E8"/>
                      </a:solidFill>
                      <a:prstDash val="solid"/>
                      <a:round/>
                      <a:headEnd type="none" w="med" len="med"/>
                      <a:tailEnd type="none" w="med" len="med"/>
                    </a:lnL>
                    <a:lnR w="9525" cap="flat" cmpd="sng" algn="ctr">
                      <a:solidFill>
                        <a:srgbClr val="D6E3E8"/>
                      </a:solidFill>
                      <a:prstDash val="solid"/>
                      <a:round/>
                      <a:headEnd type="none" w="med" len="med"/>
                      <a:tailEnd type="none" w="med" len="med"/>
                    </a:lnR>
                    <a:lnT w="9525" cap="flat" cmpd="sng" algn="ctr">
                      <a:solidFill>
                        <a:srgbClr val="D6E3E8"/>
                      </a:solidFill>
                      <a:prstDash val="solid"/>
                      <a:round/>
                      <a:headEnd type="none" w="med" len="med"/>
                      <a:tailEnd type="none" w="med" len="med"/>
                    </a:lnT>
                    <a:lnB w="9525" cap="flat" cmpd="sng" algn="ctr">
                      <a:solidFill>
                        <a:srgbClr val="D6E3E8"/>
                      </a:solidFill>
                      <a:prstDash val="solid"/>
                      <a:round/>
                      <a:headEnd type="none" w="med" len="med"/>
                      <a:tailEnd type="none" w="med" len="med"/>
                    </a:lnB>
                    <a:solidFill>
                      <a:srgbClr val="EAF2F6"/>
                    </a:solidFill>
                  </a:tcPr>
                </a:tc>
                <a:tc>
                  <a:txBody>
                    <a:bodyPr/>
                    <a:lstStyle/>
                    <a:p>
                      <a:pPr algn="r" indent="0" marL="0">
                        <a:buNone/>
                      </a:pPr>
                      <a:r>
                        <a:rPr lang="en-US" sz="1300" dirty="0">
                          <a:solidFill>
                            <a:srgbClr val="1A1A2E"/>
                          </a:solidFill>
                          <a:latin typeface="BIZ UDゴシック" pitchFamily="34" charset="0"/>
                          <a:ea typeface="BIZ UDゴシック" pitchFamily="34" charset="-122"/>
                          <a:cs typeface="BIZ UDゴシック" pitchFamily="34" charset="-120"/>
                        </a:rPr>
                        <a:t>8088</a:t>
                      </a:r>
                      <a:endParaRPr lang="en-US" sz="1300" dirty="0">
                        <a:latin typeface="BIZ UDゴシック" charset="0"/>
                        <a:ea typeface="BIZ UDゴシック" charset="0"/>
                        <a:cs typeface="BIZ UDゴシック" charset="0"/>
                      </a:endParaRPr>
                    </a:p>
                  </a:txBody>
                  <a:tcPr marL="91440" marR="91440" marT="45720" marB="45720" anchor="ctr">
                    <a:lnL w="9525" cap="flat" cmpd="sng" algn="ctr">
                      <a:solidFill>
                        <a:srgbClr val="D6E3E8"/>
                      </a:solidFill>
                      <a:prstDash val="solid"/>
                      <a:round/>
                      <a:headEnd type="none" w="med" len="med"/>
                      <a:tailEnd type="none" w="med" len="med"/>
                    </a:lnL>
                    <a:lnR w="9525" cap="flat" cmpd="sng" algn="ctr">
                      <a:solidFill>
                        <a:srgbClr val="D6E3E8"/>
                      </a:solidFill>
                      <a:prstDash val="solid"/>
                      <a:round/>
                      <a:headEnd type="none" w="med" len="med"/>
                      <a:tailEnd type="none" w="med" len="med"/>
                    </a:lnR>
                    <a:lnT w="9525" cap="flat" cmpd="sng" algn="ctr">
                      <a:solidFill>
                        <a:srgbClr val="D6E3E8"/>
                      </a:solidFill>
                      <a:prstDash val="solid"/>
                      <a:round/>
                      <a:headEnd type="none" w="med" len="med"/>
                      <a:tailEnd type="none" w="med" len="med"/>
                    </a:lnT>
                    <a:lnB w="9525" cap="flat" cmpd="sng" algn="ctr">
                      <a:solidFill>
                        <a:srgbClr val="D6E3E8"/>
                      </a:solidFill>
                      <a:prstDash val="solid"/>
                      <a:round/>
                      <a:headEnd type="none" w="med" len="med"/>
                      <a:tailEnd type="none" w="med" len="med"/>
                    </a:lnB>
                    <a:solidFill>
                      <a:srgbClr val="EAF2F6"/>
                    </a:solidFill>
                  </a:tcPr>
                </a:tc>
              </a:tr>
              <a:tr h="402336">
                <a:tc>
                  <a:txBody>
                    <a:bodyPr/>
                    <a:lstStyle/>
                    <a:p>
                      <a:pPr indent="0" marL="0">
                        <a:buNone/>
                      </a:pPr>
                      <a:r>
                        <a:rPr lang="en-US" sz="1300" dirty="0">
                          <a:solidFill>
                            <a:srgbClr val="1A1A2E"/>
                          </a:solidFill>
                          <a:latin typeface="BIZ UDゴシック" pitchFamily="34" charset="0"/>
                          <a:ea typeface="BIZ UDゴシック" pitchFamily="34" charset="-122"/>
                          <a:cs typeface="BIZ UDゴシック" pitchFamily="34" charset="-120"/>
                        </a:rPr>
                        <a:t>Splunk Management</a:t>
                      </a:r>
                      <a:endParaRPr lang="en-US" sz="1300" dirty="0">
                        <a:latin typeface="BIZ UDゴシック" charset="0"/>
                        <a:ea typeface="BIZ UDゴシック" charset="0"/>
                        <a:cs typeface="BIZ UDゴシック" charset="0"/>
                      </a:endParaRPr>
                    </a:p>
                  </a:txBody>
                  <a:tcPr marL="91440" marR="91440" marT="45720" marB="45720" anchor="ctr">
                    <a:lnL w="9525" cap="flat" cmpd="sng" algn="ctr">
                      <a:solidFill>
                        <a:srgbClr val="D6E3E8"/>
                      </a:solidFill>
                      <a:prstDash val="solid"/>
                      <a:round/>
                      <a:headEnd type="none" w="med" len="med"/>
                      <a:tailEnd type="none" w="med" len="med"/>
                    </a:lnL>
                    <a:lnR w="9525" cap="flat" cmpd="sng" algn="ctr">
                      <a:solidFill>
                        <a:srgbClr val="D6E3E8"/>
                      </a:solidFill>
                      <a:prstDash val="solid"/>
                      <a:round/>
                      <a:headEnd type="none" w="med" len="med"/>
                      <a:tailEnd type="none" w="med" len="med"/>
                    </a:lnR>
                    <a:lnT w="9525" cap="flat" cmpd="sng" algn="ctr">
                      <a:solidFill>
                        <a:srgbClr val="D6E3E8"/>
                      </a:solidFill>
                      <a:prstDash val="solid"/>
                      <a:round/>
                      <a:headEnd type="none" w="med" len="med"/>
                      <a:tailEnd type="none" w="med" len="med"/>
                    </a:lnT>
                    <a:lnB w="9525" cap="flat" cmpd="sng" algn="ctr">
                      <a:solidFill>
                        <a:srgbClr val="D6E3E8"/>
                      </a:solidFill>
                      <a:prstDash val="solid"/>
                      <a:round/>
                      <a:headEnd type="none" w="med" len="med"/>
                      <a:tailEnd type="none" w="med" len="med"/>
                    </a:lnB>
                    <a:solidFill>
                      <a:srgbClr val="FFFFFF"/>
                    </a:solidFill>
                  </a:tcPr>
                </a:tc>
                <a:tc>
                  <a:txBody>
                    <a:bodyPr/>
                    <a:lstStyle/>
                    <a:p>
                      <a:pPr algn="r" indent="0" marL="0">
                        <a:buNone/>
                      </a:pPr>
                      <a:r>
                        <a:rPr lang="en-US" sz="1300" dirty="0">
                          <a:solidFill>
                            <a:srgbClr val="1A1A2E"/>
                          </a:solidFill>
                          <a:latin typeface="BIZ UDゴシック" pitchFamily="34" charset="0"/>
                          <a:ea typeface="BIZ UDゴシック" pitchFamily="34" charset="-122"/>
                          <a:cs typeface="BIZ UDゴシック" pitchFamily="34" charset="-120"/>
                        </a:rPr>
                        <a:t>8089</a:t>
                      </a:r>
                      <a:endParaRPr lang="en-US" sz="1300" dirty="0">
                        <a:latin typeface="BIZ UDゴシック" charset="0"/>
                        <a:ea typeface="BIZ UDゴシック" charset="0"/>
                        <a:cs typeface="BIZ UDゴシック" charset="0"/>
                      </a:endParaRPr>
                    </a:p>
                  </a:txBody>
                  <a:tcPr marL="91440" marR="91440" marT="45720" marB="45720" anchor="ctr">
                    <a:lnL w="9525" cap="flat" cmpd="sng" algn="ctr">
                      <a:solidFill>
                        <a:srgbClr val="D6E3E8"/>
                      </a:solidFill>
                      <a:prstDash val="solid"/>
                      <a:round/>
                      <a:headEnd type="none" w="med" len="med"/>
                      <a:tailEnd type="none" w="med" len="med"/>
                    </a:lnL>
                    <a:lnR w="9525" cap="flat" cmpd="sng" algn="ctr">
                      <a:solidFill>
                        <a:srgbClr val="D6E3E8"/>
                      </a:solidFill>
                      <a:prstDash val="solid"/>
                      <a:round/>
                      <a:headEnd type="none" w="med" len="med"/>
                      <a:tailEnd type="none" w="med" len="med"/>
                    </a:lnR>
                    <a:lnT w="9525" cap="flat" cmpd="sng" algn="ctr">
                      <a:solidFill>
                        <a:srgbClr val="D6E3E8"/>
                      </a:solidFill>
                      <a:prstDash val="solid"/>
                      <a:round/>
                      <a:headEnd type="none" w="med" len="med"/>
                      <a:tailEnd type="none" w="med" len="med"/>
                    </a:lnT>
                    <a:lnB w="9525" cap="flat" cmpd="sng" algn="ctr">
                      <a:solidFill>
                        <a:srgbClr val="D6E3E8"/>
                      </a:solidFill>
                      <a:prstDash val="solid"/>
                      <a:round/>
                      <a:headEnd type="none" w="med" len="med"/>
                      <a:tailEnd type="none" w="med" len="med"/>
                    </a:lnB>
                    <a:solidFill>
                      <a:srgbClr val="FFFFFF"/>
                    </a:solidFill>
                  </a:tcPr>
                </a:tc>
              </a:tr>
              <a:tr h="402336">
                <a:tc>
                  <a:txBody>
                    <a:bodyPr/>
                    <a:lstStyle/>
                    <a:p>
                      <a:pPr indent="0" marL="0">
                        <a:buNone/>
                      </a:pPr>
                      <a:r>
                        <a:rPr lang="en-US" sz="1300" dirty="0">
                          <a:solidFill>
                            <a:srgbClr val="1A1A2E"/>
                          </a:solidFill>
                          <a:latin typeface="BIZ UDゴシック" pitchFamily="34" charset="0"/>
                          <a:ea typeface="BIZ UDゴシック" pitchFamily="34" charset="-122"/>
                          <a:cs typeface="BIZ UDゴシック" pitchFamily="34" charset="-120"/>
                        </a:rPr>
                        <a:t>New Relic MCP</a:t>
                      </a:r>
                      <a:endParaRPr lang="en-US" sz="1300" dirty="0">
                        <a:latin typeface="BIZ UDゴシック" charset="0"/>
                        <a:ea typeface="BIZ UDゴシック" charset="0"/>
                        <a:cs typeface="BIZ UDゴシック" charset="0"/>
                      </a:endParaRPr>
                    </a:p>
                  </a:txBody>
                  <a:tcPr marL="91440" marR="91440" marT="45720" marB="45720" anchor="ctr">
                    <a:lnL w="9525" cap="flat" cmpd="sng" algn="ctr">
                      <a:solidFill>
                        <a:srgbClr val="D6E3E8"/>
                      </a:solidFill>
                      <a:prstDash val="solid"/>
                      <a:round/>
                      <a:headEnd type="none" w="med" len="med"/>
                      <a:tailEnd type="none" w="med" len="med"/>
                    </a:lnL>
                    <a:lnR w="9525" cap="flat" cmpd="sng" algn="ctr">
                      <a:solidFill>
                        <a:srgbClr val="D6E3E8"/>
                      </a:solidFill>
                      <a:prstDash val="solid"/>
                      <a:round/>
                      <a:headEnd type="none" w="med" len="med"/>
                      <a:tailEnd type="none" w="med" len="med"/>
                    </a:lnR>
                    <a:lnT w="9525" cap="flat" cmpd="sng" algn="ctr">
                      <a:solidFill>
                        <a:srgbClr val="D6E3E8"/>
                      </a:solidFill>
                      <a:prstDash val="solid"/>
                      <a:round/>
                      <a:headEnd type="none" w="med" len="med"/>
                      <a:tailEnd type="none" w="med" len="med"/>
                    </a:lnT>
                    <a:lnB w="9525" cap="flat" cmpd="sng" algn="ctr">
                      <a:solidFill>
                        <a:srgbClr val="D6E3E8"/>
                      </a:solidFill>
                      <a:prstDash val="solid"/>
                      <a:round/>
                      <a:headEnd type="none" w="med" len="med"/>
                      <a:tailEnd type="none" w="med" len="med"/>
                    </a:lnB>
                    <a:solidFill>
                      <a:srgbClr val="EAF2F6"/>
                    </a:solidFill>
                  </a:tcPr>
                </a:tc>
                <a:tc>
                  <a:txBody>
                    <a:bodyPr/>
                    <a:lstStyle/>
                    <a:p>
                      <a:pPr algn="r" indent="0" marL="0">
                        <a:buNone/>
                      </a:pPr>
                      <a:r>
                        <a:rPr lang="en-US" sz="1300" dirty="0">
                          <a:solidFill>
                            <a:srgbClr val="1A1A2E"/>
                          </a:solidFill>
                          <a:latin typeface="BIZ UDゴシック" pitchFamily="34" charset="0"/>
                          <a:ea typeface="BIZ UDゴシック" pitchFamily="34" charset="-122"/>
                          <a:cs typeface="BIZ UDゴシック" pitchFamily="34" charset="-120"/>
                        </a:rPr>
                        <a:t>8000</a:t>
                      </a:r>
                      <a:endParaRPr lang="en-US" sz="1300" dirty="0">
                        <a:latin typeface="BIZ UDゴシック" charset="0"/>
                        <a:ea typeface="BIZ UDゴシック" charset="0"/>
                        <a:cs typeface="BIZ UDゴシック" charset="0"/>
                      </a:endParaRPr>
                    </a:p>
                  </a:txBody>
                  <a:tcPr marL="91440" marR="91440" marT="45720" marB="45720" anchor="ctr">
                    <a:lnL w="9525" cap="flat" cmpd="sng" algn="ctr">
                      <a:solidFill>
                        <a:srgbClr val="D6E3E8"/>
                      </a:solidFill>
                      <a:prstDash val="solid"/>
                      <a:round/>
                      <a:headEnd type="none" w="med" len="med"/>
                      <a:tailEnd type="none" w="med" len="med"/>
                    </a:lnL>
                    <a:lnR w="9525" cap="flat" cmpd="sng" algn="ctr">
                      <a:solidFill>
                        <a:srgbClr val="D6E3E8"/>
                      </a:solidFill>
                      <a:prstDash val="solid"/>
                      <a:round/>
                      <a:headEnd type="none" w="med" len="med"/>
                      <a:tailEnd type="none" w="med" len="med"/>
                    </a:lnR>
                    <a:lnT w="9525" cap="flat" cmpd="sng" algn="ctr">
                      <a:solidFill>
                        <a:srgbClr val="D6E3E8"/>
                      </a:solidFill>
                      <a:prstDash val="solid"/>
                      <a:round/>
                      <a:headEnd type="none" w="med" len="med"/>
                      <a:tailEnd type="none" w="med" len="med"/>
                    </a:lnT>
                    <a:lnB w="9525" cap="flat" cmpd="sng" algn="ctr">
                      <a:solidFill>
                        <a:srgbClr val="D6E3E8"/>
                      </a:solidFill>
                      <a:prstDash val="solid"/>
                      <a:round/>
                      <a:headEnd type="none" w="med" len="med"/>
                      <a:tailEnd type="none" w="med" len="med"/>
                    </a:lnB>
                    <a:solidFill>
                      <a:srgbClr val="EAF2F6"/>
                    </a:solidFill>
                  </a:tcPr>
                </a:tc>
              </a:tr>
              <a:tr h="402336">
                <a:tc>
                  <a:txBody>
                    <a:bodyPr/>
                    <a:lstStyle/>
                    <a:p>
                      <a:pPr indent="0" marL="0">
                        <a:buNone/>
                      </a:pPr>
                      <a:r>
                        <a:rPr lang="en-US" sz="1300" dirty="0">
                          <a:solidFill>
                            <a:srgbClr val="1A1A2E"/>
                          </a:solidFill>
                          <a:latin typeface="BIZ UDゴシック" pitchFamily="34" charset="0"/>
                          <a:ea typeface="BIZ UDゴシック" pitchFamily="34" charset="-122"/>
                          <a:cs typeface="BIZ UDゴシック" pitchFamily="34" charset="-120"/>
                        </a:rPr>
                        <a:t>Console API</a:t>
                      </a:r>
                      <a:endParaRPr lang="en-US" sz="1300" dirty="0">
                        <a:latin typeface="BIZ UDゴシック" charset="0"/>
                        <a:ea typeface="BIZ UDゴシック" charset="0"/>
                        <a:cs typeface="BIZ UDゴシック" charset="0"/>
                      </a:endParaRPr>
                    </a:p>
                  </a:txBody>
                  <a:tcPr marL="91440" marR="91440" marT="45720" marB="45720" anchor="ctr">
                    <a:lnL w="9525" cap="flat" cmpd="sng" algn="ctr">
                      <a:solidFill>
                        <a:srgbClr val="D6E3E8"/>
                      </a:solidFill>
                      <a:prstDash val="solid"/>
                      <a:round/>
                      <a:headEnd type="none" w="med" len="med"/>
                      <a:tailEnd type="none" w="med" len="med"/>
                    </a:lnL>
                    <a:lnR w="9525" cap="flat" cmpd="sng" algn="ctr">
                      <a:solidFill>
                        <a:srgbClr val="D6E3E8"/>
                      </a:solidFill>
                      <a:prstDash val="solid"/>
                      <a:round/>
                      <a:headEnd type="none" w="med" len="med"/>
                      <a:tailEnd type="none" w="med" len="med"/>
                    </a:lnR>
                    <a:lnT w="9525" cap="flat" cmpd="sng" algn="ctr">
                      <a:solidFill>
                        <a:srgbClr val="D6E3E8"/>
                      </a:solidFill>
                      <a:prstDash val="solid"/>
                      <a:round/>
                      <a:headEnd type="none" w="med" len="med"/>
                      <a:tailEnd type="none" w="med" len="med"/>
                    </a:lnT>
                    <a:lnB w="9525" cap="flat" cmpd="sng" algn="ctr">
                      <a:solidFill>
                        <a:srgbClr val="D6E3E8"/>
                      </a:solidFill>
                      <a:prstDash val="solid"/>
                      <a:round/>
                      <a:headEnd type="none" w="med" len="med"/>
                      <a:tailEnd type="none" w="med" len="med"/>
                    </a:lnB>
                    <a:solidFill>
                      <a:srgbClr val="FFFFFF"/>
                    </a:solidFill>
                  </a:tcPr>
                </a:tc>
                <a:tc>
                  <a:txBody>
                    <a:bodyPr/>
                    <a:lstStyle/>
                    <a:p>
                      <a:pPr algn="r" indent="0" marL="0">
                        <a:buNone/>
                      </a:pPr>
                      <a:r>
                        <a:rPr lang="en-US" sz="1300" dirty="0">
                          <a:solidFill>
                            <a:srgbClr val="1A1A2E"/>
                          </a:solidFill>
                          <a:latin typeface="BIZ UDゴシック" pitchFamily="34" charset="0"/>
                          <a:ea typeface="BIZ UDゴシック" pitchFamily="34" charset="-122"/>
                          <a:cs typeface="BIZ UDゴシック" pitchFamily="34" charset="-120"/>
                        </a:rPr>
                        <a:t>8095</a:t>
                      </a:r>
                      <a:endParaRPr lang="en-US" sz="1300" dirty="0">
                        <a:latin typeface="BIZ UDゴシック" charset="0"/>
                        <a:ea typeface="BIZ UDゴシック" charset="0"/>
                        <a:cs typeface="BIZ UDゴシック" charset="0"/>
                      </a:endParaRPr>
                    </a:p>
                  </a:txBody>
                  <a:tcPr marL="91440" marR="91440" marT="45720" marB="45720" anchor="ctr">
                    <a:lnL w="9525" cap="flat" cmpd="sng" algn="ctr">
                      <a:solidFill>
                        <a:srgbClr val="D6E3E8"/>
                      </a:solidFill>
                      <a:prstDash val="solid"/>
                      <a:round/>
                      <a:headEnd type="none" w="med" len="med"/>
                      <a:tailEnd type="none" w="med" len="med"/>
                    </a:lnL>
                    <a:lnR w="9525" cap="flat" cmpd="sng" algn="ctr">
                      <a:solidFill>
                        <a:srgbClr val="D6E3E8"/>
                      </a:solidFill>
                      <a:prstDash val="solid"/>
                      <a:round/>
                      <a:headEnd type="none" w="med" len="med"/>
                      <a:tailEnd type="none" w="med" len="med"/>
                    </a:lnR>
                    <a:lnT w="9525" cap="flat" cmpd="sng" algn="ctr">
                      <a:solidFill>
                        <a:srgbClr val="D6E3E8"/>
                      </a:solidFill>
                      <a:prstDash val="solid"/>
                      <a:round/>
                      <a:headEnd type="none" w="med" len="med"/>
                      <a:tailEnd type="none" w="med" len="med"/>
                    </a:lnT>
                    <a:lnB w="9525" cap="flat" cmpd="sng" algn="ctr">
                      <a:solidFill>
                        <a:srgbClr val="D6E3E8"/>
                      </a:solidFill>
                      <a:prstDash val="solid"/>
                      <a:round/>
                      <a:headEnd type="none" w="med" len="med"/>
                      <a:tailEnd type="none" w="med" len="med"/>
                    </a:lnB>
                    <a:solidFill>
                      <a:srgbClr val="FFFFFF"/>
                    </a:solidFill>
                  </a:tcPr>
                </a:tc>
              </a:tr>
              <a:tr h="402336">
                <a:tc>
                  <a:txBody>
                    <a:bodyPr/>
                    <a:lstStyle/>
                    <a:p>
                      <a:pPr indent="0" marL="0">
                        <a:buNone/>
                      </a:pPr>
                      <a:r>
                        <a:rPr lang="en-US" sz="1300" dirty="0">
                          <a:solidFill>
                            <a:srgbClr val="1A1A2E"/>
                          </a:solidFill>
                          <a:latin typeface="BIZ UDゴシック" pitchFamily="34" charset="0"/>
                          <a:ea typeface="BIZ UDゴシック" pitchFamily="34" charset="-122"/>
                          <a:cs typeface="BIZ UDゴシック" pitchFamily="34" charset="-120"/>
                        </a:rPr>
                        <a:t>Console UI</a:t>
                      </a:r>
                      <a:endParaRPr lang="en-US" sz="1300" dirty="0">
                        <a:latin typeface="BIZ UDゴシック" charset="0"/>
                        <a:ea typeface="BIZ UDゴシック" charset="0"/>
                        <a:cs typeface="BIZ UDゴシック" charset="0"/>
                      </a:endParaRPr>
                    </a:p>
                  </a:txBody>
                  <a:tcPr marL="91440" marR="91440" marT="45720" marB="45720" anchor="ctr">
                    <a:lnL w="9525" cap="flat" cmpd="sng" algn="ctr">
                      <a:solidFill>
                        <a:srgbClr val="D6E3E8"/>
                      </a:solidFill>
                      <a:prstDash val="solid"/>
                      <a:round/>
                      <a:headEnd type="none" w="med" len="med"/>
                      <a:tailEnd type="none" w="med" len="med"/>
                    </a:lnL>
                    <a:lnR w="9525" cap="flat" cmpd="sng" algn="ctr">
                      <a:solidFill>
                        <a:srgbClr val="D6E3E8"/>
                      </a:solidFill>
                      <a:prstDash val="solid"/>
                      <a:round/>
                      <a:headEnd type="none" w="med" len="med"/>
                      <a:tailEnd type="none" w="med" len="med"/>
                    </a:lnR>
                    <a:lnT w="9525" cap="flat" cmpd="sng" algn="ctr">
                      <a:solidFill>
                        <a:srgbClr val="D6E3E8"/>
                      </a:solidFill>
                      <a:prstDash val="solid"/>
                      <a:round/>
                      <a:headEnd type="none" w="med" len="med"/>
                      <a:tailEnd type="none" w="med" len="med"/>
                    </a:lnT>
                    <a:lnB w="9525" cap="flat" cmpd="sng" algn="ctr">
                      <a:solidFill>
                        <a:srgbClr val="D6E3E8"/>
                      </a:solidFill>
                      <a:prstDash val="solid"/>
                      <a:round/>
                      <a:headEnd type="none" w="med" len="med"/>
                      <a:tailEnd type="none" w="med" len="med"/>
                    </a:lnB>
                    <a:solidFill>
                      <a:srgbClr val="EAF2F6"/>
                    </a:solidFill>
                  </a:tcPr>
                </a:tc>
                <a:tc>
                  <a:txBody>
                    <a:bodyPr/>
                    <a:lstStyle/>
                    <a:p>
                      <a:pPr algn="r" indent="0" marL="0">
                        <a:buNone/>
                      </a:pPr>
                      <a:r>
                        <a:rPr lang="en-US" sz="1300" dirty="0">
                          <a:solidFill>
                            <a:srgbClr val="1A1A2E"/>
                          </a:solidFill>
                          <a:latin typeface="BIZ UDゴシック" pitchFamily="34" charset="0"/>
                          <a:ea typeface="BIZ UDゴシック" pitchFamily="34" charset="-122"/>
                          <a:cs typeface="BIZ UDゴシック" pitchFamily="34" charset="-120"/>
                        </a:rPr>
                        <a:t>5173</a:t>
                      </a:r>
                      <a:endParaRPr lang="en-US" sz="1300" dirty="0">
                        <a:latin typeface="BIZ UDゴシック" charset="0"/>
                        <a:ea typeface="BIZ UDゴシック" charset="0"/>
                        <a:cs typeface="BIZ UDゴシック" charset="0"/>
                      </a:endParaRPr>
                    </a:p>
                  </a:txBody>
                  <a:tcPr marL="91440" marR="91440" marT="45720" marB="45720" anchor="ctr">
                    <a:lnL w="9525" cap="flat" cmpd="sng" algn="ctr">
                      <a:solidFill>
                        <a:srgbClr val="D6E3E8"/>
                      </a:solidFill>
                      <a:prstDash val="solid"/>
                      <a:round/>
                      <a:headEnd type="none" w="med" len="med"/>
                      <a:tailEnd type="none" w="med" len="med"/>
                    </a:lnL>
                    <a:lnR w="9525" cap="flat" cmpd="sng" algn="ctr">
                      <a:solidFill>
                        <a:srgbClr val="D6E3E8"/>
                      </a:solidFill>
                      <a:prstDash val="solid"/>
                      <a:round/>
                      <a:headEnd type="none" w="med" len="med"/>
                      <a:tailEnd type="none" w="med" len="med"/>
                    </a:lnR>
                    <a:lnT w="9525" cap="flat" cmpd="sng" algn="ctr">
                      <a:solidFill>
                        <a:srgbClr val="D6E3E8"/>
                      </a:solidFill>
                      <a:prstDash val="solid"/>
                      <a:round/>
                      <a:headEnd type="none" w="med" len="med"/>
                      <a:tailEnd type="none" w="med" len="med"/>
                    </a:lnT>
                    <a:lnB w="9525" cap="flat" cmpd="sng" algn="ctr">
                      <a:solidFill>
                        <a:srgbClr val="D6E3E8"/>
                      </a:solidFill>
                      <a:prstDash val="solid"/>
                      <a:round/>
                      <a:headEnd type="none" w="med" len="med"/>
                      <a:tailEnd type="none" w="med" len="med"/>
                    </a:lnB>
                    <a:solidFill>
                      <a:srgbClr val="EAF2F6"/>
                    </a:solidFill>
                  </a:tcPr>
                </a:tc>
              </a:tr>
              <a:tr h="402336">
                <a:tc>
                  <a:txBody>
                    <a:bodyPr/>
                    <a:lstStyle/>
                    <a:p>
                      <a:pPr indent="0" marL="0">
                        <a:buNone/>
                      </a:pPr>
                      <a:r>
                        <a:rPr lang="en-US" sz="1300" dirty="0">
                          <a:solidFill>
                            <a:srgbClr val="1A1A2E"/>
                          </a:solidFill>
                          <a:latin typeface="BIZ UDゴシック" pitchFamily="34" charset="0"/>
                          <a:ea typeface="BIZ UDゴシック" pitchFamily="34" charset="-122"/>
                          <a:cs typeface="BIZ UDゴシック" pitchFamily="34" charset="-120"/>
                        </a:rPr>
                        <a:t>Ollama</a:t>
                      </a:r>
                      <a:endParaRPr lang="en-US" sz="1300" dirty="0">
                        <a:latin typeface="BIZ UDゴシック" charset="0"/>
                        <a:ea typeface="BIZ UDゴシック" charset="0"/>
                        <a:cs typeface="BIZ UDゴシック" charset="0"/>
                      </a:endParaRPr>
                    </a:p>
                  </a:txBody>
                  <a:tcPr marL="91440" marR="91440" marT="45720" marB="45720" anchor="ctr">
                    <a:lnL w="9525" cap="flat" cmpd="sng" algn="ctr">
                      <a:solidFill>
                        <a:srgbClr val="D6E3E8"/>
                      </a:solidFill>
                      <a:prstDash val="solid"/>
                      <a:round/>
                      <a:headEnd type="none" w="med" len="med"/>
                      <a:tailEnd type="none" w="med" len="med"/>
                    </a:lnL>
                    <a:lnR w="9525" cap="flat" cmpd="sng" algn="ctr">
                      <a:solidFill>
                        <a:srgbClr val="D6E3E8"/>
                      </a:solidFill>
                      <a:prstDash val="solid"/>
                      <a:round/>
                      <a:headEnd type="none" w="med" len="med"/>
                      <a:tailEnd type="none" w="med" len="med"/>
                    </a:lnR>
                    <a:lnT w="9525" cap="flat" cmpd="sng" algn="ctr">
                      <a:solidFill>
                        <a:srgbClr val="D6E3E8"/>
                      </a:solidFill>
                      <a:prstDash val="solid"/>
                      <a:round/>
                      <a:headEnd type="none" w="med" len="med"/>
                      <a:tailEnd type="none" w="med" len="med"/>
                    </a:lnT>
                    <a:lnB w="9525" cap="flat" cmpd="sng" algn="ctr">
                      <a:solidFill>
                        <a:srgbClr val="D6E3E8"/>
                      </a:solidFill>
                      <a:prstDash val="solid"/>
                      <a:round/>
                      <a:headEnd type="none" w="med" len="med"/>
                      <a:tailEnd type="none" w="med" len="med"/>
                    </a:lnB>
                    <a:solidFill>
                      <a:srgbClr val="FFFFFF"/>
                    </a:solidFill>
                  </a:tcPr>
                </a:tc>
                <a:tc>
                  <a:txBody>
                    <a:bodyPr/>
                    <a:lstStyle/>
                    <a:p>
                      <a:pPr algn="r" indent="0" marL="0">
                        <a:buNone/>
                      </a:pPr>
                      <a:r>
                        <a:rPr lang="en-US" sz="1300" dirty="0">
                          <a:solidFill>
                            <a:srgbClr val="1A1A2E"/>
                          </a:solidFill>
                          <a:latin typeface="BIZ UDゴシック" pitchFamily="34" charset="0"/>
                          <a:ea typeface="BIZ UDゴシック" pitchFamily="34" charset="-122"/>
                          <a:cs typeface="BIZ UDゴシック" pitchFamily="34" charset="-120"/>
                        </a:rPr>
                        <a:t>11434</a:t>
                      </a:r>
                      <a:endParaRPr lang="en-US" sz="1300" dirty="0">
                        <a:latin typeface="BIZ UDゴシック" charset="0"/>
                        <a:ea typeface="BIZ UDゴシック" charset="0"/>
                        <a:cs typeface="BIZ UDゴシック" charset="0"/>
                      </a:endParaRPr>
                    </a:p>
                  </a:txBody>
                  <a:tcPr marL="91440" marR="91440" marT="45720" marB="45720" anchor="ctr">
                    <a:lnL w="9525" cap="flat" cmpd="sng" algn="ctr">
                      <a:solidFill>
                        <a:srgbClr val="D6E3E8"/>
                      </a:solidFill>
                      <a:prstDash val="solid"/>
                      <a:round/>
                      <a:headEnd type="none" w="med" len="med"/>
                      <a:tailEnd type="none" w="med" len="med"/>
                    </a:lnL>
                    <a:lnR w="9525" cap="flat" cmpd="sng" algn="ctr">
                      <a:solidFill>
                        <a:srgbClr val="D6E3E8"/>
                      </a:solidFill>
                      <a:prstDash val="solid"/>
                      <a:round/>
                      <a:headEnd type="none" w="med" len="med"/>
                      <a:tailEnd type="none" w="med" len="med"/>
                    </a:lnR>
                    <a:lnT w="9525" cap="flat" cmpd="sng" algn="ctr">
                      <a:solidFill>
                        <a:srgbClr val="D6E3E8"/>
                      </a:solidFill>
                      <a:prstDash val="solid"/>
                      <a:round/>
                      <a:headEnd type="none" w="med" len="med"/>
                      <a:tailEnd type="none" w="med" len="med"/>
                    </a:lnT>
                    <a:lnB w="9525" cap="flat" cmpd="sng" algn="ctr">
                      <a:solidFill>
                        <a:srgbClr val="D6E3E8"/>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502920"/>
            <a:ext cx="566928" cy="566928"/>
          </a:xfrm>
          <a:prstGeom prst="ellipse">
            <a:avLst/>
          </a:prstGeom>
          <a:solidFill>
            <a:srgbClr val="21295C"/>
          </a:solidFill>
          <a:ln/>
        </p:spPr>
      </p:sp>
      <p:sp>
        <p:nvSpPr>
          <p:cNvPr id="3" name="Text 1"/>
          <p:cNvSpPr/>
          <p:nvPr/>
        </p:nvSpPr>
        <p:spPr>
          <a:xfrm>
            <a:off x="548640" y="502920"/>
            <a:ext cx="566928" cy="566928"/>
          </a:xfrm>
          <a:prstGeom prst="rect">
            <a:avLst/>
          </a:prstGeom>
          <a:noFill/>
          <a:ln/>
        </p:spPr>
        <p:txBody>
          <a:bodyPr wrap="square" lIns="0" tIns="0" rIns="0" bIns="0" rtlCol="0" anchor="ctr"/>
          <a:lstStyle/>
          <a:p>
            <a:pPr algn="ctr" indent="0" marL="0">
              <a:buNone/>
            </a:pPr>
            <a:r>
              <a:rPr lang="en-US" sz="1500" b="1" dirty="0">
                <a:solidFill>
                  <a:srgbClr val="FFFFFF"/>
                </a:solidFill>
                <a:latin typeface="BIZ UDゴシック" pitchFamily="34" charset="0"/>
                <a:ea typeface="BIZ UDゴシック" pitchFamily="34" charset="-122"/>
                <a:cs typeface="BIZ UDゴシック" pitchFamily="34" charset="-120"/>
              </a:rPr>
              <a:t>B</a:t>
            </a:r>
            <a:endParaRPr lang="en-US" sz="1500" dirty="0"/>
          </a:p>
        </p:txBody>
      </p:sp>
      <p:sp>
        <p:nvSpPr>
          <p:cNvPr id="4" name="Text 2"/>
          <p:cNvSpPr/>
          <p:nvPr/>
        </p:nvSpPr>
        <p:spPr>
          <a:xfrm>
            <a:off x="1280160" y="438912"/>
            <a:ext cx="10362895" cy="274320"/>
          </a:xfrm>
          <a:prstGeom prst="rect">
            <a:avLst/>
          </a:prstGeom>
          <a:noFill/>
          <a:ln/>
        </p:spPr>
        <p:txBody>
          <a:bodyPr wrap="square" lIns="0" tIns="0" rIns="0" bIns="0" rtlCol="0" anchor="ctr"/>
          <a:lstStyle/>
          <a:p>
            <a:pPr indent="0" marL="0">
              <a:buNone/>
            </a:pPr>
            <a:r>
              <a:rPr lang="en-US" sz="1100" b="1" spc="100" kern="0" dirty="0">
                <a:solidFill>
                  <a:srgbClr val="1C7293"/>
                </a:solidFill>
                <a:latin typeface="BIZ UDゴシック" pitchFamily="34" charset="0"/>
                <a:ea typeface="BIZ UDゴシック" pitchFamily="34" charset="-122"/>
                <a:cs typeface="BIZ UDゴシック" pitchFamily="34" charset="-120"/>
              </a:rPr>
              <a:t>APPENDIX B</a:t>
            </a:r>
            <a:endParaRPr lang="en-US" sz="1100" dirty="0"/>
          </a:p>
        </p:txBody>
      </p:sp>
      <p:sp>
        <p:nvSpPr>
          <p:cNvPr id="5" name="Text 3"/>
          <p:cNvSpPr/>
          <p:nvPr/>
        </p:nvSpPr>
        <p:spPr>
          <a:xfrm>
            <a:off x="1280160" y="713232"/>
            <a:ext cx="10362895" cy="566928"/>
          </a:xfrm>
          <a:prstGeom prst="rect">
            <a:avLst/>
          </a:prstGeom>
          <a:noFill/>
          <a:ln/>
        </p:spPr>
        <p:txBody>
          <a:bodyPr wrap="square" lIns="0" tIns="0" rIns="0" bIns="0" rtlCol="0" anchor="t"/>
          <a:lstStyle/>
          <a:p>
            <a:pPr indent="0" marL="0">
              <a:buNone/>
            </a:pPr>
            <a:r>
              <a:rPr lang="en-US" sz="2500" b="1" dirty="0">
                <a:solidFill>
                  <a:srgbClr val="1A1A2E"/>
                </a:solidFill>
                <a:latin typeface="BIZ UDゴシック" pitchFamily="34" charset="0"/>
                <a:ea typeface="BIZ UDゴシック" pitchFamily="34" charset="-122"/>
                <a:cs typeface="BIZ UDゴシック" pitchFamily="34" charset="-120"/>
              </a:rPr>
              <a:t>主な成果物</a:t>
            </a:r>
            <a:endParaRPr lang="en-US" sz="2500" dirty="0"/>
          </a:p>
        </p:txBody>
      </p:sp>
      <p:sp>
        <p:nvSpPr>
          <p:cNvPr id="6" name="Text 4"/>
          <p:cNvSpPr/>
          <p:nvPr/>
        </p:nvSpPr>
        <p:spPr>
          <a:xfrm>
            <a:off x="548640" y="6446520"/>
            <a:ext cx="4572000" cy="274320"/>
          </a:xfrm>
          <a:prstGeom prst="rect">
            <a:avLst/>
          </a:prstGeom>
          <a:noFill/>
          <a:ln/>
        </p:spPr>
        <p:txBody>
          <a:bodyPr wrap="square" lIns="0" tIns="0" rIns="0" bIns="0" rtlCol="0" anchor="ctr"/>
          <a:lstStyle/>
          <a:p>
            <a:pPr indent="0" marL="0">
              <a:buNone/>
            </a:pPr>
            <a:r>
              <a:rPr lang="en-US" sz="900" dirty="0">
                <a:solidFill>
                  <a:srgbClr val="5C6B73"/>
                </a:solidFill>
                <a:latin typeface="BIZ UDゴシック" pitchFamily="34" charset="0"/>
                <a:ea typeface="BIZ UDゴシック" pitchFamily="34" charset="-122"/>
                <a:cs typeface="BIZ UDゴシック" pitchFamily="34" charset="-120"/>
              </a:rPr>
              <a:t>Observability AI PoC</a:t>
            </a:r>
            <a:endParaRPr lang="en-US" sz="900" dirty="0"/>
          </a:p>
        </p:txBody>
      </p:sp>
      <p:sp>
        <p:nvSpPr>
          <p:cNvPr id="7" name="Text 5"/>
          <p:cNvSpPr/>
          <p:nvPr/>
        </p:nvSpPr>
        <p:spPr>
          <a:xfrm>
            <a:off x="9814255" y="6446520"/>
            <a:ext cx="1828800" cy="274320"/>
          </a:xfrm>
          <a:prstGeom prst="rect">
            <a:avLst/>
          </a:prstGeom>
          <a:noFill/>
          <a:ln/>
        </p:spPr>
        <p:txBody>
          <a:bodyPr wrap="square" lIns="0" tIns="0" rIns="0" bIns="0" rtlCol="0" anchor="ctr"/>
          <a:lstStyle/>
          <a:p>
            <a:pPr algn="r" indent="0" marL="0">
              <a:buNone/>
            </a:pPr>
            <a:r>
              <a:rPr lang="en-US" sz="900" dirty="0">
                <a:solidFill>
                  <a:srgbClr val="5C6B73"/>
                </a:solidFill>
                <a:latin typeface="BIZ UDゴシック" pitchFamily="34" charset="0"/>
                <a:ea typeface="BIZ UDゴシック" pitchFamily="34" charset="-122"/>
                <a:cs typeface="BIZ UDゴシック" pitchFamily="34" charset="-120"/>
              </a:rPr>
              <a:t>B</a:t>
            </a:r>
            <a:endParaRPr lang="en-US" sz="900" dirty="0"/>
          </a:p>
        </p:txBody>
      </p:sp>
      <p:sp>
        <p:nvSpPr>
          <p:cNvPr id="8" name="Shape 6"/>
          <p:cNvSpPr/>
          <p:nvPr/>
        </p:nvSpPr>
        <p:spPr>
          <a:xfrm>
            <a:off x="1280160" y="1536192"/>
            <a:ext cx="10362895" cy="4846320"/>
          </a:xfrm>
          <a:prstGeom prst="roundRect">
            <a:avLst>
              <a:gd name="adj" fmla="val 1509"/>
            </a:avLst>
          </a:prstGeom>
          <a:solidFill>
            <a:srgbClr val="21295C"/>
          </a:solidFill>
          <a:ln/>
        </p:spPr>
      </p:sp>
      <p:sp>
        <p:nvSpPr>
          <p:cNvPr id="9" name="Text 7"/>
          <p:cNvSpPr/>
          <p:nvPr/>
        </p:nvSpPr>
        <p:spPr>
          <a:xfrm>
            <a:off x="1645920" y="1737360"/>
            <a:ext cx="9631375" cy="4480560"/>
          </a:xfrm>
          <a:prstGeom prst="rect">
            <a:avLst/>
          </a:prstGeom>
          <a:noFill/>
          <a:ln/>
        </p:spPr>
        <p:txBody>
          <a:bodyPr wrap="square" lIns="0" tIns="0" rIns="0" bIns="0" rtlCol="0" anchor="t"/>
          <a:lstStyle/>
          <a:p>
            <a:pPr indent="0" marL="0">
              <a:lnSpc>
                <a:spcPct val="120000"/>
              </a:lnSpc>
              <a:buNone/>
            </a:pPr>
            <a:r>
              <a:rPr lang="en-US" sz="1250" dirty="0">
                <a:solidFill>
                  <a:srgbClr val="EAF2F6"/>
                </a:solidFill>
                <a:latin typeface="Consolas" pitchFamily="34" charset="0"/>
                <a:ea typeface="Consolas" pitchFamily="34" charset="-122"/>
                <a:cs typeface="Consolas" pitchFamily="34" charset="-120"/>
              </a:rPr>
              <a:t>observability-ai-poc/</a:t>
            </a:r>
            <a:endParaRPr lang="en-US" sz="1250" dirty="0"/>
          </a:p>
          <a:p>
            <a:pPr indent="0" marL="0">
              <a:lnSpc>
                <a:spcPct val="120000"/>
              </a:lnSpc>
              <a:buNone/>
            </a:pPr>
            <a:r>
              <a:rPr lang="en-US" sz="1250" dirty="0">
                <a:solidFill>
                  <a:srgbClr val="EAF2F6"/>
                </a:solidFill>
                <a:latin typeface="Consolas" pitchFamily="34" charset="0"/>
                <a:ea typeface="Consolas" pitchFamily="34" charset="-122"/>
                <a:cs typeface="Consolas" pitchFamily="34" charset="-120"/>
              </a:rPr>
              <a:t>├── docker-compose.yml</a:t>
            </a:r>
            <a:endParaRPr lang="en-US" sz="1250" dirty="0"/>
          </a:p>
          <a:p>
            <a:pPr indent="0" marL="0">
              <a:lnSpc>
                <a:spcPct val="120000"/>
              </a:lnSpc>
              <a:buNone/>
            </a:pPr>
            <a:r>
              <a:rPr lang="en-US" sz="1250" dirty="0">
                <a:solidFill>
                  <a:srgbClr val="EAF2F6"/>
                </a:solidFill>
                <a:latin typeface="Consolas" pitchFamily="34" charset="0"/>
                <a:ea typeface="Consolas" pitchFamily="34" charset="-122"/>
                <a:cs typeface="Consolas" pitchFamily="34" charset="-120"/>
              </a:rPr>
              <a:t>├── compose.proxy.yml</a:t>
            </a:r>
            <a:endParaRPr lang="en-US" sz="1250" dirty="0"/>
          </a:p>
          <a:p>
            <a:pPr indent="0" marL="0">
              <a:lnSpc>
                <a:spcPct val="120000"/>
              </a:lnSpc>
              <a:buNone/>
            </a:pPr>
            <a:r>
              <a:rPr lang="en-US" sz="1250" dirty="0">
                <a:solidFill>
                  <a:srgbClr val="EAF2F6"/>
                </a:solidFill>
                <a:latin typeface="Consolas" pitchFamily="34" charset="0"/>
                <a:ea typeface="Consolas" pitchFamily="34" charset="-122"/>
                <a:cs typeface="Consolas" pitchFamily="34" charset="-120"/>
              </a:rPr>
              <a:t>├── .env.example</a:t>
            </a:r>
            <a:endParaRPr lang="en-US" sz="1250" dirty="0"/>
          </a:p>
          <a:p>
            <a:pPr indent="0" marL="0">
              <a:lnSpc>
                <a:spcPct val="120000"/>
              </a:lnSpc>
              <a:buNone/>
            </a:pPr>
            <a:r>
              <a:rPr lang="en-US" sz="1250" dirty="0">
                <a:solidFill>
                  <a:srgbClr val="EAF2F6"/>
                </a:solidFill>
                <a:latin typeface="Consolas" pitchFamily="34" charset="0"/>
                <a:ea typeface="Consolas" pitchFamily="34" charset="-122"/>
                <a:cs typeface="Consolas" pitchFamily="34" charset="-120"/>
              </a:rPr>
              <a:t>├── certs/</a:t>
            </a:r>
            <a:endParaRPr lang="en-US" sz="1250" dirty="0"/>
          </a:p>
          <a:p>
            <a:pPr indent="0" marL="0">
              <a:lnSpc>
                <a:spcPct val="120000"/>
              </a:lnSpc>
              <a:buNone/>
            </a:pPr>
            <a:r>
              <a:rPr lang="en-US" sz="1250" dirty="0">
                <a:solidFill>
                  <a:srgbClr val="EAF2F6"/>
                </a:solidFill>
                <a:latin typeface="Consolas" pitchFamily="34" charset="0"/>
                <a:ea typeface="Consolas" pitchFamily="34" charset="-122"/>
                <a:cs typeface="Consolas" pitchFamily="34" charset="-120"/>
              </a:rPr>
              <a:t>│   └── README.md</a:t>
            </a:r>
            <a:endParaRPr lang="en-US" sz="1250" dirty="0"/>
          </a:p>
          <a:p>
            <a:pPr indent="0" marL="0">
              <a:lnSpc>
                <a:spcPct val="120000"/>
              </a:lnSpc>
              <a:buNone/>
            </a:pPr>
            <a:r>
              <a:rPr lang="en-US" sz="1250" dirty="0">
                <a:solidFill>
                  <a:srgbClr val="EAF2F6"/>
                </a:solidFill>
                <a:latin typeface="Consolas" pitchFamily="34" charset="0"/>
                <a:ea typeface="Consolas" pitchFamily="34" charset="-122"/>
                <a:cs typeface="Consolas" pitchFamily="34" charset="-120"/>
              </a:rPr>
              <a:t>├── docker/</a:t>
            </a:r>
            <a:endParaRPr lang="en-US" sz="1250" dirty="0"/>
          </a:p>
          <a:p>
            <a:pPr indent="0" marL="0">
              <a:lnSpc>
                <a:spcPct val="120000"/>
              </a:lnSpc>
              <a:buNone/>
            </a:pPr>
            <a:r>
              <a:rPr lang="en-US" sz="1250" dirty="0">
                <a:solidFill>
                  <a:srgbClr val="EAF2F6"/>
                </a:solidFill>
                <a:latin typeface="Consolas" pitchFamily="34" charset="0"/>
                <a:ea typeface="Consolas" pitchFamily="34" charset="-122"/>
                <a:cs typeface="Consolas" pitchFamily="34" charset="-120"/>
              </a:rPr>
              <a:t>│   └── python-service-proxy.Dockerfile</a:t>
            </a:r>
            <a:endParaRPr lang="en-US" sz="1250" dirty="0"/>
          </a:p>
          <a:p>
            <a:pPr indent="0" marL="0">
              <a:lnSpc>
                <a:spcPct val="120000"/>
              </a:lnSpc>
              <a:buNone/>
            </a:pPr>
            <a:r>
              <a:rPr lang="en-US" sz="1250" dirty="0">
                <a:solidFill>
                  <a:srgbClr val="EAF2F6"/>
                </a:solidFill>
                <a:latin typeface="Consolas" pitchFamily="34" charset="0"/>
                <a:ea typeface="Consolas" pitchFamily="34" charset="-122"/>
                <a:cs typeface="Consolas" pitchFamily="34" charset="-120"/>
              </a:rPr>
              <a:t>├── services/</a:t>
            </a:r>
            <a:endParaRPr lang="en-US" sz="1250" dirty="0"/>
          </a:p>
          <a:p>
            <a:pPr indent="0" marL="0">
              <a:lnSpc>
                <a:spcPct val="120000"/>
              </a:lnSpc>
              <a:buNone/>
            </a:pPr>
            <a:r>
              <a:rPr lang="en-US" sz="1250" dirty="0">
                <a:solidFill>
                  <a:srgbClr val="EAF2F6"/>
                </a:solidFill>
                <a:latin typeface="Consolas" pitchFamily="34" charset="0"/>
                <a:ea typeface="Consolas" pitchFamily="34" charset="-122"/>
                <a:cs typeface="Consolas" pitchFamily="34" charset="-120"/>
              </a:rPr>
              <a:t>├── agent/</a:t>
            </a:r>
            <a:endParaRPr lang="en-US" sz="1250" dirty="0"/>
          </a:p>
          <a:p>
            <a:pPr indent="0" marL="0">
              <a:lnSpc>
                <a:spcPct val="120000"/>
              </a:lnSpc>
              <a:buNone/>
            </a:pPr>
            <a:r>
              <a:rPr lang="en-US" sz="1250" dirty="0">
                <a:solidFill>
                  <a:srgbClr val="EAF2F6"/>
                </a:solidFill>
                <a:latin typeface="Consolas" pitchFamily="34" charset="0"/>
                <a:ea typeface="Consolas" pitchFamily="34" charset="-122"/>
                <a:cs typeface="Consolas" pitchFamily="34" charset="-120"/>
              </a:rPr>
              <a:t>├── console_api/</a:t>
            </a:r>
            <a:endParaRPr lang="en-US" sz="1250" dirty="0"/>
          </a:p>
          <a:p>
            <a:pPr indent="0" marL="0">
              <a:lnSpc>
                <a:spcPct val="120000"/>
              </a:lnSpc>
              <a:buNone/>
            </a:pPr>
            <a:r>
              <a:rPr lang="en-US" sz="1250" dirty="0">
                <a:solidFill>
                  <a:srgbClr val="EAF2F6"/>
                </a:solidFill>
                <a:latin typeface="Consolas" pitchFamily="34" charset="0"/>
                <a:ea typeface="Consolas" pitchFamily="34" charset="-122"/>
                <a:cs typeface="Consolas" pitchFamily="34" charset="-120"/>
              </a:rPr>
              <a:t>├── console/</a:t>
            </a:r>
            <a:endParaRPr lang="en-US" sz="1250" dirty="0"/>
          </a:p>
          <a:p>
            <a:pPr indent="0" marL="0">
              <a:lnSpc>
                <a:spcPct val="120000"/>
              </a:lnSpc>
              <a:buNone/>
            </a:pPr>
            <a:r>
              <a:rPr lang="en-US" sz="1250" dirty="0">
                <a:solidFill>
                  <a:srgbClr val="EAF2F6"/>
                </a:solidFill>
                <a:latin typeface="Consolas" pitchFamily="34" charset="0"/>
                <a:ea typeface="Consolas" pitchFamily="34" charset="-122"/>
                <a:cs typeface="Consolas" pitchFamily="34" charset="-120"/>
              </a:rPr>
              <a:t>├── splunk/</a:t>
            </a:r>
            <a:endParaRPr lang="en-US" sz="1250" dirty="0"/>
          </a:p>
          <a:p>
            <a:pPr indent="0" marL="0">
              <a:lnSpc>
                <a:spcPct val="120000"/>
              </a:lnSpc>
              <a:buNone/>
            </a:pPr>
            <a:r>
              <a:rPr lang="en-US" sz="1250" dirty="0">
                <a:solidFill>
                  <a:srgbClr val="EAF2F6"/>
                </a:solidFill>
                <a:latin typeface="Consolas" pitchFamily="34" charset="0"/>
                <a:ea typeface="Consolas" pitchFamily="34" charset="-122"/>
                <a:cs typeface="Consolas" pitchFamily="34" charset="-120"/>
              </a:rPr>
              <a:t>├── scripts/</a:t>
            </a:r>
            <a:endParaRPr lang="en-US" sz="1250" dirty="0"/>
          </a:p>
          <a:p>
            <a:pPr indent="0" marL="0">
              <a:lnSpc>
                <a:spcPct val="120000"/>
              </a:lnSpc>
              <a:buNone/>
            </a:pPr>
            <a:r>
              <a:rPr lang="en-US" sz="1250" dirty="0">
                <a:solidFill>
                  <a:srgbClr val="EAF2F6"/>
                </a:solidFill>
                <a:latin typeface="Consolas" pitchFamily="34" charset="0"/>
                <a:ea typeface="Consolas" pitchFamily="34" charset="-122"/>
                <a:cs typeface="Consolas" pitchFamily="34" charset="-120"/>
              </a:rPr>
              <a:t>├── tests/</a:t>
            </a:r>
            <a:endParaRPr lang="en-US" sz="1250" dirty="0"/>
          </a:p>
          <a:p>
            <a:pPr indent="0" marL="0">
              <a:lnSpc>
                <a:spcPct val="120000"/>
              </a:lnSpc>
              <a:buNone/>
            </a:pPr>
            <a:r>
              <a:rPr lang="en-US" sz="1250" dirty="0">
                <a:solidFill>
                  <a:srgbClr val="EAF2F6"/>
                </a:solidFill>
                <a:latin typeface="Consolas" pitchFamily="34" charset="0"/>
                <a:ea typeface="Consolas" pitchFamily="34" charset="-122"/>
                <a:cs typeface="Consolas" pitchFamily="34" charset="-120"/>
              </a:rPr>
              <a:t>└── docs/</a:t>
            </a:r>
            <a:endParaRPr lang="en-US" sz="1250" dirty="0"/>
          </a:p>
          <a:p>
            <a:pPr indent="0" marL="0">
              <a:lnSpc>
                <a:spcPct val="120000"/>
              </a:lnSpc>
              <a:buNone/>
            </a:pPr>
            <a:r>
              <a:rPr lang="en-US" sz="1250" dirty="0">
                <a:solidFill>
                  <a:srgbClr val="EAF2F6"/>
                </a:solidFill>
                <a:latin typeface="Consolas" pitchFamily="34" charset="0"/>
                <a:ea typeface="Consolas" pitchFamily="34" charset="-122"/>
                <a:cs typeface="Consolas" pitchFamily="34" charset="-120"/>
              </a:rPr>
              <a:t>    ├── SETUP_PROXY_ZSCALER.md</a:t>
            </a:r>
            <a:endParaRPr lang="en-US" sz="1250" dirty="0"/>
          </a:p>
          <a:p>
            <a:pPr indent="0" marL="0">
              <a:lnSpc>
                <a:spcPct val="120000"/>
              </a:lnSpc>
              <a:buNone/>
            </a:pPr>
            <a:r>
              <a:rPr lang="en-US" sz="1250" dirty="0">
                <a:solidFill>
                  <a:srgbClr val="EAF2F6"/>
                </a:solidFill>
                <a:latin typeface="Consolas" pitchFamily="34" charset="0"/>
                <a:ea typeface="Consolas" pitchFamily="34" charset="-122"/>
                <a:cs typeface="Consolas" pitchFamily="34" charset="-120"/>
              </a:rPr>
              <a:t>    └── TESTING_PROXY_ZSCALER.md</a:t>
            </a:r>
            <a:endParaRPr lang="en-US" sz="12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41</Slides>
  <Notes>41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41</vt:i4>
      </vt:variant>
    </vt:vector>
  </HeadingPairs>
  <TitlesOfParts>
    <vt:vector size="4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2026-09-04T11:40:09Z</dcterms:created>
  <dcterms:modified xsi:type="dcterms:W3CDTF">2026-09-04T11:40:09Z</dcterms:modified>
</cp:coreProperties>
</file>