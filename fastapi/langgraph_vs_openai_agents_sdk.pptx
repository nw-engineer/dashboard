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8" autoAdjust="0"/>
    <p:restoredTop sz="56588" autoAdjust="0"/>
  </p:normalViewPr>
  <p:slideViewPr>
    <p:cSldViewPr snapToGrid="0" snapToObjects="1">
      <p:cViewPr varScale="1">
        <p:scale>
          <a:sx n="64" d="100"/>
          <a:sy n="64" d="100"/>
        </p:scale>
        <p:origin x="9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9350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dirty="0"/>
              <a:t>この資料では、これまで LangGraph で実装していた AI エージェントの考え方と、OpenAI Agents SDK での実装の考え方を比較します。</a:t>
            </a:r>
          </a:p>
          <a:p>
            <a:r>
              <a:rPr lang="ja-JP" altLang="ja-JP" dirty="0"/>
              <a:t>LangGraph は </a:t>
            </a:r>
            <a:r>
              <a:rPr kumimoji="1" lang="ja-JP" altLang="ja-JP" sz="1200" kern="1200" dirty="0">
                <a:solidFill>
                  <a:schemeClr val="tx1"/>
                </a:solidFill>
                <a:latin typeface="+mn-lt"/>
                <a:ea typeface="+mn-ea"/>
                <a:cs typeface="+mn-cs"/>
              </a:rPr>
              <a:t>state / node / edge / graph</a:t>
            </a:r>
            <a:r>
              <a:rPr lang="ja-JP" altLang="ja-JP" dirty="0"/>
              <a:t> を使って、処理の流れをグラフとして明示的に設計するアプローチです。一方で OpenAI Agents SDK は、</a:t>
            </a:r>
            <a:r>
              <a:rPr kumimoji="1" lang="ja-JP" altLang="ja-JP" sz="1200" kern="1200" dirty="0">
                <a:solidFill>
                  <a:schemeClr val="tx1"/>
                </a:solidFill>
                <a:latin typeface="+mn-lt"/>
                <a:ea typeface="+mn-ea"/>
                <a:cs typeface="+mn-cs"/>
              </a:rPr>
              <a:t>Agent / Runner / Tool / Handoff</a:t>
            </a:r>
            <a:r>
              <a:rPr lang="ja-JP" altLang="ja-JP" dirty="0"/>
              <a:t> を中心に、エージェントの実行ループを回しながらツール実行や承認、ハンドオフを扱うアプローチです。</a:t>
            </a:r>
          </a:p>
          <a:p>
            <a:r>
              <a:rPr lang="ja-JP" altLang="ja-JP" dirty="0"/>
              <a:t>この資料では、どちらが優れているかという比較ではなく、</a:t>
            </a:r>
            <a:r>
              <a:rPr lang="ja-JP" altLang="ja-JP" b="1" dirty="0"/>
              <a:t>制御の置き場所がどこにあるか</a:t>
            </a:r>
            <a:r>
              <a:rPr lang="ja-JP" altLang="ja-JP" dirty="0"/>
              <a:t>、そして </a:t>
            </a:r>
            <a:r>
              <a:rPr lang="ja-JP" altLang="ja-JP" b="1" dirty="0"/>
              <a:t>HITL や Sandbox を使った安全な自律システムのデモをどう構成できるか</a:t>
            </a:r>
            <a:r>
              <a:rPr lang="ja-JP" altLang="ja-JP" dirty="0"/>
              <a:t>を整理します。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02. まず結論：制御の置き場所が違う</a:t>
            </a:r>
          </a:p>
          <a:p>
            <a:r>
              <a:rPr lang="ja-JP" altLang="ja-JP" dirty="0"/>
              <a:t>このページのポイントは、LangGraph と OpenAI Agents SDK では、アプリケーションの制御を置く場所が違うということです。</a:t>
            </a:r>
          </a:p>
          <a:p>
            <a:r>
              <a:rPr lang="ja-JP" altLang="ja-JP" dirty="0"/>
              <a:t>LangGraph では、どのノードをどの順番で実行し、どの状態を更新し、どの条件で次のノードに進むかを、グラフ構造として明示的に定義します。つまり、</a:t>
            </a:r>
            <a:r>
              <a:rPr lang="ja-JP" altLang="ja-JP" b="1" dirty="0"/>
              <a:t>フローの形そのものが実装の中心</a:t>
            </a:r>
            <a:r>
              <a:rPr lang="ja-JP" altLang="ja-JP" dirty="0"/>
              <a:t>になります。</a:t>
            </a:r>
          </a:p>
          <a:p>
            <a:r>
              <a:rPr lang="ja-JP" altLang="ja-JP" dirty="0"/>
              <a:t>一方で OpenAI Agents SDK では、Agent に instructions と tools を渡し、Runner がモデル呼び出し、ツール呼び出し、ハンドオフ、最終出力までを実行ループとして処理します。つまり、</a:t>
            </a:r>
            <a:r>
              <a:rPr lang="ja-JP" altLang="ja-JP" b="1" dirty="0"/>
              <a:t>Agent が判断し、Runner が実行を進める構造</a:t>
            </a:r>
            <a:r>
              <a:rPr lang="ja-JP" altLang="ja-JP" dirty="0"/>
              <a:t>です。</a:t>
            </a:r>
          </a:p>
          <a:p>
            <a:r>
              <a:rPr lang="ja-JP" altLang="ja-JP" dirty="0"/>
              <a:t>まとめると、LangGraph は「フローを先に設計する」考え方で、Agents SDK は「Agent の実行単位とツール境界を設計する」考え方です。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03. LangGraph のメンタルモデル</a:t>
            </a:r>
          </a:p>
          <a:p>
            <a:r>
              <a:rPr lang="ja-JP" altLang="ja-JP" dirty="0"/>
              <a:t>LangGraph の基本的な考え方は、共有 State を中心に、複数の Node がそれを読み書きしながら進む、というものです。</a:t>
            </a:r>
          </a:p>
          <a:p>
            <a:r>
              <a:rPr lang="ja-JP" altLang="ja-JP" dirty="0"/>
              <a:t>たとえば、</a:t>
            </a:r>
            <a:r>
              <a:rPr kumimoji="1" lang="ja-JP" altLang="ja-JP" sz="1200" kern="1200" dirty="0">
                <a:solidFill>
                  <a:schemeClr val="tx1"/>
                </a:solidFill>
                <a:latin typeface="+mn-lt"/>
                <a:ea typeface="+mn-ea"/>
                <a:cs typeface="+mn-cs"/>
              </a:rPr>
              <a:t>messages</a:t>
            </a:r>
            <a:r>
              <a:rPr lang="ja-JP" altLang="ja-JP" dirty="0"/>
              <a:t>、</a:t>
            </a:r>
            <a:r>
              <a:rPr kumimoji="1" lang="ja-JP" altLang="ja-JP" sz="1200" kern="1200" dirty="0">
                <a:solidFill>
                  <a:schemeClr val="tx1"/>
                </a:solidFill>
                <a:latin typeface="+mn-lt"/>
                <a:ea typeface="+mn-ea"/>
                <a:cs typeface="+mn-cs"/>
              </a:rPr>
              <a:t>user_input</a:t>
            </a:r>
            <a:r>
              <a:rPr lang="ja-JP" altLang="ja-JP" dirty="0"/>
              <a:t>、</a:t>
            </a:r>
            <a:r>
              <a:rPr kumimoji="1" lang="ja-JP" altLang="ja-JP" sz="1200" kern="1200" dirty="0">
                <a:solidFill>
                  <a:schemeClr val="tx1"/>
                </a:solidFill>
                <a:latin typeface="+mn-lt"/>
                <a:ea typeface="+mn-ea"/>
                <a:cs typeface="+mn-cs"/>
              </a:rPr>
              <a:t>results</a:t>
            </a:r>
            <a:r>
              <a:rPr lang="ja-JP" altLang="ja-JP" dirty="0"/>
              <a:t>、</a:t>
            </a:r>
            <a:r>
              <a:rPr kumimoji="1" lang="ja-JP" altLang="ja-JP" sz="1200" kern="1200" dirty="0">
                <a:solidFill>
                  <a:schemeClr val="tx1"/>
                </a:solidFill>
                <a:latin typeface="+mn-lt"/>
                <a:ea typeface="+mn-ea"/>
                <a:cs typeface="+mn-cs"/>
              </a:rPr>
              <a:t>flags</a:t>
            </a:r>
            <a:r>
              <a:rPr lang="ja-JP" altLang="ja-JP" dirty="0"/>
              <a:t> のような共有 State があり、分析ノード、ツール実行ノード、判定ノードなどが順番に実行されます。各 Node は State を受け取り、自分が担当する処理を行い、State の一部を更新して返します。</a:t>
            </a:r>
          </a:p>
          <a:p>
            <a:r>
              <a:rPr lang="ja-JP" altLang="ja-JP" dirty="0"/>
              <a:t>条件分岐やループは Edge として明示されます。たとえば、「判定結果が OK なら END に進む」「NG ならツール実行ノードに戻る」といった制御をグラフとして表現します。</a:t>
            </a:r>
          </a:p>
          <a:p>
            <a:r>
              <a:rPr lang="ja-JP" altLang="ja-JP" dirty="0"/>
              <a:t>このため LangGraph は、</a:t>
            </a:r>
            <a:r>
              <a:rPr lang="ja-JP" altLang="ja-JP" b="1" dirty="0"/>
              <a:t>処理経路を明示的にレビューしたい場合</a:t>
            </a:r>
            <a:r>
              <a:rPr lang="ja-JP" altLang="ja-JP" dirty="0"/>
              <a:t>や、</a:t>
            </a:r>
            <a:r>
              <a:rPr lang="ja-JP" altLang="ja-JP" b="1" dirty="0"/>
              <a:t>複雑な分岐・再試行・状態更新をきちんと管理したい場合</a:t>
            </a:r>
            <a:r>
              <a:rPr lang="ja-JP" altLang="ja-JP" dirty="0"/>
              <a:t>に向いています。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04. OpenAI Agents SDK のメンタルモデル</a:t>
            </a:r>
          </a:p>
          <a:p>
            <a:r>
              <a:rPr lang="ja-JP" altLang="ja-JP" dirty="0"/>
              <a:t>OpenAI Agents SDK では、中心にあるのは Graph ではなく、Agent と Runner です。</a:t>
            </a:r>
          </a:p>
          <a:p>
            <a:r>
              <a:rPr lang="ja-JP" altLang="ja-JP" dirty="0"/>
              <a:t>開発者は Agent に対して、instructions、利用可能な tools、必要に応じて handoff 先や guardrails などを定義します。その Agent に対して </a:t>
            </a:r>
            <a:r>
              <a:rPr kumimoji="1" lang="ja-JP" altLang="ja-JP" sz="1200" kern="1200" dirty="0">
                <a:solidFill>
                  <a:schemeClr val="tx1"/>
                </a:solidFill>
                <a:latin typeface="+mn-lt"/>
                <a:ea typeface="+mn-ea"/>
                <a:cs typeface="+mn-cs"/>
              </a:rPr>
              <a:t>Runner.run()</a:t>
            </a:r>
            <a:r>
              <a:rPr lang="ja-JP" altLang="ja-JP" dirty="0"/>
              <a:t> を実行すると、Runner がモデル呼び出しを行い、必要に応じてツールを呼び、ツール結果を再び LLM に戻し、最終出力が出るまで処理を進めます。</a:t>
            </a:r>
          </a:p>
          <a:p>
            <a:r>
              <a:rPr lang="ja-JP" altLang="ja-JP" dirty="0"/>
              <a:t>ここで重要なのは、ツール呼び出し、Human-in-the-loop の承認待ち、Sandbox 内での実行、Tracing などが、グラフの node / edge としてではなく、</a:t>
            </a:r>
            <a:r>
              <a:rPr lang="ja-JP" altLang="ja-JP" b="1" dirty="0"/>
              <a:t>Agent 実行ループに挟み込まれる安全・観測・実行境界</a:t>
            </a:r>
            <a:r>
              <a:rPr lang="ja-JP" altLang="ja-JP" dirty="0"/>
              <a:t>として扱われる点です。</a:t>
            </a:r>
          </a:p>
          <a:p>
            <a:r>
              <a:rPr lang="ja-JP" altLang="ja-JP" dirty="0"/>
              <a:t>つまり Agents SDK は、「処理の全体形をグラフとして固定する」というより、</a:t>
            </a:r>
            <a:r>
              <a:rPr lang="ja-JP" altLang="ja-JP" b="1" dirty="0"/>
              <a:t>Agent が使える能力と、その能力を安全に実行する境界を設計する</a:t>
            </a:r>
            <a:r>
              <a:rPr lang="ja-JP" altLang="ja-JP" dirty="0"/>
              <a:t>ためのフレームワークとして理解すると分かりやすいです。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05. 概念対応表：1対1ではなく「近い役割」で見る</a:t>
            </a:r>
          </a:p>
          <a:p>
            <a:r>
              <a:rPr lang="ja-JP" altLang="ja-JP" dirty="0"/>
              <a:t>このページでは、LangGraph の用語を OpenAI Agents SDK に読み替えるときの対応関係を整理しています。ただし、完全に1対1で対応するわけではありません。</a:t>
            </a:r>
          </a:p>
          <a:p>
            <a:r>
              <a:rPr lang="ja-JP" altLang="ja-JP" dirty="0"/>
              <a:t>LangGraph の State に近いものは、Agents SDK では Run の入力・出力、session、外部DB、あるいは Sandbox 内のファイルなどです。LangGraph のような共有 State が標準で1つあるというより、用途に応じて状態の置き場所を選ぶ考え方になります。</a:t>
            </a:r>
          </a:p>
          <a:p>
            <a:r>
              <a:rPr lang="ja-JP" altLang="ja-JP" dirty="0"/>
              <a:t>Node に近いものは、Agent、function tool、あるいは Python 側の通常の処理関数です。Edge に近いものは、Handoff、Runner のツールループ、または Python コード側の分岐です。</a:t>
            </a:r>
          </a:p>
          <a:p>
            <a:r>
              <a:rPr lang="ja-JP" altLang="ja-JP" dirty="0"/>
              <a:t>Graph に相当するものは、Runner、複数の Agent、Tool、Python orchestration を組み合わせた全体構成です。</a:t>
            </a:r>
          </a:p>
          <a:p>
            <a:r>
              <a:rPr lang="ja-JP" altLang="ja-JP" dirty="0"/>
              <a:t>重要なのは、Agents SDK を LangGraph の代替グラフエンジンとして見るのではなく、</a:t>
            </a:r>
            <a:r>
              <a:rPr lang="ja-JP" altLang="ja-JP" b="1" dirty="0"/>
              <a:t>Agent 実行・ツール呼び出し・安全境界・観測性を扱う SDK</a:t>
            </a:r>
            <a:r>
              <a:rPr lang="ja-JP" altLang="ja-JP" dirty="0"/>
              <a:t>として見ることです。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06. State の扱い：共有 State か、実行の記録＋外部状態か</a:t>
            </a:r>
          </a:p>
          <a:p>
            <a:r>
              <a:rPr lang="ja-JP" altLang="ja-JP" dirty="0"/>
              <a:t>LangGraph と Agents SDK の違いで、実装時に一番つまずきやすいのが State の扱いです。</a:t>
            </a:r>
          </a:p>
          <a:p>
            <a:r>
              <a:rPr lang="ja-JP" altLang="ja-JP" dirty="0"/>
              <a:t>LangGraph では、共有 State が中心にあります。各 Node は State を受け取り、部分的な更新を返し、必要に応じて reducer が複数の更新を統合します。このため、状態の流れがグラフ内に明示されます。</a:t>
            </a:r>
          </a:p>
          <a:p>
            <a:r>
              <a:rPr lang="ja-JP" altLang="ja-JP" dirty="0"/>
              <a:t>一方で OpenAI Agents SDK では、状態を必ず1つの共有オブジェクトに閉じ込める必要はありません。会話履歴、ツール呼び出し結果、外部データベース、session、memory、Sandbox 内のファイルなど、複数の場所に状態を分けて持つことができます。</a:t>
            </a:r>
          </a:p>
          <a:p>
            <a:r>
              <a:rPr lang="ja-JP" altLang="ja-JP" dirty="0"/>
              <a:t>そのため、LangGraph から Agents SDK に移行するときは、既存の State をそのまま移すのではなく、まず「この状態は会話履歴なのか」「業務データなのか」「一時的な作業ファイルなのか」「検証対象なのか」を分解するのがポイントです。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07. HITL + Sandbox を入れると何が変わるか</a:t>
            </a:r>
          </a:p>
          <a:p>
            <a:r>
              <a:rPr lang="ja-JP" altLang="ja-JP" dirty="0"/>
              <a:t>このページは、今回のデモで特に重要な部分です。</a:t>
            </a:r>
          </a:p>
          <a:p>
            <a:r>
              <a:rPr lang="ja-JP" altLang="ja-JP" dirty="0"/>
              <a:t>Human-in-the-loop、つまり HITL は、AI が状態を変える操作を行う前に、人間の承認を挟む仕組みです。たとえば、フラッシュセールを停止する、お客様向け案内を公開する、設定を変更する、といった操作は、人間が承認してから実行されるようにできます。</a:t>
            </a:r>
          </a:p>
          <a:p>
            <a:r>
              <a:rPr lang="ja-JP" altLang="ja-JP" dirty="0"/>
              <a:t>Sandbox は、承認された操作を実行する場所を隔離するための仕組みです。ここで注意したいのは、LLM の推論そのものが Sandbox 内で動くという意味ではない点です。LLM は通常 API 側で推論し、ファイル操作やコマンド実行、成果物生成のような実作業が Sandbox 内で行われます。</a:t>
            </a:r>
          </a:p>
          <a:p>
            <a:r>
              <a:rPr lang="ja-JP" altLang="ja-JP" dirty="0"/>
              <a:t>したがって、HITL と Sandbox を組み合わせると、</a:t>
            </a:r>
            <a:r>
              <a:rPr lang="ja-JP" altLang="ja-JP" b="1" dirty="0"/>
              <a:t>AI が判断し、人間が承認し、承認された操作だけを隔離された環境で実行する</a:t>
            </a:r>
            <a:r>
              <a:rPr lang="ja-JP" altLang="ja-JP" dirty="0"/>
              <a:t>という構成になります。これは、安全な自律システムの説明として非常に分かりやすいです。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08. どちらを選ぶべきか</a:t>
            </a:r>
          </a:p>
          <a:p>
            <a:r>
              <a:rPr lang="ja-JP" altLang="ja-JP" dirty="0"/>
              <a:t>このページでは、LangGraph と OpenAI Agents SDK の使い分けを整理しています。</a:t>
            </a:r>
          </a:p>
          <a:p>
            <a:r>
              <a:rPr lang="ja-JP" altLang="ja-JP" dirty="0"/>
              <a:t>フローを厳密に固定したい場合、複雑な分岐や再試行をグラフとして明示したい場合、または「この処理は必ずこの順序で通る」という構造をレビューしたい場合は、LangGraph が向いています。</a:t>
            </a:r>
          </a:p>
          <a:p>
            <a:r>
              <a:rPr lang="ja-JP" altLang="ja-JP" dirty="0"/>
              <a:t>一方で、Agent がツールを選びながら実行する体験を重視したい場合、HITL、Guardrails、Handoff、Tracing、Sandbox といった OpenAI ネイティブな実行・安全・観測機能を素早く組み込みたい場合は、OpenAI Agents SDK が向いています。</a:t>
            </a:r>
          </a:p>
          <a:p>
            <a:r>
              <a:rPr lang="ja-JP" altLang="ja-JP" dirty="0"/>
              <a:t>また、どちらか一方に完全に寄せる必要はありません。既存の LangGraph を上位のオーケストレーターとして残し、その中の Node の1つとして OpenAI Agent を呼び出す、というハイブリッド構成も可能です。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dirty="0"/>
              <a:t>このページでは、同じようなタスクを LangGraph 風と Agents SDK 風で表現した場合の違いを見せています。</a:t>
            </a:r>
          </a:p>
          <a:p>
            <a:r>
              <a:rPr lang="ja-JP" altLang="ja-JP" dirty="0"/>
              <a:t>LangGraph 風の図では、State を中心に、分析、ツール実行、判定、終了といった Node があり、それらが Edge によって接続されています。どの順番で進むか、どこで分岐するか、どこに戻るかがグラフ上に明示されます。</a:t>
            </a:r>
          </a:p>
          <a:p>
            <a:r>
              <a:rPr lang="ja-JP" altLang="ja-JP" dirty="0"/>
              <a:t>一方で Agents SDK 風の図では、Input が Runner に渡され、Agent が LLM と tools を使いながら処理を進め、必要に応じて Human-in-the-loop や Sandbox を通り、最終出力に到達します。</a:t>
            </a:r>
          </a:p>
          <a:p>
            <a:r>
              <a:rPr lang="ja-JP" altLang="ja-JP" dirty="0"/>
              <a:t>この違いは、見た目の違いだけではなく、設計思想の違いです。LangGraph は「経路を設計する」ことに重点があり、Agents SDK は「Agent の実行環境と安全なツール利用を設計する」ことに重点があります。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10. 今回のデモにおすすめの構成</a:t>
            </a:r>
          </a:p>
          <a:p>
            <a:r>
              <a:rPr lang="ja-JP" altLang="ja-JP" dirty="0"/>
              <a:t>今回の日本語 EC デモでは、Agents SDK の特徴を見せるために、HITL と Sandbox を組み合わせた構成が分かりやすいです。</a:t>
            </a:r>
          </a:p>
          <a:p>
            <a:r>
              <a:rPr lang="ja-JP" altLang="ja-JP" dirty="0"/>
              <a:t>構成としては、人間レビューアが CLI または UI で承認・拒否を行い、Agent Runner が AI の判断とツール呼び出しを管理します。状態変更が必要な操作では HITL によって一時停止し、人間が承認した場合だけ Sandbox Workspace 内のファイルを書き換えます。</a:t>
            </a:r>
          </a:p>
          <a:p>
            <a:r>
              <a:rPr lang="ja-JP" altLang="ja-JP" dirty="0"/>
              <a:t>たとえば </a:t>
            </a:r>
            <a:r>
              <a:rPr kumimoji="1" lang="ja-JP" altLang="ja-JP" sz="1200" kern="1200" dirty="0">
                <a:solidFill>
                  <a:schemeClr val="tx1"/>
                </a:solidFill>
                <a:latin typeface="+mn-lt"/>
                <a:ea typeface="+mn-ea"/>
                <a:cs typeface="+mn-cs"/>
              </a:rPr>
              <a:t>shop_state.json</a:t>
            </a:r>
            <a:r>
              <a:rPr lang="ja-JP" altLang="ja-JP" dirty="0"/>
              <a:t> に店舗状態を置き、</a:t>
            </a:r>
            <a:r>
              <a:rPr kumimoji="1" lang="ja-JP" altLang="ja-JP" sz="1200" kern="1200" dirty="0">
                <a:solidFill>
                  <a:schemeClr val="tx1"/>
                </a:solidFill>
                <a:latin typeface="+mn-lt"/>
                <a:ea typeface="+mn-ea"/>
                <a:cs typeface="+mn-cs"/>
              </a:rPr>
              <a:t>notice.md</a:t>
            </a:r>
            <a:r>
              <a:rPr lang="ja-JP" altLang="ja-JP" dirty="0"/>
              <a:t> にお客様向け案内文を置き、</a:t>
            </a:r>
            <a:r>
              <a:rPr kumimoji="1" lang="ja-JP" altLang="ja-JP" sz="1200" kern="1200" dirty="0">
                <a:solidFill>
                  <a:schemeClr val="tx1"/>
                </a:solidFill>
                <a:latin typeface="+mn-lt"/>
                <a:ea typeface="+mn-ea"/>
                <a:cs typeface="+mn-cs"/>
              </a:rPr>
              <a:t>verification.py</a:t>
            </a:r>
            <a:r>
              <a:rPr lang="ja-JP" altLang="ja-JP" dirty="0"/>
              <a:t> で成功条件を検証する構成にします。これにより、AI は本番の EC システムを直接操作しているのではなく、Sandbox 内のファイルだけを変更していることが明確になります。</a:t>
            </a:r>
          </a:p>
          <a:p>
            <a:r>
              <a:rPr lang="ja-JP" altLang="ja-JP" dirty="0"/>
              <a:t>このデモで伝えるべきメッセージは、</a:t>
            </a:r>
            <a:r>
              <a:rPr lang="ja-JP" altLang="ja-JP" b="1" dirty="0"/>
              <a:t>AI が判断し、人間が承認し、Sandbox 内だけで実行し、本番には直接影響しない</a:t>
            </a:r>
            <a:r>
              <a:rPr lang="ja-JP" altLang="ja-JP" dirty="0"/>
              <a:t>ということです。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b="1" dirty="0"/>
              <a:t>11. 参考資料</a:t>
            </a:r>
          </a:p>
          <a:p>
            <a:r>
              <a:rPr lang="ja-JP" altLang="ja-JP" dirty="0"/>
              <a:t>このページでは、今回の比較を理解するために参照したドキュメントを整理しています。</a:t>
            </a:r>
          </a:p>
          <a:p>
            <a:r>
              <a:rPr lang="ja-JP" altLang="ja-JP" dirty="0"/>
              <a:t>OpenAI Agents SDK 側では、Agent、Tool、Handoff、Guardrails の基本概念に加えて、Human-in-the-loop、Sandbox Agents、Tracing が重要です。これらは、Agent の実行、安全な承認フロー、隔離された実行環境、実行内容の観測性を理解するために必要です。</a:t>
            </a:r>
          </a:p>
          <a:p>
            <a:r>
              <a:rPr lang="ja-JP" altLang="ja-JP" dirty="0"/>
              <a:t>LangGraph 側では、Graph API overview と StateGraph の理解が重要です。特に、nodes、edges、state によるワークフロー構成と、state key ごとの reducer の考え方が LangGraph の中心になります。</a:t>
            </a:r>
          </a:p>
          <a:p>
            <a:r>
              <a:rPr lang="ja-JP" altLang="ja-JP" dirty="0"/>
              <a:t>最後に注意点として、OpenAI Agents SDK の Sandbox Agents など一部機能はベータ扱いであり、API 名や import path が変わる可能性があります。そのため、実装時には必ず公式ドキュメントで最新の仕様を確認する必要があります。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66928" y="749808"/>
            <a:ext cx="6766560" cy="1325880"/>
          </a:xfrm>
          <a:prstGeom prst="rect">
            <a:avLst/>
          </a:prstGeom>
          <a:noFill/>
          <a:ln/>
        </p:spPr>
        <p:txBody>
          <a:bodyPr wrap="square" lIns="254" tIns="254" rIns="254" bIns="254" rtlCol="0" anchor="ctr">
            <a:normAutofit/>
          </a:bodyPr>
          <a:lstStyle/>
          <a:p>
            <a:pPr marL="0" indent="0">
              <a:buNone/>
            </a:pPr>
            <a:r>
              <a:rPr lang="en-US" sz="3800" b="1" dirty="0">
                <a:solidFill>
                  <a:srgbClr val="0B1020"/>
                </a:solidFill>
                <a:latin typeface="Noto Sans CJK JP" pitchFamily="34" charset="0"/>
                <a:ea typeface="Noto Sans CJK JP" pitchFamily="34" charset="-122"/>
                <a:cs typeface="Noto Sans CJK JP" pitchFamily="34" charset="-120"/>
              </a:rPr>
              <a:t>LangGraph と</a:t>
            </a:r>
            <a:endParaRPr lang="en-US" sz="3800" dirty="0"/>
          </a:p>
          <a:p>
            <a:pPr marL="0" indent="0">
              <a:buNone/>
            </a:pPr>
            <a:r>
              <a:rPr lang="en-US" sz="3800" b="1" dirty="0">
                <a:solidFill>
                  <a:srgbClr val="0B1020"/>
                </a:solidFill>
                <a:latin typeface="Noto Sans CJK JP" pitchFamily="34" charset="0"/>
                <a:ea typeface="Noto Sans CJK JP" pitchFamily="34" charset="-122"/>
                <a:cs typeface="Noto Sans CJK JP" pitchFamily="34" charset="-120"/>
              </a:rPr>
              <a:t>OpenAI Agents SDK</a:t>
            </a:r>
            <a:endParaRPr lang="en-US" sz="3800" dirty="0"/>
          </a:p>
        </p:txBody>
      </p:sp>
      <p:sp>
        <p:nvSpPr>
          <p:cNvPr id="3" name="Text 1"/>
          <p:cNvSpPr/>
          <p:nvPr/>
        </p:nvSpPr>
        <p:spPr>
          <a:xfrm>
            <a:off x="603504" y="2267712"/>
            <a:ext cx="7955280" cy="411480"/>
          </a:xfrm>
          <a:prstGeom prst="rect">
            <a:avLst/>
          </a:prstGeom>
          <a:noFill/>
          <a:ln/>
        </p:spPr>
        <p:txBody>
          <a:bodyPr wrap="square" lIns="254" tIns="254" rIns="254" bIns="254" rtlCol="0" anchor="ctr">
            <a:normAutofit/>
          </a:bodyPr>
          <a:lstStyle/>
          <a:p>
            <a:pPr marL="0" indent="0">
              <a:buNone/>
            </a:pPr>
            <a:r>
              <a:rPr lang="en-US" sz="1850" dirty="0">
                <a:solidFill>
                  <a:srgbClr val="5F6C7B"/>
                </a:solidFill>
                <a:latin typeface="Noto Sans CJK JP" pitchFamily="34" charset="0"/>
                <a:ea typeface="Noto Sans CJK JP" pitchFamily="34" charset="-122"/>
                <a:cs typeface="Noto Sans CJK JP" pitchFamily="34" charset="-120"/>
              </a:rPr>
              <a:t>state / node / edge / graph から、Agent / Runner / Tool / Handoff へ</a:t>
            </a:r>
            <a:endParaRPr lang="en-US" sz="1850" dirty="0"/>
          </a:p>
        </p:txBody>
      </p:sp>
      <p:sp>
        <p:nvSpPr>
          <p:cNvPr id="4" name="Text 2"/>
          <p:cNvSpPr/>
          <p:nvPr/>
        </p:nvSpPr>
        <p:spPr>
          <a:xfrm>
            <a:off x="777240" y="3685032"/>
            <a:ext cx="3291840" cy="123444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900" b="1" dirty="0">
                <a:solidFill>
                  <a:srgbClr val="7C3AED"/>
                </a:solidFill>
                <a:latin typeface="Noto Sans CJK JP" pitchFamily="34" charset="0"/>
                <a:ea typeface="Noto Sans CJK JP" pitchFamily="34" charset="-122"/>
                <a:cs typeface="Noto Sans CJK JP" pitchFamily="34" charset="-120"/>
              </a:rPr>
              <a:t>LangGraph</a:t>
            </a:r>
            <a:endParaRPr lang="en-US" sz="1900" dirty="0"/>
          </a:p>
          <a:p>
            <a:pPr marL="0" indent="0" algn="ctr">
              <a:buNone/>
            </a:pPr>
            <a:endParaRPr lang="en-US" sz="1900" dirty="0"/>
          </a:p>
          <a:p>
            <a:pPr marL="0" indent="0" algn="ctr">
              <a:buNone/>
            </a:pPr>
            <a:r>
              <a:rPr lang="en-US" sz="1900" b="1" dirty="0">
                <a:solidFill>
                  <a:srgbClr val="7C3AED"/>
                </a:solidFill>
                <a:latin typeface="Noto Sans CJK JP" pitchFamily="34" charset="0"/>
                <a:ea typeface="Noto Sans CJK JP" pitchFamily="34" charset="-122"/>
                <a:cs typeface="Noto Sans CJK JP" pitchFamily="34" charset="-120"/>
              </a:rPr>
              <a:t>フローを先に設計する</a:t>
            </a:r>
            <a:endParaRPr lang="en-US" sz="1900" dirty="0"/>
          </a:p>
          <a:p>
            <a:pPr marL="0" indent="0" algn="ctr">
              <a:buNone/>
            </a:pPr>
            <a:r>
              <a:rPr lang="en-US" sz="1900" b="1" dirty="0">
                <a:solidFill>
                  <a:srgbClr val="7C3AED"/>
                </a:solidFill>
                <a:latin typeface="Noto Sans CJK JP" pitchFamily="34" charset="0"/>
                <a:ea typeface="Noto Sans CJK JP" pitchFamily="34" charset="-122"/>
                <a:cs typeface="Noto Sans CJK JP" pitchFamily="34" charset="-120"/>
              </a:rPr>
              <a:t>「グラフ中心」</a:t>
            </a:r>
            <a:endParaRPr lang="en-US" sz="1900" dirty="0"/>
          </a:p>
        </p:txBody>
      </p:sp>
      <p:sp>
        <p:nvSpPr>
          <p:cNvPr id="5" name="Text 3"/>
          <p:cNvSpPr/>
          <p:nvPr/>
        </p:nvSpPr>
        <p:spPr>
          <a:xfrm>
            <a:off x="4663440" y="3685032"/>
            <a:ext cx="3474720" cy="123444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800" b="1" dirty="0">
                <a:solidFill>
                  <a:srgbClr val="1B6EF3"/>
                </a:solidFill>
                <a:latin typeface="Noto Sans CJK JP" pitchFamily="34" charset="0"/>
                <a:ea typeface="Noto Sans CJK JP" pitchFamily="34" charset="-122"/>
                <a:cs typeface="Noto Sans CJK JP" pitchFamily="34" charset="-120"/>
              </a:rPr>
              <a:t>OpenAI Agents SDK</a:t>
            </a:r>
            <a:endParaRPr lang="en-US" sz="1800" dirty="0"/>
          </a:p>
          <a:p>
            <a:pPr marL="0" indent="0" algn="ctr">
              <a:buNone/>
            </a:pPr>
            <a:endParaRPr lang="en-US" sz="1800" dirty="0"/>
          </a:p>
          <a:p>
            <a:pPr marL="0" indent="0" algn="ctr">
              <a:buNone/>
            </a:pPr>
            <a:r>
              <a:rPr lang="en-US" sz="1800" b="1" dirty="0">
                <a:solidFill>
                  <a:srgbClr val="1B6EF3"/>
                </a:solidFill>
                <a:latin typeface="Noto Sans CJK JP" pitchFamily="34" charset="0"/>
                <a:ea typeface="Noto Sans CJK JP" pitchFamily="34" charset="-122"/>
                <a:cs typeface="Noto Sans CJK JP" pitchFamily="34" charset="-120"/>
              </a:rPr>
              <a:t>エージェント実行を回す</a:t>
            </a:r>
            <a:endParaRPr lang="en-US" sz="1800" dirty="0"/>
          </a:p>
          <a:p>
            <a:pPr marL="0" indent="0" algn="ctr">
              <a:buNone/>
            </a:pPr>
            <a:r>
              <a:rPr lang="en-US" sz="1800" b="1" dirty="0">
                <a:solidFill>
                  <a:srgbClr val="1B6EF3"/>
                </a:solidFill>
                <a:latin typeface="Noto Sans CJK JP" pitchFamily="34" charset="0"/>
                <a:ea typeface="Noto Sans CJK JP" pitchFamily="34" charset="-122"/>
                <a:cs typeface="Noto Sans CJK JP" pitchFamily="34" charset="-120"/>
              </a:rPr>
              <a:t>「ランナー中心」</a:t>
            </a:r>
            <a:endParaRPr lang="en-US" sz="1800" dirty="0"/>
          </a:p>
        </p:txBody>
      </p:sp>
      <p:sp>
        <p:nvSpPr>
          <p:cNvPr id="6" name="Shape 4"/>
          <p:cNvSpPr/>
          <p:nvPr/>
        </p:nvSpPr>
        <p:spPr>
          <a:xfrm>
            <a:off x="4160520" y="4306824"/>
            <a:ext cx="365760" cy="0"/>
          </a:xfrm>
          <a:prstGeom prst="line">
            <a:avLst/>
          </a:prstGeom>
          <a:noFill/>
          <a:ln w="25400">
            <a:solidFill>
              <a:srgbClr val="C8D2E0"/>
            </a:solidFill>
            <a:prstDash val="solid"/>
            <a:headEnd type="none"/>
            <a:tailEnd type="triangle"/>
          </a:ln>
        </p:spPr>
        <p:txBody>
          <a:bodyPr/>
          <a:lstStyle/>
          <a:p>
            <a:endParaRPr lang="ja-JP" altLang="en-US"/>
          </a:p>
        </p:txBody>
      </p:sp>
      <p:sp>
        <p:nvSpPr>
          <p:cNvPr id="7" name="Text 5"/>
          <p:cNvSpPr/>
          <p:nvPr/>
        </p:nvSpPr>
        <p:spPr>
          <a:xfrm>
            <a:off x="8732520" y="3685032"/>
            <a:ext cx="2560320" cy="123444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600" b="1" dirty="0">
                <a:solidFill>
                  <a:srgbClr val="064E3B"/>
                </a:solidFill>
                <a:latin typeface="Noto Sans CJK JP" pitchFamily="34" charset="0"/>
                <a:ea typeface="Noto Sans CJK JP" pitchFamily="34" charset="-122"/>
                <a:cs typeface="Noto Sans CJK JP" pitchFamily="34" charset="-120"/>
              </a:rPr>
              <a:t>HITL / Sandbox / Tracing</a:t>
            </a:r>
            <a:endParaRPr lang="en-US" sz="1600" dirty="0"/>
          </a:p>
          <a:p>
            <a:pPr marL="0" indent="0" algn="ctr">
              <a:buNone/>
            </a:pPr>
            <a:r>
              <a:rPr lang="en-US" sz="1600" b="1" dirty="0">
                <a:solidFill>
                  <a:srgbClr val="064E3B"/>
                </a:solidFill>
                <a:latin typeface="Noto Sans CJK JP" pitchFamily="34" charset="0"/>
                <a:ea typeface="Noto Sans CJK JP" pitchFamily="34" charset="-122"/>
                <a:cs typeface="Noto Sans CJK JP" pitchFamily="34" charset="-120"/>
              </a:rPr>
              <a:t>を足しやすい実演構成へ</a:t>
            </a:r>
            <a:endParaRPr lang="en-US" sz="1600" dirty="0"/>
          </a:p>
        </p:txBody>
      </p:sp>
      <p:sp>
        <p:nvSpPr>
          <p:cNvPr id="8" name="Text 6"/>
          <p:cNvSpPr/>
          <p:nvPr/>
        </p:nvSpPr>
        <p:spPr>
          <a:xfrm>
            <a:off x="621792" y="5989320"/>
            <a:ext cx="3840480" cy="347472"/>
          </a:xfrm>
          <a:prstGeom prst="rect">
            <a:avLst/>
          </a:prstGeom>
          <a:noFill/>
          <a:ln/>
        </p:spPr>
        <p:txBody>
          <a:bodyPr wrap="square" lIns="127" tIns="127" rIns="127" bIns="127" rtlCol="0" anchor="ctr"/>
          <a:lstStyle/>
          <a:p>
            <a:pPr marL="0" indent="0">
              <a:buNone/>
            </a:pPr>
            <a:r>
              <a:rPr lang="en-US" sz="1400" b="1" dirty="0">
                <a:solidFill>
                  <a:srgbClr val="5F6C7B"/>
                </a:solidFill>
                <a:latin typeface="Noto Sans CJK JP" pitchFamily="34" charset="0"/>
                <a:ea typeface="Noto Sans CJK JP" pitchFamily="34" charset="-122"/>
                <a:cs typeface="Noto Sans CJK JP" pitchFamily="34" charset="-120"/>
              </a:rPr>
              <a:t>比較メモ＋可視化資料</a:t>
            </a:r>
            <a:endParaRPr lang="en-US" sz="1400" dirty="0"/>
          </a:p>
        </p:txBody>
      </p:sp>
      <p:sp>
        <p:nvSpPr>
          <p:cNvPr id="9" name="Text 7"/>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概念比較</a:t>
            </a:r>
            <a:endParaRPr lang="en-US" sz="850" dirty="0"/>
          </a:p>
        </p:txBody>
      </p:sp>
      <p:sp>
        <p:nvSpPr>
          <p:cNvPr id="10" name="Text 8"/>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まず結論：制御の置き場所が違う</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LangGraph はフロー構造、Agents SDK はエージェント実行ループを中心に考える。</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02</a:t>
            </a:r>
            <a:endParaRPr lang="en-US" sz="900" dirty="0"/>
          </a:p>
        </p:txBody>
      </p:sp>
      <p:sp>
        <p:nvSpPr>
          <p:cNvPr id="6" name="Text 4"/>
          <p:cNvSpPr/>
          <p:nvPr/>
        </p:nvSpPr>
        <p:spPr>
          <a:xfrm>
            <a:off x="464874" y="1600200"/>
            <a:ext cx="1234440" cy="292608"/>
          </a:xfrm>
          <a:prstGeom prst="rect">
            <a:avLst/>
          </a:prstGeom>
          <a:solidFill>
            <a:srgbClr val="F1EAFE"/>
          </a:solidFill>
          <a:ln>
            <a:solidFill>
              <a:srgbClr val="F1EAFE"/>
            </a:solidFill>
          </a:ln>
        </p:spPr>
        <p:txBody>
          <a:bodyPr wrap="square" lIns="381" tIns="381" rIns="381" bIns="381" rtlCol="0" anchor="ctr">
            <a:normAutofit/>
          </a:bodyPr>
          <a:lstStyle/>
          <a:p>
            <a:pPr marL="0" indent="0" algn="ctr">
              <a:buNone/>
            </a:pPr>
            <a:r>
              <a:rPr lang="en-US" sz="1050" b="1" dirty="0">
                <a:solidFill>
                  <a:srgbClr val="7C3AED"/>
                </a:solidFill>
                <a:latin typeface="Noto Sans CJK JP" pitchFamily="34" charset="0"/>
                <a:ea typeface="Noto Sans CJK JP" pitchFamily="34" charset="-122"/>
                <a:cs typeface="Noto Sans CJK JP" pitchFamily="34" charset="-120"/>
              </a:rPr>
              <a:t>LangGraph</a:t>
            </a:r>
            <a:endParaRPr lang="en-US" sz="1050" dirty="0"/>
          </a:p>
        </p:txBody>
      </p:sp>
      <p:sp>
        <p:nvSpPr>
          <p:cNvPr id="7" name="Text 5"/>
          <p:cNvSpPr/>
          <p:nvPr/>
        </p:nvSpPr>
        <p:spPr>
          <a:xfrm>
            <a:off x="6537960" y="1600200"/>
            <a:ext cx="1874520" cy="292608"/>
          </a:xfrm>
          <a:prstGeom prst="rect">
            <a:avLst/>
          </a:prstGeom>
          <a:solidFill>
            <a:srgbClr val="EAF2FF"/>
          </a:solidFill>
          <a:ln>
            <a:solidFill>
              <a:srgbClr val="EAF2FF"/>
            </a:solidFill>
          </a:ln>
        </p:spPr>
        <p:txBody>
          <a:bodyPr wrap="square" lIns="381" tIns="381" rIns="381" bIns="381" rtlCol="0" anchor="ctr">
            <a:normAutofit/>
          </a:bodyPr>
          <a:lstStyle/>
          <a:p>
            <a:pPr marL="0" indent="0" algn="ctr">
              <a:buNone/>
            </a:pPr>
            <a:r>
              <a:rPr lang="en-US" sz="1050" b="1" dirty="0">
                <a:solidFill>
                  <a:srgbClr val="1B6EF3"/>
                </a:solidFill>
                <a:latin typeface="Noto Sans CJK JP" pitchFamily="34" charset="0"/>
                <a:ea typeface="Noto Sans CJK JP" pitchFamily="34" charset="-122"/>
                <a:cs typeface="Noto Sans CJK JP" pitchFamily="34" charset="-120"/>
              </a:rPr>
              <a:t>OpenAI Agents SDK</a:t>
            </a:r>
            <a:endParaRPr lang="en-US" sz="1050" dirty="0"/>
          </a:p>
        </p:txBody>
      </p:sp>
      <p:sp>
        <p:nvSpPr>
          <p:cNvPr id="8" name="Shape 6"/>
          <p:cNvSpPr/>
          <p:nvPr/>
        </p:nvSpPr>
        <p:spPr>
          <a:xfrm>
            <a:off x="848922" y="2926080"/>
            <a:ext cx="1097280" cy="0"/>
          </a:xfrm>
          <a:prstGeom prst="line">
            <a:avLst/>
          </a:prstGeom>
          <a:noFill/>
          <a:ln w="25400">
            <a:solidFill>
              <a:srgbClr val="7C3AED"/>
            </a:solidFill>
            <a:prstDash val="solid"/>
            <a:headEnd type="none"/>
            <a:tailEnd type="triangle"/>
          </a:ln>
        </p:spPr>
        <p:txBody>
          <a:bodyPr/>
          <a:lstStyle/>
          <a:p>
            <a:endParaRPr lang="ja-JP" altLang="en-US"/>
          </a:p>
        </p:txBody>
      </p:sp>
      <p:sp>
        <p:nvSpPr>
          <p:cNvPr id="9" name="Shape 7"/>
          <p:cNvSpPr/>
          <p:nvPr/>
        </p:nvSpPr>
        <p:spPr>
          <a:xfrm>
            <a:off x="2769162" y="2926080"/>
            <a:ext cx="1097280" cy="0"/>
          </a:xfrm>
          <a:prstGeom prst="line">
            <a:avLst/>
          </a:prstGeom>
          <a:noFill/>
          <a:ln w="25400">
            <a:solidFill>
              <a:srgbClr val="7C3AED"/>
            </a:solidFill>
            <a:prstDash val="solid"/>
            <a:headEnd type="none"/>
            <a:tailEnd type="triangle"/>
          </a:ln>
        </p:spPr>
        <p:txBody>
          <a:bodyPr/>
          <a:lstStyle/>
          <a:p>
            <a:endParaRPr lang="ja-JP" altLang="en-US"/>
          </a:p>
        </p:txBody>
      </p:sp>
      <p:sp>
        <p:nvSpPr>
          <p:cNvPr id="10" name="Shape 8"/>
          <p:cNvSpPr/>
          <p:nvPr/>
        </p:nvSpPr>
        <p:spPr>
          <a:xfrm>
            <a:off x="4689402" y="2926080"/>
            <a:ext cx="594360" cy="0"/>
          </a:xfrm>
          <a:prstGeom prst="line">
            <a:avLst/>
          </a:prstGeom>
          <a:noFill/>
          <a:ln w="25400">
            <a:solidFill>
              <a:srgbClr val="7C3AED"/>
            </a:solidFill>
            <a:prstDash val="solid"/>
            <a:headEnd type="none"/>
            <a:tailEnd type="triangle"/>
          </a:ln>
        </p:spPr>
        <p:txBody>
          <a:bodyPr/>
          <a:lstStyle/>
          <a:p>
            <a:endParaRPr lang="ja-JP" altLang="en-US"/>
          </a:p>
        </p:txBody>
      </p:sp>
      <p:sp>
        <p:nvSpPr>
          <p:cNvPr id="11" name="Text 9"/>
          <p:cNvSpPr/>
          <p:nvPr/>
        </p:nvSpPr>
        <p:spPr>
          <a:xfrm>
            <a:off x="410010" y="2487168"/>
            <a:ext cx="1005840" cy="868680"/>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State</a:t>
            </a:r>
            <a:endParaRPr lang="en-US" sz="1500" dirty="0"/>
          </a:p>
        </p:txBody>
      </p:sp>
      <p:sp>
        <p:nvSpPr>
          <p:cNvPr id="12" name="Text 10"/>
          <p:cNvSpPr/>
          <p:nvPr/>
        </p:nvSpPr>
        <p:spPr>
          <a:xfrm>
            <a:off x="1900482" y="2487168"/>
            <a:ext cx="1005840" cy="8686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Node A</a:t>
            </a:r>
            <a:endParaRPr lang="en-US" sz="1500" dirty="0"/>
          </a:p>
        </p:txBody>
      </p:sp>
      <p:sp>
        <p:nvSpPr>
          <p:cNvPr id="13" name="Text 11"/>
          <p:cNvSpPr/>
          <p:nvPr/>
        </p:nvSpPr>
        <p:spPr>
          <a:xfrm>
            <a:off x="3820722" y="2487168"/>
            <a:ext cx="1005840" cy="8686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Node B</a:t>
            </a:r>
            <a:endParaRPr lang="en-US" sz="1500" dirty="0"/>
          </a:p>
        </p:txBody>
      </p:sp>
      <p:sp>
        <p:nvSpPr>
          <p:cNvPr id="14" name="Text 12"/>
          <p:cNvSpPr/>
          <p:nvPr/>
        </p:nvSpPr>
        <p:spPr>
          <a:xfrm>
            <a:off x="5292906" y="2487168"/>
            <a:ext cx="713232" cy="868680"/>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END</a:t>
            </a:r>
            <a:endParaRPr lang="en-US" sz="1500" dirty="0"/>
          </a:p>
        </p:txBody>
      </p:sp>
      <p:sp>
        <p:nvSpPr>
          <p:cNvPr id="15" name="Text 13"/>
          <p:cNvSpPr/>
          <p:nvPr/>
        </p:nvSpPr>
        <p:spPr>
          <a:xfrm>
            <a:off x="501450" y="3803904"/>
            <a:ext cx="5120640" cy="594360"/>
          </a:xfrm>
          <a:prstGeom prst="rect">
            <a:avLst/>
          </a:prstGeom>
          <a:noFill/>
          <a:ln/>
        </p:spPr>
        <p:txBody>
          <a:bodyPr wrap="square" lIns="508" tIns="508" rIns="508" bIns="508" rtlCol="0" anchor="t">
            <a:normAutofit/>
          </a:bodyPr>
          <a:lstStyle/>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どのノードを、どの順序で、どの状態を更新しながら進むかをグラフで定義。</a:t>
            </a:r>
            <a:endParaRPr lang="en-US" sz="1620" dirty="0"/>
          </a:p>
        </p:txBody>
      </p:sp>
      <p:sp>
        <p:nvSpPr>
          <p:cNvPr id="16" name="Shape 14"/>
          <p:cNvSpPr/>
          <p:nvPr/>
        </p:nvSpPr>
        <p:spPr>
          <a:xfrm>
            <a:off x="7370064" y="2926080"/>
            <a:ext cx="804672" cy="0"/>
          </a:xfrm>
          <a:prstGeom prst="line">
            <a:avLst/>
          </a:prstGeom>
          <a:noFill/>
          <a:ln w="25400">
            <a:solidFill>
              <a:srgbClr val="1B6EF3"/>
            </a:solidFill>
            <a:prstDash val="solid"/>
            <a:headEnd type="none"/>
            <a:tailEnd type="triangle"/>
          </a:ln>
        </p:spPr>
        <p:txBody>
          <a:bodyPr/>
          <a:lstStyle/>
          <a:p>
            <a:endParaRPr lang="ja-JP" altLang="en-US"/>
          </a:p>
        </p:txBody>
      </p:sp>
      <p:sp>
        <p:nvSpPr>
          <p:cNvPr id="17" name="Shape 15"/>
          <p:cNvSpPr/>
          <p:nvPr/>
        </p:nvSpPr>
        <p:spPr>
          <a:xfrm>
            <a:off x="9034272" y="2926080"/>
            <a:ext cx="777240" cy="0"/>
          </a:xfrm>
          <a:prstGeom prst="line">
            <a:avLst/>
          </a:prstGeom>
          <a:noFill/>
          <a:ln w="25400">
            <a:solidFill>
              <a:srgbClr val="1B6EF3"/>
            </a:solidFill>
            <a:prstDash val="solid"/>
            <a:headEnd type="none"/>
            <a:tailEnd type="triangle"/>
          </a:ln>
        </p:spPr>
        <p:txBody>
          <a:bodyPr/>
          <a:lstStyle/>
          <a:p>
            <a:endParaRPr lang="ja-JP" altLang="en-US"/>
          </a:p>
        </p:txBody>
      </p:sp>
      <p:sp>
        <p:nvSpPr>
          <p:cNvPr id="18" name="Shape 16"/>
          <p:cNvSpPr/>
          <p:nvPr/>
        </p:nvSpPr>
        <p:spPr>
          <a:xfrm>
            <a:off x="10625328" y="2926080"/>
            <a:ext cx="438912" cy="0"/>
          </a:xfrm>
          <a:prstGeom prst="line">
            <a:avLst/>
          </a:prstGeom>
          <a:noFill/>
          <a:ln w="25400">
            <a:solidFill>
              <a:srgbClr val="1B6EF3"/>
            </a:solidFill>
            <a:prstDash val="solid"/>
            <a:headEnd type="none"/>
            <a:tailEnd type="triangle"/>
          </a:ln>
        </p:spPr>
        <p:txBody>
          <a:bodyPr/>
          <a:lstStyle/>
          <a:p>
            <a:endParaRPr lang="ja-JP" altLang="en-US"/>
          </a:p>
        </p:txBody>
      </p:sp>
      <p:sp>
        <p:nvSpPr>
          <p:cNvPr id="19" name="Text 17"/>
          <p:cNvSpPr/>
          <p:nvPr/>
        </p:nvSpPr>
        <p:spPr>
          <a:xfrm>
            <a:off x="6492240" y="2487168"/>
            <a:ext cx="822960" cy="86868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Input</a:t>
            </a:r>
            <a:endParaRPr lang="en-US" sz="1500" dirty="0"/>
          </a:p>
        </p:txBody>
      </p:sp>
      <p:sp>
        <p:nvSpPr>
          <p:cNvPr id="20" name="Text 18"/>
          <p:cNvSpPr/>
          <p:nvPr/>
        </p:nvSpPr>
        <p:spPr>
          <a:xfrm>
            <a:off x="8119872" y="2487168"/>
            <a:ext cx="1005840" cy="86868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Agent</a:t>
            </a:r>
            <a:endParaRPr lang="en-US" sz="1500" dirty="0"/>
          </a:p>
        </p:txBody>
      </p:sp>
      <p:sp>
        <p:nvSpPr>
          <p:cNvPr id="21" name="Text 19"/>
          <p:cNvSpPr/>
          <p:nvPr/>
        </p:nvSpPr>
        <p:spPr>
          <a:xfrm>
            <a:off x="9756648" y="2487168"/>
            <a:ext cx="960120" cy="86868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300" b="1" dirty="0">
                <a:solidFill>
                  <a:srgbClr val="064E3B"/>
                </a:solidFill>
                <a:latin typeface="Noto Sans CJK JP" pitchFamily="34" charset="0"/>
                <a:ea typeface="Noto Sans CJK JP" pitchFamily="34" charset="-122"/>
                <a:cs typeface="Noto Sans CJK JP" pitchFamily="34" charset="-120"/>
              </a:rPr>
              <a:t>Tool /</a:t>
            </a:r>
            <a:endParaRPr lang="en-US" sz="1300" dirty="0"/>
          </a:p>
          <a:p>
            <a:pPr marL="0" indent="0" algn="ctr">
              <a:buNone/>
            </a:pPr>
            <a:r>
              <a:rPr lang="en-US" sz="1300" b="1" dirty="0">
                <a:solidFill>
                  <a:srgbClr val="064E3B"/>
                </a:solidFill>
                <a:latin typeface="Noto Sans CJK JP" pitchFamily="34" charset="0"/>
                <a:ea typeface="Noto Sans CJK JP" pitchFamily="34" charset="-122"/>
                <a:cs typeface="Noto Sans CJK JP" pitchFamily="34" charset="-120"/>
              </a:rPr>
              <a:t>Handoff</a:t>
            </a:r>
            <a:endParaRPr lang="en-US" sz="1300" dirty="0"/>
          </a:p>
        </p:txBody>
      </p:sp>
      <p:sp>
        <p:nvSpPr>
          <p:cNvPr id="22" name="Text 20"/>
          <p:cNvSpPr/>
          <p:nvPr/>
        </p:nvSpPr>
        <p:spPr>
          <a:xfrm>
            <a:off x="11064240" y="2487168"/>
            <a:ext cx="777240" cy="86868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Final</a:t>
            </a:r>
            <a:endParaRPr lang="en-US" sz="1500" dirty="0"/>
          </a:p>
        </p:txBody>
      </p:sp>
      <p:sp>
        <p:nvSpPr>
          <p:cNvPr id="23" name="Text 21"/>
          <p:cNvSpPr/>
          <p:nvPr/>
        </p:nvSpPr>
        <p:spPr>
          <a:xfrm>
            <a:off x="6510528" y="3803904"/>
            <a:ext cx="5074920" cy="594360"/>
          </a:xfrm>
          <a:prstGeom prst="rect">
            <a:avLst/>
          </a:prstGeom>
          <a:noFill/>
          <a:ln/>
        </p:spPr>
        <p:txBody>
          <a:bodyPr wrap="square" lIns="508" tIns="508" rIns="508" bIns="508" rtlCol="0" anchor="t">
            <a:normAutofit/>
          </a:bodyPr>
          <a:lstStyle/>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Agent が判断し、Runner がツール呼び出し・承認待ち・ハンドオフ・最終出力まで回す。</a:t>
            </a:r>
            <a:endParaRPr lang="en-US" sz="1620" dirty="0"/>
          </a:p>
        </p:txBody>
      </p:sp>
      <p:sp>
        <p:nvSpPr>
          <p:cNvPr id="24" name="Text 22"/>
          <p:cNvSpPr/>
          <p:nvPr/>
        </p:nvSpPr>
        <p:spPr>
          <a:xfrm>
            <a:off x="528882" y="5257800"/>
            <a:ext cx="5166360" cy="548640"/>
          </a:xfrm>
          <a:prstGeom prst="rect">
            <a:avLst/>
          </a:prstGeom>
          <a:solidFill>
            <a:srgbClr val="F1EAFE"/>
          </a:solidFill>
          <a:ln>
            <a:solidFill>
              <a:srgbClr val="F1EAFE"/>
            </a:solidFill>
          </a:ln>
        </p:spPr>
        <p:txBody>
          <a:bodyPr wrap="square" lIns="1016" tIns="1016" rIns="1016" bIns="1016" rtlCol="0" anchor="ctr">
            <a:normAutofit/>
          </a:bodyPr>
          <a:lstStyle/>
          <a:p>
            <a:pPr marL="0" indent="0" algn="ctr">
              <a:buNone/>
            </a:pPr>
            <a:r>
              <a:rPr lang="en-US" sz="1550" b="1" dirty="0">
                <a:solidFill>
                  <a:srgbClr val="7C3AED"/>
                </a:solidFill>
                <a:latin typeface="Noto Sans CJK JP" pitchFamily="34" charset="0"/>
                <a:ea typeface="Noto Sans CJK JP" pitchFamily="34" charset="-122"/>
                <a:cs typeface="Noto Sans CJK JP" pitchFamily="34" charset="-120"/>
              </a:rPr>
              <a:t>LangGraph: 「フローの形」をコードで明示</a:t>
            </a:r>
            <a:endParaRPr lang="en-US" sz="1550" dirty="0"/>
          </a:p>
        </p:txBody>
      </p:sp>
      <p:sp>
        <p:nvSpPr>
          <p:cNvPr id="25" name="Text 23"/>
          <p:cNvSpPr/>
          <p:nvPr/>
        </p:nvSpPr>
        <p:spPr>
          <a:xfrm>
            <a:off x="6492240" y="5257800"/>
            <a:ext cx="5166360" cy="548640"/>
          </a:xfrm>
          <a:prstGeom prst="rect">
            <a:avLst/>
          </a:prstGeom>
          <a:solidFill>
            <a:srgbClr val="EAF2FF"/>
          </a:solidFill>
          <a:ln>
            <a:solidFill>
              <a:srgbClr val="EAF2FF"/>
            </a:solidFill>
          </a:ln>
        </p:spPr>
        <p:txBody>
          <a:bodyPr wrap="square" lIns="1016" tIns="1016" rIns="1016" bIns="1016" rtlCol="0" anchor="ctr">
            <a:normAutofit/>
          </a:bodyPr>
          <a:lstStyle/>
          <a:p>
            <a:pPr marL="0" indent="0" algn="ctr">
              <a:buNone/>
            </a:pPr>
            <a:r>
              <a:rPr lang="en-US" sz="1550" b="1" dirty="0">
                <a:solidFill>
                  <a:srgbClr val="1B6EF3"/>
                </a:solidFill>
                <a:latin typeface="Noto Sans CJK JP" pitchFamily="34" charset="0"/>
                <a:ea typeface="Noto Sans CJK JP" pitchFamily="34" charset="-122"/>
                <a:cs typeface="Noto Sans CJK JP" pitchFamily="34" charset="-120"/>
              </a:rPr>
              <a:t>Agents SDK: 「実行単位」と「ツール境界」を明示</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LangGraph のメンタルモデル</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state / node / edge / graph で、状態遷移を明示的に組み立てる。</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03</a:t>
            </a:r>
            <a:endParaRPr lang="en-US" sz="900" dirty="0"/>
          </a:p>
        </p:txBody>
      </p:sp>
      <p:sp>
        <p:nvSpPr>
          <p:cNvPr id="6" name="Text 4"/>
          <p:cNvSpPr/>
          <p:nvPr/>
        </p:nvSpPr>
        <p:spPr>
          <a:xfrm>
            <a:off x="658368" y="1828800"/>
            <a:ext cx="2011680" cy="33832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共有 State</a:t>
            </a:r>
            <a:endParaRPr lang="en-US" sz="1700" dirty="0"/>
          </a:p>
          <a:p>
            <a:pPr marL="0" indent="0" algn="ctr">
              <a:buNone/>
            </a:pPr>
            <a:endParaRPr lang="en-US" sz="1700" dirty="0"/>
          </a:p>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messages</a:t>
            </a:r>
            <a:endParaRPr lang="en-US" sz="1700" dirty="0"/>
          </a:p>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user_input</a:t>
            </a:r>
            <a:endParaRPr lang="en-US" sz="1700" dirty="0"/>
          </a:p>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results</a:t>
            </a:r>
            <a:endParaRPr lang="en-US" sz="1700" dirty="0"/>
          </a:p>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flags</a:t>
            </a:r>
            <a:endParaRPr lang="en-US" sz="1700" dirty="0"/>
          </a:p>
        </p:txBody>
      </p:sp>
      <p:sp>
        <p:nvSpPr>
          <p:cNvPr id="7" name="Shape 5"/>
          <p:cNvSpPr/>
          <p:nvPr/>
        </p:nvSpPr>
        <p:spPr>
          <a:xfrm>
            <a:off x="2880360" y="2148840"/>
            <a:ext cx="777240" cy="0"/>
          </a:xfrm>
          <a:prstGeom prst="line">
            <a:avLst/>
          </a:prstGeom>
          <a:noFill/>
          <a:ln w="22860">
            <a:solidFill>
              <a:srgbClr val="7C3AED"/>
            </a:solidFill>
            <a:prstDash val="solid"/>
            <a:headEnd type="none"/>
            <a:tailEnd type="triangle"/>
          </a:ln>
        </p:spPr>
        <p:txBody>
          <a:bodyPr/>
          <a:lstStyle/>
          <a:p>
            <a:endParaRPr lang="ja-JP" altLang="en-US"/>
          </a:p>
        </p:txBody>
      </p:sp>
      <p:sp>
        <p:nvSpPr>
          <p:cNvPr id="8" name="Shape 6"/>
          <p:cNvSpPr/>
          <p:nvPr/>
        </p:nvSpPr>
        <p:spPr>
          <a:xfrm>
            <a:off x="4754880" y="2148840"/>
            <a:ext cx="777240" cy="0"/>
          </a:xfrm>
          <a:prstGeom prst="line">
            <a:avLst/>
          </a:prstGeom>
          <a:noFill/>
          <a:ln w="22860">
            <a:solidFill>
              <a:srgbClr val="7C3AED"/>
            </a:solidFill>
            <a:prstDash val="solid"/>
            <a:headEnd type="none"/>
            <a:tailEnd type="triangle"/>
          </a:ln>
        </p:spPr>
        <p:txBody>
          <a:bodyPr/>
          <a:lstStyle/>
          <a:p>
            <a:endParaRPr lang="ja-JP" altLang="en-US"/>
          </a:p>
        </p:txBody>
      </p:sp>
      <p:sp>
        <p:nvSpPr>
          <p:cNvPr id="9" name="Shape 7"/>
          <p:cNvSpPr/>
          <p:nvPr/>
        </p:nvSpPr>
        <p:spPr>
          <a:xfrm>
            <a:off x="6629400" y="2148840"/>
            <a:ext cx="777240" cy="0"/>
          </a:xfrm>
          <a:prstGeom prst="line">
            <a:avLst/>
          </a:prstGeom>
          <a:noFill/>
          <a:ln w="22860">
            <a:solidFill>
              <a:srgbClr val="7C3AED"/>
            </a:solidFill>
            <a:prstDash val="solid"/>
            <a:headEnd type="none"/>
            <a:tailEnd type="triangle"/>
          </a:ln>
        </p:spPr>
        <p:txBody>
          <a:bodyPr/>
          <a:lstStyle/>
          <a:p>
            <a:endParaRPr lang="ja-JP" altLang="en-US"/>
          </a:p>
        </p:txBody>
      </p:sp>
      <p:sp>
        <p:nvSpPr>
          <p:cNvPr id="10" name="Shape 8"/>
          <p:cNvSpPr/>
          <p:nvPr/>
        </p:nvSpPr>
        <p:spPr>
          <a:xfrm>
            <a:off x="8503920" y="2148840"/>
            <a:ext cx="777240" cy="0"/>
          </a:xfrm>
          <a:prstGeom prst="line">
            <a:avLst/>
          </a:prstGeom>
          <a:noFill/>
          <a:ln w="22860">
            <a:solidFill>
              <a:srgbClr val="7C3AED"/>
            </a:solidFill>
            <a:prstDash val="solid"/>
            <a:headEnd type="none"/>
            <a:tailEnd type="triangle"/>
          </a:ln>
        </p:spPr>
        <p:txBody>
          <a:bodyPr/>
          <a:lstStyle/>
          <a:p>
            <a:endParaRPr lang="ja-JP" altLang="en-US"/>
          </a:p>
        </p:txBody>
      </p:sp>
      <p:sp>
        <p:nvSpPr>
          <p:cNvPr id="11" name="Text 9"/>
          <p:cNvSpPr/>
          <p:nvPr/>
        </p:nvSpPr>
        <p:spPr>
          <a:xfrm>
            <a:off x="3657600" y="1719072"/>
            <a:ext cx="1097280" cy="868680"/>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450" b="1" dirty="0">
                <a:solidFill>
                  <a:srgbClr val="7C3AED"/>
                </a:solidFill>
                <a:latin typeface="Noto Sans CJK JP" pitchFamily="34" charset="0"/>
                <a:ea typeface="Noto Sans CJK JP" pitchFamily="34" charset="-122"/>
                <a:cs typeface="Noto Sans CJK JP" pitchFamily="34" charset="-120"/>
              </a:rPr>
              <a:t>Node: 分析</a:t>
            </a:r>
            <a:endParaRPr lang="en-US" sz="1450" dirty="0"/>
          </a:p>
        </p:txBody>
      </p:sp>
      <p:sp>
        <p:nvSpPr>
          <p:cNvPr id="12" name="Text 10"/>
          <p:cNvSpPr/>
          <p:nvPr/>
        </p:nvSpPr>
        <p:spPr>
          <a:xfrm>
            <a:off x="5532120" y="1719072"/>
            <a:ext cx="1097280" cy="868680"/>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450" b="1" dirty="0">
                <a:solidFill>
                  <a:srgbClr val="7C3AED"/>
                </a:solidFill>
                <a:latin typeface="Noto Sans CJK JP" pitchFamily="34" charset="0"/>
                <a:ea typeface="Noto Sans CJK JP" pitchFamily="34" charset="-122"/>
                <a:cs typeface="Noto Sans CJK JP" pitchFamily="34" charset="-120"/>
              </a:rPr>
              <a:t>Node: ツール</a:t>
            </a:r>
            <a:endParaRPr lang="en-US" sz="1450" dirty="0"/>
          </a:p>
        </p:txBody>
      </p:sp>
      <p:sp>
        <p:nvSpPr>
          <p:cNvPr id="13" name="Text 11"/>
          <p:cNvSpPr/>
          <p:nvPr/>
        </p:nvSpPr>
        <p:spPr>
          <a:xfrm>
            <a:off x="7406640" y="1719072"/>
            <a:ext cx="1097280" cy="868680"/>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450" b="1" dirty="0">
                <a:solidFill>
                  <a:srgbClr val="7C3AED"/>
                </a:solidFill>
                <a:latin typeface="Noto Sans CJK JP" pitchFamily="34" charset="0"/>
                <a:ea typeface="Noto Sans CJK JP" pitchFamily="34" charset="-122"/>
                <a:cs typeface="Noto Sans CJK JP" pitchFamily="34" charset="-120"/>
              </a:rPr>
              <a:t>Node: 判定</a:t>
            </a:r>
            <a:endParaRPr lang="en-US" sz="1450" dirty="0"/>
          </a:p>
        </p:txBody>
      </p:sp>
      <p:sp>
        <p:nvSpPr>
          <p:cNvPr id="14" name="Text 12"/>
          <p:cNvSpPr/>
          <p:nvPr/>
        </p:nvSpPr>
        <p:spPr>
          <a:xfrm>
            <a:off x="9281160" y="1719072"/>
            <a:ext cx="777240" cy="8686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END</a:t>
            </a:r>
            <a:endParaRPr lang="en-US" sz="1500" dirty="0"/>
          </a:p>
        </p:txBody>
      </p:sp>
      <p:sp>
        <p:nvSpPr>
          <p:cNvPr id="15" name="Shape 13"/>
          <p:cNvSpPr/>
          <p:nvPr/>
        </p:nvSpPr>
        <p:spPr>
          <a:xfrm>
            <a:off x="7955280" y="2587752"/>
            <a:ext cx="0" cy="658368"/>
          </a:xfrm>
          <a:prstGeom prst="line">
            <a:avLst/>
          </a:prstGeom>
          <a:noFill/>
          <a:ln w="19050">
            <a:solidFill>
              <a:srgbClr val="7C3AED"/>
            </a:solidFill>
            <a:prstDash val="solid"/>
            <a:headEnd type="none"/>
            <a:tailEnd type="triangle"/>
          </a:ln>
        </p:spPr>
        <p:txBody>
          <a:bodyPr/>
          <a:lstStyle/>
          <a:p>
            <a:endParaRPr lang="ja-JP" altLang="en-US"/>
          </a:p>
        </p:txBody>
      </p:sp>
      <p:sp>
        <p:nvSpPr>
          <p:cNvPr id="18" name="Text 16"/>
          <p:cNvSpPr/>
          <p:nvPr/>
        </p:nvSpPr>
        <p:spPr>
          <a:xfrm>
            <a:off x="6371445" y="3429000"/>
            <a:ext cx="3190240" cy="285042"/>
          </a:xfrm>
          <a:prstGeom prst="rect">
            <a:avLst/>
          </a:prstGeom>
          <a:solidFill>
            <a:srgbClr val="FFFFFF"/>
          </a:solidFill>
          <a:ln w="12700">
            <a:solidFill>
              <a:srgbClr val="C8D2E0"/>
            </a:solidFill>
          </a:ln>
        </p:spPr>
        <p:txBody>
          <a:bodyPr wrap="square" lIns="508" tIns="508" rIns="508" bIns="508" rtlCol="0" anchor="t">
            <a:normAutofit/>
          </a:bodyPr>
          <a:lstStyle/>
          <a:p>
            <a:pPr marL="0" indent="0" algn="ctr">
              <a:buNone/>
            </a:pPr>
            <a:r>
              <a:rPr lang="en-US" sz="1550" b="1" dirty="0">
                <a:solidFill>
                  <a:srgbClr val="7C3AED"/>
                </a:solidFill>
                <a:latin typeface="Noto Sans CJK JP" pitchFamily="34" charset="0"/>
                <a:ea typeface="Noto Sans CJK JP" pitchFamily="34" charset="-122"/>
                <a:cs typeface="Noto Sans CJK JP" pitchFamily="34" charset="-120"/>
              </a:rPr>
              <a:t>条件分岐・ループは edge で明示</a:t>
            </a:r>
            <a:endParaRPr lang="en-US" sz="1550" dirty="0"/>
          </a:p>
        </p:txBody>
      </p:sp>
      <p:sp>
        <p:nvSpPr>
          <p:cNvPr id="19" name="Text 17"/>
          <p:cNvSpPr/>
          <p:nvPr/>
        </p:nvSpPr>
        <p:spPr>
          <a:xfrm>
            <a:off x="3337560" y="4526280"/>
            <a:ext cx="640080" cy="292608"/>
          </a:xfrm>
          <a:prstGeom prst="rect">
            <a:avLst/>
          </a:prstGeom>
          <a:noFill/>
          <a:ln/>
        </p:spPr>
        <p:txBody>
          <a:bodyPr wrap="square" lIns="508" tIns="508" rIns="508" bIns="508" rtlCol="0" anchor="t">
            <a:normAutofit/>
          </a:bodyPr>
          <a:lstStyle/>
          <a:p>
            <a:pPr marL="0" indent="0" algn="l">
              <a:buNone/>
            </a:pPr>
            <a:r>
              <a:rPr lang="en-US" sz="1400" b="1" dirty="0">
                <a:solidFill>
                  <a:srgbClr val="5F6C7B"/>
                </a:solidFill>
                <a:latin typeface="Noto Sans CJK JP" pitchFamily="34" charset="0"/>
                <a:ea typeface="Noto Sans CJK JP" pitchFamily="34" charset="-122"/>
                <a:cs typeface="Noto Sans CJK JP" pitchFamily="34" charset="-120"/>
              </a:rPr>
              <a:t>特徴</a:t>
            </a:r>
            <a:endParaRPr lang="en-US" sz="1400" dirty="0"/>
          </a:p>
        </p:txBody>
      </p:sp>
      <p:sp>
        <p:nvSpPr>
          <p:cNvPr id="20" name="Text 18"/>
          <p:cNvSpPr/>
          <p:nvPr/>
        </p:nvSpPr>
        <p:spPr>
          <a:xfrm>
            <a:off x="3977640" y="4480560"/>
            <a:ext cx="6812280" cy="1051560"/>
          </a:xfrm>
          <a:prstGeom prst="rect">
            <a:avLst/>
          </a:prstGeom>
          <a:noFill/>
          <a:ln/>
        </p:spPr>
        <p:txBody>
          <a:bodyPr wrap="square" lIns="508" tIns="508" rIns="508" bIns="508" rtlCol="0" anchor="t">
            <a:normAutofit/>
          </a:bodyPr>
          <a:lstStyle/>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 フローをグラフとして定義</a:t>
            </a:r>
            <a:endParaRPr lang="en-US" sz="1620" dirty="0"/>
          </a:p>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 各 node は State を読み、部分更新を返す</a:t>
            </a:r>
            <a:endParaRPr lang="en-US" sz="1620" dirty="0"/>
          </a:p>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 reducer で state key のマージ方法を定義可能</a:t>
            </a:r>
            <a:endParaRPr lang="en-US" sz="1620" dirty="0"/>
          </a:p>
          <a:p>
            <a:pPr marL="0" indent="0" algn="l">
              <a:buNone/>
            </a:pPr>
            <a:r>
              <a:rPr lang="en-US" sz="1620" dirty="0">
                <a:solidFill>
                  <a:srgbClr val="0B1020"/>
                </a:solidFill>
                <a:latin typeface="Noto Sans CJK JP" pitchFamily="34" charset="0"/>
                <a:ea typeface="Noto Sans CJK JP" pitchFamily="34" charset="-122"/>
                <a:cs typeface="Noto Sans CJK JP" pitchFamily="34" charset="-120"/>
              </a:rPr>
              <a:t>• 「どこを通ったか」が構造として見えやすい</a:t>
            </a:r>
            <a:endParaRPr lang="en-US" sz="1620" dirty="0"/>
          </a:p>
        </p:txBody>
      </p:sp>
      <p:sp>
        <p:nvSpPr>
          <p:cNvPr id="21" name="Text 19"/>
          <p:cNvSpPr/>
          <p:nvPr/>
        </p:nvSpPr>
        <p:spPr>
          <a:xfrm>
            <a:off x="3337560" y="5806440"/>
            <a:ext cx="7178040" cy="292608"/>
          </a:xfrm>
          <a:prstGeom prst="rect">
            <a:avLst/>
          </a:prstGeom>
          <a:noFill/>
          <a:ln/>
        </p:spPr>
        <p:txBody>
          <a:bodyPr wrap="square" lIns="508" tIns="508" rIns="508" bIns="508" rtlCol="0" anchor="t">
            <a:normAutofit/>
          </a:bodyPr>
          <a:lstStyle/>
          <a:p>
            <a:pPr marL="0" indent="0" algn="l">
              <a:buNone/>
            </a:pPr>
            <a:r>
              <a:rPr lang="en-US" sz="1250" dirty="0">
                <a:solidFill>
                  <a:srgbClr val="5F6C7B"/>
                </a:solidFill>
                <a:latin typeface="Noto Sans CJK JP" pitchFamily="34" charset="0"/>
                <a:ea typeface="Noto Sans CJK JP" pitchFamily="34" charset="-122"/>
                <a:cs typeface="Noto Sans CJK JP" pitchFamily="34" charset="-120"/>
              </a:rPr>
              <a:t>Mermaid イメージ: StateGraph → nodes → conditional edges → END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OpenAI Agents SDK のメンタルモデル</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Agent を定義し、Runner がモデル呼び出し・ツール呼び出し・停止条件まで処理する。</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04</a:t>
            </a:r>
            <a:endParaRPr lang="en-US" sz="900" dirty="0"/>
          </a:p>
        </p:txBody>
      </p:sp>
      <p:sp>
        <p:nvSpPr>
          <p:cNvPr id="6" name="Shape 4"/>
          <p:cNvSpPr/>
          <p:nvPr/>
        </p:nvSpPr>
        <p:spPr>
          <a:xfrm>
            <a:off x="1170432" y="2907792"/>
            <a:ext cx="886968" cy="0"/>
          </a:xfrm>
          <a:prstGeom prst="line">
            <a:avLst/>
          </a:prstGeom>
          <a:noFill/>
          <a:ln w="25400">
            <a:solidFill>
              <a:srgbClr val="1B6EF3"/>
            </a:solidFill>
            <a:prstDash val="solid"/>
            <a:headEnd type="none"/>
            <a:tailEnd type="triangle"/>
          </a:ln>
        </p:spPr>
        <p:txBody>
          <a:bodyPr/>
          <a:lstStyle/>
          <a:p>
            <a:endParaRPr lang="ja-JP" altLang="en-US"/>
          </a:p>
        </p:txBody>
      </p:sp>
      <p:sp>
        <p:nvSpPr>
          <p:cNvPr id="7" name="Shape 5"/>
          <p:cNvSpPr/>
          <p:nvPr/>
        </p:nvSpPr>
        <p:spPr>
          <a:xfrm>
            <a:off x="3246120" y="2907792"/>
            <a:ext cx="822960" cy="0"/>
          </a:xfrm>
          <a:prstGeom prst="line">
            <a:avLst/>
          </a:prstGeom>
          <a:noFill/>
          <a:ln w="25400">
            <a:solidFill>
              <a:srgbClr val="1B6EF3"/>
            </a:solidFill>
            <a:prstDash val="solid"/>
            <a:headEnd type="none"/>
            <a:tailEnd type="triangle"/>
          </a:ln>
        </p:spPr>
        <p:txBody>
          <a:bodyPr/>
          <a:lstStyle/>
          <a:p>
            <a:endParaRPr lang="ja-JP" altLang="en-US"/>
          </a:p>
        </p:txBody>
      </p:sp>
      <p:sp>
        <p:nvSpPr>
          <p:cNvPr id="8" name="Shape 6"/>
          <p:cNvSpPr/>
          <p:nvPr/>
        </p:nvSpPr>
        <p:spPr>
          <a:xfrm>
            <a:off x="5257800" y="2907792"/>
            <a:ext cx="822960" cy="0"/>
          </a:xfrm>
          <a:prstGeom prst="line">
            <a:avLst/>
          </a:prstGeom>
          <a:noFill/>
          <a:ln w="25400">
            <a:solidFill>
              <a:srgbClr val="1B6EF3"/>
            </a:solidFill>
            <a:prstDash val="solid"/>
            <a:headEnd type="none"/>
            <a:tailEnd type="triangle"/>
          </a:ln>
        </p:spPr>
        <p:txBody>
          <a:bodyPr/>
          <a:lstStyle/>
          <a:p>
            <a:endParaRPr lang="ja-JP" altLang="en-US"/>
          </a:p>
        </p:txBody>
      </p:sp>
      <p:sp>
        <p:nvSpPr>
          <p:cNvPr id="9" name="Shape 7"/>
          <p:cNvSpPr/>
          <p:nvPr/>
        </p:nvSpPr>
        <p:spPr>
          <a:xfrm>
            <a:off x="7269480" y="2907792"/>
            <a:ext cx="822960" cy="0"/>
          </a:xfrm>
          <a:prstGeom prst="line">
            <a:avLst/>
          </a:prstGeom>
          <a:noFill/>
          <a:ln w="25400">
            <a:solidFill>
              <a:srgbClr val="1B6EF3"/>
            </a:solidFill>
            <a:prstDash val="solid"/>
            <a:headEnd type="none"/>
            <a:tailEnd type="triangle"/>
          </a:ln>
        </p:spPr>
        <p:txBody>
          <a:bodyPr/>
          <a:lstStyle/>
          <a:p>
            <a:endParaRPr lang="ja-JP" altLang="en-US"/>
          </a:p>
        </p:txBody>
      </p:sp>
      <p:sp>
        <p:nvSpPr>
          <p:cNvPr id="10" name="Shape 8"/>
          <p:cNvSpPr/>
          <p:nvPr/>
        </p:nvSpPr>
        <p:spPr>
          <a:xfrm>
            <a:off x="9281160" y="2907792"/>
            <a:ext cx="822960" cy="0"/>
          </a:xfrm>
          <a:prstGeom prst="line">
            <a:avLst/>
          </a:prstGeom>
          <a:noFill/>
          <a:ln w="25400">
            <a:solidFill>
              <a:srgbClr val="1B6EF3"/>
            </a:solidFill>
            <a:prstDash val="solid"/>
            <a:headEnd type="none"/>
            <a:tailEnd type="triangle"/>
          </a:ln>
        </p:spPr>
        <p:txBody>
          <a:bodyPr/>
          <a:lstStyle/>
          <a:p>
            <a:endParaRPr lang="ja-JP" altLang="en-US"/>
          </a:p>
        </p:txBody>
      </p:sp>
      <p:sp>
        <p:nvSpPr>
          <p:cNvPr id="11" name="Text 9"/>
          <p:cNvSpPr/>
          <p:nvPr/>
        </p:nvSpPr>
        <p:spPr>
          <a:xfrm>
            <a:off x="658368" y="2487168"/>
            <a:ext cx="777240" cy="86868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Input</a:t>
            </a:r>
            <a:endParaRPr lang="en-US" sz="1500" dirty="0"/>
          </a:p>
        </p:txBody>
      </p:sp>
      <p:sp>
        <p:nvSpPr>
          <p:cNvPr id="12" name="Text 10"/>
          <p:cNvSpPr/>
          <p:nvPr/>
        </p:nvSpPr>
        <p:spPr>
          <a:xfrm>
            <a:off x="2057400" y="2487168"/>
            <a:ext cx="1170432" cy="86868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400" b="1" dirty="0">
                <a:solidFill>
                  <a:srgbClr val="1B6EF3"/>
                </a:solidFill>
                <a:latin typeface="Noto Sans CJK JP" pitchFamily="34" charset="0"/>
                <a:ea typeface="Noto Sans CJK JP" pitchFamily="34" charset="-122"/>
                <a:cs typeface="Noto Sans CJK JP" pitchFamily="34" charset="-120"/>
              </a:rPr>
              <a:t>Runner.run()</a:t>
            </a:r>
            <a:endParaRPr lang="en-US" sz="1400" dirty="0"/>
          </a:p>
        </p:txBody>
      </p:sp>
      <p:sp>
        <p:nvSpPr>
          <p:cNvPr id="13" name="Text 11"/>
          <p:cNvSpPr/>
          <p:nvPr/>
        </p:nvSpPr>
        <p:spPr>
          <a:xfrm>
            <a:off x="4069080" y="2487168"/>
            <a:ext cx="1207008" cy="86868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350" b="1" dirty="0">
                <a:solidFill>
                  <a:srgbClr val="1B6EF3"/>
                </a:solidFill>
                <a:latin typeface="Noto Sans CJK JP" pitchFamily="34" charset="0"/>
                <a:ea typeface="Noto Sans CJK JP" pitchFamily="34" charset="-122"/>
                <a:cs typeface="Noto Sans CJK JP" pitchFamily="34" charset="-120"/>
              </a:rPr>
              <a:t>Agent</a:t>
            </a:r>
            <a:endParaRPr lang="en-US" sz="1350" dirty="0"/>
          </a:p>
          <a:p>
            <a:pPr marL="0" indent="0" algn="ctr">
              <a:buNone/>
            </a:pPr>
            <a:r>
              <a:rPr lang="en-US" sz="1350" b="1" dirty="0">
                <a:solidFill>
                  <a:srgbClr val="1B6EF3"/>
                </a:solidFill>
                <a:latin typeface="Noto Sans CJK JP" pitchFamily="34" charset="0"/>
                <a:ea typeface="Noto Sans CJK JP" pitchFamily="34" charset="-122"/>
                <a:cs typeface="Noto Sans CJK JP" pitchFamily="34" charset="-120"/>
              </a:rPr>
              <a:t>instructions</a:t>
            </a:r>
            <a:endParaRPr lang="en-US" sz="1350" dirty="0"/>
          </a:p>
        </p:txBody>
      </p:sp>
      <p:sp>
        <p:nvSpPr>
          <p:cNvPr id="14" name="Text 12"/>
          <p:cNvSpPr/>
          <p:nvPr/>
        </p:nvSpPr>
        <p:spPr>
          <a:xfrm>
            <a:off x="6080760" y="2487168"/>
            <a:ext cx="1152144" cy="86868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600" b="1" dirty="0">
                <a:solidFill>
                  <a:srgbClr val="1B6EF3"/>
                </a:solidFill>
                <a:latin typeface="Noto Sans CJK JP" pitchFamily="34" charset="0"/>
                <a:ea typeface="Noto Sans CJK JP" pitchFamily="34" charset="-122"/>
                <a:cs typeface="Noto Sans CJK JP" pitchFamily="34" charset="-120"/>
              </a:rPr>
              <a:t>LLM</a:t>
            </a:r>
            <a:endParaRPr lang="en-US" sz="1600" dirty="0"/>
          </a:p>
        </p:txBody>
      </p:sp>
      <p:sp>
        <p:nvSpPr>
          <p:cNvPr id="15" name="Text 13"/>
          <p:cNvSpPr/>
          <p:nvPr/>
        </p:nvSpPr>
        <p:spPr>
          <a:xfrm>
            <a:off x="8092440" y="2487168"/>
            <a:ext cx="1234440" cy="86868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320" b="1" dirty="0">
                <a:solidFill>
                  <a:srgbClr val="064E3B"/>
                </a:solidFill>
                <a:latin typeface="Noto Sans CJK JP" pitchFamily="34" charset="0"/>
                <a:ea typeface="Noto Sans CJK JP" pitchFamily="34" charset="-122"/>
                <a:cs typeface="Noto Sans CJK JP" pitchFamily="34" charset="-120"/>
              </a:rPr>
              <a:t>Tool call /</a:t>
            </a:r>
            <a:endParaRPr lang="en-US" sz="1320" dirty="0"/>
          </a:p>
          <a:p>
            <a:pPr marL="0" indent="0" algn="ctr">
              <a:buNone/>
            </a:pPr>
            <a:r>
              <a:rPr lang="en-US" sz="1320" b="1" dirty="0">
                <a:solidFill>
                  <a:srgbClr val="064E3B"/>
                </a:solidFill>
                <a:latin typeface="Noto Sans CJK JP" pitchFamily="34" charset="0"/>
                <a:ea typeface="Noto Sans CJK JP" pitchFamily="34" charset="-122"/>
                <a:cs typeface="Noto Sans CJK JP" pitchFamily="34" charset="-120"/>
              </a:rPr>
              <a:t>Handoff</a:t>
            </a:r>
            <a:endParaRPr lang="en-US" sz="1320" dirty="0"/>
          </a:p>
        </p:txBody>
      </p:sp>
      <p:sp>
        <p:nvSpPr>
          <p:cNvPr id="16" name="Text 14"/>
          <p:cNvSpPr/>
          <p:nvPr/>
        </p:nvSpPr>
        <p:spPr>
          <a:xfrm>
            <a:off x="10104120" y="2487168"/>
            <a:ext cx="1143000" cy="86868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350" b="1" dirty="0">
                <a:solidFill>
                  <a:srgbClr val="1B6EF3"/>
                </a:solidFill>
                <a:latin typeface="Noto Sans CJK JP" pitchFamily="34" charset="0"/>
                <a:ea typeface="Noto Sans CJK JP" pitchFamily="34" charset="-122"/>
                <a:cs typeface="Noto Sans CJK JP" pitchFamily="34" charset="-120"/>
              </a:rPr>
              <a:t>Final output</a:t>
            </a:r>
            <a:endParaRPr lang="en-US" sz="1350" dirty="0"/>
          </a:p>
        </p:txBody>
      </p:sp>
      <p:sp>
        <p:nvSpPr>
          <p:cNvPr id="17" name="Shape 15"/>
          <p:cNvSpPr/>
          <p:nvPr/>
        </p:nvSpPr>
        <p:spPr>
          <a:xfrm>
            <a:off x="8732520" y="3401568"/>
            <a:ext cx="0" cy="868680"/>
          </a:xfrm>
          <a:prstGeom prst="line">
            <a:avLst/>
          </a:prstGeom>
          <a:noFill/>
          <a:ln w="19050">
            <a:solidFill>
              <a:srgbClr val="10B981"/>
            </a:solidFill>
            <a:prstDash val="solid"/>
            <a:headEnd type="none"/>
            <a:tailEnd type="triangle"/>
          </a:ln>
        </p:spPr>
        <p:txBody>
          <a:bodyPr/>
          <a:lstStyle/>
          <a:p>
            <a:endParaRPr lang="ja-JP" altLang="en-US"/>
          </a:p>
        </p:txBody>
      </p:sp>
      <p:sp>
        <p:nvSpPr>
          <p:cNvPr id="20" name="Text 18"/>
          <p:cNvSpPr/>
          <p:nvPr/>
        </p:nvSpPr>
        <p:spPr>
          <a:xfrm>
            <a:off x="6697022" y="4315968"/>
            <a:ext cx="4095157" cy="329184"/>
          </a:xfrm>
          <a:prstGeom prst="rect">
            <a:avLst/>
          </a:prstGeom>
          <a:solidFill>
            <a:srgbClr val="FFFFFF"/>
          </a:solidFill>
          <a:ln w="12700">
            <a:solidFill>
              <a:srgbClr val="C8D2E0"/>
            </a:solidFill>
          </a:ln>
        </p:spPr>
        <p:txBody>
          <a:bodyPr wrap="square" lIns="508" tIns="508" rIns="508" bIns="508" rtlCol="0" anchor="t">
            <a:normAutofit/>
          </a:bodyPr>
          <a:lstStyle/>
          <a:p>
            <a:pPr marL="0" indent="0" algn="ctr">
              <a:buNone/>
            </a:pPr>
            <a:r>
              <a:rPr lang="en-US" sz="1450" b="1" dirty="0">
                <a:solidFill>
                  <a:srgbClr val="064E3B"/>
                </a:solidFill>
                <a:latin typeface="Noto Sans CJK JP" pitchFamily="34" charset="0"/>
                <a:ea typeface="Noto Sans CJK JP" pitchFamily="34" charset="-122"/>
                <a:cs typeface="Noto Sans CJK JP" pitchFamily="34" charset="-120"/>
              </a:rPr>
              <a:t>ツール結果を戻して、必要なら再び LLM へ</a:t>
            </a:r>
            <a:endParaRPr lang="en-US" sz="1450" dirty="0"/>
          </a:p>
        </p:txBody>
      </p:sp>
      <p:sp>
        <p:nvSpPr>
          <p:cNvPr id="21" name="Text 19"/>
          <p:cNvSpPr/>
          <p:nvPr/>
        </p:nvSpPr>
        <p:spPr>
          <a:xfrm>
            <a:off x="1645920" y="5166360"/>
            <a:ext cx="1463040" cy="475488"/>
          </a:xfrm>
          <a:prstGeom prst="rect">
            <a:avLst/>
          </a:prstGeom>
          <a:solidFill>
            <a:srgbClr val="FEECEC"/>
          </a:solidFill>
          <a:ln>
            <a:solidFill>
              <a:srgbClr val="FEECEC"/>
            </a:solidFill>
          </a:ln>
        </p:spPr>
        <p:txBody>
          <a:bodyPr wrap="square" lIns="1016" tIns="1016" rIns="1016" bIns="1016" rtlCol="0" anchor="ctr">
            <a:normAutofit/>
          </a:bodyPr>
          <a:lstStyle/>
          <a:p>
            <a:pPr marL="0" indent="0" algn="ctr">
              <a:buNone/>
            </a:pPr>
            <a:r>
              <a:rPr lang="en-US" sz="1550" b="1" dirty="0">
                <a:solidFill>
                  <a:srgbClr val="EF4444"/>
                </a:solidFill>
                <a:latin typeface="Noto Sans CJK JP" pitchFamily="34" charset="0"/>
                <a:ea typeface="Noto Sans CJK JP" pitchFamily="34" charset="-122"/>
                <a:cs typeface="Noto Sans CJK JP" pitchFamily="34" charset="-120"/>
              </a:rPr>
              <a:t>Guardrails</a:t>
            </a:r>
            <a:endParaRPr lang="en-US" sz="1550" dirty="0"/>
          </a:p>
        </p:txBody>
      </p:sp>
      <p:sp>
        <p:nvSpPr>
          <p:cNvPr id="22" name="Text 20"/>
          <p:cNvSpPr/>
          <p:nvPr/>
        </p:nvSpPr>
        <p:spPr>
          <a:xfrm>
            <a:off x="3794760" y="5166360"/>
            <a:ext cx="1463040" cy="475488"/>
          </a:xfrm>
          <a:prstGeom prst="rect">
            <a:avLst/>
          </a:prstGeom>
          <a:solidFill>
            <a:srgbClr val="FFF5E2"/>
          </a:solidFill>
          <a:ln>
            <a:solidFill>
              <a:srgbClr val="FFF5E2"/>
            </a:solidFill>
          </a:ln>
        </p:spPr>
        <p:txBody>
          <a:bodyPr wrap="square" lIns="1016" tIns="1016" rIns="1016" bIns="1016" rtlCol="0" anchor="ctr">
            <a:normAutofit/>
          </a:bodyPr>
          <a:lstStyle/>
          <a:p>
            <a:pPr marL="0" indent="0" algn="ctr">
              <a:buNone/>
            </a:pPr>
            <a:r>
              <a:rPr lang="en-US" sz="1550" b="1" dirty="0">
                <a:solidFill>
                  <a:srgbClr val="F59E0B"/>
                </a:solidFill>
                <a:latin typeface="Noto Sans CJK JP" pitchFamily="34" charset="0"/>
                <a:ea typeface="Noto Sans CJK JP" pitchFamily="34" charset="-122"/>
                <a:cs typeface="Noto Sans CJK JP" pitchFamily="34" charset="-120"/>
              </a:rPr>
              <a:t>HITL 承認</a:t>
            </a:r>
            <a:endParaRPr lang="en-US" sz="1550" dirty="0"/>
          </a:p>
        </p:txBody>
      </p:sp>
      <p:sp>
        <p:nvSpPr>
          <p:cNvPr id="23" name="Text 21"/>
          <p:cNvSpPr/>
          <p:nvPr/>
        </p:nvSpPr>
        <p:spPr>
          <a:xfrm>
            <a:off x="5943600" y="5166360"/>
            <a:ext cx="1463040" cy="475488"/>
          </a:xfrm>
          <a:prstGeom prst="rect">
            <a:avLst/>
          </a:prstGeom>
          <a:solidFill>
            <a:srgbClr val="EAF2FF"/>
          </a:solidFill>
          <a:ln>
            <a:solidFill>
              <a:srgbClr val="EAF2FF"/>
            </a:solidFill>
          </a:ln>
        </p:spPr>
        <p:txBody>
          <a:bodyPr wrap="square" lIns="1016" tIns="1016" rIns="1016" bIns="1016" rtlCol="0" anchor="ctr">
            <a:normAutofit/>
          </a:bodyPr>
          <a:lstStyle/>
          <a:p>
            <a:pPr marL="0" indent="0" algn="ctr">
              <a:buNone/>
            </a:pPr>
            <a:r>
              <a:rPr lang="en-US" sz="1550" b="1" dirty="0">
                <a:solidFill>
                  <a:srgbClr val="1B6EF3"/>
                </a:solidFill>
                <a:latin typeface="Noto Sans CJK JP" pitchFamily="34" charset="0"/>
                <a:ea typeface="Noto Sans CJK JP" pitchFamily="34" charset="-122"/>
                <a:cs typeface="Noto Sans CJK JP" pitchFamily="34" charset="-120"/>
              </a:rPr>
              <a:t>Tracing</a:t>
            </a:r>
            <a:endParaRPr lang="en-US" sz="1550" dirty="0"/>
          </a:p>
        </p:txBody>
      </p:sp>
      <p:sp>
        <p:nvSpPr>
          <p:cNvPr id="24" name="Text 22"/>
          <p:cNvSpPr/>
          <p:nvPr/>
        </p:nvSpPr>
        <p:spPr>
          <a:xfrm>
            <a:off x="8092440" y="5166360"/>
            <a:ext cx="1463040" cy="475488"/>
          </a:xfrm>
          <a:prstGeom prst="rect">
            <a:avLst/>
          </a:prstGeom>
          <a:solidFill>
            <a:srgbClr val="E8F8F1"/>
          </a:solidFill>
          <a:ln>
            <a:solidFill>
              <a:srgbClr val="E8F8F1"/>
            </a:solidFill>
          </a:ln>
        </p:spPr>
        <p:txBody>
          <a:bodyPr wrap="square" lIns="1016" tIns="1016" rIns="1016" bIns="1016" rtlCol="0" anchor="ctr">
            <a:normAutofit/>
          </a:bodyPr>
          <a:lstStyle/>
          <a:p>
            <a:pPr marL="0" indent="0" algn="ctr">
              <a:buNone/>
            </a:pPr>
            <a:r>
              <a:rPr lang="en-US" sz="1550" b="1" dirty="0">
                <a:solidFill>
                  <a:srgbClr val="064E3B"/>
                </a:solidFill>
                <a:latin typeface="Noto Sans CJK JP" pitchFamily="34" charset="0"/>
                <a:ea typeface="Noto Sans CJK JP" pitchFamily="34" charset="-122"/>
                <a:cs typeface="Noto Sans CJK JP" pitchFamily="34" charset="-120"/>
              </a:rPr>
              <a:t>Sandbox</a:t>
            </a:r>
            <a:endParaRPr lang="en-US" sz="1550" dirty="0"/>
          </a:p>
        </p:txBody>
      </p:sp>
      <p:sp>
        <p:nvSpPr>
          <p:cNvPr id="25" name="Text 23"/>
          <p:cNvSpPr/>
          <p:nvPr/>
        </p:nvSpPr>
        <p:spPr>
          <a:xfrm>
            <a:off x="1965960" y="5815584"/>
            <a:ext cx="8183880" cy="347472"/>
          </a:xfrm>
          <a:prstGeom prst="rect">
            <a:avLst/>
          </a:prstGeom>
          <a:noFill/>
          <a:ln/>
        </p:spPr>
        <p:txBody>
          <a:bodyPr wrap="square" lIns="508" tIns="508" rIns="508" bIns="508" rtlCol="0" anchor="t">
            <a:normAutofit/>
          </a:bodyPr>
          <a:lstStyle/>
          <a:p>
            <a:pPr marL="0" indent="0" algn="ctr">
              <a:buNone/>
            </a:pPr>
            <a:r>
              <a:rPr lang="en-US" sz="1450" dirty="0">
                <a:solidFill>
                  <a:srgbClr val="5F6C7B"/>
                </a:solidFill>
                <a:latin typeface="Noto Sans CJK JP" pitchFamily="34" charset="0"/>
                <a:ea typeface="Noto Sans CJK JP" pitchFamily="34" charset="-122"/>
                <a:cs typeface="Noto Sans CJK JP" pitchFamily="34" charset="-120"/>
              </a:rPr>
              <a:t>これらは「node/edge」ではなく、実行ループに挟み込む安全・観測・実行境界として扱う。</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概念対応表：1対1ではなく「近い役割」で見る</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LangGraph の用語を Agents SDK に移すときの読み替え。</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05</a:t>
            </a:r>
            <a:endParaRPr lang="en-US" sz="900" dirty="0"/>
          </a:p>
        </p:txBody>
      </p:sp>
      <p:sp>
        <p:nvSpPr>
          <p:cNvPr id="6" name="Text 4"/>
          <p:cNvSpPr/>
          <p:nvPr/>
        </p:nvSpPr>
        <p:spPr>
          <a:xfrm>
            <a:off x="594360" y="1572768"/>
            <a:ext cx="2148840" cy="438912"/>
          </a:xfrm>
          <a:prstGeom prst="rect">
            <a:avLst/>
          </a:prstGeom>
          <a:solidFill>
            <a:srgbClr val="F1EAFE"/>
          </a:solidFill>
          <a:ln w="15240">
            <a:solidFill>
              <a:srgbClr val="FFFFFF"/>
            </a:solidFill>
          </a:ln>
        </p:spPr>
        <p:txBody>
          <a:bodyPr wrap="square" lIns="1016" tIns="1016" rIns="1016" bIns="1016" rtlCol="0" anchor="ctr">
            <a:normAutofit/>
          </a:bodyPr>
          <a:lstStyle/>
          <a:p>
            <a:pPr marL="0" indent="0" algn="ctr">
              <a:buNone/>
            </a:pPr>
            <a:r>
              <a:rPr lang="en-US" sz="1350" b="1" dirty="0">
                <a:solidFill>
                  <a:srgbClr val="7C3AED"/>
                </a:solidFill>
                <a:latin typeface="Noto Sans CJK JP" pitchFamily="34" charset="0"/>
                <a:ea typeface="Noto Sans CJK JP" pitchFamily="34" charset="-122"/>
                <a:cs typeface="Noto Sans CJK JP" pitchFamily="34" charset="-120"/>
              </a:rPr>
              <a:t>LangGraph</a:t>
            </a:r>
            <a:endParaRPr lang="en-US" sz="1350" dirty="0"/>
          </a:p>
        </p:txBody>
      </p:sp>
      <p:sp>
        <p:nvSpPr>
          <p:cNvPr id="7" name="Text 5"/>
          <p:cNvSpPr/>
          <p:nvPr/>
        </p:nvSpPr>
        <p:spPr>
          <a:xfrm>
            <a:off x="2798064" y="1572768"/>
            <a:ext cx="3200400" cy="438912"/>
          </a:xfrm>
          <a:prstGeom prst="rect">
            <a:avLst/>
          </a:prstGeom>
          <a:solidFill>
            <a:srgbClr val="EAF2FF"/>
          </a:solidFill>
          <a:ln w="15240">
            <a:solidFill>
              <a:srgbClr val="FFFFFF"/>
            </a:solidFill>
          </a:ln>
        </p:spPr>
        <p:txBody>
          <a:bodyPr wrap="square" lIns="1016" tIns="1016" rIns="1016" bIns="1016" rtlCol="0" anchor="ctr">
            <a:normAutofit/>
          </a:bodyPr>
          <a:lstStyle/>
          <a:p>
            <a:pPr marL="0" indent="0" algn="ctr">
              <a:buNone/>
            </a:pPr>
            <a:r>
              <a:rPr lang="en-US" sz="1350" b="1" dirty="0">
                <a:solidFill>
                  <a:srgbClr val="1B6EF3"/>
                </a:solidFill>
                <a:latin typeface="Noto Sans CJK JP" pitchFamily="34" charset="0"/>
                <a:ea typeface="Noto Sans CJK JP" pitchFamily="34" charset="-122"/>
                <a:cs typeface="Noto Sans CJK JP" pitchFamily="34" charset="-120"/>
              </a:rPr>
              <a:t>Agents SDK で近いもの</a:t>
            </a:r>
            <a:endParaRPr lang="en-US" sz="1350" dirty="0"/>
          </a:p>
        </p:txBody>
      </p:sp>
      <p:sp>
        <p:nvSpPr>
          <p:cNvPr id="8" name="Text 6"/>
          <p:cNvSpPr/>
          <p:nvPr/>
        </p:nvSpPr>
        <p:spPr>
          <a:xfrm>
            <a:off x="6053328" y="1572768"/>
            <a:ext cx="5303520" cy="438912"/>
          </a:xfrm>
          <a:prstGeom prst="rect">
            <a:avLst/>
          </a:prstGeom>
          <a:solidFill>
            <a:srgbClr val="EEF2F7"/>
          </a:solidFill>
          <a:ln w="15240">
            <a:solidFill>
              <a:srgbClr val="FFFFFF"/>
            </a:solidFill>
          </a:ln>
        </p:spPr>
        <p:txBody>
          <a:bodyPr wrap="square" lIns="1016" tIns="1016" rIns="1016" bIns="1016" rtlCol="0" anchor="ctr">
            <a:normAutofit/>
          </a:bodyPr>
          <a:lstStyle/>
          <a:p>
            <a:pPr marL="0" indent="0" algn="ctr">
              <a:buNone/>
            </a:pPr>
            <a:r>
              <a:rPr lang="en-US" sz="1350" b="1" dirty="0">
                <a:solidFill>
                  <a:srgbClr val="0B1020"/>
                </a:solidFill>
                <a:latin typeface="Noto Sans CJK JP" pitchFamily="34" charset="0"/>
                <a:ea typeface="Noto Sans CJK JP" pitchFamily="34" charset="-122"/>
                <a:cs typeface="Noto Sans CJK JP" pitchFamily="34" charset="-120"/>
              </a:rPr>
              <a:t>補足</a:t>
            </a:r>
            <a:endParaRPr lang="en-US" sz="1350" dirty="0"/>
          </a:p>
        </p:txBody>
      </p:sp>
      <p:sp>
        <p:nvSpPr>
          <p:cNvPr id="9" name="Text 7"/>
          <p:cNvSpPr/>
          <p:nvPr/>
        </p:nvSpPr>
        <p:spPr>
          <a:xfrm>
            <a:off x="594360" y="2103120"/>
            <a:ext cx="214884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State</a:t>
            </a:r>
            <a:endParaRPr lang="en-US" sz="1600" dirty="0"/>
          </a:p>
        </p:txBody>
      </p:sp>
      <p:sp>
        <p:nvSpPr>
          <p:cNvPr id="10" name="Text 8"/>
          <p:cNvSpPr/>
          <p:nvPr/>
        </p:nvSpPr>
        <p:spPr>
          <a:xfrm>
            <a:off x="2798064" y="2103120"/>
            <a:ext cx="320040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1B6EF3"/>
                </a:solidFill>
                <a:latin typeface="Noto Sans CJK JP" pitchFamily="34" charset="0"/>
                <a:ea typeface="Noto Sans CJK JP" pitchFamily="34" charset="-122"/>
                <a:cs typeface="Noto Sans CJK JP" pitchFamily="34" charset="-120"/>
              </a:rPr>
              <a:t>Run 入力/出力、session、外部DB、Sandbox内ファイル</a:t>
            </a:r>
            <a:endParaRPr lang="en-US" sz="1340" dirty="0"/>
          </a:p>
        </p:txBody>
      </p:sp>
      <p:sp>
        <p:nvSpPr>
          <p:cNvPr id="11" name="Text 9"/>
          <p:cNvSpPr/>
          <p:nvPr/>
        </p:nvSpPr>
        <p:spPr>
          <a:xfrm>
            <a:off x="6053328" y="2103120"/>
            <a:ext cx="530352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0B1020"/>
                </a:solidFill>
                <a:latin typeface="Noto Sans CJK JP" pitchFamily="34" charset="0"/>
                <a:ea typeface="Noto Sans CJK JP" pitchFamily="34" charset="-122"/>
                <a:cs typeface="Noto Sans CJK JP" pitchFamily="34" charset="-120"/>
              </a:rPr>
              <a:t>共有 State が標準というより、必要に応じて保存場所を選ぶ</a:t>
            </a:r>
            <a:endParaRPr lang="en-US" sz="1340" dirty="0"/>
          </a:p>
        </p:txBody>
      </p:sp>
      <p:sp>
        <p:nvSpPr>
          <p:cNvPr id="12" name="Text 10"/>
          <p:cNvSpPr/>
          <p:nvPr/>
        </p:nvSpPr>
        <p:spPr>
          <a:xfrm>
            <a:off x="594360" y="2761488"/>
            <a:ext cx="214884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Node</a:t>
            </a:r>
            <a:endParaRPr lang="en-US" sz="1600" dirty="0"/>
          </a:p>
        </p:txBody>
      </p:sp>
      <p:sp>
        <p:nvSpPr>
          <p:cNvPr id="13" name="Text 11"/>
          <p:cNvSpPr/>
          <p:nvPr/>
        </p:nvSpPr>
        <p:spPr>
          <a:xfrm>
            <a:off x="2798064" y="2761488"/>
            <a:ext cx="320040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1B6EF3"/>
                </a:solidFill>
                <a:latin typeface="Noto Sans CJK JP" pitchFamily="34" charset="0"/>
                <a:ea typeface="Noto Sans CJK JP" pitchFamily="34" charset="-122"/>
                <a:cs typeface="Noto Sans CJK JP" pitchFamily="34" charset="-120"/>
              </a:rPr>
              <a:t>Agent / function tool / Python の処理関数</a:t>
            </a:r>
            <a:endParaRPr lang="en-US" sz="1340" dirty="0"/>
          </a:p>
        </p:txBody>
      </p:sp>
      <p:sp>
        <p:nvSpPr>
          <p:cNvPr id="14" name="Text 12"/>
          <p:cNvSpPr/>
          <p:nvPr/>
        </p:nvSpPr>
        <p:spPr>
          <a:xfrm>
            <a:off x="6053328" y="2761488"/>
            <a:ext cx="530352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0B1020"/>
                </a:solidFill>
                <a:latin typeface="Noto Sans CJK JP" pitchFamily="34" charset="0"/>
                <a:ea typeface="Noto Sans CJK JP" pitchFamily="34" charset="-122"/>
                <a:cs typeface="Noto Sans CJK JP" pitchFamily="34" charset="-120"/>
              </a:rPr>
              <a:t>LLM が動く処理単位と、通常のコード処理を分けやすい</a:t>
            </a:r>
            <a:endParaRPr lang="en-US" sz="1340" dirty="0"/>
          </a:p>
        </p:txBody>
      </p:sp>
      <p:sp>
        <p:nvSpPr>
          <p:cNvPr id="15" name="Text 13"/>
          <p:cNvSpPr/>
          <p:nvPr/>
        </p:nvSpPr>
        <p:spPr>
          <a:xfrm>
            <a:off x="594360" y="3419856"/>
            <a:ext cx="214884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Edge</a:t>
            </a:r>
            <a:endParaRPr lang="en-US" sz="1600" dirty="0"/>
          </a:p>
        </p:txBody>
      </p:sp>
      <p:sp>
        <p:nvSpPr>
          <p:cNvPr id="16" name="Text 14"/>
          <p:cNvSpPr/>
          <p:nvPr/>
        </p:nvSpPr>
        <p:spPr>
          <a:xfrm>
            <a:off x="2798064" y="3419856"/>
            <a:ext cx="320040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1B6EF3"/>
                </a:solidFill>
                <a:latin typeface="Noto Sans CJK JP" pitchFamily="34" charset="0"/>
                <a:ea typeface="Noto Sans CJK JP" pitchFamily="34" charset="-122"/>
                <a:cs typeface="Noto Sans CJK JP" pitchFamily="34" charset="-120"/>
              </a:rPr>
              <a:t>Handoff / Runner のツールループ / Python 分岐</a:t>
            </a:r>
            <a:endParaRPr lang="en-US" sz="1340" dirty="0"/>
          </a:p>
        </p:txBody>
      </p:sp>
      <p:sp>
        <p:nvSpPr>
          <p:cNvPr id="17" name="Text 15"/>
          <p:cNvSpPr/>
          <p:nvPr/>
        </p:nvSpPr>
        <p:spPr>
          <a:xfrm>
            <a:off x="6053328" y="3419856"/>
            <a:ext cx="530352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0B1020"/>
                </a:solidFill>
                <a:latin typeface="Noto Sans CJK JP" pitchFamily="34" charset="0"/>
                <a:ea typeface="Noto Sans CJK JP" pitchFamily="34" charset="-122"/>
                <a:cs typeface="Noto Sans CJK JP" pitchFamily="34" charset="-120"/>
              </a:rPr>
              <a:t>固定 edge ではなく、Agent の判断やコード側分岐で進行</a:t>
            </a:r>
            <a:endParaRPr lang="en-US" sz="1340" dirty="0"/>
          </a:p>
        </p:txBody>
      </p:sp>
      <p:sp>
        <p:nvSpPr>
          <p:cNvPr id="18" name="Text 16"/>
          <p:cNvSpPr/>
          <p:nvPr/>
        </p:nvSpPr>
        <p:spPr>
          <a:xfrm>
            <a:off x="594360" y="4078224"/>
            <a:ext cx="214884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Graph</a:t>
            </a:r>
            <a:endParaRPr lang="en-US" sz="1600" dirty="0"/>
          </a:p>
        </p:txBody>
      </p:sp>
      <p:sp>
        <p:nvSpPr>
          <p:cNvPr id="19" name="Text 17"/>
          <p:cNvSpPr/>
          <p:nvPr/>
        </p:nvSpPr>
        <p:spPr>
          <a:xfrm>
            <a:off x="2798064" y="4078224"/>
            <a:ext cx="320040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1B6EF3"/>
                </a:solidFill>
                <a:latin typeface="Noto Sans CJK JP" pitchFamily="34" charset="0"/>
                <a:ea typeface="Noto Sans CJK JP" pitchFamily="34" charset="-122"/>
                <a:cs typeface="Noto Sans CJK JP" pitchFamily="34" charset="-120"/>
              </a:rPr>
              <a:t>Runner + Agent 群 + Python orchestration</a:t>
            </a:r>
            <a:endParaRPr lang="en-US" sz="1340" dirty="0"/>
          </a:p>
        </p:txBody>
      </p:sp>
      <p:sp>
        <p:nvSpPr>
          <p:cNvPr id="20" name="Text 18"/>
          <p:cNvSpPr/>
          <p:nvPr/>
        </p:nvSpPr>
        <p:spPr>
          <a:xfrm>
            <a:off x="6053328" y="4078224"/>
            <a:ext cx="530352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0B1020"/>
                </a:solidFill>
                <a:latin typeface="Noto Sans CJK JP" pitchFamily="34" charset="0"/>
                <a:ea typeface="Noto Sans CJK JP" pitchFamily="34" charset="-122"/>
                <a:cs typeface="Noto Sans CJK JP" pitchFamily="34" charset="-120"/>
              </a:rPr>
              <a:t>グラフビルダーというより、実行ハーネスと部品の組み合わせ</a:t>
            </a:r>
            <a:endParaRPr lang="en-US" sz="1340" dirty="0"/>
          </a:p>
        </p:txBody>
      </p:sp>
      <p:sp>
        <p:nvSpPr>
          <p:cNvPr id="21" name="Text 19"/>
          <p:cNvSpPr/>
          <p:nvPr/>
        </p:nvSpPr>
        <p:spPr>
          <a:xfrm>
            <a:off x="594360" y="4736592"/>
            <a:ext cx="214884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Reducer</a:t>
            </a:r>
            <a:endParaRPr lang="en-US" sz="1600" dirty="0"/>
          </a:p>
        </p:txBody>
      </p:sp>
      <p:sp>
        <p:nvSpPr>
          <p:cNvPr id="22" name="Text 20"/>
          <p:cNvSpPr/>
          <p:nvPr/>
        </p:nvSpPr>
        <p:spPr>
          <a:xfrm>
            <a:off x="2798064" y="4736592"/>
            <a:ext cx="320040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1B6EF3"/>
                </a:solidFill>
                <a:latin typeface="Noto Sans CJK JP" pitchFamily="34" charset="0"/>
                <a:ea typeface="Noto Sans CJK JP" pitchFamily="34" charset="-122"/>
                <a:cs typeface="Noto Sans CJK JP" pitchFamily="34" charset="-120"/>
              </a:rPr>
              <a:t>明示的な集約ロジック、session/memory、結果処理</a:t>
            </a:r>
            <a:endParaRPr lang="en-US" sz="1340" dirty="0"/>
          </a:p>
        </p:txBody>
      </p:sp>
      <p:sp>
        <p:nvSpPr>
          <p:cNvPr id="23" name="Text 21"/>
          <p:cNvSpPr/>
          <p:nvPr/>
        </p:nvSpPr>
        <p:spPr>
          <a:xfrm>
            <a:off x="6053328" y="4736592"/>
            <a:ext cx="5303520" cy="585216"/>
          </a:xfrm>
          <a:prstGeom prst="rect">
            <a:avLst/>
          </a:prstGeom>
          <a:solidFill>
            <a:srgbClr val="FFFFFF"/>
          </a:solidFill>
          <a:ln w="12700">
            <a:solidFill>
              <a:srgbClr val="DDE5EF"/>
            </a:solidFill>
          </a:ln>
        </p:spPr>
        <p:txBody>
          <a:bodyPr wrap="square" lIns="889" tIns="889" rIns="889" bIns="889" rtlCol="0" anchor="ctr">
            <a:normAutofit/>
          </a:bodyPr>
          <a:lstStyle/>
          <a:p>
            <a:pPr marL="0" indent="0" algn="l">
              <a:buNone/>
            </a:pPr>
            <a:r>
              <a:rPr lang="en-US" sz="1340" dirty="0">
                <a:solidFill>
                  <a:srgbClr val="0B1020"/>
                </a:solidFill>
                <a:latin typeface="Noto Sans CJK JP" pitchFamily="34" charset="0"/>
                <a:ea typeface="Noto Sans CJK JP" pitchFamily="34" charset="-122"/>
                <a:cs typeface="Noto Sans CJK JP" pitchFamily="34" charset="-120"/>
              </a:rPr>
              <a:t>マージ規則はフレームワーク標準ではなくアプリ側で設計</a:t>
            </a:r>
            <a:endParaRPr lang="en-US" sz="1340" dirty="0"/>
          </a:p>
        </p:txBody>
      </p:sp>
      <p:sp>
        <p:nvSpPr>
          <p:cNvPr id="24" name="Text 22"/>
          <p:cNvSpPr/>
          <p:nvPr/>
        </p:nvSpPr>
        <p:spPr>
          <a:xfrm>
            <a:off x="1005840" y="5532120"/>
            <a:ext cx="10104120" cy="530352"/>
          </a:xfrm>
          <a:prstGeom prst="rect">
            <a:avLst/>
          </a:prstGeom>
          <a:solidFill>
            <a:srgbClr val="FFF5E2"/>
          </a:solidFill>
          <a:ln>
            <a:solidFill>
              <a:srgbClr val="FFF5E2"/>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重要：Agents SDK は「グラフ状態管理フレームワーク」ではなく、Agent 実行・ツール・安全境界のフレームワークとして見ると理解しやすい。</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State の扱い：共有 State か、実行の記録＋外部状態か</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実装時に一番つまずきやすい差分。</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06</a:t>
            </a:r>
            <a:endParaRPr lang="en-US" sz="900" dirty="0"/>
          </a:p>
        </p:txBody>
      </p:sp>
      <p:sp>
        <p:nvSpPr>
          <p:cNvPr id="6" name="Text 4"/>
          <p:cNvSpPr/>
          <p:nvPr/>
        </p:nvSpPr>
        <p:spPr>
          <a:xfrm>
            <a:off x="749808" y="1627632"/>
            <a:ext cx="1234440" cy="292608"/>
          </a:xfrm>
          <a:prstGeom prst="rect">
            <a:avLst/>
          </a:prstGeom>
          <a:solidFill>
            <a:srgbClr val="F1EAFE"/>
          </a:solidFill>
          <a:ln>
            <a:solidFill>
              <a:srgbClr val="F1EAFE"/>
            </a:solidFill>
          </a:ln>
        </p:spPr>
        <p:txBody>
          <a:bodyPr wrap="square" lIns="381" tIns="381" rIns="381" bIns="381" rtlCol="0" anchor="ctr">
            <a:normAutofit/>
          </a:bodyPr>
          <a:lstStyle/>
          <a:p>
            <a:pPr marL="0" indent="0" algn="ctr">
              <a:buNone/>
            </a:pPr>
            <a:r>
              <a:rPr lang="en-US" sz="1050" b="1" dirty="0">
                <a:solidFill>
                  <a:srgbClr val="7C3AED"/>
                </a:solidFill>
                <a:latin typeface="Noto Sans CJK JP" pitchFamily="34" charset="0"/>
                <a:ea typeface="Noto Sans CJK JP" pitchFamily="34" charset="-122"/>
                <a:cs typeface="Noto Sans CJK JP" pitchFamily="34" charset="-120"/>
              </a:rPr>
              <a:t>LangGraph</a:t>
            </a:r>
            <a:endParaRPr lang="en-US" sz="1050" dirty="0"/>
          </a:p>
        </p:txBody>
      </p:sp>
      <p:sp>
        <p:nvSpPr>
          <p:cNvPr id="7" name="Text 5"/>
          <p:cNvSpPr/>
          <p:nvPr/>
        </p:nvSpPr>
        <p:spPr>
          <a:xfrm>
            <a:off x="987552" y="2331720"/>
            <a:ext cx="2011680" cy="6400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700" b="1" dirty="0">
                <a:solidFill>
                  <a:srgbClr val="7C3AED"/>
                </a:solidFill>
                <a:latin typeface="Noto Sans CJK JP" pitchFamily="34" charset="0"/>
                <a:ea typeface="Noto Sans CJK JP" pitchFamily="34" charset="-122"/>
                <a:cs typeface="Noto Sans CJK JP" pitchFamily="34" charset="-120"/>
              </a:rPr>
              <a:t>Shared State</a:t>
            </a:r>
            <a:endParaRPr lang="en-US" sz="1700" dirty="0"/>
          </a:p>
        </p:txBody>
      </p:sp>
      <p:sp>
        <p:nvSpPr>
          <p:cNvPr id="8" name="Text 6"/>
          <p:cNvSpPr/>
          <p:nvPr/>
        </p:nvSpPr>
        <p:spPr>
          <a:xfrm>
            <a:off x="1261872" y="3154680"/>
            <a:ext cx="1463040" cy="420624"/>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300" b="1" dirty="0">
                <a:solidFill>
                  <a:srgbClr val="7C3AED"/>
                </a:solidFill>
                <a:latin typeface="Noto Sans CJK JP" pitchFamily="34" charset="0"/>
                <a:ea typeface="Noto Sans CJK JP" pitchFamily="34" charset="-122"/>
                <a:cs typeface="Noto Sans CJK JP" pitchFamily="34" charset="-120"/>
              </a:rPr>
              <a:t>messages</a:t>
            </a:r>
            <a:endParaRPr lang="en-US" sz="1300" dirty="0"/>
          </a:p>
        </p:txBody>
      </p:sp>
      <p:sp>
        <p:nvSpPr>
          <p:cNvPr id="9" name="Text 7"/>
          <p:cNvSpPr/>
          <p:nvPr/>
        </p:nvSpPr>
        <p:spPr>
          <a:xfrm>
            <a:off x="1261872" y="3694176"/>
            <a:ext cx="1463040" cy="420624"/>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300" b="1" dirty="0">
                <a:solidFill>
                  <a:srgbClr val="7C3AED"/>
                </a:solidFill>
                <a:latin typeface="Noto Sans CJK JP" pitchFamily="34" charset="0"/>
                <a:ea typeface="Noto Sans CJK JP" pitchFamily="34" charset="-122"/>
                <a:cs typeface="Noto Sans CJK JP" pitchFamily="34" charset="-120"/>
              </a:rPr>
              <a:t>flags</a:t>
            </a:r>
            <a:endParaRPr lang="en-US" sz="1300" dirty="0"/>
          </a:p>
        </p:txBody>
      </p:sp>
      <p:sp>
        <p:nvSpPr>
          <p:cNvPr id="10" name="Text 8"/>
          <p:cNvSpPr/>
          <p:nvPr/>
        </p:nvSpPr>
        <p:spPr>
          <a:xfrm>
            <a:off x="1261872" y="4233672"/>
            <a:ext cx="1463040" cy="420624"/>
          </a:xfrm>
          <a:prstGeom prst="rect">
            <a:avLst/>
          </a:prstGeom>
          <a:solidFill>
            <a:srgbClr val="FFFFFF"/>
          </a:solidFill>
          <a:ln w="15240">
            <a:solidFill>
              <a:srgbClr val="7C3AED"/>
            </a:solidFill>
          </a:ln>
        </p:spPr>
        <p:txBody>
          <a:bodyPr wrap="square" lIns="1016" tIns="1016" rIns="1016" bIns="1016" rtlCol="0" anchor="ctr">
            <a:normAutofit/>
          </a:bodyPr>
          <a:lstStyle/>
          <a:p>
            <a:pPr marL="0" indent="0" algn="ctr">
              <a:buNone/>
            </a:pPr>
            <a:r>
              <a:rPr lang="en-US" sz="1300" b="1" dirty="0">
                <a:solidFill>
                  <a:srgbClr val="7C3AED"/>
                </a:solidFill>
                <a:latin typeface="Noto Sans CJK JP" pitchFamily="34" charset="0"/>
                <a:ea typeface="Noto Sans CJK JP" pitchFamily="34" charset="-122"/>
                <a:cs typeface="Noto Sans CJK JP" pitchFamily="34" charset="-120"/>
              </a:rPr>
              <a:t>results</a:t>
            </a:r>
            <a:endParaRPr lang="en-US" sz="1300" dirty="0"/>
          </a:p>
        </p:txBody>
      </p:sp>
      <p:sp>
        <p:nvSpPr>
          <p:cNvPr id="11" name="Text 9"/>
          <p:cNvSpPr/>
          <p:nvPr/>
        </p:nvSpPr>
        <p:spPr>
          <a:xfrm>
            <a:off x="841248" y="5166360"/>
            <a:ext cx="3429000" cy="658368"/>
          </a:xfrm>
          <a:prstGeom prst="rect">
            <a:avLst/>
          </a:prstGeom>
          <a:noFill/>
          <a:ln/>
        </p:spPr>
        <p:txBody>
          <a:bodyPr wrap="square" lIns="508" tIns="508" rIns="508" bIns="508" rtlCol="0" anchor="t">
            <a:normAutofit/>
          </a:bodyPr>
          <a:lstStyle/>
          <a:p>
            <a:pPr marL="0" indent="0" algn="l">
              <a:buNone/>
            </a:pPr>
            <a:r>
              <a:rPr lang="en-US" sz="1520" dirty="0">
                <a:solidFill>
                  <a:srgbClr val="0B1020"/>
                </a:solidFill>
                <a:latin typeface="Noto Sans CJK JP" pitchFamily="34" charset="0"/>
                <a:ea typeface="Noto Sans CJK JP" pitchFamily="34" charset="-122"/>
                <a:cs typeface="Noto Sans CJK JP" pitchFamily="34" charset="-120"/>
              </a:rPr>
              <a:t>node は State を受け取り、部分更新を返す。複数更新は reducer で統合。</a:t>
            </a:r>
            <a:endParaRPr lang="en-US" sz="1520" dirty="0"/>
          </a:p>
        </p:txBody>
      </p:sp>
      <p:sp>
        <p:nvSpPr>
          <p:cNvPr id="12" name="Text 10"/>
          <p:cNvSpPr/>
          <p:nvPr/>
        </p:nvSpPr>
        <p:spPr>
          <a:xfrm>
            <a:off x="5715000" y="1627632"/>
            <a:ext cx="1874520" cy="292608"/>
          </a:xfrm>
          <a:prstGeom prst="rect">
            <a:avLst/>
          </a:prstGeom>
          <a:solidFill>
            <a:srgbClr val="EAF2FF"/>
          </a:solidFill>
          <a:ln>
            <a:solidFill>
              <a:srgbClr val="EAF2FF"/>
            </a:solidFill>
          </a:ln>
        </p:spPr>
        <p:txBody>
          <a:bodyPr wrap="square" lIns="381" tIns="381" rIns="381" bIns="381" rtlCol="0" anchor="ctr">
            <a:normAutofit/>
          </a:bodyPr>
          <a:lstStyle/>
          <a:p>
            <a:pPr marL="0" indent="0" algn="ctr">
              <a:buNone/>
            </a:pPr>
            <a:r>
              <a:rPr lang="en-US" sz="1050" b="1" dirty="0">
                <a:solidFill>
                  <a:srgbClr val="1B6EF3"/>
                </a:solidFill>
                <a:latin typeface="Noto Sans CJK JP" pitchFamily="34" charset="0"/>
                <a:ea typeface="Noto Sans CJK JP" pitchFamily="34" charset="-122"/>
                <a:cs typeface="Noto Sans CJK JP" pitchFamily="34" charset="-120"/>
              </a:rPr>
              <a:t>OpenAI Agents SDK</a:t>
            </a:r>
            <a:endParaRPr lang="en-US" sz="1050" dirty="0"/>
          </a:p>
        </p:txBody>
      </p:sp>
      <p:sp>
        <p:nvSpPr>
          <p:cNvPr id="13" name="Text 11"/>
          <p:cNvSpPr/>
          <p:nvPr/>
        </p:nvSpPr>
        <p:spPr>
          <a:xfrm>
            <a:off x="5577840" y="2194560"/>
            <a:ext cx="2331720" cy="50292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450" b="1" dirty="0">
                <a:solidFill>
                  <a:srgbClr val="1B6EF3"/>
                </a:solidFill>
                <a:latin typeface="Noto Sans CJK JP" pitchFamily="34" charset="0"/>
                <a:ea typeface="Noto Sans CJK JP" pitchFamily="34" charset="-122"/>
                <a:cs typeface="Noto Sans CJK JP" pitchFamily="34" charset="-120"/>
              </a:rPr>
              <a:t>Run result / transcript</a:t>
            </a:r>
            <a:endParaRPr lang="en-US" sz="1450" dirty="0"/>
          </a:p>
        </p:txBody>
      </p:sp>
      <p:sp>
        <p:nvSpPr>
          <p:cNvPr id="14" name="Text 12"/>
          <p:cNvSpPr/>
          <p:nvPr/>
        </p:nvSpPr>
        <p:spPr>
          <a:xfrm>
            <a:off x="5577840" y="2852928"/>
            <a:ext cx="2331720" cy="50292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450" b="1" dirty="0">
                <a:solidFill>
                  <a:srgbClr val="064E3B"/>
                </a:solidFill>
                <a:latin typeface="Noto Sans CJK JP" pitchFamily="34" charset="0"/>
                <a:ea typeface="Noto Sans CJK JP" pitchFamily="34" charset="-122"/>
                <a:cs typeface="Noto Sans CJK JP" pitchFamily="34" charset="-120"/>
              </a:rPr>
              <a:t>Tool I/O</a:t>
            </a:r>
            <a:endParaRPr lang="en-US" sz="1450" dirty="0"/>
          </a:p>
        </p:txBody>
      </p:sp>
      <p:sp>
        <p:nvSpPr>
          <p:cNvPr id="15" name="Text 13"/>
          <p:cNvSpPr/>
          <p:nvPr/>
        </p:nvSpPr>
        <p:spPr>
          <a:xfrm>
            <a:off x="5577840" y="3511296"/>
            <a:ext cx="2331720" cy="50292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450" b="1" dirty="0">
                <a:solidFill>
                  <a:srgbClr val="1B6EF3"/>
                </a:solidFill>
                <a:latin typeface="Noto Sans CJK JP" pitchFamily="34" charset="0"/>
                <a:ea typeface="Noto Sans CJK JP" pitchFamily="34" charset="-122"/>
                <a:cs typeface="Noto Sans CJK JP" pitchFamily="34" charset="-120"/>
              </a:rPr>
              <a:t>Session / memory</a:t>
            </a:r>
            <a:endParaRPr lang="en-US" sz="1450" dirty="0"/>
          </a:p>
        </p:txBody>
      </p:sp>
      <p:sp>
        <p:nvSpPr>
          <p:cNvPr id="16" name="Text 14"/>
          <p:cNvSpPr/>
          <p:nvPr/>
        </p:nvSpPr>
        <p:spPr>
          <a:xfrm>
            <a:off x="5577840" y="4169664"/>
            <a:ext cx="2331720" cy="502920"/>
          </a:xfrm>
          <a:prstGeom prst="rect">
            <a:avLst/>
          </a:prstGeom>
          <a:solidFill>
            <a:srgbClr val="FFF5E2"/>
          </a:solidFill>
          <a:ln w="15240">
            <a:solidFill>
              <a:srgbClr val="F59E0B"/>
            </a:solidFill>
          </a:ln>
        </p:spPr>
        <p:txBody>
          <a:bodyPr wrap="square" lIns="1016" tIns="1016" rIns="1016" bIns="1016" rtlCol="0" anchor="ctr">
            <a:normAutofit/>
          </a:bodyPr>
          <a:lstStyle/>
          <a:p>
            <a:pPr marL="0" indent="0" algn="ctr">
              <a:buNone/>
            </a:pPr>
            <a:r>
              <a:rPr lang="en-US" sz="1450" b="1" dirty="0">
                <a:solidFill>
                  <a:srgbClr val="F59E0B"/>
                </a:solidFill>
                <a:latin typeface="Noto Sans CJK JP" pitchFamily="34" charset="0"/>
                <a:ea typeface="Noto Sans CJK JP" pitchFamily="34" charset="-122"/>
                <a:cs typeface="Noto Sans CJK JP" pitchFamily="34" charset="-120"/>
              </a:rPr>
              <a:t>Sandbox workspace</a:t>
            </a:r>
            <a:endParaRPr lang="en-US" sz="1450" dirty="0"/>
          </a:p>
        </p:txBody>
      </p:sp>
      <p:sp>
        <p:nvSpPr>
          <p:cNvPr id="17" name="Text 15"/>
          <p:cNvSpPr/>
          <p:nvPr/>
        </p:nvSpPr>
        <p:spPr>
          <a:xfrm>
            <a:off x="8366760" y="2331720"/>
            <a:ext cx="2990088" cy="2194560"/>
          </a:xfrm>
          <a:prstGeom prst="rect">
            <a:avLst/>
          </a:prstGeom>
          <a:noFill/>
          <a:ln/>
        </p:spPr>
        <p:txBody>
          <a:bodyPr wrap="square" lIns="508" tIns="508" rIns="508" bIns="508" rtlCol="0" anchor="t">
            <a:normAutofit/>
          </a:bodyPr>
          <a:lstStyle/>
          <a:p>
            <a:pPr marL="0" indent="0" algn="l">
              <a:buNone/>
            </a:pPr>
            <a:r>
              <a:rPr lang="en-US" sz="1600" dirty="0">
                <a:solidFill>
                  <a:srgbClr val="0B1020"/>
                </a:solidFill>
                <a:latin typeface="Noto Sans CJK JP" pitchFamily="34" charset="0"/>
                <a:ea typeface="Noto Sans CJK JP" pitchFamily="34" charset="-122"/>
                <a:cs typeface="Noto Sans CJK JP" pitchFamily="34" charset="-120"/>
              </a:rPr>
              <a:t>状態は 1 つの共有オブジェクトに閉じない。会話履歴・ツール結果・アプリDB・Sandboxファイルを組み合わせて管理。</a:t>
            </a:r>
            <a:endParaRPr lang="en-US" sz="1600" dirty="0"/>
          </a:p>
        </p:txBody>
      </p:sp>
      <p:sp>
        <p:nvSpPr>
          <p:cNvPr id="18" name="Text 16"/>
          <p:cNvSpPr/>
          <p:nvPr/>
        </p:nvSpPr>
        <p:spPr>
          <a:xfrm>
            <a:off x="914400" y="5897880"/>
            <a:ext cx="10287000" cy="438912"/>
          </a:xfrm>
          <a:prstGeom prst="rect">
            <a:avLst/>
          </a:prstGeom>
          <a:solidFill>
            <a:srgbClr val="EEF2F7"/>
          </a:solidFill>
          <a:ln>
            <a:solidFill>
              <a:srgbClr val="EEF2F7"/>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移行のコツ：LangGraph の State を、そのまま Agents SDK に持ち込むより「どの状態をどこに置くか」に分解する。</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HITL + Sandbox を入れると何が変わるか</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判断・承認・実行環境を分離できるので、デモで安全性を説明しやすい。</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07</a:t>
            </a:r>
            <a:endParaRPr lang="en-US" sz="900" dirty="0"/>
          </a:p>
        </p:txBody>
      </p:sp>
      <p:sp>
        <p:nvSpPr>
          <p:cNvPr id="6" name="Shape 4"/>
          <p:cNvSpPr/>
          <p:nvPr/>
        </p:nvSpPr>
        <p:spPr>
          <a:xfrm>
            <a:off x="1234440" y="2907792"/>
            <a:ext cx="868680" cy="0"/>
          </a:xfrm>
          <a:prstGeom prst="line">
            <a:avLst/>
          </a:prstGeom>
          <a:noFill/>
          <a:ln w="25400">
            <a:solidFill>
              <a:srgbClr val="1B6EF3"/>
            </a:solidFill>
            <a:prstDash val="solid"/>
            <a:headEnd type="none"/>
            <a:tailEnd type="triangle"/>
          </a:ln>
        </p:spPr>
        <p:txBody>
          <a:bodyPr/>
          <a:lstStyle/>
          <a:p>
            <a:endParaRPr lang="ja-JP" altLang="en-US"/>
          </a:p>
        </p:txBody>
      </p:sp>
      <p:sp>
        <p:nvSpPr>
          <p:cNvPr id="7" name="Shape 5"/>
          <p:cNvSpPr/>
          <p:nvPr/>
        </p:nvSpPr>
        <p:spPr>
          <a:xfrm>
            <a:off x="3246120" y="2907792"/>
            <a:ext cx="868680" cy="0"/>
          </a:xfrm>
          <a:prstGeom prst="line">
            <a:avLst/>
          </a:prstGeom>
          <a:noFill/>
          <a:ln w="25400">
            <a:solidFill>
              <a:srgbClr val="F59E0B"/>
            </a:solidFill>
            <a:prstDash val="solid"/>
            <a:headEnd type="none"/>
            <a:tailEnd type="triangle"/>
          </a:ln>
        </p:spPr>
        <p:txBody>
          <a:bodyPr/>
          <a:lstStyle/>
          <a:p>
            <a:endParaRPr lang="ja-JP" altLang="en-US"/>
          </a:p>
        </p:txBody>
      </p:sp>
      <p:sp>
        <p:nvSpPr>
          <p:cNvPr id="8" name="Shape 6"/>
          <p:cNvSpPr/>
          <p:nvPr/>
        </p:nvSpPr>
        <p:spPr>
          <a:xfrm>
            <a:off x="5257800" y="2907792"/>
            <a:ext cx="868680" cy="0"/>
          </a:xfrm>
          <a:prstGeom prst="line">
            <a:avLst/>
          </a:prstGeom>
          <a:noFill/>
          <a:ln w="25400">
            <a:solidFill>
              <a:srgbClr val="10B981"/>
            </a:solidFill>
            <a:prstDash val="solid"/>
            <a:headEnd type="none"/>
            <a:tailEnd type="triangle"/>
          </a:ln>
        </p:spPr>
        <p:txBody>
          <a:bodyPr/>
          <a:lstStyle/>
          <a:p>
            <a:endParaRPr lang="ja-JP" altLang="en-US"/>
          </a:p>
        </p:txBody>
      </p:sp>
      <p:sp>
        <p:nvSpPr>
          <p:cNvPr id="9" name="Shape 7"/>
          <p:cNvSpPr/>
          <p:nvPr/>
        </p:nvSpPr>
        <p:spPr>
          <a:xfrm>
            <a:off x="7315200" y="2907792"/>
            <a:ext cx="868680" cy="0"/>
          </a:xfrm>
          <a:prstGeom prst="line">
            <a:avLst/>
          </a:prstGeom>
          <a:noFill/>
          <a:ln w="25400">
            <a:solidFill>
              <a:srgbClr val="10B981"/>
            </a:solidFill>
            <a:prstDash val="solid"/>
            <a:headEnd type="none"/>
            <a:tailEnd type="triangle"/>
          </a:ln>
        </p:spPr>
        <p:txBody>
          <a:bodyPr/>
          <a:lstStyle/>
          <a:p>
            <a:endParaRPr lang="ja-JP" altLang="en-US"/>
          </a:p>
        </p:txBody>
      </p:sp>
      <p:sp>
        <p:nvSpPr>
          <p:cNvPr id="10" name="Shape 8"/>
          <p:cNvSpPr/>
          <p:nvPr/>
        </p:nvSpPr>
        <p:spPr>
          <a:xfrm>
            <a:off x="9372600" y="2907792"/>
            <a:ext cx="822960" cy="0"/>
          </a:xfrm>
          <a:prstGeom prst="line">
            <a:avLst/>
          </a:prstGeom>
          <a:noFill/>
          <a:ln w="25400">
            <a:solidFill>
              <a:srgbClr val="1B6EF3"/>
            </a:solidFill>
            <a:prstDash val="solid"/>
            <a:headEnd type="none"/>
            <a:tailEnd type="triangle"/>
          </a:ln>
        </p:spPr>
        <p:txBody>
          <a:bodyPr/>
          <a:lstStyle/>
          <a:p>
            <a:endParaRPr lang="ja-JP" altLang="en-US"/>
          </a:p>
        </p:txBody>
      </p:sp>
      <p:sp>
        <p:nvSpPr>
          <p:cNvPr id="11" name="Text 9"/>
          <p:cNvSpPr/>
          <p:nvPr/>
        </p:nvSpPr>
        <p:spPr>
          <a:xfrm>
            <a:off x="658368" y="2404872"/>
            <a:ext cx="1097280" cy="100584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AI が</a:t>
            </a:r>
            <a:endParaRPr lang="en-US" sz="1500" dirty="0"/>
          </a:p>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対策判断</a:t>
            </a:r>
            <a:endParaRPr lang="en-US" sz="1500" dirty="0"/>
          </a:p>
        </p:txBody>
      </p:sp>
      <p:sp>
        <p:nvSpPr>
          <p:cNvPr id="12" name="Text 10"/>
          <p:cNvSpPr/>
          <p:nvPr/>
        </p:nvSpPr>
        <p:spPr>
          <a:xfrm>
            <a:off x="2103120" y="2404872"/>
            <a:ext cx="1143000" cy="1005840"/>
          </a:xfrm>
          <a:prstGeom prst="rect">
            <a:avLst/>
          </a:prstGeom>
          <a:solidFill>
            <a:srgbClr val="FFF5E2"/>
          </a:solidFill>
          <a:ln w="15240">
            <a:solidFill>
              <a:srgbClr val="F59E0B"/>
            </a:solidFill>
          </a:ln>
        </p:spPr>
        <p:txBody>
          <a:bodyPr wrap="square" lIns="1016" tIns="1016" rIns="1016" bIns="1016" rtlCol="0" anchor="ctr">
            <a:normAutofit/>
          </a:bodyPr>
          <a:lstStyle/>
          <a:p>
            <a:pPr marL="0" indent="0" algn="ctr">
              <a:buNone/>
            </a:pPr>
            <a:r>
              <a:rPr lang="en-US" sz="1400" b="1" dirty="0">
                <a:solidFill>
                  <a:srgbClr val="F59E0B"/>
                </a:solidFill>
                <a:latin typeface="Noto Sans CJK JP" pitchFamily="34" charset="0"/>
                <a:ea typeface="Noto Sans CJK JP" pitchFamily="34" charset="-122"/>
                <a:cs typeface="Noto Sans CJK JP" pitchFamily="34" charset="-120"/>
              </a:rPr>
              <a:t>承認待ち</a:t>
            </a:r>
            <a:endParaRPr lang="en-US" sz="1400" dirty="0"/>
          </a:p>
          <a:p>
            <a:pPr marL="0" indent="0" algn="ctr">
              <a:buNone/>
            </a:pPr>
            <a:r>
              <a:rPr lang="en-US" sz="1400" b="1" dirty="0">
                <a:solidFill>
                  <a:srgbClr val="F59E0B"/>
                </a:solidFill>
                <a:latin typeface="Noto Sans CJK JP" pitchFamily="34" charset="0"/>
                <a:ea typeface="Noto Sans CJK JP" pitchFamily="34" charset="-122"/>
                <a:cs typeface="Noto Sans CJK JP" pitchFamily="34" charset="-120"/>
              </a:rPr>
              <a:t>Interrupt</a:t>
            </a:r>
            <a:endParaRPr lang="en-US" sz="1400" dirty="0"/>
          </a:p>
        </p:txBody>
      </p:sp>
      <p:sp>
        <p:nvSpPr>
          <p:cNvPr id="13" name="Text 11"/>
          <p:cNvSpPr/>
          <p:nvPr/>
        </p:nvSpPr>
        <p:spPr>
          <a:xfrm>
            <a:off x="4114800" y="2404872"/>
            <a:ext cx="1143000" cy="1005840"/>
          </a:xfrm>
          <a:prstGeom prst="rect">
            <a:avLst/>
          </a:prstGeom>
          <a:solidFill>
            <a:srgbClr val="FFFFFF"/>
          </a:solidFill>
          <a:ln w="15240">
            <a:solidFill>
              <a:srgbClr val="F59E0B"/>
            </a:solidFill>
          </a:ln>
        </p:spPr>
        <p:txBody>
          <a:bodyPr wrap="square" lIns="1016" tIns="1016" rIns="1016" bIns="1016" rtlCol="0" anchor="ctr">
            <a:normAutofit/>
          </a:bodyPr>
          <a:lstStyle/>
          <a:p>
            <a:pPr marL="0" indent="0" algn="ctr">
              <a:buNone/>
            </a:pPr>
            <a:r>
              <a:rPr lang="en-US" sz="1400" b="1" dirty="0">
                <a:solidFill>
                  <a:srgbClr val="F59E0B"/>
                </a:solidFill>
                <a:latin typeface="Noto Sans CJK JP" pitchFamily="34" charset="0"/>
                <a:ea typeface="Noto Sans CJK JP" pitchFamily="34" charset="-122"/>
                <a:cs typeface="Noto Sans CJK JP" pitchFamily="34" charset="-120"/>
              </a:rPr>
              <a:t>人間が</a:t>
            </a:r>
            <a:endParaRPr lang="en-US" sz="1400" dirty="0"/>
          </a:p>
          <a:p>
            <a:pPr marL="0" indent="0" algn="ctr">
              <a:buNone/>
            </a:pPr>
            <a:r>
              <a:rPr lang="en-US" sz="1400" b="1" dirty="0">
                <a:solidFill>
                  <a:srgbClr val="F59E0B"/>
                </a:solidFill>
                <a:latin typeface="Noto Sans CJK JP" pitchFamily="34" charset="0"/>
                <a:ea typeface="Noto Sans CJK JP" pitchFamily="34" charset="-122"/>
                <a:cs typeface="Noto Sans CJK JP" pitchFamily="34" charset="-120"/>
              </a:rPr>
              <a:t>承認/拒否</a:t>
            </a:r>
            <a:endParaRPr lang="en-US" sz="1400" dirty="0"/>
          </a:p>
        </p:txBody>
      </p:sp>
      <p:sp>
        <p:nvSpPr>
          <p:cNvPr id="14" name="Text 12"/>
          <p:cNvSpPr/>
          <p:nvPr/>
        </p:nvSpPr>
        <p:spPr>
          <a:xfrm>
            <a:off x="6126480" y="2404872"/>
            <a:ext cx="1188720" cy="100584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350" b="1" dirty="0">
                <a:solidFill>
                  <a:srgbClr val="064E3B"/>
                </a:solidFill>
                <a:latin typeface="Noto Sans CJK JP" pitchFamily="34" charset="0"/>
                <a:ea typeface="Noto Sans CJK JP" pitchFamily="34" charset="-122"/>
                <a:cs typeface="Noto Sans CJK JP" pitchFamily="34" charset="-120"/>
              </a:rPr>
              <a:t>Sandbox 内で</a:t>
            </a:r>
            <a:endParaRPr lang="en-US" sz="1350" dirty="0"/>
          </a:p>
          <a:p>
            <a:pPr marL="0" indent="0" algn="ctr">
              <a:buNone/>
            </a:pPr>
            <a:r>
              <a:rPr lang="en-US" sz="1350" b="1" dirty="0">
                <a:solidFill>
                  <a:srgbClr val="064E3B"/>
                </a:solidFill>
                <a:latin typeface="Noto Sans CJK JP" pitchFamily="34" charset="0"/>
                <a:ea typeface="Noto Sans CJK JP" pitchFamily="34" charset="-122"/>
                <a:cs typeface="Noto Sans CJK JP" pitchFamily="34" charset="-120"/>
              </a:rPr>
              <a:t>ファイル変更</a:t>
            </a:r>
            <a:endParaRPr lang="en-US" sz="1350" dirty="0"/>
          </a:p>
        </p:txBody>
      </p:sp>
      <p:sp>
        <p:nvSpPr>
          <p:cNvPr id="15" name="Text 13"/>
          <p:cNvSpPr/>
          <p:nvPr/>
        </p:nvSpPr>
        <p:spPr>
          <a:xfrm>
            <a:off x="8183880" y="2404872"/>
            <a:ext cx="1188720" cy="100584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350" b="1" dirty="0">
                <a:solidFill>
                  <a:srgbClr val="064E3B"/>
                </a:solidFill>
                <a:latin typeface="Noto Sans CJK JP" pitchFamily="34" charset="0"/>
                <a:ea typeface="Noto Sans CJK JP" pitchFamily="34" charset="-122"/>
                <a:cs typeface="Noto Sans CJK JP" pitchFamily="34" charset="-120"/>
              </a:rPr>
              <a:t>検証コマンド</a:t>
            </a:r>
            <a:endParaRPr lang="en-US" sz="1350" dirty="0"/>
          </a:p>
          <a:p>
            <a:pPr marL="0" indent="0" algn="ctr">
              <a:buNone/>
            </a:pPr>
            <a:r>
              <a:rPr lang="en-US" sz="1350" b="1" dirty="0">
                <a:solidFill>
                  <a:srgbClr val="064E3B"/>
                </a:solidFill>
                <a:latin typeface="Noto Sans CJK JP" pitchFamily="34" charset="0"/>
                <a:ea typeface="Noto Sans CJK JP" pitchFamily="34" charset="-122"/>
                <a:cs typeface="Noto Sans CJK JP" pitchFamily="34" charset="-120"/>
              </a:rPr>
              <a:t>実行</a:t>
            </a:r>
            <a:endParaRPr lang="en-US" sz="1350" dirty="0"/>
          </a:p>
        </p:txBody>
      </p:sp>
      <p:sp>
        <p:nvSpPr>
          <p:cNvPr id="16" name="Text 14"/>
          <p:cNvSpPr/>
          <p:nvPr/>
        </p:nvSpPr>
        <p:spPr>
          <a:xfrm>
            <a:off x="10195560" y="2404872"/>
            <a:ext cx="914400" cy="100584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400" b="1" dirty="0">
                <a:solidFill>
                  <a:srgbClr val="1B6EF3"/>
                </a:solidFill>
                <a:latin typeface="Noto Sans CJK JP" pitchFamily="34" charset="0"/>
                <a:ea typeface="Noto Sans CJK JP" pitchFamily="34" charset="-122"/>
                <a:cs typeface="Noto Sans CJK JP" pitchFamily="34" charset="-120"/>
              </a:rPr>
              <a:t>結果を</a:t>
            </a:r>
            <a:endParaRPr lang="en-US" sz="1400" dirty="0"/>
          </a:p>
          <a:p>
            <a:pPr marL="0" indent="0" algn="ctr">
              <a:buNone/>
            </a:pPr>
            <a:r>
              <a:rPr lang="en-US" sz="1400" b="1" dirty="0">
                <a:solidFill>
                  <a:srgbClr val="1B6EF3"/>
                </a:solidFill>
                <a:latin typeface="Noto Sans CJK JP" pitchFamily="34" charset="0"/>
                <a:ea typeface="Noto Sans CJK JP" pitchFamily="34" charset="-122"/>
                <a:cs typeface="Noto Sans CJK JP" pitchFamily="34" charset="-120"/>
              </a:rPr>
              <a:t>報告</a:t>
            </a:r>
            <a:endParaRPr lang="en-US" sz="1400" dirty="0"/>
          </a:p>
        </p:txBody>
      </p:sp>
      <p:sp>
        <p:nvSpPr>
          <p:cNvPr id="17" name="Text 15"/>
          <p:cNvSpPr/>
          <p:nvPr/>
        </p:nvSpPr>
        <p:spPr>
          <a:xfrm>
            <a:off x="1005840" y="4370832"/>
            <a:ext cx="5074920" cy="804672"/>
          </a:xfrm>
          <a:prstGeom prst="rect">
            <a:avLst/>
          </a:prstGeom>
          <a:noFill/>
          <a:ln/>
        </p:spPr>
        <p:txBody>
          <a:bodyPr wrap="square" lIns="508" tIns="508" rIns="508" bIns="508" rtlCol="0" anchor="t">
            <a:normAutofit/>
          </a:bodyPr>
          <a:lstStyle/>
          <a:p>
            <a:pPr marL="0" indent="0" algn="l">
              <a:buNone/>
            </a:pPr>
            <a:r>
              <a:rPr lang="en-US" sz="1650" b="1" dirty="0">
                <a:solidFill>
                  <a:srgbClr val="0B1020"/>
                </a:solidFill>
                <a:latin typeface="Noto Sans CJK JP" pitchFamily="34" charset="0"/>
                <a:ea typeface="Noto Sans CJK JP" pitchFamily="34" charset="-122"/>
                <a:cs typeface="Noto Sans CJK JP" pitchFamily="34" charset="-120"/>
              </a:rPr>
              <a:t>LLM の推論そのものは通常 API 側。</a:t>
            </a:r>
            <a:endParaRPr lang="en-US" sz="1650" dirty="0"/>
          </a:p>
          <a:p>
            <a:pPr marL="0" indent="0" algn="l">
              <a:buNone/>
            </a:pPr>
            <a:r>
              <a:rPr lang="en-US" sz="1650" b="1" dirty="0">
                <a:solidFill>
                  <a:srgbClr val="0B1020"/>
                </a:solidFill>
                <a:latin typeface="Noto Sans CJK JP" pitchFamily="34" charset="0"/>
                <a:ea typeface="Noto Sans CJK JP" pitchFamily="34" charset="-122"/>
                <a:cs typeface="Noto Sans CJK JP" pitchFamily="34" charset="-120"/>
              </a:rPr>
              <a:t>Sandbox に閉じるのは、ファイル操作・コマンド実行・成果物生成などの実作業。</a:t>
            </a:r>
            <a:endParaRPr lang="en-US" sz="1650" dirty="0"/>
          </a:p>
        </p:txBody>
      </p:sp>
      <p:sp>
        <p:nvSpPr>
          <p:cNvPr id="18" name="Text 16"/>
          <p:cNvSpPr/>
          <p:nvPr/>
        </p:nvSpPr>
        <p:spPr>
          <a:xfrm>
            <a:off x="6446520" y="4370832"/>
            <a:ext cx="4754880" cy="804672"/>
          </a:xfrm>
          <a:prstGeom prst="rect">
            <a:avLst/>
          </a:prstGeom>
          <a:noFill/>
          <a:ln/>
        </p:spPr>
        <p:txBody>
          <a:bodyPr wrap="square" lIns="508" tIns="508" rIns="508" bIns="508" rtlCol="0" anchor="t">
            <a:normAutofit/>
          </a:bodyPr>
          <a:lstStyle/>
          <a:p>
            <a:pPr marL="0" indent="0" algn="l">
              <a:buNone/>
            </a:pPr>
            <a:r>
              <a:rPr lang="en-US" sz="1650" b="1" dirty="0">
                <a:solidFill>
                  <a:srgbClr val="0B1020"/>
                </a:solidFill>
                <a:latin typeface="Noto Sans CJK JP" pitchFamily="34" charset="0"/>
                <a:ea typeface="Noto Sans CJK JP" pitchFamily="34" charset="-122"/>
                <a:cs typeface="Noto Sans CJK JP" pitchFamily="34" charset="-120"/>
              </a:rPr>
              <a:t>ECデモでは、shop_state.json / notice.md / log.md を Sandbox に置くと「本番を直接触っていない」が明確になる。</a:t>
            </a:r>
            <a:endParaRPr lang="en-US" sz="1650" dirty="0"/>
          </a:p>
        </p:txBody>
      </p:sp>
      <p:sp>
        <p:nvSpPr>
          <p:cNvPr id="19" name="Text 17"/>
          <p:cNvSpPr/>
          <p:nvPr/>
        </p:nvSpPr>
        <p:spPr>
          <a:xfrm>
            <a:off x="1298448" y="5650992"/>
            <a:ext cx="9646920" cy="493776"/>
          </a:xfrm>
          <a:prstGeom prst="rect">
            <a:avLst/>
          </a:prstGeom>
          <a:solidFill>
            <a:srgbClr val="EAF2FF"/>
          </a:solidFill>
          <a:ln>
            <a:solidFill>
              <a:srgbClr val="EAF2FF"/>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HITL = やってよいかを人間が判断 / Sandbox = 承認後の実行場所を隔離</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どちらを選ぶべきか</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用途で分ける。必要ならハイブリッドも可能。</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08</a:t>
            </a:r>
            <a:endParaRPr lang="en-US" sz="900" dirty="0"/>
          </a:p>
        </p:txBody>
      </p:sp>
      <p:sp>
        <p:nvSpPr>
          <p:cNvPr id="6" name="Text 4"/>
          <p:cNvSpPr/>
          <p:nvPr/>
        </p:nvSpPr>
        <p:spPr>
          <a:xfrm>
            <a:off x="1024128" y="1600200"/>
            <a:ext cx="2834640" cy="658368"/>
          </a:xfrm>
          <a:prstGeom prst="rect">
            <a:avLst/>
          </a:prstGeom>
          <a:solidFill>
            <a:srgbClr val="EEF2F7"/>
          </a:solidFill>
          <a:ln w="15240">
            <a:solidFill>
              <a:srgbClr val="C8D2E0"/>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フローを厳密に固定したい？</a:t>
            </a:r>
            <a:endParaRPr lang="en-US" sz="1550" dirty="0"/>
          </a:p>
        </p:txBody>
      </p:sp>
      <p:sp>
        <p:nvSpPr>
          <p:cNvPr id="7" name="Shape 5"/>
          <p:cNvSpPr/>
          <p:nvPr/>
        </p:nvSpPr>
        <p:spPr>
          <a:xfrm>
            <a:off x="2441448" y="2267712"/>
            <a:ext cx="0" cy="548640"/>
          </a:xfrm>
          <a:prstGeom prst="line">
            <a:avLst/>
          </a:prstGeom>
          <a:noFill/>
          <a:ln w="20320">
            <a:solidFill>
              <a:srgbClr val="C8D2E0"/>
            </a:solidFill>
            <a:prstDash val="solid"/>
            <a:headEnd type="none"/>
            <a:tailEnd type="triangle"/>
          </a:ln>
        </p:spPr>
        <p:txBody>
          <a:bodyPr/>
          <a:lstStyle/>
          <a:p>
            <a:endParaRPr lang="ja-JP" altLang="en-US"/>
          </a:p>
        </p:txBody>
      </p:sp>
      <p:sp>
        <p:nvSpPr>
          <p:cNvPr id="8" name="Text 6"/>
          <p:cNvSpPr/>
          <p:nvPr/>
        </p:nvSpPr>
        <p:spPr>
          <a:xfrm>
            <a:off x="658368" y="2834640"/>
            <a:ext cx="3566160" cy="868680"/>
          </a:xfrm>
          <a:prstGeom prst="rect">
            <a:avLst/>
          </a:prstGeom>
          <a:solidFill>
            <a:srgbClr val="F1EAFE"/>
          </a:solidFill>
          <a:ln w="15240">
            <a:solidFill>
              <a:srgbClr val="7C3AED"/>
            </a:solidFill>
          </a:ln>
        </p:spPr>
        <p:txBody>
          <a:bodyPr wrap="square" lIns="1016" tIns="1016" rIns="1016" bIns="1016" rtlCol="0" anchor="ctr">
            <a:normAutofit/>
          </a:bodyPr>
          <a:lstStyle/>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分岐・再試行・状態更新を</a:t>
            </a:r>
            <a:endParaRPr lang="en-US" sz="1500" dirty="0"/>
          </a:p>
          <a:p>
            <a:pPr marL="0" indent="0" algn="ctr">
              <a:buNone/>
            </a:pPr>
            <a:r>
              <a:rPr lang="en-US" sz="1500" b="1" dirty="0">
                <a:solidFill>
                  <a:srgbClr val="7C3AED"/>
                </a:solidFill>
                <a:latin typeface="Noto Sans CJK JP" pitchFamily="34" charset="0"/>
                <a:ea typeface="Noto Sans CJK JP" pitchFamily="34" charset="-122"/>
                <a:cs typeface="Noto Sans CJK JP" pitchFamily="34" charset="-120"/>
              </a:rPr>
              <a:t>グラフとして可視化したい</a:t>
            </a:r>
            <a:endParaRPr lang="en-US" sz="1500" dirty="0"/>
          </a:p>
        </p:txBody>
      </p:sp>
      <p:sp>
        <p:nvSpPr>
          <p:cNvPr id="9" name="Shape 7"/>
          <p:cNvSpPr/>
          <p:nvPr/>
        </p:nvSpPr>
        <p:spPr>
          <a:xfrm>
            <a:off x="2441448" y="3730752"/>
            <a:ext cx="0" cy="548640"/>
          </a:xfrm>
          <a:prstGeom prst="line">
            <a:avLst/>
          </a:prstGeom>
          <a:noFill/>
          <a:ln w="20320">
            <a:solidFill>
              <a:srgbClr val="7C3AED"/>
            </a:solidFill>
            <a:prstDash val="solid"/>
            <a:headEnd type="none"/>
            <a:tailEnd type="triangle"/>
          </a:ln>
        </p:spPr>
        <p:txBody>
          <a:bodyPr/>
          <a:lstStyle/>
          <a:p>
            <a:endParaRPr lang="ja-JP" altLang="en-US"/>
          </a:p>
        </p:txBody>
      </p:sp>
      <p:sp>
        <p:nvSpPr>
          <p:cNvPr id="10" name="Text 8"/>
          <p:cNvSpPr/>
          <p:nvPr/>
        </p:nvSpPr>
        <p:spPr>
          <a:xfrm>
            <a:off x="1005840" y="4443984"/>
            <a:ext cx="2880360" cy="502920"/>
          </a:xfrm>
          <a:prstGeom prst="rect">
            <a:avLst/>
          </a:prstGeom>
          <a:solidFill>
            <a:srgbClr val="F1EAFE"/>
          </a:solidFill>
          <a:ln>
            <a:solidFill>
              <a:srgbClr val="F1EAFE"/>
            </a:solidFill>
          </a:ln>
        </p:spPr>
        <p:txBody>
          <a:bodyPr wrap="square" lIns="1016" tIns="1016" rIns="1016" bIns="1016" rtlCol="0" anchor="ctr">
            <a:normAutofit/>
          </a:bodyPr>
          <a:lstStyle/>
          <a:p>
            <a:pPr marL="0" indent="0" algn="ctr">
              <a:buNone/>
            </a:pPr>
            <a:r>
              <a:rPr lang="en-US" sz="1550" b="1" dirty="0">
                <a:solidFill>
                  <a:srgbClr val="7C3AED"/>
                </a:solidFill>
                <a:latin typeface="Noto Sans CJK JP" pitchFamily="34" charset="0"/>
                <a:ea typeface="Noto Sans CJK JP" pitchFamily="34" charset="-122"/>
                <a:cs typeface="Noto Sans CJK JP" pitchFamily="34" charset="-120"/>
              </a:rPr>
              <a:t>LangGraph が得意</a:t>
            </a:r>
            <a:endParaRPr lang="en-US" sz="1550" dirty="0"/>
          </a:p>
        </p:txBody>
      </p:sp>
      <p:sp>
        <p:nvSpPr>
          <p:cNvPr id="11" name="Text 9"/>
          <p:cNvSpPr/>
          <p:nvPr/>
        </p:nvSpPr>
        <p:spPr>
          <a:xfrm>
            <a:off x="4663440" y="1600200"/>
            <a:ext cx="2834640" cy="658368"/>
          </a:xfrm>
          <a:prstGeom prst="rect">
            <a:avLst/>
          </a:prstGeom>
          <a:solidFill>
            <a:srgbClr val="EEF2F7"/>
          </a:solidFill>
          <a:ln w="15240">
            <a:solidFill>
              <a:srgbClr val="C8D2E0"/>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Agent がツールを選ぶ</a:t>
            </a:r>
            <a:endParaRPr lang="en-US" sz="1550" dirty="0"/>
          </a:p>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実行体験を重視？</a:t>
            </a:r>
            <a:endParaRPr lang="en-US" sz="1550" dirty="0"/>
          </a:p>
        </p:txBody>
      </p:sp>
      <p:sp>
        <p:nvSpPr>
          <p:cNvPr id="12" name="Shape 10"/>
          <p:cNvSpPr/>
          <p:nvPr/>
        </p:nvSpPr>
        <p:spPr>
          <a:xfrm>
            <a:off x="6080760" y="2267712"/>
            <a:ext cx="0" cy="548640"/>
          </a:xfrm>
          <a:prstGeom prst="line">
            <a:avLst/>
          </a:prstGeom>
          <a:noFill/>
          <a:ln w="20320">
            <a:solidFill>
              <a:srgbClr val="C8D2E0"/>
            </a:solidFill>
            <a:prstDash val="solid"/>
            <a:headEnd type="none"/>
            <a:tailEnd type="triangle"/>
          </a:ln>
        </p:spPr>
        <p:txBody>
          <a:bodyPr/>
          <a:lstStyle/>
          <a:p>
            <a:endParaRPr lang="ja-JP" altLang="en-US"/>
          </a:p>
        </p:txBody>
      </p:sp>
      <p:sp>
        <p:nvSpPr>
          <p:cNvPr id="13" name="Text 11"/>
          <p:cNvSpPr/>
          <p:nvPr/>
        </p:nvSpPr>
        <p:spPr>
          <a:xfrm>
            <a:off x="4297680" y="2834640"/>
            <a:ext cx="3566160" cy="86868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HITL / Guardrails / Handoff /</a:t>
            </a:r>
            <a:endParaRPr lang="en-US" sz="1500" dirty="0"/>
          </a:p>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Tracing / Sandbox を薄く足したい</a:t>
            </a:r>
            <a:endParaRPr lang="en-US" sz="1500" dirty="0"/>
          </a:p>
        </p:txBody>
      </p:sp>
      <p:sp>
        <p:nvSpPr>
          <p:cNvPr id="14" name="Shape 12"/>
          <p:cNvSpPr/>
          <p:nvPr/>
        </p:nvSpPr>
        <p:spPr>
          <a:xfrm>
            <a:off x="6080760" y="3730752"/>
            <a:ext cx="0" cy="548640"/>
          </a:xfrm>
          <a:prstGeom prst="line">
            <a:avLst/>
          </a:prstGeom>
          <a:noFill/>
          <a:ln w="20320">
            <a:solidFill>
              <a:srgbClr val="1B6EF3"/>
            </a:solidFill>
            <a:prstDash val="solid"/>
            <a:headEnd type="none"/>
            <a:tailEnd type="triangle"/>
          </a:ln>
        </p:spPr>
        <p:txBody>
          <a:bodyPr/>
          <a:lstStyle/>
          <a:p>
            <a:endParaRPr lang="ja-JP" altLang="en-US"/>
          </a:p>
        </p:txBody>
      </p:sp>
      <p:sp>
        <p:nvSpPr>
          <p:cNvPr id="15" name="Text 13"/>
          <p:cNvSpPr/>
          <p:nvPr/>
        </p:nvSpPr>
        <p:spPr>
          <a:xfrm>
            <a:off x="4663440" y="4443984"/>
            <a:ext cx="2880360" cy="502920"/>
          </a:xfrm>
          <a:prstGeom prst="rect">
            <a:avLst/>
          </a:prstGeom>
          <a:solidFill>
            <a:srgbClr val="EAF2FF"/>
          </a:solidFill>
          <a:ln>
            <a:solidFill>
              <a:srgbClr val="EAF2FF"/>
            </a:solidFill>
          </a:ln>
        </p:spPr>
        <p:txBody>
          <a:bodyPr wrap="square" lIns="1016" tIns="1016" rIns="1016" bIns="1016" rtlCol="0" anchor="ctr">
            <a:normAutofit/>
          </a:bodyPr>
          <a:lstStyle/>
          <a:p>
            <a:pPr marL="0" indent="0" algn="ctr">
              <a:buNone/>
            </a:pPr>
            <a:r>
              <a:rPr lang="en-US" sz="1550" b="1" dirty="0">
                <a:solidFill>
                  <a:srgbClr val="1B6EF3"/>
                </a:solidFill>
                <a:latin typeface="Noto Sans CJK JP" pitchFamily="34" charset="0"/>
                <a:ea typeface="Noto Sans CJK JP" pitchFamily="34" charset="-122"/>
                <a:cs typeface="Noto Sans CJK JP" pitchFamily="34" charset="-120"/>
              </a:rPr>
              <a:t>Agents SDK が得意</a:t>
            </a:r>
            <a:endParaRPr lang="en-US" sz="1550" dirty="0"/>
          </a:p>
        </p:txBody>
      </p:sp>
      <p:sp>
        <p:nvSpPr>
          <p:cNvPr id="16" name="Text 14"/>
          <p:cNvSpPr/>
          <p:nvPr/>
        </p:nvSpPr>
        <p:spPr>
          <a:xfrm>
            <a:off x="8321040" y="1600200"/>
            <a:ext cx="2377440" cy="658368"/>
          </a:xfrm>
          <a:prstGeom prst="rect">
            <a:avLst/>
          </a:prstGeom>
          <a:solidFill>
            <a:srgbClr val="EEF2F7"/>
          </a:solidFill>
          <a:ln w="15240">
            <a:solidFill>
              <a:srgbClr val="C8D2E0"/>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既存 LangGraph を</a:t>
            </a:r>
            <a:endParaRPr lang="en-US" sz="1550" dirty="0"/>
          </a:p>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残したい？</a:t>
            </a:r>
            <a:endParaRPr lang="en-US" sz="1550" dirty="0"/>
          </a:p>
        </p:txBody>
      </p:sp>
      <p:sp>
        <p:nvSpPr>
          <p:cNvPr id="17" name="Shape 15"/>
          <p:cNvSpPr/>
          <p:nvPr/>
        </p:nvSpPr>
        <p:spPr>
          <a:xfrm>
            <a:off x="9509760" y="2267712"/>
            <a:ext cx="0" cy="548640"/>
          </a:xfrm>
          <a:prstGeom prst="line">
            <a:avLst/>
          </a:prstGeom>
          <a:noFill/>
          <a:ln w="20320">
            <a:solidFill>
              <a:srgbClr val="C8D2E0"/>
            </a:solidFill>
            <a:prstDash val="solid"/>
            <a:headEnd type="none"/>
            <a:tailEnd type="triangle"/>
          </a:ln>
        </p:spPr>
        <p:txBody>
          <a:bodyPr/>
          <a:lstStyle/>
          <a:p>
            <a:endParaRPr lang="ja-JP" altLang="en-US"/>
          </a:p>
        </p:txBody>
      </p:sp>
      <p:sp>
        <p:nvSpPr>
          <p:cNvPr id="18" name="Text 16"/>
          <p:cNvSpPr/>
          <p:nvPr/>
        </p:nvSpPr>
        <p:spPr>
          <a:xfrm>
            <a:off x="8001000" y="2834640"/>
            <a:ext cx="3017520" cy="86868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500" b="1" dirty="0">
                <a:solidFill>
                  <a:srgbClr val="064E3B"/>
                </a:solidFill>
                <a:latin typeface="Noto Sans CJK JP" pitchFamily="34" charset="0"/>
                <a:ea typeface="Noto Sans CJK JP" pitchFamily="34" charset="-122"/>
                <a:cs typeface="Noto Sans CJK JP" pitchFamily="34" charset="-120"/>
              </a:rPr>
              <a:t>Graph を上位オーケストレーター、</a:t>
            </a:r>
            <a:endParaRPr lang="en-US" sz="1500" dirty="0"/>
          </a:p>
          <a:p>
            <a:pPr marL="0" indent="0" algn="ctr">
              <a:buNone/>
            </a:pPr>
            <a:r>
              <a:rPr lang="en-US" sz="1500" b="1" dirty="0">
                <a:solidFill>
                  <a:srgbClr val="064E3B"/>
                </a:solidFill>
                <a:latin typeface="Noto Sans CJK JP" pitchFamily="34" charset="0"/>
                <a:ea typeface="Noto Sans CJK JP" pitchFamily="34" charset="-122"/>
                <a:cs typeface="Noto Sans CJK JP" pitchFamily="34" charset="-120"/>
              </a:rPr>
              <a:t>Agent を node 内に置く</a:t>
            </a:r>
            <a:endParaRPr lang="en-US" sz="1500" dirty="0"/>
          </a:p>
        </p:txBody>
      </p:sp>
      <p:sp>
        <p:nvSpPr>
          <p:cNvPr id="19" name="Shape 17"/>
          <p:cNvSpPr/>
          <p:nvPr/>
        </p:nvSpPr>
        <p:spPr>
          <a:xfrm>
            <a:off x="9509760" y="3730752"/>
            <a:ext cx="0" cy="548640"/>
          </a:xfrm>
          <a:prstGeom prst="line">
            <a:avLst/>
          </a:prstGeom>
          <a:noFill/>
          <a:ln w="20320">
            <a:solidFill>
              <a:srgbClr val="10B981"/>
            </a:solidFill>
            <a:prstDash val="solid"/>
            <a:headEnd type="none"/>
            <a:tailEnd type="triangle"/>
          </a:ln>
        </p:spPr>
        <p:txBody>
          <a:bodyPr/>
          <a:lstStyle/>
          <a:p>
            <a:endParaRPr lang="ja-JP" altLang="en-US"/>
          </a:p>
        </p:txBody>
      </p:sp>
      <p:sp>
        <p:nvSpPr>
          <p:cNvPr id="20" name="Text 18"/>
          <p:cNvSpPr/>
          <p:nvPr/>
        </p:nvSpPr>
        <p:spPr>
          <a:xfrm>
            <a:off x="8321040" y="4443984"/>
            <a:ext cx="2377440" cy="502920"/>
          </a:xfrm>
          <a:prstGeom prst="rect">
            <a:avLst/>
          </a:prstGeom>
          <a:solidFill>
            <a:srgbClr val="E8F8F1"/>
          </a:solidFill>
          <a:ln>
            <a:solidFill>
              <a:srgbClr val="E8F8F1"/>
            </a:solidFill>
          </a:ln>
        </p:spPr>
        <p:txBody>
          <a:bodyPr wrap="square" lIns="1016" tIns="1016" rIns="1016" bIns="1016" rtlCol="0" anchor="ctr">
            <a:normAutofit/>
          </a:bodyPr>
          <a:lstStyle/>
          <a:p>
            <a:pPr marL="0" indent="0" algn="ctr">
              <a:buNone/>
            </a:pPr>
            <a:r>
              <a:rPr lang="en-US" sz="1550" b="1" dirty="0">
                <a:solidFill>
                  <a:srgbClr val="064E3B"/>
                </a:solidFill>
                <a:latin typeface="Noto Sans CJK JP" pitchFamily="34" charset="0"/>
                <a:ea typeface="Noto Sans CJK JP" pitchFamily="34" charset="-122"/>
                <a:cs typeface="Noto Sans CJK JP" pitchFamily="34" charset="-120"/>
              </a:rPr>
              <a:t>ハイブリッドも可</a:t>
            </a:r>
            <a:endParaRPr lang="en-US" sz="1550" dirty="0"/>
          </a:p>
        </p:txBody>
      </p:sp>
      <p:sp>
        <p:nvSpPr>
          <p:cNvPr id="21" name="Text 19"/>
          <p:cNvSpPr/>
          <p:nvPr/>
        </p:nvSpPr>
        <p:spPr>
          <a:xfrm>
            <a:off x="1051560" y="5715000"/>
            <a:ext cx="10058400" cy="438912"/>
          </a:xfrm>
          <a:prstGeom prst="rect">
            <a:avLst/>
          </a:prstGeom>
          <a:solidFill>
            <a:srgbClr val="FFFFFF"/>
          </a:solidFill>
          <a:ln w="12700">
            <a:solidFill>
              <a:srgbClr val="DDE5EF"/>
            </a:solidFill>
          </a:ln>
        </p:spPr>
        <p:txBody>
          <a:bodyPr wrap="square" lIns="508" tIns="508" rIns="508" bIns="508" rtlCol="0" anchor="t">
            <a:normAutofit lnSpcReduction="10000"/>
          </a:bodyPr>
          <a:lstStyle/>
          <a:p>
            <a:pPr marL="0" indent="0" algn="ctr">
              <a:buNone/>
            </a:pPr>
            <a:r>
              <a:rPr lang="en-US" sz="1520" dirty="0">
                <a:solidFill>
                  <a:srgbClr val="0B1020"/>
                </a:solidFill>
                <a:latin typeface="Noto Sans CJK JP" pitchFamily="34" charset="0"/>
                <a:ea typeface="Noto Sans CJK JP" pitchFamily="34" charset="-122"/>
                <a:cs typeface="Noto Sans CJK JP" pitchFamily="34" charset="-120"/>
              </a:rPr>
              <a:t>選定の目安：グラフ構造をレビューしたいなら LangGraph。OpenAI ネイティブの実行・安全・観測境界を早く見せたいなら Agents SDK。</a:t>
            </a:r>
            <a:endParaRPr lang="en-US" sz="15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Mermaid で見る：同じタスクの見え方</a:t>
            </a:r>
            <a:endParaRPr lang="en-US" sz="270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09</a:t>
            </a:r>
            <a:endParaRPr lang="en-US" sz="900" dirty="0"/>
          </a:p>
        </p:txBody>
      </p:sp>
      <p:sp>
        <p:nvSpPr>
          <p:cNvPr id="6" name="Text 4"/>
          <p:cNvSpPr/>
          <p:nvPr/>
        </p:nvSpPr>
        <p:spPr>
          <a:xfrm>
            <a:off x="749808" y="852870"/>
            <a:ext cx="1371600" cy="292608"/>
          </a:xfrm>
          <a:prstGeom prst="rect">
            <a:avLst/>
          </a:prstGeom>
          <a:solidFill>
            <a:srgbClr val="F1EAFE"/>
          </a:solidFill>
          <a:ln>
            <a:solidFill>
              <a:srgbClr val="F1EAFE"/>
            </a:solidFill>
          </a:ln>
        </p:spPr>
        <p:txBody>
          <a:bodyPr wrap="square" lIns="381" tIns="381" rIns="381" bIns="381" rtlCol="0" anchor="ctr">
            <a:normAutofit/>
          </a:bodyPr>
          <a:lstStyle/>
          <a:p>
            <a:pPr marL="0" indent="0" algn="ctr">
              <a:buNone/>
            </a:pPr>
            <a:r>
              <a:rPr lang="en-US" sz="1050" b="1" dirty="0">
                <a:solidFill>
                  <a:srgbClr val="7C3AED"/>
                </a:solidFill>
                <a:latin typeface="Noto Sans CJK JP" pitchFamily="34" charset="0"/>
                <a:ea typeface="Noto Sans CJK JP" pitchFamily="34" charset="-122"/>
                <a:cs typeface="Noto Sans CJK JP" pitchFamily="34" charset="-120"/>
              </a:rPr>
              <a:t>LangGraph 風</a:t>
            </a:r>
            <a:endParaRPr lang="en-US" sz="1050" dirty="0"/>
          </a:p>
        </p:txBody>
      </p:sp>
      <p:sp>
        <p:nvSpPr>
          <p:cNvPr id="7" name="Text 5"/>
          <p:cNvSpPr/>
          <p:nvPr/>
        </p:nvSpPr>
        <p:spPr>
          <a:xfrm>
            <a:off x="746988" y="3114096"/>
            <a:ext cx="1481328" cy="292608"/>
          </a:xfrm>
          <a:prstGeom prst="rect">
            <a:avLst/>
          </a:prstGeom>
          <a:solidFill>
            <a:srgbClr val="EAF2FF"/>
          </a:solidFill>
          <a:ln>
            <a:solidFill>
              <a:srgbClr val="EAF2FF"/>
            </a:solidFill>
          </a:ln>
        </p:spPr>
        <p:txBody>
          <a:bodyPr wrap="square" lIns="381" tIns="381" rIns="381" bIns="381" rtlCol="0" anchor="ctr">
            <a:normAutofit/>
          </a:bodyPr>
          <a:lstStyle/>
          <a:p>
            <a:pPr marL="0" indent="0" algn="ctr">
              <a:buNone/>
            </a:pPr>
            <a:r>
              <a:rPr lang="en-US" sz="1050" b="1" dirty="0">
                <a:solidFill>
                  <a:srgbClr val="1B6EF3"/>
                </a:solidFill>
                <a:latin typeface="Noto Sans CJK JP" pitchFamily="34" charset="0"/>
                <a:ea typeface="Noto Sans CJK JP" pitchFamily="34" charset="-122"/>
                <a:cs typeface="Noto Sans CJK JP" pitchFamily="34" charset="-120"/>
              </a:rPr>
              <a:t>Agents SDK 風</a:t>
            </a:r>
            <a:endParaRPr lang="en-US" sz="1050" dirty="0"/>
          </a:p>
        </p:txBody>
      </p:sp>
      <p:pic>
        <p:nvPicPr>
          <p:cNvPr id="13" name="図 12">
            <a:extLst>
              <a:ext uri="{FF2B5EF4-FFF2-40B4-BE49-F238E27FC236}">
                <a16:creationId xmlns:a16="http://schemas.microsoft.com/office/drawing/2014/main" id="{04C92047-B855-536F-E59F-145BAA73957B}"/>
              </a:ext>
            </a:extLst>
          </p:cNvPr>
          <p:cNvPicPr>
            <a:picLocks noChangeAspect="1"/>
          </p:cNvPicPr>
          <p:nvPr/>
        </p:nvPicPr>
        <p:blipFill>
          <a:blip r:embed="rId3"/>
          <a:stretch>
            <a:fillRect/>
          </a:stretch>
        </p:blipFill>
        <p:spPr>
          <a:xfrm>
            <a:off x="749807" y="1195314"/>
            <a:ext cx="9389447" cy="1773664"/>
          </a:xfrm>
          <a:prstGeom prst="rect">
            <a:avLst/>
          </a:prstGeom>
        </p:spPr>
      </p:pic>
      <p:pic>
        <p:nvPicPr>
          <p:cNvPr id="15" name="図 14">
            <a:extLst>
              <a:ext uri="{FF2B5EF4-FFF2-40B4-BE49-F238E27FC236}">
                <a16:creationId xmlns:a16="http://schemas.microsoft.com/office/drawing/2014/main" id="{B5BCB421-A31A-8947-507F-B567CF78C6D8}"/>
              </a:ext>
            </a:extLst>
          </p:cNvPr>
          <p:cNvPicPr>
            <a:picLocks noChangeAspect="1"/>
          </p:cNvPicPr>
          <p:nvPr/>
        </p:nvPicPr>
        <p:blipFill>
          <a:blip r:embed="rId4"/>
          <a:stretch>
            <a:fillRect/>
          </a:stretch>
        </p:blipFill>
        <p:spPr>
          <a:xfrm>
            <a:off x="749808" y="3437554"/>
            <a:ext cx="7173175" cy="31278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今回のデモにおすすめの構成</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日本語 EC デモを、HITL + Sandbox で「安全な自律システム」として見せる。</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10</a:t>
            </a:r>
            <a:endParaRPr lang="en-US" sz="900" dirty="0"/>
          </a:p>
        </p:txBody>
      </p:sp>
      <p:sp>
        <p:nvSpPr>
          <p:cNvPr id="6" name="Text 4"/>
          <p:cNvSpPr/>
          <p:nvPr/>
        </p:nvSpPr>
        <p:spPr>
          <a:xfrm>
            <a:off x="749808" y="1828800"/>
            <a:ext cx="1554480" cy="1005840"/>
          </a:xfrm>
          <a:prstGeom prst="rect">
            <a:avLst/>
          </a:prstGeom>
          <a:solidFill>
            <a:srgbClr val="FFF5E2"/>
          </a:solidFill>
          <a:ln w="15240">
            <a:solidFill>
              <a:srgbClr val="F59E0B"/>
            </a:solidFill>
          </a:ln>
        </p:spPr>
        <p:txBody>
          <a:bodyPr wrap="square" lIns="1016" tIns="1016" rIns="1016" bIns="1016" rtlCol="0" anchor="ctr">
            <a:normAutofit/>
          </a:bodyPr>
          <a:lstStyle/>
          <a:p>
            <a:pPr marL="0" indent="0" algn="ctr">
              <a:buNone/>
            </a:pPr>
            <a:r>
              <a:rPr lang="en-US" sz="1500" b="1" dirty="0">
                <a:solidFill>
                  <a:srgbClr val="F59E0B"/>
                </a:solidFill>
                <a:latin typeface="Noto Sans CJK JP" pitchFamily="34" charset="0"/>
                <a:ea typeface="Noto Sans CJK JP" pitchFamily="34" charset="-122"/>
                <a:cs typeface="Noto Sans CJK JP" pitchFamily="34" charset="-120"/>
              </a:rPr>
              <a:t>人間レビューア</a:t>
            </a:r>
            <a:endParaRPr lang="en-US" sz="1500" dirty="0"/>
          </a:p>
          <a:p>
            <a:pPr marL="0" indent="0" algn="ctr">
              <a:buNone/>
            </a:pPr>
            <a:r>
              <a:rPr lang="en-US" sz="1500" b="1" dirty="0">
                <a:solidFill>
                  <a:srgbClr val="F59E0B"/>
                </a:solidFill>
                <a:latin typeface="Noto Sans CJK JP" pitchFamily="34" charset="0"/>
                <a:ea typeface="Noto Sans CJK JP" pitchFamily="34" charset="-122"/>
                <a:cs typeface="Noto Sans CJK JP" pitchFamily="34" charset="-120"/>
              </a:rPr>
              <a:t>CLI / UI</a:t>
            </a:r>
            <a:endParaRPr lang="en-US" sz="1500" dirty="0"/>
          </a:p>
        </p:txBody>
      </p:sp>
      <p:sp>
        <p:nvSpPr>
          <p:cNvPr id="7" name="Text 5"/>
          <p:cNvSpPr/>
          <p:nvPr/>
        </p:nvSpPr>
        <p:spPr>
          <a:xfrm>
            <a:off x="3675888" y="1828800"/>
            <a:ext cx="1828800" cy="1005840"/>
          </a:xfrm>
          <a:prstGeom prst="rect">
            <a:avLst/>
          </a:prstGeom>
          <a:solidFill>
            <a:srgbClr val="EAF2FF"/>
          </a:solidFill>
          <a:ln w="15240">
            <a:solidFill>
              <a:srgbClr val="1B6EF3"/>
            </a:solidFill>
          </a:ln>
        </p:spPr>
        <p:txBody>
          <a:bodyPr wrap="square" lIns="1016" tIns="1016" rIns="1016" bIns="1016" rtlCol="0" anchor="ctr">
            <a:normAutofit/>
          </a:bodyPr>
          <a:lstStyle/>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Agent Runner</a:t>
            </a:r>
            <a:endParaRPr lang="en-US" sz="1500" dirty="0"/>
          </a:p>
          <a:p>
            <a:pPr marL="0" indent="0" algn="ctr">
              <a:buNone/>
            </a:pPr>
            <a:r>
              <a:rPr lang="en-US" sz="1500" b="1" dirty="0">
                <a:solidFill>
                  <a:srgbClr val="1B6EF3"/>
                </a:solidFill>
                <a:latin typeface="Noto Sans CJK JP" pitchFamily="34" charset="0"/>
                <a:ea typeface="Noto Sans CJK JP" pitchFamily="34" charset="-122"/>
                <a:cs typeface="Noto Sans CJK JP" pitchFamily="34" charset="-120"/>
              </a:rPr>
              <a:t>HITL / Tracing</a:t>
            </a:r>
            <a:endParaRPr lang="en-US" sz="1500" dirty="0"/>
          </a:p>
        </p:txBody>
      </p:sp>
      <p:sp>
        <p:nvSpPr>
          <p:cNvPr id="8" name="Text 6"/>
          <p:cNvSpPr/>
          <p:nvPr/>
        </p:nvSpPr>
        <p:spPr>
          <a:xfrm>
            <a:off x="7059168" y="1600200"/>
            <a:ext cx="2148840" cy="1463040"/>
          </a:xfrm>
          <a:prstGeom prst="rect">
            <a:avLst/>
          </a:prstGeom>
          <a:solidFill>
            <a:srgbClr val="E8F8F1"/>
          </a:solidFill>
          <a:ln w="15240">
            <a:solidFill>
              <a:srgbClr val="10B981"/>
            </a:solidFill>
          </a:ln>
        </p:spPr>
        <p:txBody>
          <a:bodyPr wrap="square" lIns="1016" tIns="1016" rIns="1016" bIns="1016" rtlCol="0" anchor="ctr">
            <a:normAutofit/>
          </a:bodyPr>
          <a:lstStyle/>
          <a:p>
            <a:pPr marL="0" indent="0" algn="ctr">
              <a:buNone/>
            </a:pPr>
            <a:r>
              <a:rPr lang="en-US" sz="1400" b="1" dirty="0">
                <a:solidFill>
                  <a:srgbClr val="064E3B"/>
                </a:solidFill>
                <a:latin typeface="Noto Sans CJK JP" pitchFamily="34" charset="0"/>
                <a:ea typeface="Noto Sans CJK JP" pitchFamily="34" charset="-122"/>
                <a:cs typeface="Noto Sans CJK JP" pitchFamily="34" charset="-120"/>
              </a:rPr>
              <a:t>Sandbox Workspace</a:t>
            </a:r>
            <a:endParaRPr lang="en-US" sz="1400" dirty="0"/>
          </a:p>
          <a:p>
            <a:pPr marL="0" indent="0" algn="ctr">
              <a:buNone/>
            </a:pPr>
            <a:r>
              <a:rPr lang="en-US" sz="1400" b="1" dirty="0">
                <a:solidFill>
                  <a:srgbClr val="064E3B"/>
                </a:solidFill>
                <a:latin typeface="Noto Sans CJK JP" pitchFamily="34" charset="0"/>
                <a:ea typeface="Noto Sans CJK JP" pitchFamily="34" charset="-122"/>
                <a:cs typeface="Noto Sans CJK JP" pitchFamily="34" charset="-120"/>
              </a:rPr>
              <a:t>shop_state.json</a:t>
            </a:r>
            <a:endParaRPr lang="en-US" sz="1400" dirty="0"/>
          </a:p>
          <a:p>
            <a:pPr marL="0" indent="0" algn="ctr">
              <a:buNone/>
            </a:pPr>
            <a:r>
              <a:rPr lang="en-US" sz="1400" b="1" dirty="0">
                <a:solidFill>
                  <a:srgbClr val="064E3B"/>
                </a:solidFill>
                <a:latin typeface="Noto Sans CJK JP" pitchFamily="34" charset="0"/>
                <a:ea typeface="Noto Sans CJK JP" pitchFamily="34" charset="-122"/>
                <a:cs typeface="Noto Sans CJK JP" pitchFamily="34" charset="-120"/>
              </a:rPr>
              <a:t>notice.md</a:t>
            </a:r>
            <a:endParaRPr lang="en-US" sz="1400" dirty="0"/>
          </a:p>
          <a:p>
            <a:pPr marL="0" indent="0" algn="ctr">
              <a:buNone/>
            </a:pPr>
            <a:r>
              <a:rPr lang="en-US" sz="1400" b="1" dirty="0">
                <a:solidFill>
                  <a:srgbClr val="064E3B"/>
                </a:solidFill>
                <a:latin typeface="Noto Sans CJK JP" pitchFamily="34" charset="0"/>
                <a:ea typeface="Noto Sans CJK JP" pitchFamily="34" charset="-122"/>
                <a:cs typeface="Noto Sans CJK JP" pitchFamily="34" charset="-120"/>
              </a:rPr>
              <a:t>verification.py</a:t>
            </a:r>
            <a:endParaRPr lang="en-US" sz="1400" dirty="0"/>
          </a:p>
        </p:txBody>
      </p:sp>
      <p:sp>
        <p:nvSpPr>
          <p:cNvPr id="9" name="Text 7"/>
          <p:cNvSpPr/>
          <p:nvPr/>
        </p:nvSpPr>
        <p:spPr>
          <a:xfrm>
            <a:off x="9985248" y="1828800"/>
            <a:ext cx="1417320" cy="1005840"/>
          </a:xfrm>
          <a:prstGeom prst="rect">
            <a:avLst/>
          </a:prstGeom>
          <a:solidFill>
            <a:srgbClr val="FFFFFF"/>
          </a:solidFill>
          <a:ln w="15240">
            <a:solidFill>
              <a:srgbClr val="1B6EF3"/>
            </a:solidFill>
          </a:ln>
        </p:spPr>
        <p:txBody>
          <a:bodyPr wrap="square" lIns="1016" tIns="1016" rIns="1016" bIns="1016" rtlCol="0" anchor="ctr">
            <a:normAutofit/>
          </a:bodyPr>
          <a:lstStyle/>
          <a:p>
            <a:pPr marL="0" indent="0" algn="ctr">
              <a:buNone/>
            </a:pPr>
            <a:r>
              <a:rPr lang="en-US" sz="1400" b="1" dirty="0">
                <a:solidFill>
                  <a:srgbClr val="1B6EF3"/>
                </a:solidFill>
                <a:latin typeface="Noto Sans CJK JP" pitchFamily="34" charset="0"/>
                <a:ea typeface="Noto Sans CJK JP" pitchFamily="34" charset="-122"/>
                <a:cs typeface="Noto Sans CJK JP" pitchFamily="34" charset="-120"/>
              </a:rPr>
              <a:t>評価 Agent</a:t>
            </a:r>
            <a:endParaRPr lang="en-US" sz="1400" dirty="0"/>
          </a:p>
          <a:p>
            <a:pPr marL="0" indent="0" algn="ctr">
              <a:buNone/>
            </a:pPr>
            <a:r>
              <a:rPr lang="en-US" sz="1400" b="1" dirty="0">
                <a:solidFill>
                  <a:srgbClr val="1B6EF3"/>
                </a:solidFill>
                <a:latin typeface="Noto Sans CJK JP" pitchFamily="34" charset="0"/>
                <a:ea typeface="Noto Sans CJK JP" pitchFamily="34" charset="-122"/>
                <a:cs typeface="Noto Sans CJK JP" pitchFamily="34" charset="-120"/>
              </a:rPr>
              <a:t>成功条件を判定</a:t>
            </a:r>
            <a:endParaRPr lang="en-US" sz="1400" dirty="0"/>
          </a:p>
        </p:txBody>
      </p:sp>
      <p:sp>
        <p:nvSpPr>
          <p:cNvPr id="10" name="Shape 8"/>
          <p:cNvSpPr/>
          <p:nvPr/>
        </p:nvSpPr>
        <p:spPr>
          <a:xfrm>
            <a:off x="2331720" y="2331720"/>
            <a:ext cx="1234440" cy="0"/>
          </a:xfrm>
          <a:prstGeom prst="line">
            <a:avLst/>
          </a:prstGeom>
          <a:noFill/>
          <a:ln w="25400">
            <a:solidFill>
              <a:srgbClr val="F59E0B"/>
            </a:solidFill>
            <a:prstDash val="solid"/>
            <a:headEnd type="none"/>
            <a:tailEnd type="triangle"/>
          </a:ln>
        </p:spPr>
        <p:txBody>
          <a:bodyPr/>
          <a:lstStyle/>
          <a:p>
            <a:endParaRPr lang="ja-JP" altLang="en-US"/>
          </a:p>
        </p:txBody>
      </p:sp>
      <p:sp>
        <p:nvSpPr>
          <p:cNvPr id="11" name="Shape 9"/>
          <p:cNvSpPr/>
          <p:nvPr/>
        </p:nvSpPr>
        <p:spPr>
          <a:xfrm>
            <a:off x="5522976" y="2331720"/>
            <a:ext cx="1426464" cy="0"/>
          </a:xfrm>
          <a:prstGeom prst="line">
            <a:avLst/>
          </a:prstGeom>
          <a:noFill/>
          <a:ln w="25400">
            <a:solidFill>
              <a:srgbClr val="10B981"/>
            </a:solidFill>
            <a:prstDash val="solid"/>
            <a:headEnd type="none"/>
            <a:tailEnd type="triangle"/>
          </a:ln>
        </p:spPr>
        <p:txBody>
          <a:bodyPr/>
          <a:lstStyle/>
          <a:p>
            <a:endParaRPr lang="ja-JP" altLang="en-US"/>
          </a:p>
        </p:txBody>
      </p:sp>
      <p:sp>
        <p:nvSpPr>
          <p:cNvPr id="12" name="Shape 10"/>
          <p:cNvSpPr/>
          <p:nvPr/>
        </p:nvSpPr>
        <p:spPr>
          <a:xfrm>
            <a:off x="9217152" y="2331720"/>
            <a:ext cx="640080" cy="0"/>
          </a:xfrm>
          <a:prstGeom prst="line">
            <a:avLst/>
          </a:prstGeom>
          <a:noFill/>
          <a:ln w="25400">
            <a:solidFill>
              <a:srgbClr val="1B6EF3"/>
            </a:solidFill>
            <a:prstDash val="solid"/>
            <a:headEnd type="none"/>
            <a:tailEnd type="triangle"/>
          </a:ln>
        </p:spPr>
        <p:txBody>
          <a:bodyPr/>
          <a:lstStyle/>
          <a:p>
            <a:endParaRPr lang="ja-JP" altLang="en-US"/>
          </a:p>
        </p:txBody>
      </p:sp>
      <p:sp>
        <p:nvSpPr>
          <p:cNvPr id="13" name="Shape 11"/>
          <p:cNvSpPr/>
          <p:nvPr/>
        </p:nvSpPr>
        <p:spPr>
          <a:xfrm>
            <a:off x="4343400" y="2871216"/>
            <a:ext cx="0" cy="933140"/>
          </a:xfrm>
          <a:prstGeom prst="line">
            <a:avLst/>
          </a:prstGeom>
          <a:noFill/>
          <a:ln w="19050">
            <a:solidFill>
              <a:srgbClr val="F59E0B"/>
            </a:solidFill>
            <a:prstDash val="solid"/>
            <a:headEnd type="none"/>
            <a:tailEnd type="triangle"/>
          </a:ln>
        </p:spPr>
        <p:txBody>
          <a:bodyPr/>
          <a:lstStyle/>
          <a:p>
            <a:endParaRPr lang="ja-JP" altLang="en-US"/>
          </a:p>
        </p:txBody>
      </p:sp>
      <p:sp>
        <p:nvSpPr>
          <p:cNvPr id="14" name="Text 12"/>
          <p:cNvSpPr/>
          <p:nvPr/>
        </p:nvSpPr>
        <p:spPr>
          <a:xfrm>
            <a:off x="3595737" y="3903358"/>
            <a:ext cx="1508760" cy="475488"/>
          </a:xfrm>
          <a:prstGeom prst="rect">
            <a:avLst/>
          </a:prstGeom>
          <a:solidFill>
            <a:srgbClr val="FFFFFF"/>
          </a:solidFill>
          <a:ln w="12700">
            <a:solidFill>
              <a:srgbClr val="DDE5EF"/>
            </a:solidFill>
          </a:ln>
        </p:spPr>
        <p:txBody>
          <a:bodyPr wrap="square" lIns="508" tIns="508" rIns="508" bIns="508" rtlCol="0" anchor="t">
            <a:normAutofit/>
          </a:bodyPr>
          <a:lstStyle/>
          <a:p>
            <a:pPr marL="0" indent="0" algn="ctr">
              <a:buNone/>
            </a:pPr>
            <a:r>
              <a:rPr lang="en-US" sz="1350" b="1" dirty="0">
                <a:solidFill>
                  <a:srgbClr val="F59E0B"/>
                </a:solidFill>
                <a:latin typeface="Noto Sans CJK JP" pitchFamily="34" charset="0"/>
                <a:ea typeface="Noto Sans CJK JP" pitchFamily="34" charset="-122"/>
                <a:cs typeface="Noto Sans CJK JP" pitchFamily="34" charset="-120"/>
              </a:rPr>
              <a:t>承認・拒否</a:t>
            </a:r>
            <a:endParaRPr lang="en-US" sz="1350" dirty="0"/>
          </a:p>
          <a:p>
            <a:pPr marL="0" indent="0" algn="ctr">
              <a:buNone/>
            </a:pPr>
            <a:r>
              <a:rPr lang="en-US" sz="1350" b="1" dirty="0">
                <a:solidFill>
                  <a:srgbClr val="F59E0B"/>
                </a:solidFill>
                <a:latin typeface="Noto Sans CJK JP" pitchFamily="34" charset="0"/>
                <a:ea typeface="Noto Sans CJK JP" pitchFamily="34" charset="-122"/>
                <a:cs typeface="Noto Sans CJK JP" pitchFamily="34" charset="-120"/>
              </a:rPr>
              <a:t>理由を入力</a:t>
            </a:r>
            <a:endParaRPr lang="en-US" sz="1350" dirty="0"/>
          </a:p>
        </p:txBody>
      </p:sp>
      <p:sp>
        <p:nvSpPr>
          <p:cNvPr id="15" name="Text 13"/>
          <p:cNvSpPr/>
          <p:nvPr/>
        </p:nvSpPr>
        <p:spPr>
          <a:xfrm>
            <a:off x="730834" y="4681728"/>
            <a:ext cx="1272388" cy="274320"/>
          </a:xfrm>
          <a:prstGeom prst="rect">
            <a:avLst/>
          </a:prstGeom>
          <a:noFill/>
          <a:ln/>
        </p:spPr>
        <p:txBody>
          <a:bodyPr wrap="square" lIns="508" tIns="508" rIns="508" bIns="508" rtlCol="0" anchor="t">
            <a:normAutofit/>
          </a:bodyPr>
          <a:lstStyle/>
          <a:p>
            <a:pPr marL="0" indent="0" algn="l">
              <a:buNone/>
            </a:pPr>
            <a:r>
              <a:rPr lang="en-US" sz="1500" b="1" dirty="0">
                <a:solidFill>
                  <a:srgbClr val="5F6C7B"/>
                </a:solidFill>
                <a:latin typeface="Noto Sans CJK JP" pitchFamily="34" charset="0"/>
                <a:ea typeface="Noto Sans CJK JP" pitchFamily="34" charset="-122"/>
                <a:cs typeface="Noto Sans CJK JP" pitchFamily="34" charset="-120"/>
              </a:rPr>
              <a:t>実装ステップ</a:t>
            </a:r>
            <a:endParaRPr lang="en-US" sz="1500" dirty="0"/>
          </a:p>
        </p:txBody>
      </p:sp>
      <p:sp>
        <p:nvSpPr>
          <p:cNvPr id="16" name="Text 14"/>
          <p:cNvSpPr/>
          <p:nvPr/>
        </p:nvSpPr>
        <p:spPr>
          <a:xfrm>
            <a:off x="2212848" y="4645152"/>
            <a:ext cx="8458200" cy="960120"/>
          </a:xfrm>
          <a:prstGeom prst="rect">
            <a:avLst/>
          </a:prstGeom>
          <a:noFill/>
          <a:ln/>
        </p:spPr>
        <p:txBody>
          <a:bodyPr wrap="square" lIns="508" tIns="508" rIns="508" bIns="508" rtlCol="0" anchor="t">
            <a:normAutofit/>
          </a:bodyPr>
          <a:lstStyle/>
          <a:p>
            <a:pPr marL="0" indent="0" algn="l">
              <a:buNone/>
            </a:pPr>
            <a:r>
              <a:rPr lang="en-US" sz="1530" dirty="0">
                <a:solidFill>
                  <a:srgbClr val="0B1020"/>
                </a:solidFill>
                <a:latin typeface="Noto Sans CJK JP" pitchFamily="34" charset="0"/>
                <a:ea typeface="Noto Sans CJK JP" pitchFamily="34" charset="-122"/>
                <a:cs typeface="Noto Sans CJK JP" pitchFamily="34" charset="-120"/>
              </a:rPr>
              <a:t>1. EC 状態を Python メモリから shop_state.json に移す</a:t>
            </a:r>
            <a:endParaRPr lang="en-US" sz="1530" dirty="0"/>
          </a:p>
          <a:p>
            <a:pPr marL="0" indent="0" algn="l">
              <a:buNone/>
            </a:pPr>
            <a:r>
              <a:rPr lang="en-US" sz="1530" dirty="0">
                <a:solidFill>
                  <a:srgbClr val="0B1020"/>
                </a:solidFill>
                <a:latin typeface="Noto Sans CJK JP" pitchFamily="34" charset="0"/>
                <a:ea typeface="Noto Sans CJK JP" pitchFamily="34" charset="-122"/>
                <a:cs typeface="Noto Sans CJK JP" pitchFamily="34" charset="-120"/>
              </a:rPr>
              <a:t>2. 状態変更ツールは Sandbox 内ファイルだけを書き換える</a:t>
            </a:r>
            <a:endParaRPr lang="en-US" sz="1530" dirty="0"/>
          </a:p>
          <a:p>
            <a:pPr marL="0" indent="0" algn="l">
              <a:buNone/>
            </a:pPr>
            <a:r>
              <a:rPr lang="en-US" sz="1530" dirty="0">
                <a:solidFill>
                  <a:srgbClr val="0B1020"/>
                </a:solidFill>
                <a:latin typeface="Noto Sans CJK JP" pitchFamily="34" charset="0"/>
                <a:ea typeface="Noto Sans CJK JP" pitchFamily="34" charset="-122"/>
                <a:cs typeface="Noto Sans CJK JP" pitchFamily="34" charset="-120"/>
              </a:rPr>
              <a:t>3. verification.py で成功条件を検証する</a:t>
            </a:r>
            <a:endParaRPr lang="en-US" sz="1530" dirty="0"/>
          </a:p>
          <a:p>
            <a:pPr marL="0" indent="0" algn="l">
              <a:buNone/>
            </a:pPr>
            <a:r>
              <a:rPr lang="en-US" sz="1530" dirty="0">
                <a:solidFill>
                  <a:srgbClr val="0B1020"/>
                </a:solidFill>
                <a:latin typeface="Noto Sans CJK JP" pitchFamily="34" charset="0"/>
                <a:ea typeface="Noto Sans CJK JP" pitchFamily="34" charset="-122"/>
                <a:cs typeface="Noto Sans CJK JP" pitchFamily="34" charset="-120"/>
              </a:rPr>
              <a:t>4. needs_approval=True で公開・売上影響系操作を止める</a:t>
            </a:r>
            <a:endParaRPr lang="en-US" sz="1530" dirty="0"/>
          </a:p>
        </p:txBody>
      </p:sp>
      <p:sp>
        <p:nvSpPr>
          <p:cNvPr id="17" name="Text 15"/>
          <p:cNvSpPr/>
          <p:nvPr/>
        </p:nvSpPr>
        <p:spPr>
          <a:xfrm>
            <a:off x="1024128" y="5989320"/>
            <a:ext cx="10104120" cy="384048"/>
          </a:xfrm>
          <a:prstGeom prst="rect">
            <a:avLst/>
          </a:prstGeom>
          <a:solidFill>
            <a:srgbClr val="E8F8F1"/>
          </a:solidFill>
          <a:ln>
            <a:solidFill>
              <a:srgbClr val="E8F8F1"/>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説明メッセージ：AI が判断、人間が承認、Sandbox 内だけで実行、本番には直接影響しない。</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972800" cy="502920"/>
          </a:xfrm>
          <a:prstGeom prst="rect">
            <a:avLst/>
          </a:prstGeom>
          <a:noFill/>
          <a:ln/>
        </p:spPr>
        <p:txBody>
          <a:bodyPr wrap="square" lIns="254" tIns="254" rIns="254" bIns="254" rtlCol="0" anchor="ctr">
            <a:normAutofit/>
          </a:bodyPr>
          <a:lstStyle/>
          <a:p>
            <a:pPr marL="0" indent="0">
              <a:buNone/>
            </a:pPr>
            <a:r>
              <a:rPr lang="en-US" sz="2700" b="1" dirty="0">
                <a:solidFill>
                  <a:srgbClr val="0B1020"/>
                </a:solidFill>
                <a:latin typeface="Noto Sans CJK JP" pitchFamily="34" charset="0"/>
                <a:ea typeface="Noto Sans CJK JP" pitchFamily="34" charset="-122"/>
                <a:cs typeface="Noto Sans CJK JP" pitchFamily="34" charset="-120"/>
              </a:rPr>
              <a:t>参考資料</a:t>
            </a:r>
            <a:endParaRPr lang="en-US" sz="2700" dirty="0"/>
          </a:p>
        </p:txBody>
      </p:sp>
      <p:sp>
        <p:nvSpPr>
          <p:cNvPr id="3" name="Text 1"/>
          <p:cNvSpPr/>
          <p:nvPr/>
        </p:nvSpPr>
        <p:spPr>
          <a:xfrm>
            <a:off x="521208" y="868680"/>
            <a:ext cx="10789920" cy="329184"/>
          </a:xfrm>
          <a:prstGeom prst="rect">
            <a:avLst/>
          </a:prstGeom>
          <a:noFill/>
          <a:ln/>
        </p:spPr>
        <p:txBody>
          <a:bodyPr wrap="square" lIns="254" tIns="254" rIns="254" bIns="254" rtlCol="0" anchor="ctr">
            <a:normAutofit/>
          </a:bodyPr>
          <a:lstStyle/>
          <a:p>
            <a:pPr marL="0" indent="0">
              <a:buNone/>
            </a:pPr>
            <a:r>
              <a:rPr lang="en-US" sz="1250" dirty="0">
                <a:solidFill>
                  <a:srgbClr val="5F6C7B"/>
                </a:solidFill>
                <a:latin typeface="Noto Sans CJK JP" pitchFamily="34" charset="0"/>
                <a:ea typeface="Noto Sans CJK JP" pitchFamily="34" charset="-122"/>
                <a:cs typeface="Noto Sans CJK JP" pitchFamily="34" charset="-120"/>
              </a:rPr>
              <a:t>仕様の理解に使った主な公式ドキュメント。</a:t>
            </a:r>
            <a:endParaRPr lang="en-US" sz="1250" dirty="0"/>
          </a:p>
        </p:txBody>
      </p:sp>
      <p:sp>
        <p:nvSpPr>
          <p:cNvPr id="4" name="Text 2"/>
          <p:cNvSpPr/>
          <p:nvPr/>
        </p:nvSpPr>
        <p:spPr>
          <a:xfrm>
            <a:off x="502920" y="6473952"/>
            <a:ext cx="7680960" cy="201168"/>
          </a:xfrm>
          <a:prstGeom prst="rect">
            <a:avLst/>
          </a:prstGeom>
          <a:noFill/>
          <a:ln/>
        </p:spPr>
        <p:txBody>
          <a:bodyPr wrap="square" lIns="127" tIns="127" rIns="127" bIns="127" rtlCol="0" anchor="ctr"/>
          <a:lstStyle/>
          <a:p>
            <a:pPr marL="0" indent="0">
              <a:buNone/>
            </a:pPr>
            <a:r>
              <a:rPr lang="en-US" sz="850" dirty="0">
                <a:solidFill>
                  <a:srgbClr val="5F6C7B"/>
                </a:solidFill>
                <a:latin typeface="Noto Sans CJK JP" pitchFamily="34" charset="0"/>
                <a:ea typeface="Noto Sans CJK JP" pitchFamily="34" charset="-122"/>
                <a:cs typeface="Noto Sans CJK JP" pitchFamily="34" charset="-120"/>
              </a:rPr>
              <a:t>LangGraph と OpenAI Agents SDK の違い</a:t>
            </a:r>
            <a:endParaRPr lang="en-US" sz="850" dirty="0"/>
          </a:p>
        </p:txBody>
      </p:sp>
      <p:sp>
        <p:nvSpPr>
          <p:cNvPr id="5" name="Text 3"/>
          <p:cNvSpPr/>
          <p:nvPr/>
        </p:nvSpPr>
        <p:spPr>
          <a:xfrm>
            <a:off x="11356848" y="6455664"/>
            <a:ext cx="347472" cy="219456"/>
          </a:xfrm>
          <a:prstGeom prst="rect">
            <a:avLst/>
          </a:prstGeom>
          <a:noFill/>
          <a:ln/>
        </p:spPr>
        <p:txBody>
          <a:bodyPr wrap="square" lIns="127" tIns="127" rIns="127" bIns="127" rtlCol="0" anchor="ctr"/>
          <a:lstStyle/>
          <a:p>
            <a:pPr marL="0" indent="0" algn="r">
              <a:buNone/>
            </a:pPr>
            <a:r>
              <a:rPr lang="en-US" sz="900" b="1" dirty="0">
                <a:solidFill>
                  <a:srgbClr val="5F6C7B"/>
                </a:solidFill>
                <a:latin typeface="Noto Sans CJK JP" pitchFamily="34" charset="0"/>
                <a:ea typeface="Noto Sans CJK JP" pitchFamily="34" charset="-122"/>
                <a:cs typeface="Noto Sans CJK JP" pitchFamily="34" charset="-120"/>
              </a:rPr>
              <a:t>11</a:t>
            </a:r>
            <a:endParaRPr lang="en-US" sz="900" dirty="0"/>
          </a:p>
        </p:txBody>
      </p:sp>
      <p:sp>
        <p:nvSpPr>
          <p:cNvPr id="6" name="Text 4"/>
          <p:cNvSpPr/>
          <p:nvPr/>
        </p:nvSpPr>
        <p:spPr>
          <a:xfrm>
            <a:off x="749808" y="1572768"/>
            <a:ext cx="2194560" cy="292608"/>
          </a:xfrm>
          <a:prstGeom prst="rect">
            <a:avLst/>
          </a:prstGeom>
          <a:noFill/>
          <a:ln/>
        </p:spPr>
        <p:txBody>
          <a:bodyPr wrap="square" lIns="508" tIns="508" rIns="508" bIns="508" rtlCol="0" anchor="t">
            <a:normAutofit/>
          </a:bodyPr>
          <a:lstStyle/>
          <a:p>
            <a:pPr marL="0" indent="0" algn="l">
              <a:buNone/>
            </a:pPr>
            <a:r>
              <a:rPr lang="en-US" sz="1600" b="1" dirty="0">
                <a:solidFill>
                  <a:srgbClr val="1B6EF3"/>
                </a:solidFill>
                <a:latin typeface="Noto Sans CJK JP" pitchFamily="34" charset="0"/>
                <a:ea typeface="Noto Sans CJK JP" pitchFamily="34" charset="-122"/>
                <a:cs typeface="Noto Sans CJK JP" pitchFamily="34" charset="-120"/>
              </a:rPr>
              <a:t>OpenAI Agents SDK</a:t>
            </a:r>
            <a:endParaRPr lang="en-US" sz="1600" dirty="0"/>
          </a:p>
        </p:txBody>
      </p:sp>
      <p:sp>
        <p:nvSpPr>
          <p:cNvPr id="7" name="Text 5"/>
          <p:cNvSpPr/>
          <p:nvPr/>
        </p:nvSpPr>
        <p:spPr>
          <a:xfrm>
            <a:off x="868680" y="1965960"/>
            <a:ext cx="10424160" cy="1143000"/>
          </a:xfrm>
          <a:prstGeom prst="rect">
            <a:avLst/>
          </a:prstGeom>
          <a:noFill/>
          <a:ln/>
        </p:spPr>
        <p:txBody>
          <a:bodyPr wrap="square" lIns="508" tIns="508" rIns="508" bIns="508" rtlCol="0" anchor="t">
            <a:normAutofit/>
          </a:bodyPr>
          <a:lstStyle/>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Agents SDK ガイド: Agent / Tool / Handoff / Guardrails の位置づけ</a:t>
            </a:r>
            <a:endParaRPr lang="en-US" sz="1460" dirty="0"/>
          </a:p>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Human-in-the-loop: needs_approval / interruptions / RunState</a:t>
            </a:r>
            <a:endParaRPr lang="en-US" sz="1460" dirty="0"/>
          </a:p>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Sandbox Agents: workspace / manifest / capabilities / sandbox client</a:t>
            </a:r>
            <a:endParaRPr lang="en-US" sz="1460" dirty="0"/>
          </a:p>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Tracing: LLM 生成・ツール呼び出し・handoff・guardrails の観測</a:t>
            </a:r>
            <a:endParaRPr lang="en-US" sz="1460" dirty="0"/>
          </a:p>
        </p:txBody>
      </p:sp>
      <p:sp>
        <p:nvSpPr>
          <p:cNvPr id="8" name="Text 6"/>
          <p:cNvSpPr/>
          <p:nvPr/>
        </p:nvSpPr>
        <p:spPr>
          <a:xfrm>
            <a:off x="749808" y="3657600"/>
            <a:ext cx="2194560" cy="292608"/>
          </a:xfrm>
          <a:prstGeom prst="rect">
            <a:avLst/>
          </a:prstGeom>
          <a:noFill/>
          <a:ln/>
        </p:spPr>
        <p:txBody>
          <a:bodyPr wrap="square" lIns="508" tIns="508" rIns="508" bIns="508" rtlCol="0" anchor="t">
            <a:normAutofit/>
          </a:bodyPr>
          <a:lstStyle/>
          <a:p>
            <a:pPr marL="0" indent="0" algn="l">
              <a:buNone/>
            </a:pPr>
            <a:r>
              <a:rPr lang="en-US" sz="1600" b="1" dirty="0">
                <a:solidFill>
                  <a:srgbClr val="7C3AED"/>
                </a:solidFill>
                <a:latin typeface="Noto Sans CJK JP" pitchFamily="34" charset="0"/>
                <a:ea typeface="Noto Sans CJK JP" pitchFamily="34" charset="-122"/>
                <a:cs typeface="Noto Sans CJK JP" pitchFamily="34" charset="-120"/>
              </a:rPr>
              <a:t>LangGraph</a:t>
            </a:r>
            <a:endParaRPr lang="en-US" sz="1600" dirty="0"/>
          </a:p>
        </p:txBody>
      </p:sp>
      <p:sp>
        <p:nvSpPr>
          <p:cNvPr id="9" name="Text 7"/>
          <p:cNvSpPr/>
          <p:nvPr/>
        </p:nvSpPr>
        <p:spPr>
          <a:xfrm>
            <a:off x="868680" y="4050792"/>
            <a:ext cx="10424160" cy="777240"/>
          </a:xfrm>
          <a:prstGeom prst="rect">
            <a:avLst/>
          </a:prstGeom>
          <a:noFill/>
          <a:ln/>
        </p:spPr>
        <p:txBody>
          <a:bodyPr wrap="square" lIns="508" tIns="508" rIns="508" bIns="508" rtlCol="0" anchor="t">
            <a:normAutofit/>
          </a:bodyPr>
          <a:lstStyle/>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Graph API overview: nodes / edges / state によるワークフロー構成</a:t>
            </a:r>
            <a:endParaRPr lang="en-US" sz="1460" dirty="0"/>
          </a:p>
          <a:p>
            <a:pPr marL="0" indent="0" algn="l">
              <a:buNone/>
            </a:pPr>
            <a:r>
              <a:rPr lang="en-US" sz="1460" dirty="0">
                <a:solidFill>
                  <a:srgbClr val="0B1020"/>
                </a:solidFill>
                <a:latin typeface="Noto Sans CJK JP" pitchFamily="34" charset="0"/>
                <a:ea typeface="Noto Sans CJK JP" pitchFamily="34" charset="-122"/>
                <a:cs typeface="Noto Sans CJK JP" pitchFamily="34" charset="-120"/>
              </a:rPr>
              <a:t>• StateGraph reference: State を読み書きし、state key ごとに reducer を指定可能</a:t>
            </a:r>
            <a:endParaRPr lang="en-US" sz="1460" dirty="0"/>
          </a:p>
        </p:txBody>
      </p:sp>
      <p:sp>
        <p:nvSpPr>
          <p:cNvPr id="10" name="Text 8"/>
          <p:cNvSpPr/>
          <p:nvPr/>
        </p:nvSpPr>
        <p:spPr>
          <a:xfrm>
            <a:off x="868680" y="5230368"/>
            <a:ext cx="10424160" cy="384048"/>
          </a:xfrm>
          <a:prstGeom prst="rect">
            <a:avLst/>
          </a:prstGeom>
          <a:noFill/>
          <a:ln/>
        </p:spPr>
        <p:txBody>
          <a:bodyPr wrap="square" lIns="508" tIns="508" rIns="508" bIns="508" rtlCol="0" anchor="t">
            <a:normAutofit/>
          </a:bodyPr>
          <a:lstStyle/>
          <a:p>
            <a:pPr marL="0" indent="0" algn="l">
              <a:buNone/>
            </a:pPr>
            <a:r>
              <a:rPr lang="en-US" sz="1150" dirty="0">
                <a:solidFill>
                  <a:srgbClr val="5F6C7B"/>
                </a:solidFill>
                <a:latin typeface="Noto Sans CJK JP" pitchFamily="34" charset="0"/>
                <a:ea typeface="Noto Sans CJK JP" pitchFamily="34" charset="-122"/>
                <a:cs typeface="Noto Sans CJK JP" pitchFamily="34" charset="-120"/>
              </a:rPr>
              <a:t>URL: openai.github.io/openai-agents-python / developers.openai.com/api/docs/guides/agents / docs.langchain.com/oss/python/langgraph/graph-api / reference.langchain.com/python/langgraph/graph/state/StateGraph</a:t>
            </a:r>
            <a:endParaRPr lang="en-US" sz="1150" dirty="0"/>
          </a:p>
        </p:txBody>
      </p:sp>
      <p:sp>
        <p:nvSpPr>
          <p:cNvPr id="11" name="Text 9"/>
          <p:cNvSpPr/>
          <p:nvPr/>
        </p:nvSpPr>
        <p:spPr>
          <a:xfrm>
            <a:off x="822960" y="5806440"/>
            <a:ext cx="10881360" cy="384048"/>
          </a:xfrm>
          <a:prstGeom prst="rect">
            <a:avLst/>
          </a:prstGeom>
          <a:solidFill>
            <a:srgbClr val="EEF2F7"/>
          </a:solidFill>
          <a:ln>
            <a:solidFill>
              <a:srgbClr val="EEF2F7"/>
            </a:solidFill>
          </a:ln>
        </p:spPr>
        <p:txBody>
          <a:bodyPr wrap="square" lIns="1016" tIns="1016" rIns="1016" bIns="1016" rtlCol="0" anchor="ctr">
            <a:normAutofit/>
          </a:bodyPr>
          <a:lstStyle/>
          <a:p>
            <a:pPr marL="0" indent="0" algn="ctr">
              <a:buNone/>
            </a:pPr>
            <a:r>
              <a:rPr lang="en-US" sz="1550" b="1" dirty="0">
                <a:solidFill>
                  <a:srgbClr val="0B1020"/>
                </a:solidFill>
                <a:latin typeface="Noto Sans CJK JP" pitchFamily="34" charset="0"/>
                <a:ea typeface="Noto Sans CJK JP" pitchFamily="34" charset="-122"/>
                <a:cs typeface="Noto Sans CJK JP" pitchFamily="34" charset="-120"/>
              </a:rPr>
              <a:t>注：API 名やベータ機能は変わる可能性があるため、実装時は公式ドキュメントで最新の import path を確認してください。</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2902</Words>
  <PresentationFormat>ワイド画面</PresentationFormat>
  <Paragraphs>257</Paragraphs>
  <Slides>11</Slides>
  <Notes>11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2026-06-15T20:17:52Z</dcterms:created>
  <dcterms:modified xsi:type="dcterms:W3CDTF">2026-06-15T20:53:22Z</dcterms:modified>
</cp:coreProperties>
</file>