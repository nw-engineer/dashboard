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本資料は「A2UI」と「AG-UI」という、名前は似ているが役割の異なる2つのプロトコルについて、公式ドキュメント（a2ui.org、docs.ag-ui.com）を調査・整理し、比較検討した結果をまとめたものです。
作成の背景として、Agentic Application（AIエージェントが自律的にツール実行や対話を行うアプリケーション）の開発が広がる中で、従来のチャットUI＋テキストのみのやり取りでは、予約・分析・運用・承認といった業務要件に対応しきれないという課題意識があります。
本調査の目的は、(1) A2UIとAG-UIがそれぞれ何を解決する技術なのかを正確に理解すること、(2) 両者が競合技術なのか補完技術なのかを整理すること、(3) 自社のAgentic Application開発においてどちらを、あるいは両方をどう採用すべきかの判断材料を提供すること、の3点です。
結論を先取りすると、A2UIとAG-UIは競合关係ではなく、Agentic Applicationを構成する異なるレイヤ（UI表現レイヤと通信レイヤ）を担当する補完関係にある技術です。この資料ではその根拠を、公式ドキュメントの内容に基づいて一つずつ解説していきます。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本資料の構成を示すアジェンダスライドです。全体は大きく4つのパートに分かれています。
第1パート（1〜3）は導入部分で、なぜA2UI/AG-UIのような技術が必要とされているのか、Agentic Application全体における位置付けを説明します。
第2パート（4〜8）はA2UI単体の詳細解説で、目的、アーキテクチャ、コアコンセプト（Surface、Data Binding、Catalogなど）、公式サイトの構成、SDK、メリット・注意点を扱います。
第3パート（9〜14）はAG-UI単体の詳細解説で、目的、アーキテクチャ、Event Model、State/Tool/Interruptといった中核機能、SDK、メリット・注意点を扱います。
第4パート（15〜22）は比較・統合・実践編で、既存技術（HTML/iframe、MCP Apps、REST等）との違い、A2UIとAG-UIの詳細比較、両者を組み合わせた統合アーキテクチャ、具体的なユースケース、Python環境でのPoC構成、検証チェックリスト、最終的な採用判断の指針、そして巻末に参考資料一覧を掲載しています。
説明の流れとしては「なぜ必要か→それぞれは何か→どう違うか→どう組み合わせるか→どう採用判断するか」という順序になっており、聴衆が技術の全体像を段階的に理解できる構成にしています。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このスライドは資料全体の結論を先に提示するエグゼクティブサマリーです。
A2UIは「Agent to UI」の略で、AIエージェントが表示したいUIを実行可能なコードではなく宣言的なJSONとして表現するプロトコルです。一方AG-UIは「Agent-User Interaction Protocol」の略で、エージェントとユーザー向けアプリケーションの間でメッセージ、状態、Tool呼び出し、進捗、割り込みなどをリアルタイムにやり取りするイベントベースの通信プロトコルです。
重要なのはこの2つが同じ課題を別々のアプローチで解決する「競合技術」ではなく、それぞれ異なるレイヤを担当する「補完技術」だという点です。AG-UIを『Agentとフロントエンドをつなぐ通信・実行レイヤ』、A2UIを『Agentがフロントエンドに渡すUI表現レイヤ』と整理すると分かりやすくなります。
下部の流れ図は、User→Frontend→AG-UI→Agent→A2UIメッセージ生成→AG-UI経由で配送→A2UI Rendererが解釈→Native UIとして表示、という統合利用時の典型的なデータの流れを示しています。
この後のスライドでは、まずなぜこうした技術が必要とされているのかという背景を説明し、続いてA2UIとAG-UIそれぞれを個別に深掘りし、最後に両者の比較と組み合わせ方、採用判断の指針を提示します。聴衆には『どちらを選ぶか』ではなく『どのレイヤを標準化したいか』という視点を持って以降のスライドを見てもらうことが重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このスライドでは、A2UIやAG-UIのようなプロトコルがなぜ必要とされているのか、その背景課題を説明します。
左側は一般的なChat UIの構造です。User→Chat UI→REST/HTTP→LLM→Textという一方向的でシンプルな流れになっており、これは単純な質疑応答には十分機能します。
しかし右側に示すように、予約、分析、運用、承認といった実際の業務ユースケースでは、すべてをテキストの往復だけで処理するのは非効率です。エージェントがフォーム、カード、選択肢、表、ダッシュボードといった構造化されたUIを直接生成できた方が、ユーザー体験も業務効率も大きく向上します。ここがA2UIの課題意識です。
さらに下部で示すように、Agentic Applicationでは単純なRequest/Responseだけでは対応しきれない要素が数多く存在します。長時間にわたるエージェントの実行、トークン単位のストリーミング表示、外部ツールの実行、状態の更新、人間による承認プロセス、サブエージェントの呼び出し、実行進捗の通知など、これらはいずれもリアルタイムかつイベントドリブンなやり取りを必要とします。これがAG-UIの課題意識です。
まとめると、A2UIは『Agentが生成するUI』を標準化する技術であり、AG-UIは『Agentとフロントエンドの動的なやり取り』を標準化する技術です。この2つの課題は性質が異なるため、後述するように別々のプロトコルとして発展してき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このスライドはAgenticアプリケーション全体を構成するプロトコル群の中で、AG-UIとA2UIがどこに位置付けられるかを示しています。
エージェントは実行時に複数の『相手』と接続する必要があります。外部のツールやデータソースと接続する場合はMCP（Model Context Protocol）、他のエージェントと連携・協調する場合はA2A（Agent to Agent）、そしてユーザーやユーザー向けアプリケーションと接続する場合はAG-UIが使われます。これら3つは対象とする接続相手が明確に異なっており、競合するものではなく役割分担された技術です。
この中でA2UIはさらに一段掘り下げた位置付けになります。A2UI自体は接続プロトコルではなく、AG-UIなどの通信レイヤに載せて運ばれる『UIの中身（Generative UI Specification）』です。図の下部に示す通り、Agent→A2UI（UI内容を生成）→AG-UI（それを配送）→Application（実際に描画）という流れになります。
つまりAG-UIは『誰と、どうやりとりするか』を定めるプロトコルであるのに対し、A2UIは『やりとりする中身としてのUIをどう表現するか』を定める仕様であり、両者は同じレイヤの選択肢ではなく、積み重なる関係にあります。この全体像を押さえておくことで、この後の各論（A2UI編・AG-UI編）の理解がスムーズ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このスライドはA2UIの目的と存在意義を説明します。
A2UIはGoogleが中心となって公開している、Agent-driven UIのための宣言型UIプロトコルです。目的は、AIエージェントが任意コードを実行することなく、Web、Mobile、Desktopといった複数プラットフォーム上にリッチでインタラクティブなUIを生成できるようにすることです。
A2UIが解決したい代表的な問題は『別のサーバや組織で動くエージェントが、安全にこちらのアプリケーションへUIを渡すにはどうすればよいか』という点です。これは特にリモートで動作するエージェントや、サードパーティのエージェントをホストアプリケーションに組み込む際に重要になる課題です。
従来のHTML、JavaScript、iframeベースの方法には、任意コード実行のリスク、ホストアプリケーションとのデザインの分離、Web技術への依存、Native UIへの展開の難しさといった課題がありました。特に任意コード実行リスクは、信頼できないエージェントの出力をそのまま実行してしまうセキュリティ上の懸念に直結します。
A2UIのアプローチでは、エージェントはHTMLやJavaScriptを送るのではなく、宣言的なデータ、具体的にはJSON形式でUIの構造を表現します。スライド右側の例のように、{component: Button, text: 確認}のような単純な宣言をエージェントが生成し、フロントエンド側がこの情報を自社のコンポーネントにマッピングして描画します。これにより任意コードの実行を避けながら、動的なUI生成が可能になります。
A2UIの想定利用者は、Host App Developer（自社アプリにA2UI Rendererを組み込む開発者）、Agent Developer（A2UIメッセージを生成するエージェントを開発する開発者）、Platform/SDK Builder（AG-UIやCopilotKitなど他のプラットフォームからA2UIを利用できるようにするSDK開発者）の3者です。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このスライドはA2UIのアーキテクチャ、つまりエージェントが生成したUI情報がどのような経路でNative UIとして描画されるかを示しています。
まずAI Agent / LLMがA2UIのJSON（またはJSONL形式のストリーム）を生成します。これがA2UIの出発点です。
次にこのJSONはTransport層を経由して配送されます。A2UI自体は特定の配送方法を規定しておらず、A2A、AG-UI、REST、WebSocketなど複数のTransportを選択できる、いわゆるTransport Agnosticな設計になっています。
配送されたメッセージはA2UI Rendererで処理されます。RendererはMessage Parser（メッセージの解析）、Data Model（状態データの保持）、Component Mapping（A2UIのコンポーネント定義をフレームワーク固有のコンポーネントに変換する処理）という3つの役割を担います。
最終的にNative UI、つまりReact、Angular、Flutterといった実際のUIフレームワークのコンポーネントとして画面に描画されます。
右側のポイントボックスで強調しているのは、A2UI自体はTransportではなく『何を表示するかを定義するUI payload / format』であるという点です。この区別は非常に重要で、次のAG-UIとの比較スライドでも繰り返し出てくる考え方の土台になります。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このスライドはA2UIを構成する6つのコアコンセプトをまとめています。いずれも公式ドキュメントのConceptsセクションに基づいています。
① Surfaceは、UIを描画する領域そのものを指す概念で、main（メイン画面）、sidebar（サイドバー）、dialog（ダイアログ）、modal（モーダル）などを表現できます。
② Components &amp; Structureは、A2UIのコンポーネントをID参照によって比較的フラットな構造で表現する仕組みです。ネストの深いツリー構造ではなくフラットな配列とID参照を使うことで、LLMがストリーミングでIncremental（差分的・逐次的）にUIを生成しやすくなっています。
③ Data Bindingは、ComponentとData ModelをJSON Pointer（例：/server/cpu）で接続する仕組みです。これにより、Componentそのものを再生成することなく値だけを更新でき、Reactiveなリアルタイム更新、Templateの再利用、Dynamic Listの表現などが可能になります。
④ Catalogは、エージェントが使用してよいUIコンポーネントの一覧、いわばAllowlistです。これによりDesign Systemとの統合、Schema Validation、セキュリティ・型安全性の確保、エージェント出力の制約といったメリットが得られます。
⑤ TransportsはA2UIがTransport Agnosticであることを示しており、A2A、AG-UI、REST、WebSocket、SSE、MCPなど様々な配送手段と連携可能です。
⑥ Actionsは、UI上でのユーザー操作をエージェントに送り返す仕組みです。エージェントはActionを受け取ってTool実行、次のUIの生成、Data Modelの更新などを行うことができ、これによりUIとエージェントの双方向フローが実現します。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このスライドではA2UIの公式サイトが提供する主要な技術情報のうち、Message、Renderer対応状況、Python SDKについてまとめています。
左側の表は、A2UIのv0.9系における代表的なMessageの一覧です。createSurfaceはSurface（描画領域）を新規に生成するメッセージ、updateComponentsはComponentの追加・更新を行うメッセージ、updateDataModelはState（データモデル）を更新するメッセージ、deleteSurfaceはSurfaceを削除するメッセージです。典型的な流れとしては、createSurface→updateComponents→updateDataModel→ユーザー操作(Action)→updateDataModelというサイクルが繰り返されます。なお現在Candidate版であるv1.0では、actionResponseなどクライアント・サーバー間のRPCをより強化する方向で仕様策定が進められています。
右側の表は、2026年8月時点でのA2UI Rendererの対応状況です。React、Lit、AngularはいずれもWeb向けでStable（安定版）、Flutter GenUIはMobile・Desktop・Web全てに対応するStable実装です。SwiftUIやJetpack Composeといったネイティブモバイル向けのRendererは、ロードマップ上で今後の展開が予定されています。Rendererの役割は、A2UIのComponent定義（例：Text、Button、Card）を各フレームワーク固有のNative Component（例：Reactの&lt;p&gt;や&lt;button&gt;、自社のCompanyCardコンポーネント）に変換することです。
下部はAgent開発者向けのPython SDKであるa2ui-agent-sdkの紹介です。pip installでインストールでき、A2UI Schemaの管理、Catalogの管理、Schema Validation、LLM向けのPrompt生成、生成されたA2UI JSONの検証といった用途に使われます。典型的な処理の流れは、ユーザーの意図（User Intent）をLLMが受け取り、A2UI JSONを生成し、それをSchema Validationにかけた上でClientに渡す、というものです。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このスライドはA2UI単体のメリットと採用にあたっての注意点を整理したものです。
メリットとしてはまず、Declarative（宣言的）なアプローチによって任意コード実行を避けられるため安全性を高めやすいこと、Catalogの仕組みによってDesign Systemと統合しやすいことが挙げられます。またWeb、Mobile、Desktopといった複数プラットフォームに対応するCross Platform性、フラットなComponent Tree構造によりLLMが生成しやすいLLM Friendlyな設計、UIを段階的に構築していくProgressive Rendering、そしてAgentをフロントエンドの実装フレームワークから疎結合にできる点も大きな利点です。
一方で注意点としては、現行のv1.0がまだCandidate、つまり策定途上のバージョンであること、実際に画面へ描画するためのRendererを自社で用意または導入する必要があること、Agentが使ってよいComponentを定義するCatalog設計が別途必要になることが挙げられます。また複雑なUIを表現する場合はCustom Componentの実装が必要になり、LLMが生成したJSON出力に対するValidation（検証）も欠かせません。そして重要な点として、A2UIはFull Web Applicationの代替にはならず、あくまでAgentが生成する部分的なUI表現の標準化技術であるという位置付けを理解しておく必要があります。
採用を検討する際は、これらのメリットが自社のユースケースにどれだけ当てはまるか、また注意点として挙げた実装コスト（Renderer・Catalog・Validation）を許容できるかを併せて評価することが重要です。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このスライドはAG-UIの目的と存在意義を説明します。
AG-UIは、AI Agentとユーザー向けApplicationの接続を標準化する、Open（オープン）、Lightweight（軽量）、Event-based（イベントベース）のプロトコルです。
背景にある課題意識は、Agentic Applicationにおいてフロントエンドが本当に知りたい情報はテキストだけではないという点です。実際のエージェント実行では、Agentが開始した（Agent started）、エージェントのステップが開始した（Agent step started）、Tool呼び出しが開始した（Tool call started）、Toolの引数（Tool arguments）、Toolの実行結果（Tool result）、状態が変化した（State changed）、承認が必要（Approval required）、エージェントが完了した（Agent finished）といった、多種多様な情報をリアルタイムに把握する必要があります。
AG-UIのアプローチは、これらすべてをTyped Event（型付けされたイベント）として標準化することです。エージェントの実行結果を1回のレスポンスとして返すのではなく、Event Streamとして継続的に流すことで、フロントエンドはエージェントの実行状況をリアルタイムに、かつ構造化された形で把握できるようになります。
この設計思想により、開発者は独自にポーリングやカスタムのWebSocketメッセージ形式を設計する必要がなくなり、標準化されたイベントの型に沿ってUIを構築するだけで、ストリーミングチャット、進捗表示、Tool実行の可視化、状態同期、人間承認フローといった機能を実装できるようになります。次のスライード以降で、このAG-UIの具体的なアーキテクチャとイベントモデルを詳しく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このスライドはAG-UIのアーキテクチャ、つまりフロントエンドアプリケーションとエージェントフレームワークの間でどのようにデータが流れるかを示しています。
最上位にはFrontend Application（React、Mobile、Terminalなど）があります。ここがユーザーとの実際の接点です。
その下にAG-UI Clientがあり、Event handling（イベント処理）、State（状態管理）、Tool（ツール呼び出しの処理）を担当します。フロントエンド開発者は通常、このAG-UI Clientのライブラリを利用してAG-UIプロトコルに対応します。
さらに下にAG-UI Agent Endpointがあり、RunAgentInput（エージェント実行時の入力形式）とEvent Stream（イベントの継続的なストリーム）を扱います。通信方式としてはSSE（Server-Sent Events）、HTTP、WebSocketなどが利用されます。
最下層にAgent Frameworkがあり、LangGraph、Google ADK、あるいは自社独自の実装など、様々なエージェントフレームワークがここに位置します。
右側の設計思想ボックスで強調している通り、AG-UIの中心的な考え方はEvent Driven Architecture（イベント駆動アーキテクチャ）です。エージェントの実行結果を1つのレスポンスとして返すのではなく、実行の過程で発生する多数のイベントを継続的なストリームとして流します。また特定の通信方式に縛られないTransport Agnosticな設計になっており、HTTP/SSEだけでなくWebSocket、Webhook、Binary Transportなど様々な配送方法に対応可能です。この柔軟性により、既存のインフラやフレームワークに合わせてAG-UIを導入しやすくなっています。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このスライドはAG-UIのEventモデル、すなわちエージェントとフロントエンドの間でやり取りされるイベントの種類と流れについて説明します。
左の表はAG-UIが定義するEventの7つのカテゴリです。Lifecycle（エージェントの実行開始・終了などのライフサイクル）、Text（チャットメッセージのストリーミング）、Tool Call（ツールの呼び出し）、State（状態の同期）、Activity（進捗状況）、Reasoning（推論に関する情報）、そしてSpecial（RAWやCUSTOMといった拡張用の特殊イベント）です。
右側は典型的なEventの流れの具体例です。まずRUN_STARTEDでエージェントの実行が開始されたことを通知し、TEXT_MESSAGE_STARTでテキストメッセージの生成が始まったことを示し、TEXT_MESSAGE_CONTENTでテキストの内容を逐次ストリーミングします。その後Tool呼び出しが発生する場合はTOOL_CALL_STARTでツール呼び出しの開始、TOOL_CALL_ARGSでツールへの引数、TOOL_CALL_ENDでツール呼び出し自体の終了、TOOL_CALL_RESULTでツールの実行結果を通知します。最後にTEXT_MESSAGE_ENDでテキストメッセージの終了、RUN_FINISHEDでエージェントの実行全体の完了を通知します。
この一連のイベントフローにより、フロントエンドはエージェントが『今何をしているのか』を、テキストの内容だけでなく、どのツールを、どういう引数で呼び出し、どんな結果を得たのかまで、リアルタイムかつ構造化された形で把握・表示できます。これは前述の『フロントエンドが知りたい情報はテキストだけではない』という課題に対する、AG-UIの具体的な回答と言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このスライドはAG-UIの中でも特に実務上重要な3つの機能、State Management、Tools、Interruptsについて解説します。
State Managementは、Frontend側の状態とAgent側の状態を双方向に同期する仕組みです。代表的なEventとしてSTATE_SNAPSHOT（状態全体のスナップショットを送る）とSTATE_DELTA（差分のみを送る）があります。DeltaはJSON Patch形式を利用でき、状態全体を毎回送らずに変更部分だけを効率よく同期できるため、大きな状態オブジェクトを扱う場合でも通信量を抑えられます。
Toolsは、Backendで定義されたTool（サーバー側で実行される機能）とFrontendで定義されたTool（クライアント側で実行される機能）の両方を扱える点が特徴です。スライードに示した例では、Agentがconfirm Deleteというツールを呼び出すと、それがFrontend側のダイアログ表示につながり、ユーザーが承認した結果がAgentに返却される、という流れになります。これによりUI操作そのものをToolとして扱う柔軟な設計が可能になります。
Interruptsは、Human in the Loop（人間の介在）を実現するための仕組みです。例えばAgentが危険な操作（ファイアウォールの変更など）を検出した場合、Interruptイベントを発行して処理を一時停止し、人間がApprove（承認）、Reject（却下）、Edit（修正）のいずれかを選択した後、Resume（処理を再開）します。これは特に運用・セキュリティ・金融といった、誤動作が重大な影響を及ぼしうる領域でのAgentic Application導入において不可欠な機能です。
この3つの機能はいずれも、単純なチャットボットでは不要ですが、複雑な業務プロセスにAgentを組み込む際には中心的な役割を果たします。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このスライドではAG-UIの公式サイトが提供する情報のうち、Python SDK、Middleware、開発状況、そしてGenerative UIとの関係についてまとめています。
Python SDKはag-ui-protocolという名前でpip installにより導入できます。主なパッケージはag_ui.core（コアの型定義）とag_ui.encoder（イベントのエンコーディング）です。主要な型としてはRunAgentInput（エージェント実行時の入力）、Message（会話メッセージ）、Context（コンテキスト情報）、Tool（ツール定義）、State（状態）などがあります。EventEncoderを使うことで、これらのイベントをSSE（Server-Sent Events）形式にエンコードしてフロントエンドへストリーミング配信できます。
Middlewareは、Event Streamの途中に処理を挟み込む仕組みで、Authentication（認証）、Audit Logging（監査ログ）、PII Filter（個人情報のフィルタリング）、Event Filter（イベントの選別）、Metrics（メトリクス収集）、Tracing（トレーシング）、Error Handling（エラー処理）、Rate Limit（レート制限）といった横断的関心事をここで実装できます。エンタープライズ環境での導入においては、このMiddleware層の設計が非常に重要になります。
開発状況については、公式サイトにDraft Proposals（策定中の提案）としてGenerative User InterfacesやMeta Eventsなどが存在しており、採用の際にはすでに安定しているStable Conceptと、まだ変更されうるDraft Proposalを区別して評価する必要があります。プロジェクトは公開後も活発に開発が進んでおり、公式Roadmapは GitHub上で公開されています。
最後に重要な点として、AG-UI自体はGenerative UI Specification（UIの中身を定義する仕様）ではありません。公式ドキュメントではA2UIやOpen JSON UI、MCP-UIなどと明確に区別しており、AG-UIはそれらのGenerative UI payloadを『Transportできる（運べる）Interaction Protocol』として位置付けています。これは、次のスライードで扱うA2UIとAG-UIの関係性の理解にも直結する重要なポイントです。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このスライードはA2UIとAG-UIそれぞれについて、既存技術との違いを整理したものです。
まずA2UI vs HTML/iframeの比較です。任意コードの実行という観点では、A2UIは実行せず宣言的なデータのみを扱うのに対し、HTML/iframeはJavaScriptの実行が可能でありセキュリティリスクが相対的に高くなります。セキュリティの担保の仕方も異なり、A2UIはAllowlistされたComponentのみを許可する方式、HTML/iframeはSandbox機構への依存という方式です。Native Mobileへの対応も、A2UIの方が対応しやすく、HTML/iframeベースは難しいとされています。そしてLLMによる生成という観点でも、宣言的なJSONを生成するA2UIの方が適しており、任意のHTML/JavaScriptをLLMに生成させることはリスクが高いとされています。
次にAG-UI vs MCP / A2Aの比較です。これは既に全体像のスライードでも触れた内容ですが、MCPはAgentとTool/Dataの接続、AG-UIはAgentとUser/Applicationの接続、A2AはAgent同士の接続を担当するという、対象とする接続相手の違いで整理するのが最も分かりやすい方法です。3つとも競合技術ではなく、役割分担された補完的なプロトコル群です。
最後にA2UI vs MCP Appsの比較です。MCP AppsはServerからHTMLを生成しiframeに埋め込む方式で、リモートサービスがUI全体を所有し、既に完成されたHTML Applicationを埋め込む用途に向いています。一方A2UIはAgentがComponent単位のJSONを生成し、それをNative Rendererが解釈する方式で、Host側のDesign Systemを維持したい場合、Native Mobileに対応したい場合、Agentが動的にUIを生成する必要がある場合、そして任意コードの実行を避けたい場合に適しています。どちらが優れているという話ではなく、UIの所有権をどちらが持つか、埋め込み対象が完成品かAgentが生成する部品かという観点で使い分けるべき技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このスライードはA2UIとAG-UIを項目別に詳細比較した表です。両者の役割の違いを一目で把握できるようにまとめています。
主目的について、A2UIは『UIを表現すること』、AG-UIは『AgentとApplicationを接続すること』であり、明確に異なります。レイヤで言えば、A2UIはPresentation（表示）レイヤ、AG-UIはInteraction/Runtime（相互作用・実行時）レイヤを担当します。
主な形式としては、A2UIはDeclarative UI JSON（宣言的なUIのJSON）、AG-UIはTyped Events（型付けされたイベント）です。State（状態）の扱いについては、A2UIはSurface Data Model（描画領域ごとのデータモデル）を持ち、AG-UIはAgentとApplication間で共有されるShared Stateを扱います。
Tool Callについては、A2UIにとっては主目的ではなく（UIとしてToolの実行結果を表示することはあっても、Tool呼び出し自体の管理は担当外）、AG-UIにとってはCore機能（中心的な機能）です。Human in the Loop（人間の介在）についても、A2UIはUI上のAction連携を通じて実現し、AG-UIはInterruptという専用の仕組みで実現します。
UI Componentの定義については、A2UIは定義する（ButtonやCardなどのコンポーネントを規定する）のに対し、AG-UIは定義しない（AG-UIはあくまで通信プロトコルであり、UIコンポーネントの中身には関与しない）という違いがあります。Rendererについても、A2UIの利用には必須ですが、AG-UI単体の利用ではRendererは必須ではありません。Python SDKはそれぞれa2ui-agent-sdkとag-ui-protocolという別々のパッケージが提供されています。
下部の結論として『AG-UI = Envelope/Pipe（封筒・パイプ）、A2UI = UI Payload（中身）』という整理が、両者の関係性を最も端的に表しています。AG-UIという配送の仕組みの中に、A2UIというUIの中身を乗せて運ぶ、というイメージです。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このスライードはA2UIとAG-UIを組み合わせた際の統合アーキテクチャを示しています。
最上位にUserがおり、その下にFrontend（AG-UI ClientとA2UI Rendererの両方を組み込んだフロントエンド）があります。AG-UI ClientはAgentとのイベントのやり取りを担当し、A2UI Rendererはそのイベントの中に含まれるA2UIのUI定義を実際の画面表示に変換します。
その下にPython Backendがあり、ag-ui-protocol（AG-UIのPython SDK）とa2ui-agent-sdk（A2UIのPython SDK）を組み合わせて実装します。さらにその下にAgent / LLM層があり、OpenAI、Gemini、Claudeといった各種LLM、あるいはLangGraphやGoogle ADKといったAgent Frameworkがここに位置します。最下層でTool、MCP、A2Aといった外部連携が行われます。
この構成の最大のメリットは、下部のボックスで強調している通り、Backend Agentの実行状態管理はAG-UIが、UIの表示内容はA2UIが、という責務分離ができる点です。これにより、Agent Framework（例えばLangGraphから別のフレームワークへの切り替え）、Frontend Framework（ReactからAngularへの切り替えなど）、Transport（HTTPからWebSocketへの切り替えなど）、UI Component（Design Systemの変更など）を、それぞれ比較的独立して差し替えられる疎結合な構成が実現できます。
これは大規模な組織やプロダクトにおいて、技術選定の柔軟性と将来の変更コストの低減という観点で大きな価値を持ちます。次のスライードでは、この統合アーキテクチャが実際にどのようなユースケースで活用されるかを具体的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このスライードでは、A2UIとAG-UIを組み合わせた具体的な6つのユースケースを紹介します。いずれも公式ドキュメントや調査資料で挙げられている代表例です。
① AI Operations / Security Monitoringでは、ユーザーが『Webサーバの状態を調査して』と依頼すると、Agentが監視APIをTool呼び出しし、CPU、Memory、Logを分析します。この過程の進捗はAG-UIでStreaming表示され、分析結果はA2UIによってIncident Analysisのダッシュボード（ステータス、CPU使用率、原因候補、ログ確認・対応承認ボタンなど）として生成されます。
② Human-in-the-Loop運用では、『Firewallを修正して』という指示に対しAgentがルールを生成し、AG-UIのInterrupt機能を介してA2UIによるApproval UI（承認・却下ボタン）を表示、承認後に実際のTool実行が行われるという安全な運用フローを実現します。
③ Customer Supportでは、契約プランの変更、配送先の変更、返品といった手続きにおいて、A2UIが選択肢のUIを生成し、AG-UIが会話の流れ、状態、Tool呼び出し、確認プロセスを管理します。
④ Reservation / Bookingでは、レストランのカード、日付選択、時間選択、確認画面といった予約フローの各UIをA2UIで表示し、検索の進捗やTool呼び出し、状態管理をAG-UIが担当します。
⑤ Data Analysisでは、データウェアハウスをToolで検索し、その結果に応じてチャート、KPIカード、表、アラートといった適切な可視化をA2UIが動的に生成します。
⑥ Enterprise Multi-Agent Portalでは、HR、IT、Security、Financeといった複数の専門エージェントが存在する環境において、A2UIによって統一感のあるUIを提供しつつ、AG-UIやA2Aによってエージェント間・エージェントとユーザー間の接続を標準化します。
これらの例に共通するのは、単純なテキストのやり取りでは実現しづらい、構造化されたUI表示とリアルタイムな状態管理の両方が必要とされる場面で、A2UIとAG-UIの組み合わせが効果を発揮するという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このスライードは、実際にA2UIとAG-UIをPoC（概念実証）として検証する際の推奨構成を示しています。Python中心の技術スタックを想定しています。
左側のBackend/Frontend構成は、Browserからのリクエストを FastAPI が受け、その内部でag-ui-protocol（AG-UIのPython SDK）とa2ui-agent-sdk（A2UIのPython SDK）を組み合わせて利用し、Agent（LLM、Tool、Stateを扱う）を呼び出す、という構成です。Frontend側は、AG-UI ClientとA2UI Rendererの両方を組み込んだクライアントアプリケーションとして実装します。
右側は検証を進める際の推奨順序です。まず①AG-UI単体で疎通確認を行い、イベントのストリーミングや状態同期が正しく機能するかを確認します。次に②A2UI単体でUIの生成・描画確認を行い、宣言的なJSONから実際のUIコンポーネントへの変換が正しく行われるかを検証します。最後に③AG-UIとA2UIを統合し、エンドツーエンドでの動作確認を行います。
このように段階的にアプローチする理由は、両プロトコルがそれぞれ独立した技術であるため、まず個別に動作を理解し問題を切り分けやすくした上で統合する方が、トラブルシューティングが容易になるためです。特に両プロジェクトとも活発に開発が進んでいる技術であるため、バージョン間の互換性の問題などが発生した際に、どちらのプロトコルに起因する問題かを迅速に特定できる検証プロセスが重要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は、A2UIとAG-UIのPoCにおいて確認すべき検証項目を一覧化したチェックリストです。公式ドキュメントに記載されている機能一覧に基づいており、実際の検証結果は本資料の対象外のため、あくまで『何を確認すべきか』の観点整理として提示しています。
左のA2UI列では、createSurface、updateComponents、updateDataModel、deleteSurfaceといった主要Messageの動作確認、Data BindingとDynamic Listの挙動確認、Action（ユーザー操作をAgentに返す機能）の確認、Catalog（利用可能コンポーネントの制約）の確認、Custom Componentの実装確認、Rendererの動作確認、そしてSchema Validation（生成されたJSONの検証）の確認が挙げられています。
中央のAG-UI列では、RUN_STARTEDをはじめとするライフサイクルイベント、TEXT_MESSAGEのストリーミング、TOOL_CALL、STATE_SNAPSHOTとSTATE_DELTAによる状態同期、CUSTOM Event（拡張用イベント）、Metadata（トレース情報等）、Interrupt（人間承認）、Middleware（横断的処理）、Error Handling（エラー処理）、Serialization（保存・復元）の確認が挙げられています。
右のIntegration列では、両プロトコルを組み合わせた際に特有の確認項目として、AG-UI経由でA2UI messageが正しく配送されるか、A2UI RendererでUIが正しく表示されるか、ユーザーのUI操作がAgentへ正しく返却されるか、State同期が両プロトコル間で整合的に行われるか、Tool実行が問題なく行われるか、Human Approval（人間承認）のフローが正しく機能するかが挙げられています。
実際のPoCを実施する際は、このチェックリストを基に各項目の実施結果（成功・失敗・課題）を記録し、次のスライードで扱う採用判断の材料とすることを推奨します。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このスライードは、実際にA2UIおよびAG-UIをそれぞれ採用すべきか否かを判断するための指針をまとめたものです。
A2UIが向いているケースとしては、Agentに動的なUIを生成させたい場合、自社のDesign Systemを守りたい場合、MobileとWebでUIを共通化したい場合、リモートで動作するAgentを安全にUIへ接続したい場合、そしてAgentからHTMLやJavaScriptを送らせたくない（セキュリティ上任意コード実行を避けたい）場合が挙げられます。
逆にA2UIが不要なケースとしては、テキストチャットのみで完結する場合、Markdown表示のみで十分な場合、Static Website（静的サイト）である場合、そしてそもそもAgentがUIを生成しない場合が挙げられます。これらのケースでは、A2UIを導入する複雑さに見合うメリットが得られない可能性が高いです。
一方AG-UIが向いているケースとしては、AgentとFrontend間のStreamingを標準化したい場合、Tool呼び出しや状態、進捗をUIに表示したい場合、Human in the Loop（人間の承認プロセス）が必要な場合、将来的にAgent Frameworkを差し替える可能性がある場合、そして複雑なAgentic Applicationを構築する場合が挙げられます。
逆にAG-UIが不要なケースとしては、単純なRequest/Response APIで十分な場合、1回限りのLLM呼び出しのみで完結する場合、FrontendとAgent間でShared State（共有状態）を必要としない場合が挙げられます。
実務上の判断としては、まずAgentic Applicationとして構築しようとしているシステムが、これらの『向いているケース』にどれだけ該当するかを棚卸しし、該当項目が多いほど導入を積極的に検討する価値があると言えます。逆に該当項目が少ない場合は、無理に導入せずシンプルな実装を維持することも合理的な選択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最終スライードとして、資料全体の結論をまとめています。
中央のスタック図は、Agentic Applicationを構成する5つのレイヤを示しています。最上位のPresentation（表示）レイヤをA2UIが担い、その下のAgent Interaction / Runtime（相互作用・実行時）レイヤをAG-UIが担います。さらにその下にAgent Framework（LangGraph、Google ADK、あるいは自社独自実装等）、Tool / DataレイヤをMCPが、Agent Collaboration（エージェント間協調）レイヤをA2Aがそれぞれ担うという構造です。
この図が示す最も重要なメッセージは『A2UIとAG-UIは競合ではなく、Agentic Applicationを構成する異なるレイヤの標準である』という点です。本資料の冒頭のエグゼクティブサマリーでも述べた通り、両者は『どちらを選ぶか』という二者択一の関係ではなく、それぞれが担当するレイヤが異なるため、多くのケースで両方を組み合わせて使うことが可能であり、また多くの場合そうすることが望ましい構成になります。
ただし最後に強調すべき注意点として、両プロジェクトとも現時点（2026年8月）でも活発に開発・仕様変更が進行中の技術です。A2UIはv1.0がまだCandidate段階であり、AG-UIにもDraft Proposalsが存在します。したがって本番環境への採用を検討する際には、Protocol Version（プロトコルのバージョン）、SDK Version（SDKのバージョン）、Renderer Compatibility（Rendererの互換性）、Agent Framework Integration（Agent Frameworkとの統合状況）、Security Design（セキュリティ設計）、Migration Strategy（将来のバージョンアップ・移行戦略）を明確にした上で、慎重に評価を行うことが望ましいと言えます。
以上が本調査・比較資料の結論です。次のAppendixスライードには、本調査で参照した公式資料のURL一覧を掲載していますので、詳細を確認する際にご参照ください。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このAppendixスライードは、本調査で参照した公式ドキュメントの主要なURLを一覧化したものです。左側がA2UI（a2ui.org）関連、右側がAG-UI（docs.ag-ui.com）関連です。
実際の元資料にはこれ以外にも、それぞれのサイドバー構成に対応した詳細なURL一覧（Appendix A: A2UIサイドバー対応表、Appendix B: AG-UIサイドバー対応表）が含まれています。本スライードには特に重要度の高いページのみを抜粋して掲載していますが、より網羅的な一覧が必要な場合は元のMarkdown調査資料を参照してください。
各リンク先には、それぞれのプロトコルのIntroduction（導入）、Concepts（コア概念）、Reference（仕様リファレンス）、SDK文書、Roadmap（今後の計画）などが含まれており、本資料で扱いきれなかった詳細な技術仕様を確認する際に活用できます。特に採用を具体的に検討する段階になった際は、Version情報やRoadmapのページを定期的に確認し、両プロジェクトの進化に合わせて評価をアップデートしていくことが望まし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41B4D"/>
          </a:solidFill>
          <a:ln/>
        </p:spPr>
      </p:sp>
      <p:sp>
        <p:nvSpPr>
          <p:cNvPr id="3" name="Shape 1"/>
          <p:cNvSpPr/>
          <p:nvPr/>
        </p:nvSpPr>
        <p:spPr>
          <a:xfrm>
            <a:off x="8778240" y="-1645920"/>
            <a:ext cx="5029200" cy="5029200"/>
          </a:xfrm>
          <a:prstGeom prst="ellipse">
            <a:avLst/>
          </a:prstGeom>
          <a:solidFill>
            <a:srgbClr val="1E2761"/>
          </a:solidFill>
          <a:ln/>
        </p:spPr>
      </p:sp>
      <p:sp>
        <p:nvSpPr>
          <p:cNvPr id="4" name="Shape 2"/>
          <p:cNvSpPr/>
          <p:nvPr/>
        </p:nvSpPr>
        <p:spPr>
          <a:xfrm>
            <a:off x="10241280" y="4206240"/>
            <a:ext cx="4023360" cy="4023360"/>
          </a:xfrm>
          <a:prstGeom prst="ellipse">
            <a:avLst/>
          </a:prstGeom>
          <a:solidFill>
            <a:srgbClr val="015C66"/>
          </a:solidFill>
          <a:ln/>
        </p:spPr>
      </p:sp>
      <p:sp>
        <p:nvSpPr>
          <p:cNvPr id="5" name="Text 3"/>
          <p:cNvSpPr/>
          <p:nvPr/>
        </p:nvSpPr>
        <p:spPr>
          <a:xfrm>
            <a:off x="822960" y="1371600"/>
            <a:ext cx="4572000" cy="365760"/>
          </a:xfrm>
          <a:prstGeom prst="rect">
            <a:avLst/>
          </a:prstGeom>
          <a:noFill/>
          <a:ln/>
        </p:spPr>
        <p:txBody>
          <a:bodyPr wrap="square" rtlCol="0" anchor="ctr"/>
          <a:lstStyle/>
          <a:p>
            <a:pPr indent="0" marL="0">
              <a:buNone/>
            </a:pPr>
            <a:r>
              <a:rPr lang="en-US" sz="1400" spc="200" kern="0" dirty="0">
                <a:solidFill>
                  <a:srgbClr val="CADCFC"/>
                </a:solidFill>
                <a:latin typeface="Calibri" pitchFamily="34" charset="0"/>
                <a:ea typeface="Calibri" pitchFamily="34" charset="-122"/>
                <a:cs typeface="Calibri" pitchFamily="34" charset="-120"/>
              </a:rPr>
              <a:t>調査・比較資料</a:t>
            </a:r>
            <a:endParaRPr lang="en-US" sz="1400" dirty="0"/>
          </a:p>
        </p:txBody>
      </p:sp>
      <p:sp>
        <p:nvSpPr>
          <p:cNvPr id="6" name="Text 4"/>
          <p:cNvSpPr/>
          <p:nvPr/>
        </p:nvSpPr>
        <p:spPr>
          <a:xfrm>
            <a:off x="777240" y="1783080"/>
            <a:ext cx="91440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A2UI / AG-UI</a:t>
            </a:r>
            <a:endParaRPr lang="en-US" sz="5400" dirty="0"/>
          </a:p>
        </p:txBody>
      </p:sp>
      <p:sp>
        <p:nvSpPr>
          <p:cNvPr id="7" name="Text 5"/>
          <p:cNvSpPr/>
          <p:nvPr/>
        </p:nvSpPr>
        <p:spPr>
          <a:xfrm>
            <a:off x="822960" y="2880360"/>
            <a:ext cx="8686800" cy="5486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Agentic Application を支える「UI表現レイヤ」と「通信レイヤ」の標準化技術</a:t>
            </a:r>
            <a:endParaRPr lang="en-US" sz="1800" dirty="0"/>
          </a:p>
        </p:txBody>
      </p:sp>
      <p:sp>
        <p:nvSpPr>
          <p:cNvPr id="8" name="Shape 6"/>
          <p:cNvSpPr/>
          <p:nvPr/>
        </p:nvSpPr>
        <p:spPr>
          <a:xfrm>
            <a:off x="822960" y="3703320"/>
            <a:ext cx="2926080" cy="0"/>
          </a:xfrm>
          <a:prstGeom prst="line">
            <a:avLst/>
          </a:prstGeom>
          <a:noFill/>
          <a:ln w="25400">
            <a:solidFill>
              <a:srgbClr val="028090"/>
            </a:solidFill>
            <a:prstDash val="solid"/>
          </a:ln>
        </p:spPr>
      </p:sp>
      <p:sp>
        <p:nvSpPr>
          <p:cNvPr id="9" name="Text 7"/>
          <p:cNvSpPr/>
          <p:nvPr/>
        </p:nvSpPr>
        <p:spPr>
          <a:xfrm>
            <a:off x="822960" y="3977640"/>
            <a:ext cx="7315200" cy="1188720"/>
          </a:xfrm>
          <a:prstGeom prst="rect">
            <a:avLst/>
          </a:prstGeom>
          <a:noFill/>
          <a:ln/>
        </p:spPr>
        <p:txBody>
          <a:bodyPr wrap="square" lIns="0" tIns="0" rIns="0" bIns="0" rtlCol="0" anchor="ctr"/>
          <a:lstStyle/>
          <a:p>
            <a:pPr indent="0" marL="0">
              <a:lnSpc>
                <a:spcPct val="150000"/>
              </a:lnSpc>
              <a:buNone/>
            </a:pPr>
            <a:r>
              <a:rPr lang="en-US" sz="1300" dirty="0">
                <a:solidFill>
                  <a:srgbClr val="8A90A0"/>
                </a:solidFill>
                <a:latin typeface="Calibri" pitchFamily="34" charset="0"/>
                <a:ea typeface="Calibri" pitchFamily="34" charset="-122"/>
                <a:cs typeface="Calibri" pitchFamily="34" charset="-120"/>
              </a:rPr>
              <a:t>作成日: </a:t>
            </a:r>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2026-08-20
</a:t>
            </a:r>
            <a:pPr indent="0" marL="0">
              <a:lnSpc>
                <a:spcPct val="150000"/>
              </a:lnSpc>
              <a:buNone/>
            </a:pPr>
            <a:r>
              <a:rPr lang="en-US" sz="1300" dirty="0">
                <a:solidFill>
                  <a:srgbClr val="8A90A0"/>
                </a:solidFill>
                <a:latin typeface="Calibri" pitchFamily="34" charset="0"/>
                <a:ea typeface="Calibri" pitchFamily="34" charset="-122"/>
                <a:cs typeface="Calibri" pitchFamily="34" charset="-120"/>
              </a:rPr>
              <a:t>調査対象: </a:t>
            </a:r>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a2ui.org ／ docs.ag-ui.com
</a:t>
            </a:r>
            <a:pPr indent="0" marL="0">
              <a:lnSpc>
                <a:spcPct val="150000"/>
              </a:lnSpc>
              <a:buNone/>
            </a:pPr>
            <a:r>
              <a:rPr lang="en-US" sz="1300" dirty="0">
                <a:solidFill>
                  <a:srgbClr val="8A90A0"/>
                </a:solidFill>
                <a:latin typeface="Calibri" pitchFamily="34" charset="0"/>
                <a:ea typeface="Calibri" pitchFamily="34" charset="-122"/>
                <a:cs typeface="Calibri" pitchFamily="34" charset="-120"/>
              </a:rPr>
              <a:t>想定用途: </a:t>
            </a:r>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社内調査資料・技術採用検討</a:t>
            </a:r>
            <a:endParaRPr lang="en-US" sz="1300" dirty="0"/>
          </a:p>
        </p:txBody>
      </p:sp>
      <p:sp>
        <p:nvSpPr>
          <p:cNvPr id="10" name="Text 8"/>
          <p:cNvSpPr/>
          <p:nvPr/>
        </p:nvSpPr>
        <p:spPr>
          <a:xfrm>
            <a:off x="822960" y="6035040"/>
            <a:ext cx="9144000" cy="365760"/>
          </a:xfrm>
          <a:prstGeom prst="rect">
            <a:avLst/>
          </a:prstGeom>
          <a:noFill/>
          <a:ln/>
        </p:spPr>
        <p:txBody>
          <a:bodyPr wrap="square" lIns="0" tIns="0" rIns="0" bIns="0" rtlCol="0" anchor="ctr"/>
          <a:lstStyle/>
          <a:p>
            <a:pPr indent="0" marL="0">
              <a:buNone/>
            </a:pPr>
            <a:r>
              <a:rPr lang="en-US" sz="1200" i="1" dirty="0">
                <a:solidFill>
                  <a:srgbClr val="8A90A0"/>
                </a:solidFill>
                <a:latin typeface="Calibri" pitchFamily="34" charset="0"/>
                <a:ea typeface="Calibri" pitchFamily="34" charset="-122"/>
                <a:cs typeface="Calibri" pitchFamily="34" charset="-120"/>
              </a:rPr>
              <a:t>A2UI = Agent to UI    /    AG-UI = Agent-User Interaction Protocol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AGENDA</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目次</a:t>
            </a:r>
            <a:endParaRPr lang="en-US" sz="2800" dirty="0"/>
          </a:p>
        </p:txBody>
      </p:sp>
      <p:sp>
        <p:nvSpPr>
          <p:cNvPr id="5" name="Text 3"/>
          <p:cNvSpPr/>
          <p:nvPr/>
        </p:nvSpPr>
        <p:spPr>
          <a:xfrm>
            <a:off x="548640" y="1691640"/>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 調査背景・目的</a:t>
            </a:r>
            <a:endParaRPr lang="en-US" sz="1400" dirty="0"/>
          </a:p>
        </p:txBody>
      </p:sp>
      <p:sp>
        <p:nvSpPr>
          <p:cNvPr id="6" name="Text 4"/>
          <p:cNvSpPr/>
          <p:nvPr/>
        </p:nvSpPr>
        <p:spPr>
          <a:xfrm>
            <a:off x="548640" y="2112264"/>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2. Agentic Applicationの課題</a:t>
            </a:r>
            <a:endParaRPr lang="en-US" sz="1400" dirty="0"/>
          </a:p>
        </p:txBody>
      </p:sp>
      <p:sp>
        <p:nvSpPr>
          <p:cNvPr id="7" name="Text 5"/>
          <p:cNvSpPr/>
          <p:nvPr/>
        </p:nvSpPr>
        <p:spPr>
          <a:xfrm>
            <a:off x="548640" y="2532888"/>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3. Agentic Protocol全体像</a:t>
            </a:r>
            <a:endParaRPr lang="en-US" sz="1400" dirty="0"/>
          </a:p>
        </p:txBody>
      </p:sp>
      <p:sp>
        <p:nvSpPr>
          <p:cNvPr id="8" name="Text 6"/>
          <p:cNvSpPr/>
          <p:nvPr/>
        </p:nvSpPr>
        <p:spPr>
          <a:xfrm>
            <a:off x="548640" y="2953512"/>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4. A2UIとは</a:t>
            </a:r>
            <a:endParaRPr lang="en-US" sz="1400" dirty="0"/>
          </a:p>
        </p:txBody>
      </p:sp>
      <p:sp>
        <p:nvSpPr>
          <p:cNvPr id="9" name="Text 7"/>
          <p:cNvSpPr/>
          <p:nvPr/>
        </p:nvSpPr>
        <p:spPr>
          <a:xfrm>
            <a:off x="548640" y="3374136"/>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5. A2UI Architecture</a:t>
            </a:r>
            <a:endParaRPr lang="en-US" sz="1400" dirty="0"/>
          </a:p>
        </p:txBody>
      </p:sp>
      <p:sp>
        <p:nvSpPr>
          <p:cNvPr id="10" name="Text 8"/>
          <p:cNvSpPr/>
          <p:nvPr/>
        </p:nvSpPr>
        <p:spPr>
          <a:xfrm>
            <a:off x="548640" y="3794760"/>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6. A2UI Core Concepts</a:t>
            </a:r>
            <a:endParaRPr lang="en-US" sz="1400" dirty="0"/>
          </a:p>
        </p:txBody>
      </p:sp>
      <p:sp>
        <p:nvSpPr>
          <p:cNvPr id="11" name="Text 9"/>
          <p:cNvSpPr/>
          <p:nvPr/>
        </p:nvSpPr>
        <p:spPr>
          <a:xfrm>
            <a:off x="548640" y="4215384"/>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7. A2UI Site / SDK / Renderer</a:t>
            </a:r>
            <a:endParaRPr lang="en-US" sz="1400" dirty="0"/>
          </a:p>
        </p:txBody>
      </p:sp>
      <p:sp>
        <p:nvSpPr>
          <p:cNvPr id="12" name="Text 10"/>
          <p:cNvSpPr/>
          <p:nvPr/>
        </p:nvSpPr>
        <p:spPr>
          <a:xfrm>
            <a:off x="548640" y="4636008"/>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8. A2UIのメリット・注意点</a:t>
            </a:r>
            <a:endParaRPr lang="en-US" sz="1400" dirty="0"/>
          </a:p>
        </p:txBody>
      </p:sp>
      <p:sp>
        <p:nvSpPr>
          <p:cNvPr id="13" name="Text 11"/>
          <p:cNvSpPr/>
          <p:nvPr/>
        </p:nvSpPr>
        <p:spPr>
          <a:xfrm>
            <a:off x="548640" y="5056632"/>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9. AG-UIとは</a:t>
            </a:r>
            <a:endParaRPr lang="en-US" sz="1400" dirty="0"/>
          </a:p>
        </p:txBody>
      </p:sp>
      <p:sp>
        <p:nvSpPr>
          <p:cNvPr id="14" name="Text 12"/>
          <p:cNvSpPr/>
          <p:nvPr/>
        </p:nvSpPr>
        <p:spPr>
          <a:xfrm>
            <a:off x="548640" y="5477256"/>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10. AG-UI Architecture</a:t>
            </a:r>
            <a:endParaRPr lang="en-US" sz="1400" dirty="0"/>
          </a:p>
        </p:txBody>
      </p:sp>
      <p:sp>
        <p:nvSpPr>
          <p:cNvPr id="15" name="Text 13"/>
          <p:cNvSpPr/>
          <p:nvPr/>
        </p:nvSpPr>
        <p:spPr>
          <a:xfrm>
            <a:off x="548640" y="5897880"/>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11. AG-UI Events</a:t>
            </a:r>
            <a:endParaRPr lang="en-US" sz="1400" dirty="0"/>
          </a:p>
        </p:txBody>
      </p:sp>
      <p:sp>
        <p:nvSpPr>
          <p:cNvPr id="16" name="Text 14"/>
          <p:cNvSpPr/>
          <p:nvPr/>
        </p:nvSpPr>
        <p:spPr>
          <a:xfrm>
            <a:off x="6217920" y="1691640"/>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12. AG-UI State / Tool / Interrupt</a:t>
            </a:r>
            <a:endParaRPr lang="en-US" sz="1400" dirty="0"/>
          </a:p>
        </p:txBody>
      </p:sp>
      <p:sp>
        <p:nvSpPr>
          <p:cNvPr id="17" name="Text 15"/>
          <p:cNvSpPr/>
          <p:nvPr/>
        </p:nvSpPr>
        <p:spPr>
          <a:xfrm>
            <a:off x="6217920" y="2112264"/>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13. AG-UI Site / SDK / Integration</a:t>
            </a:r>
            <a:endParaRPr lang="en-US" sz="1400" dirty="0"/>
          </a:p>
        </p:txBody>
      </p:sp>
      <p:sp>
        <p:nvSpPr>
          <p:cNvPr id="18" name="Text 16"/>
          <p:cNvSpPr/>
          <p:nvPr/>
        </p:nvSpPr>
        <p:spPr>
          <a:xfrm>
            <a:off x="6217920" y="2532888"/>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14. AG-UIのメリット・注意点</a:t>
            </a:r>
            <a:endParaRPr lang="en-US" sz="1400" dirty="0"/>
          </a:p>
        </p:txBody>
      </p:sp>
      <p:sp>
        <p:nvSpPr>
          <p:cNvPr id="19" name="Text 17"/>
          <p:cNvSpPr/>
          <p:nvPr/>
        </p:nvSpPr>
        <p:spPr>
          <a:xfrm>
            <a:off x="6217920" y="2953512"/>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15. 既存技術との比較</a:t>
            </a:r>
            <a:endParaRPr lang="en-US" sz="1400" dirty="0"/>
          </a:p>
        </p:txBody>
      </p:sp>
      <p:sp>
        <p:nvSpPr>
          <p:cNvPr id="20" name="Text 18"/>
          <p:cNvSpPr/>
          <p:nvPr/>
        </p:nvSpPr>
        <p:spPr>
          <a:xfrm>
            <a:off x="6217920" y="3374136"/>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16. A2UIとAG-UIの違い</a:t>
            </a:r>
            <a:endParaRPr lang="en-US" sz="1400" dirty="0"/>
          </a:p>
        </p:txBody>
      </p:sp>
      <p:sp>
        <p:nvSpPr>
          <p:cNvPr id="21" name="Text 19"/>
          <p:cNvSpPr/>
          <p:nvPr/>
        </p:nvSpPr>
        <p:spPr>
          <a:xfrm>
            <a:off x="6217920" y="3794760"/>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17. A2UI + AG-UI 統合Architecture</a:t>
            </a:r>
            <a:endParaRPr lang="en-US" sz="1400" dirty="0"/>
          </a:p>
        </p:txBody>
      </p:sp>
      <p:sp>
        <p:nvSpPr>
          <p:cNvPr id="22" name="Text 20"/>
          <p:cNvSpPr/>
          <p:nvPr/>
        </p:nvSpPr>
        <p:spPr>
          <a:xfrm>
            <a:off x="6217920" y="4215384"/>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18. ユースケース</a:t>
            </a:r>
            <a:endParaRPr lang="en-US" sz="1400" dirty="0"/>
          </a:p>
        </p:txBody>
      </p:sp>
      <p:sp>
        <p:nvSpPr>
          <p:cNvPr id="23" name="Text 21"/>
          <p:cNvSpPr/>
          <p:nvPr/>
        </p:nvSpPr>
        <p:spPr>
          <a:xfrm>
            <a:off x="6217920" y="4636008"/>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19. Python PoC 推奨構成</a:t>
            </a:r>
            <a:endParaRPr lang="en-US" sz="1400" dirty="0"/>
          </a:p>
        </p:txBody>
      </p:sp>
      <p:sp>
        <p:nvSpPr>
          <p:cNvPr id="24" name="Text 22"/>
          <p:cNvSpPr/>
          <p:nvPr/>
        </p:nvSpPr>
        <p:spPr>
          <a:xfrm>
            <a:off x="6217920" y="5056632"/>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20. 検証項目チェックリスト</a:t>
            </a:r>
            <a:endParaRPr lang="en-US" sz="1400" dirty="0"/>
          </a:p>
        </p:txBody>
      </p:sp>
      <p:sp>
        <p:nvSpPr>
          <p:cNvPr id="25" name="Text 23"/>
          <p:cNvSpPr/>
          <p:nvPr/>
        </p:nvSpPr>
        <p:spPr>
          <a:xfrm>
            <a:off x="6217920" y="5477256"/>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21. 採用判断</a:t>
            </a:r>
            <a:endParaRPr lang="en-US" sz="1400" dirty="0"/>
          </a:p>
        </p:txBody>
      </p:sp>
      <p:sp>
        <p:nvSpPr>
          <p:cNvPr id="26" name="Text 24"/>
          <p:cNvSpPr/>
          <p:nvPr/>
        </p:nvSpPr>
        <p:spPr>
          <a:xfrm>
            <a:off x="6217920" y="5897880"/>
            <a:ext cx="5212080" cy="3657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22. 結論 ／ Appendix: 参考資料</a:t>
            </a:r>
            <a:endParaRPr lang="en-US" sz="1400" dirty="0"/>
          </a:p>
        </p:txBody>
      </p:sp>
      <p:sp>
        <p:nvSpPr>
          <p:cNvPr id="27" name="Text 25"/>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SUMMARY</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エグゼクティブサマリー</a:t>
            </a:r>
            <a:endParaRPr lang="en-US" sz="2800" dirty="0"/>
          </a:p>
        </p:txBody>
      </p:sp>
      <p:sp>
        <p:nvSpPr>
          <p:cNvPr id="5" name="Text 3"/>
          <p:cNvSpPr/>
          <p:nvPr/>
        </p:nvSpPr>
        <p:spPr>
          <a:xfrm>
            <a:off x="502920" y="1600200"/>
            <a:ext cx="11183112" cy="45720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A2UI と AG-UI は名前が似ているが、解決するレイヤが異なる技術であり、競合するというより補完関係にある。</a:t>
            </a:r>
            <a:endParaRPr lang="en-US" sz="1450" dirty="0"/>
          </a:p>
        </p:txBody>
      </p:sp>
      <p:sp>
        <p:nvSpPr>
          <p:cNvPr id="6" name="Shape 4"/>
          <p:cNvSpPr/>
          <p:nvPr/>
        </p:nvSpPr>
        <p:spPr>
          <a:xfrm>
            <a:off x="502920" y="2194560"/>
            <a:ext cx="5394960" cy="1554480"/>
          </a:xfrm>
          <a:prstGeom prst="roundRect">
            <a:avLst>
              <a:gd name="adj" fmla="val 4706"/>
            </a:avLst>
          </a:prstGeom>
          <a:solidFill>
            <a:srgbClr val="E7EAF6"/>
          </a:solidFill>
          <a:ln/>
          <a:effectLst>
            <a:outerShdw sx="100000" sy="100000" kx="0" ky="0" algn="bl" rotWithShape="0" blurRad="76200" dist="25400" dir="5400000">
              <a:srgbClr val="44536B">
                <a:alpha val="18000"/>
              </a:srgbClr>
            </a:outerShdw>
          </a:effectLst>
        </p:spPr>
      </p:sp>
      <p:sp>
        <p:nvSpPr>
          <p:cNvPr id="7" name="Text 5"/>
          <p:cNvSpPr/>
          <p:nvPr/>
        </p:nvSpPr>
        <p:spPr>
          <a:xfrm>
            <a:off x="704088" y="2359152"/>
            <a:ext cx="499262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A2UI  (Agent to UI)</a:t>
            </a:r>
            <a:endParaRPr lang="en-US" sz="1400" dirty="0"/>
          </a:p>
        </p:txBody>
      </p:sp>
      <p:sp>
        <p:nvSpPr>
          <p:cNvPr id="8" name="Text 6"/>
          <p:cNvSpPr/>
          <p:nvPr/>
        </p:nvSpPr>
        <p:spPr>
          <a:xfrm>
            <a:off x="704088" y="2724912"/>
            <a:ext cx="4992624" cy="88696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AI Agentが「どのようなUIを表示したいか」を、実行コードではなく宣言的なJSONとして表現するためのプロトコル。</a:t>
            </a:r>
            <a:endParaRPr lang="en-US" sz="1150" dirty="0"/>
          </a:p>
        </p:txBody>
      </p:sp>
      <p:sp>
        <p:nvSpPr>
          <p:cNvPr id="9" name="Shape 7"/>
          <p:cNvSpPr/>
          <p:nvPr/>
        </p:nvSpPr>
        <p:spPr>
          <a:xfrm>
            <a:off x="6172200" y="2194560"/>
            <a:ext cx="5394960" cy="1554480"/>
          </a:xfrm>
          <a:prstGeom prst="roundRect">
            <a:avLst>
              <a:gd name="adj" fmla="val 4706"/>
            </a:avLst>
          </a:prstGeom>
          <a:solidFill>
            <a:srgbClr val="DCEFF0"/>
          </a:solidFill>
          <a:ln/>
          <a:effectLst>
            <a:outerShdw sx="100000" sy="100000" kx="0" ky="0" algn="bl" rotWithShape="0" blurRad="76200" dist="25400" dir="5400000">
              <a:srgbClr val="44536B">
                <a:alpha val="18000"/>
              </a:srgbClr>
            </a:outerShdw>
          </a:effectLst>
        </p:spPr>
      </p:sp>
      <p:sp>
        <p:nvSpPr>
          <p:cNvPr id="10" name="Text 8"/>
          <p:cNvSpPr/>
          <p:nvPr/>
        </p:nvSpPr>
        <p:spPr>
          <a:xfrm>
            <a:off x="6373368" y="2359152"/>
            <a:ext cx="499262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AG-UI  (Agent-User Interaction Protocol)</a:t>
            </a:r>
            <a:endParaRPr lang="en-US" sz="1400" dirty="0"/>
          </a:p>
        </p:txBody>
      </p:sp>
      <p:sp>
        <p:nvSpPr>
          <p:cNvPr id="11" name="Text 9"/>
          <p:cNvSpPr/>
          <p:nvPr/>
        </p:nvSpPr>
        <p:spPr>
          <a:xfrm>
            <a:off x="6373368" y="2724912"/>
            <a:ext cx="4992624" cy="88696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AI Agentとユーザー向けアプリケーションの間で、メッセージ・状態・Tool Call・進捗・割り込みなどをリアルタイムにやり取りするイベントベースの通信プロトコル。</a:t>
            </a:r>
            <a:endParaRPr lang="en-US" sz="1150" dirty="0"/>
          </a:p>
        </p:txBody>
      </p:sp>
      <p:sp>
        <p:nvSpPr>
          <p:cNvPr id="12" name="Shape 10"/>
          <p:cNvSpPr/>
          <p:nvPr/>
        </p:nvSpPr>
        <p:spPr>
          <a:xfrm>
            <a:off x="502920" y="3977640"/>
            <a:ext cx="11155680" cy="822960"/>
          </a:xfrm>
          <a:prstGeom prst="roundRect">
            <a:avLst>
              <a:gd name="adj" fmla="val 8889"/>
            </a:avLst>
          </a:prstGeom>
          <a:solidFill>
            <a:srgbClr val="141B4D"/>
          </a:solidFill>
          <a:ln/>
        </p:spPr>
      </p:sp>
      <p:sp>
        <p:nvSpPr>
          <p:cNvPr id="13" name="Text 11"/>
          <p:cNvSpPr/>
          <p:nvPr/>
        </p:nvSpPr>
        <p:spPr>
          <a:xfrm>
            <a:off x="502920" y="3977640"/>
            <a:ext cx="11155680" cy="822960"/>
          </a:xfrm>
          <a:prstGeom prst="rect">
            <a:avLst/>
          </a:prstGeom>
          <a:noFill/>
          <a:ln/>
        </p:spPr>
        <p:txBody>
          <a:bodyPr wrap="square" lIns="0" tIns="0" rIns="0" bIns="0" rtlCol="0" anchor="ctr"/>
          <a:lstStyle/>
          <a:p>
            <a:pPr algn="ctr" indent="0" marL="0">
              <a:buNone/>
            </a:pPr>
            <a:r>
              <a:rPr lang="en-US" sz="1500" b="1" dirty="0">
                <a:solidFill>
                  <a:srgbClr val="028090"/>
                </a:solidFill>
                <a:latin typeface="Calibri" pitchFamily="34" charset="0"/>
                <a:ea typeface="Calibri" pitchFamily="34" charset="-122"/>
                <a:cs typeface="Calibri" pitchFamily="34" charset="-120"/>
              </a:rPr>
              <a:t>AG-UI</a:t>
            </a:r>
            <a:pPr algn="ctr" indent="0" marL="0">
              <a:buNone/>
            </a:pPr>
            <a:r>
              <a:rPr lang="en-US" sz="1500" dirty="0">
                <a:solidFill>
                  <a:srgbClr val="FFFFFF"/>
                </a:solidFill>
                <a:latin typeface="Calibri" pitchFamily="34" charset="0"/>
                <a:ea typeface="Calibri" pitchFamily="34" charset="-122"/>
                <a:cs typeface="Calibri" pitchFamily="34" charset="-120"/>
              </a:rPr>
              <a:t> = Agent と Frontend をつなぐ「通信・実行レイヤ」　　　</a:t>
            </a:r>
            <a:pPr algn="ctr" indent="0" marL="0">
              <a:buNone/>
            </a:pPr>
            <a:r>
              <a:rPr lang="en-US" sz="1500" b="1" dirty="0">
                <a:solidFill>
                  <a:srgbClr val="CADCFC"/>
                </a:solidFill>
                <a:latin typeface="Calibri" pitchFamily="34" charset="0"/>
                <a:ea typeface="Calibri" pitchFamily="34" charset="-122"/>
                <a:cs typeface="Calibri" pitchFamily="34" charset="-120"/>
              </a:rPr>
              <a:t>A2UI</a:t>
            </a:r>
            <a:pPr algn="ctr" indent="0" marL="0">
              <a:buNone/>
            </a:pPr>
            <a:r>
              <a:rPr lang="en-US" sz="1500" dirty="0">
                <a:solidFill>
                  <a:srgbClr val="FFFFFF"/>
                </a:solidFill>
                <a:latin typeface="Calibri" pitchFamily="34" charset="0"/>
                <a:ea typeface="Calibri" pitchFamily="34" charset="-122"/>
                <a:cs typeface="Calibri" pitchFamily="34" charset="-120"/>
              </a:rPr>
              <a:t> = Agent が Frontend に渡す「UI表現レイヤ」</a:t>
            </a:r>
            <a:endParaRPr lang="en-US" sz="1500" dirty="0"/>
          </a:p>
        </p:txBody>
      </p:sp>
      <p:sp>
        <p:nvSpPr>
          <p:cNvPr id="14" name="Text 12"/>
          <p:cNvSpPr/>
          <p:nvPr/>
        </p:nvSpPr>
        <p:spPr>
          <a:xfrm>
            <a:off x="502920" y="5074920"/>
            <a:ext cx="11155680" cy="457200"/>
          </a:xfrm>
          <a:prstGeom prst="rect">
            <a:avLst/>
          </a:prstGeom>
          <a:noFill/>
          <a:ln/>
        </p:spPr>
        <p:txBody>
          <a:bodyPr wrap="square" lIns="0" tIns="0" rIns="0" bIns="0" rtlCol="0" anchor="ctr"/>
          <a:lstStyle/>
          <a:p>
            <a:pPr indent="0" marL="0">
              <a:buNone/>
            </a:pPr>
            <a:r>
              <a:rPr lang="en-US" sz="1350" i="1" dirty="0">
                <a:solidFill>
                  <a:srgbClr val="5B6270"/>
                </a:solidFill>
                <a:latin typeface="Calibri" pitchFamily="34" charset="0"/>
                <a:ea typeface="Calibri" pitchFamily="34" charset="-122"/>
                <a:cs typeface="Calibri" pitchFamily="34" charset="-120"/>
              </a:rPr>
              <a:t>結論：「A2UIとAG-UIのどちらを選ぶか」ではなく「Agentic Applicationのどのレイヤを標準化したいか」で考える。</a:t>
            </a:r>
            <a:endParaRPr lang="en-US" sz="1350" dirty="0"/>
          </a:p>
        </p:txBody>
      </p:sp>
      <p:sp>
        <p:nvSpPr>
          <p:cNvPr id="15" name="Shape 13"/>
          <p:cNvSpPr/>
          <p:nvPr/>
        </p:nvSpPr>
        <p:spPr>
          <a:xfrm>
            <a:off x="498348" y="5715000"/>
            <a:ext cx="1481328" cy="502920"/>
          </a:xfrm>
          <a:prstGeom prst="roundRect">
            <a:avLst>
              <a:gd name="adj" fmla="val 10909"/>
            </a:avLst>
          </a:prstGeom>
          <a:solidFill>
            <a:srgbClr val="F2F3F8"/>
          </a:solidFill>
          <a:ln w="12700">
            <a:solidFill>
              <a:srgbClr val="1E2761"/>
            </a:solidFill>
            <a:prstDash val="solid"/>
          </a:ln>
        </p:spPr>
      </p:sp>
      <p:sp>
        <p:nvSpPr>
          <p:cNvPr id="16" name="Text 14"/>
          <p:cNvSpPr/>
          <p:nvPr/>
        </p:nvSpPr>
        <p:spPr>
          <a:xfrm>
            <a:off x="544068"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User</a:t>
            </a:r>
            <a:endParaRPr lang="en-US" sz="1050" dirty="0"/>
          </a:p>
        </p:txBody>
      </p:sp>
      <p:sp>
        <p:nvSpPr>
          <p:cNvPr id="17" name="Shape 15"/>
          <p:cNvSpPr/>
          <p:nvPr/>
        </p:nvSpPr>
        <p:spPr>
          <a:xfrm>
            <a:off x="1988820" y="5911596"/>
            <a:ext cx="118872" cy="109728"/>
          </a:xfrm>
          <a:prstGeom prst="rightArrow">
            <a:avLst/>
          </a:prstGeom>
          <a:solidFill>
            <a:srgbClr val="5B6270"/>
          </a:solidFill>
          <a:ln/>
        </p:spPr>
      </p:sp>
      <p:sp>
        <p:nvSpPr>
          <p:cNvPr id="18" name="Shape 16"/>
          <p:cNvSpPr/>
          <p:nvPr/>
        </p:nvSpPr>
        <p:spPr>
          <a:xfrm>
            <a:off x="2116836" y="5715000"/>
            <a:ext cx="1481328" cy="502920"/>
          </a:xfrm>
          <a:prstGeom prst="roundRect">
            <a:avLst>
              <a:gd name="adj" fmla="val 10909"/>
            </a:avLst>
          </a:prstGeom>
          <a:solidFill>
            <a:srgbClr val="F2F3F8"/>
          </a:solidFill>
          <a:ln w="12700">
            <a:solidFill>
              <a:srgbClr val="1E2761"/>
            </a:solidFill>
            <a:prstDash val="solid"/>
          </a:ln>
        </p:spPr>
      </p:sp>
      <p:sp>
        <p:nvSpPr>
          <p:cNvPr id="19" name="Text 17"/>
          <p:cNvSpPr/>
          <p:nvPr/>
        </p:nvSpPr>
        <p:spPr>
          <a:xfrm>
            <a:off x="2162556"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Frontend</a:t>
            </a:r>
            <a:endParaRPr lang="en-US" sz="1050" dirty="0"/>
          </a:p>
        </p:txBody>
      </p:sp>
      <p:sp>
        <p:nvSpPr>
          <p:cNvPr id="20" name="Shape 18"/>
          <p:cNvSpPr/>
          <p:nvPr/>
        </p:nvSpPr>
        <p:spPr>
          <a:xfrm>
            <a:off x="3607308" y="5911596"/>
            <a:ext cx="118872" cy="109728"/>
          </a:xfrm>
          <a:prstGeom prst="rightArrow">
            <a:avLst/>
          </a:prstGeom>
          <a:solidFill>
            <a:srgbClr val="5B6270"/>
          </a:solidFill>
          <a:ln/>
        </p:spPr>
      </p:sp>
      <p:sp>
        <p:nvSpPr>
          <p:cNvPr id="21" name="Shape 19"/>
          <p:cNvSpPr/>
          <p:nvPr/>
        </p:nvSpPr>
        <p:spPr>
          <a:xfrm>
            <a:off x="3735324" y="5715000"/>
            <a:ext cx="1481328" cy="502920"/>
          </a:xfrm>
          <a:prstGeom prst="roundRect">
            <a:avLst>
              <a:gd name="adj" fmla="val 10909"/>
            </a:avLst>
          </a:prstGeom>
          <a:solidFill>
            <a:srgbClr val="DCEFF0"/>
          </a:solidFill>
          <a:ln w="12700">
            <a:solidFill>
              <a:srgbClr val="028090"/>
            </a:solidFill>
            <a:prstDash val="solid"/>
          </a:ln>
        </p:spPr>
      </p:sp>
      <p:sp>
        <p:nvSpPr>
          <p:cNvPr id="22" name="Text 20"/>
          <p:cNvSpPr/>
          <p:nvPr/>
        </p:nvSpPr>
        <p:spPr>
          <a:xfrm>
            <a:off x="3781044"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AG-UI</a:t>
            </a:r>
            <a:endParaRPr lang="en-US" sz="1050" dirty="0"/>
          </a:p>
        </p:txBody>
      </p:sp>
      <p:sp>
        <p:nvSpPr>
          <p:cNvPr id="23" name="Shape 21"/>
          <p:cNvSpPr/>
          <p:nvPr/>
        </p:nvSpPr>
        <p:spPr>
          <a:xfrm>
            <a:off x="5225796" y="5911596"/>
            <a:ext cx="118872" cy="109728"/>
          </a:xfrm>
          <a:prstGeom prst="rightArrow">
            <a:avLst/>
          </a:prstGeom>
          <a:solidFill>
            <a:srgbClr val="5B6270"/>
          </a:solidFill>
          <a:ln/>
        </p:spPr>
      </p:sp>
      <p:sp>
        <p:nvSpPr>
          <p:cNvPr id="24" name="Shape 22"/>
          <p:cNvSpPr/>
          <p:nvPr/>
        </p:nvSpPr>
        <p:spPr>
          <a:xfrm>
            <a:off x="5353812" y="5715000"/>
            <a:ext cx="1481328" cy="502920"/>
          </a:xfrm>
          <a:prstGeom prst="roundRect">
            <a:avLst>
              <a:gd name="adj" fmla="val 10909"/>
            </a:avLst>
          </a:prstGeom>
          <a:solidFill>
            <a:srgbClr val="F2F3F8"/>
          </a:solidFill>
          <a:ln w="12700">
            <a:solidFill>
              <a:srgbClr val="1E2761"/>
            </a:solidFill>
            <a:prstDash val="solid"/>
          </a:ln>
        </p:spPr>
      </p:sp>
      <p:sp>
        <p:nvSpPr>
          <p:cNvPr id="25" name="Text 23"/>
          <p:cNvSpPr/>
          <p:nvPr/>
        </p:nvSpPr>
        <p:spPr>
          <a:xfrm>
            <a:off x="5399532"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Agent</a:t>
            </a:r>
            <a:endParaRPr lang="en-US" sz="1050" dirty="0"/>
          </a:p>
        </p:txBody>
      </p:sp>
      <p:sp>
        <p:nvSpPr>
          <p:cNvPr id="26" name="Shape 24"/>
          <p:cNvSpPr/>
          <p:nvPr/>
        </p:nvSpPr>
        <p:spPr>
          <a:xfrm>
            <a:off x="6844284" y="5911596"/>
            <a:ext cx="118872" cy="109728"/>
          </a:xfrm>
          <a:prstGeom prst="rightArrow">
            <a:avLst/>
          </a:prstGeom>
          <a:solidFill>
            <a:srgbClr val="5B6270"/>
          </a:solidFill>
          <a:ln/>
        </p:spPr>
      </p:sp>
      <p:sp>
        <p:nvSpPr>
          <p:cNvPr id="27" name="Shape 25"/>
          <p:cNvSpPr/>
          <p:nvPr/>
        </p:nvSpPr>
        <p:spPr>
          <a:xfrm>
            <a:off x="6972300" y="5715000"/>
            <a:ext cx="1481328" cy="502920"/>
          </a:xfrm>
          <a:prstGeom prst="roundRect">
            <a:avLst>
              <a:gd name="adj" fmla="val 10909"/>
            </a:avLst>
          </a:prstGeom>
          <a:solidFill>
            <a:srgbClr val="E7EAF6"/>
          </a:solidFill>
          <a:ln w="12700">
            <a:solidFill>
              <a:srgbClr val="1E2761"/>
            </a:solidFill>
            <a:prstDash val="solid"/>
          </a:ln>
        </p:spPr>
      </p:sp>
      <p:sp>
        <p:nvSpPr>
          <p:cNvPr id="28" name="Text 26"/>
          <p:cNvSpPr/>
          <p:nvPr/>
        </p:nvSpPr>
        <p:spPr>
          <a:xfrm>
            <a:off x="7018020"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A2UI msg</a:t>
            </a:r>
            <a:endParaRPr lang="en-US" sz="1050" dirty="0"/>
          </a:p>
        </p:txBody>
      </p:sp>
      <p:sp>
        <p:nvSpPr>
          <p:cNvPr id="29" name="Shape 27"/>
          <p:cNvSpPr/>
          <p:nvPr/>
        </p:nvSpPr>
        <p:spPr>
          <a:xfrm>
            <a:off x="8462772" y="5911596"/>
            <a:ext cx="118872" cy="109728"/>
          </a:xfrm>
          <a:prstGeom prst="rightArrow">
            <a:avLst/>
          </a:prstGeom>
          <a:solidFill>
            <a:srgbClr val="5B6270"/>
          </a:solidFill>
          <a:ln/>
        </p:spPr>
      </p:sp>
      <p:sp>
        <p:nvSpPr>
          <p:cNvPr id="30" name="Shape 28"/>
          <p:cNvSpPr/>
          <p:nvPr/>
        </p:nvSpPr>
        <p:spPr>
          <a:xfrm>
            <a:off x="8590788" y="5715000"/>
            <a:ext cx="1481328" cy="502920"/>
          </a:xfrm>
          <a:prstGeom prst="roundRect">
            <a:avLst>
              <a:gd name="adj" fmla="val 10909"/>
            </a:avLst>
          </a:prstGeom>
          <a:solidFill>
            <a:srgbClr val="DCEFF0"/>
          </a:solidFill>
          <a:ln w="12700">
            <a:solidFill>
              <a:srgbClr val="028090"/>
            </a:solidFill>
            <a:prstDash val="solid"/>
          </a:ln>
        </p:spPr>
      </p:sp>
      <p:sp>
        <p:nvSpPr>
          <p:cNvPr id="31" name="Text 29"/>
          <p:cNvSpPr/>
          <p:nvPr/>
        </p:nvSpPr>
        <p:spPr>
          <a:xfrm>
            <a:off x="8636508"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Renderer</a:t>
            </a:r>
            <a:endParaRPr lang="en-US" sz="1050" dirty="0"/>
          </a:p>
        </p:txBody>
      </p:sp>
      <p:sp>
        <p:nvSpPr>
          <p:cNvPr id="32" name="Shape 30"/>
          <p:cNvSpPr/>
          <p:nvPr/>
        </p:nvSpPr>
        <p:spPr>
          <a:xfrm>
            <a:off x="10081260" y="5911596"/>
            <a:ext cx="118872" cy="109728"/>
          </a:xfrm>
          <a:prstGeom prst="rightArrow">
            <a:avLst/>
          </a:prstGeom>
          <a:solidFill>
            <a:srgbClr val="5B6270"/>
          </a:solidFill>
          <a:ln/>
        </p:spPr>
      </p:sp>
      <p:sp>
        <p:nvSpPr>
          <p:cNvPr id="33" name="Shape 31"/>
          <p:cNvSpPr/>
          <p:nvPr/>
        </p:nvSpPr>
        <p:spPr>
          <a:xfrm>
            <a:off x="10209276" y="5715000"/>
            <a:ext cx="1481328" cy="502920"/>
          </a:xfrm>
          <a:prstGeom prst="roundRect">
            <a:avLst>
              <a:gd name="adj" fmla="val 10909"/>
            </a:avLst>
          </a:prstGeom>
          <a:solidFill>
            <a:srgbClr val="F2F3F8"/>
          </a:solidFill>
          <a:ln w="12700">
            <a:solidFill>
              <a:srgbClr val="1E2761"/>
            </a:solidFill>
            <a:prstDash val="solid"/>
          </a:ln>
        </p:spPr>
      </p:sp>
      <p:sp>
        <p:nvSpPr>
          <p:cNvPr id="34" name="Text 32"/>
          <p:cNvSpPr/>
          <p:nvPr/>
        </p:nvSpPr>
        <p:spPr>
          <a:xfrm>
            <a:off x="10254996" y="5715000"/>
            <a:ext cx="1389888"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UI</a:t>
            </a:r>
            <a:endParaRPr lang="en-US" sz="1050" dirty="0"/>
          </a:p>
        </p:txBody>
      </p:sp>
      <p:sp>
        <p:nvSpPr>
          <p:cNvPr id="35" name="Text 33"/>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背景</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なぜ A2UI / AG-UI が必要なのか</a:t>
            </a:r>
            <a:endParaRPr lang="en-US" sz="2800" dirty="0"/>
          </a:p>
        </p:txBody>
      </p:sp>
      <p:sp>
        <p:nvSpPr>
          <p:cNvPr id="5" name="Text 3"/>
          <p:cNvSpPr/>
          <p:nvPr/>
        </p:nvSpPr>
        <p:spPr>
          <a:xfrm>
            <a:off x="502920" y="1600200"/>
            <a:ext cx="530352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従来の Chat UI 構造</a:t>
            </a:r>
            <a:endParaRPr lang="en-US" sz="1500" dirty="0"/>
          </a:p>
        </p:txBody>
      </p:sp>
      <p:sp>
        <p:nvSpPr>
          <p:cNvPr id="6" name="Shape 4"/>
          <p:cNvSpPr/>
          <p:nvPr/>
        </p:nvSpPr>
        <p:spPr>
          <a:xfrm>
            <a:off x="1005840" y="2011680"/>
            <a:ext cx="4297680" cy="347472"/>
          </a:xfrm>
          <a:prstGeom prst="roundRect">
            <a:avLst>
              <a:gd name="adj" fmla="val 15789"/>
            </a:avLst>
          </a:prstGeom>
          <a:solidFill>
            <a:srgbClr val="F2F3F8"/>
          </a:solidFill>
          <a:ln w="12700">
            <a:solidFill>
              <a:srgbClr val="8A90A0"/>
            </a:solidFill>
            <a:prstDash val="solid"/>
          </a:ln>
        </p:spPr>
      </p:sp>
      <p:sp>
        <p:nvSpPr>
          <p:cNvPr id="7" name="Text 5"/>
          <p:cNvSpPr/>
          <p:nvPr/>
        </p:nvSpPr>
        <p:spPr>
          <a:xfrm>
            <a:off x="1051560" y="2011680"/>
            <a:ext cx="4206240" cy="34747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User</a:t>
            </a:r>
            <a:endParaRPr lang="en-US" sz="1200" dirty="0"/>
          </a:p>
        </p:txBody>
      </p:sp>
      <p:sp>
        <p:nvSpPr>
          <p:cNvPr id="8" name="Shape 6"/>
          <p:cNvSpPr/>
          <p:nvPr/>
        </p:nvSpPr>
        <p:spPr>
          <a:xfrm>
            <a:off x="3054096" y="2359152"/>
            <a:ext cx="201168" cy="118872"/>
          </a:xfrm>
          <a:prstGeom prst="downArrow">
            <a:avLst/>
          </a:prstGeom>
          <a:solidFill>
            <a:srgbClr val="5B6270"/>
          </a:solidFill>
          <a:ln/>
        </p:spPr>
      </p:sp>
      <p:sp>
        <p:nvSpPr>
          <p:cNvPr id="9" name="Shape 7"/>
          <p:cNvSpPr/>
          <p:nvPr/>
        </p:nvSpPr>
        <p:spPr>
          <a:xfrm>
            <a:off x="1005840" y="2441448"/>
            <a:ext cx="4297680" cy="347472"/>
          </a:xfrm>
          <a:prstGeom prst="roundRect">
            <a:avLst>
              <a:gd name="adj" fmla="val 15789"/>
            </a:avLst>
          </a:prstGeom>
          <a:solidFill>
            <a:srgbClr val="F2F3F8"/>
          </a:solidFill>
          <a:ln w="12700">
            <a:solidFill>
              <a:srgbClr val="8A90A0"/>
            </a:solidFill>
            <a:prstDash val="solid"/>
          </a:ln>
        </p:spPr>
      </p:sp>
      <p:sp>
        <p:nvSpPr>
          <p:cNvPr id="10" name="Text 8"/>
          <p:cNvSpPr/>
          <p:nvPr/>
        </p:nvSpPr>
        <p:spPr>
          <a:xfrm>
            <a:off x="1051560" y="2441448"/>
            <a:ext cx="4206240" cy="34747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Chat UI</a:t>
            </a:r>
            <a:endParaRPr lang="en-US" sz="1200" dirty="0"/>
          </a:p>
        </p:txBody>
      </p:sp>
      <p:sp>
        <p:nvSpPr>
          <p:cNvPr id="11" name="Shape 9"/>
          <p:cNvSpPr/>
          <p:nvPr/>
        </p:nvSpPr>
        <p:spPr>
          <a:xfrm>
            <a:off x="3054096" y="2788920"/>
            <a:ext cx="201168" cy="118872"/>
          </a:xfrm>
          <a:prstGeom prst="downArrow">
            <a:avLst/>
          </a:prstGeom>
          <a:solidFill>
            <a:srgbClr val="5B6270"/>
          </a:solidFill>
          <a:ln/>
        </p:spPr>
      </p:sp>
      <p:sp>
        <p:nvSpPr>
          <p:cNvPr id="12" name="Shape 10"/>
          <p:cNvSpPr/>
          <p:nvPr/>
        </p:nvSpPr>
        <p:spPr>
          <a:xfrm>
            <a:off x="1005840" y="2871216"/>
            <a:ext cx="4297680" cy="347472"/>
          </a:xfrm>
          <a:prstGeom prst="roundRect">
            <a:avLst>
              <a:gd name="adj" fmla="val 15789"/>
            </a:avLst>
          </a:prstGeom>
          <a:solidFill>
            <a:srgbClr val="F2F3F8"/>
          </a:solidFill>
          <a:ln w="12700">
            <a:solidFill>
              <a:srgbClr val="8A90A0"/>
            </a:solidFill>
            <a:prstDash val="solid"/>
          </a:ln>
        </p:spPr>
      </p:sp>
      <p:sp>
        <p:nvSpPr>
          <p:cNvPr id="13" name="Text 11"/>
          <p:cNvSpPr/>
          <p:nvPr/>
        </p:nvSpPr>
        <p:spPr>
          <a:xfrm>
            <a:off x="1051560" y="2871216"/>
            <a:ext cx="4206240" cy="34747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REST / HTTP</a:t>
            </a:r>
            <a:endParaRPr lang="en-US" sz="1200" dirty="0"/>
          </a:p>
        </p:txBody>
      </p:sp>
      <p:sp>
        <p:nvSpPr>
          <p:cNvPr id="14" name="Shape 12"/>
          <p:cNvSpPr/>
          <p:nvPr/>
        </p:nvSpPr>
        <p:spPr>
          <a:xfrm>
            <a:off x="3054096" y="3218688"/>
            <a:ext cx="201168" cy="118872"/>
          </a:xfrm>
          <a:prstGeom prst="downArrow">
            <a:avLst/>
          </a:prstGeom>
          <a:solidFill>
            <a:srgbClr val="5B6270"/>
          </a:solidFill>
          <a:ln/>
        </p:spPr>
      </p:sp>
      <p:sp>
        <p:nvSpPr>
          <p:cNvPr id="15" name="Shape 13"/>
          <p:cNvSpPr/>
          <p:nvPr/>
        </p:nvSpPr>
        <p:spPr>
          <a:xfrm>
            <a:off x="1005840" y="3300984"/>
            <a:ext cx="4297680" cy="347472"/>
          </a:xfrm>
          <a:prstGeom prst="roundRect">
            <a:avLst>
              <a:gd name="adj" fmla="val 15789"/>
            </a:avLst>
          </a:prstGeom>
          <a:solidFill>
            <a:srgbClr val="F2F3F8"/>
          </a:solidFill>
          <a:ln w="12700">
            <a:solidFill>
              <a:srgbClr val="8A90A0"/>
            </a:solidFill>
            <a:prstDash val="solid"/>
          </a:ln>
        </p:spPr>
      </p:sp>
      <p:sp>
        <p:nvSpPr>
          <p:cNvPr id="16" name="Text 14"/>
          <p:cNvSpPr/>
          <p:nvPr/>
        </p:nvSpPr>
        <p:spPr>
          <a:xfrm>
            <a:off x="1051560" y="3300984"/>
            <a:ext cx="4206240" cy="34747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LLM</a:t>
            </a:r>
            <a:endParaRPr lang="en-US" sz="1200" dirty="0"/>
          </a:p>
        </p:txBody>
      </p:sp>
      <p:sp>
        <p:nvSpPr>
          <p:cNvPr id="17" name="Shape 15"/>
          <p:cNvSpPr/>
          <p:nvPr/>
        </p:nvSpPr>
        <p:spPr>
          <a:xfrm>
            <a:off x="3054096" y="3648456"/>
            <a:ext cx="201168" cy="118872"/>
          </a:xfrm>
          <a:prstGeom prst="downArrow">
            <a:avLst/>
          </a:prstGeom>
          <a:solidFill>
            <a:srgbClr val="5B6270"/>
          </a:solidFill>
          <a:ln/>
        </p:spPr>
      </p:sp>
      <p:sp>
        <p:nvSpPr>
          <p:cNvPr id="18" name="Shape 16"/>
          <p:cNvSpPr/>
          <p:nvPr/>
        </p:nvSpPr>
        <p:spPr>
          <a:xfrm>
            <a:off x="1005840" y="3730752"/>
            <a:ext cx="4297680" cy="347472"/>
          </a:xfrm>
          <a:prstGeom prst="roundRect">
            <a:avLst>
              <a:gd name="adj" fmla="val 15789"/>
            </a:avLst>
          </a:prstGeom>
          <a:solidFill>
            <a:srgbClr val="F2F3F8"/>
          </a:solidFill>
          <a:ln w="12700">
            <a:solidFill>
              <a:srgbClr val="8A90A0"/>
            </a:solidFill>
            <a:prstDash val="solid"/>
          </a:ln>
        </p:spPr>
      </p:sp>
      <p:sp>
        <p:nvSpPr>
          <p:cNvPr id="19" name="Text 17"/>
          <p:cNvSpPr/>
          <p:nvPr/>
        </p:nvSpPr>
        <p:spPr>
          <a:xfrm>
            <a:off x="1051560" y="3730752"/>
            <a:ext cx="4206240" cy="34747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Text</a:t>
            </a:r>
            <a:endParaRPr lang="en-US" sz="1200" dirty="0"/>
          </a:p>
        </p:txBody>
      </p:sp>
      <p:sp>
        <p:nvSpPr>
          <p:cNvPr id="20" name="Shape 18"/>
          <p:cNvSpPr/>
          <p:nvPr/>
        </p:nvSpPr>
        <p:spPr>
          <a:xfrm>
            <a:off x="6172200" y="1600200"/>
            <a:ext cx="5394960" cy="2331720"/>
          </a:xfrm>
          <a:prstGeom prst="roundRect">
            <a:avLst>
              <a:gd name="adj" fmla="val 3137"/>
            </a:avLst>
          </a:prstGeom>
          <a:solidFill>
            <a:srgbClr val="E7EAF6"/>
          </a:solidFill>
          <a:ln/>
        </p:spPr>
      </p:sp>
      <p:sp>
        <p:nvSpPr>
          <p:cNvPr id="21" name="Text 19"/>
          <p:cNvSpPr/>
          <p:nvPr/>
        </p:nvSpPr>
        <p:spPr>
          <a:xfrm>
            <a:off x="6355080" y="1737360"/>
            <a:ext cx="50292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業務ユースケースではテキストだけでは非効率</a:t>
            </a:r>
            <a:endParaRPr lang="en-US" sz="1400" dirty="0"/>
          </a:p>
        </p:txBody>
      </p:sp>
      <p:sp>
        <p:nvSpPr>
          <p:cNvPr id="22" name="Text 20"/>
          <p:cNvSpPr/>
          <p:nvPr/>
        </p:nvSpPr>
        <p:spPr>
          <a:xfrm>
            <a:off x="6355080" y="2148840"/>
            <a:ext cx="5029200" cy="1691640"/>
          </a:xfrm>
          <a:prstGeom prst="rect">
            <a:avLst/>
          </a:prstGeom>
          <a:noFill/>
          <a:ln/>
        </p:spPr>
        <p:txBody>
          <a:bodyPr wrap="square" lIns="0" tIns="0" rIns="0" bIns="0" rtlCol="0" anchor="ctr"/>
          <a:lstStyle/>
          <a:p>
            <a:pPr indent="0" marL="0">
              <a:lnSpc>
                <a:spcPct val="130000"/>
              </a:lnSpc>
              <a:buNone/>
            </a:pPr>
            <a:r>
              <a:rPr lang="en-US" sz="1300" dirty="0">
                <a:solidFill>
                  <a:srgbClr val="1A1A2E"/>
                </a:solidFill>
                <a:latin typeface="Calibri" pitchFamily="34" charset="0"/>
                <a:ea typeface="Calibri" pitchFamily="34" charset="-122"/>
                <a:cs typeface="Calibri" pitchFamily="34" charset="-120"/>
              </a:rPr>
              <a:t>予約・分析・運用・承認といった業務では、すべてをテキストで往復するより、Agentがフォーム・カード・選択肢・表・ダッシュボードなどを生成した方が効率的。</a:t>
            </a:r>
            <a:endParaRPr lang="en-US" sz="1300" dirty="0"/>
          </a:p>
        </p:txBody>
      </p:sp>
      <p:sp>
        <p:nvSpPr>
          <p:cNvPr id="23" name="Shape 21"/>
          <p:cNvSpPr/>
          <p:nvPr/>
        </p:nvSpPr>
        <p:spPr>
          <a:xfrm>
            <a:off x="502920" y="4343400"/>
            <a:ext cx="11155680" cy="1828800"/>
          </a:xfrm>
          <a:prstGeom prst="roundRect">
            <a:avLst>
              <a:gd name="adj" fmla="val 4000"/>
            </a:avLst>
          </a:prstGeom>
          <a:solidFill>
            <a:srgbClr val="141B4D"/>
          </a:solidFill>
          <a:ln/>
        </p:spPr>
      </p:sp>
      <p:sp>
        <p:nvSpPr>
          <p:cNvPr id="24" name="Text 22"/>
          <p:cNvSpPr/>
          <p:nvPr/>
        </p:nvSpPr>
        <p:spPr>
          <a:xfrm>
            <a:off x="731520" y="4498848"/>
            <a:ext cx="106984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Agentic Application は単純な Request / Response だけでは足りない</a:t>
            </a:r>
            <a:endParaRPr lang="en-US" sz="1450" dirty="0"/>
          </a:p>
        </p:txBody>
      </p:sp>
      <p:sp>
        <p:nvSpPr>
          <p:cNvPr id="25" name="Shape 23"/>
          <p:cNvSpPr/>
          <p:nvPr/>
        </p:nvSpPr>
        <p:spPr>
          <a:xfrm>
            <a:off x="731520" y="5029200"/>
            <a:ext cx="1463040" cy="502920"/>
          </a:xfrm>
          <a:prstGeom prst="roundRect">
            <a:avLst>
              <a:gd name="adj" fmla="val 49091"/>
            </a:avLst>
          </a:prstGeom>
          <a:solidFill>
            <a:srgbClr val="015C66"/>
          </a:solidFill>
          <a:ln/>
        </p:spPr>
      </p:sp>
      <p:sp>
        <p:nvSpPr>
          <p:cNvPr id="26" name="Text 24"/>
          <p:cNvSpPr/>
          <p:nvPr/>
        </p:nvSpPr>
        <p:spPr>
          <a:xfrm>
            <a:off x="731520"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長時間実行</a:t>
            </a:r>
            <a:endParaRPr lang="en-US" sz="1000" dirty="0"/>
          </a:p>
        </p:txBody>
      </p:sp>
      <p:sp>
        <p:nvSpPr>
          <p:cNvPr id="27" name="Shape 25"/>
          <p:cNvSpPr/>
          <p:nvPr/>
        </p:nvSpPr>
        <p:spPr>
          <a:xfrm>
            <a:off x="2322576" y="5029200"/>
            <a:ext cx="1463040" cy="502920"/>
          </a:xfrm>
          <a:prstGeom prst="roundRect">
            <a:avLst>
              <a:gd name="adj" fmla="val 49091"/>
            </a:avLst>
          </a:prstGeom>
          <a:solidFill>
            <a:srgbClr val="015C66"/>
          </a:solidFill>
          <a:ln/>
        </p:spPr>
      </p:sp>
      <p:sp>
        <p:nvSpPr>
          <p:cNvPr id="28" name="Text 26"/>
          <p:cNvSpPr/>
          <p:nvPr/>
        </p:nvSpPr>
        <p:spPr>
          <a:xfrm>
            <a:off x="2322576"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Token Streaming</a:t>
            </a:r>
            <a:endParaRPr lang="en-US" sz="1000" dirty="0"/>
          </a:p>
        </p:txBody>
      </p:sp>
      <p:sp>
        <p:nvSpPr>
          <p:cNvPr id="29" name="Shape 27"/>
          <p:cNvSpPr/>
          <p:nvPr/>
        </p:nvSpPr>
        <p:spPr>
          <a:xfrm>
            <a:off x="3913632" y="5029200"/>
            <a:ext cx="1463040" cy="502920"/>
          </a:xfrm>
          <a:prstGeom prst="roundRect">
            <a:avLst>
              <a:gd name="adj" fmla="val 49091"/>
            </a:avLst>
          </a:prstGeom>
          <a:solidFill>
            <a:srgbClr val="015C66"/>
          </a:solidFill>
          <a:ln/>
        </p:spPr>
      </p:sp>
      <p:sp>
        <p:nvSpPr>
          <p:cNvPr id="30" name="Text 28"/>
          <p:cNvSpPr/>
          <p:nvPr/>
        </p:nvSpPr>
        <p:spPr>
          <a:xfrm>
            <a:off x="3913632"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Tool 実行</a:t>
            </a:r>
            <a:endParaRPr lang="en-US" sz="1000" dirty="0"/>
          </a:p>
        </p:txBody>
      </p:sp>
      <p:sp>
        <p:nvSpPr>
          <p:cNvPr id="31" name="Shape 29"/>
          <p:cNvSpPr/>
          <p:nvPr/>
        </p:nvSpPr>
        <p:spPr>
          <a:xfrm>
            <a:off x="5504688" y="5029200"/>
            <a:ext cx="1463040" cy="502920"/>
          </a:xfrm>
          <a:prstGeom prst="roundRect">
            <a:avLst>
              <a:gd name="adj" fmla="val 49091"/>
            </a:avLst>
          </a:prstGeom>
          <a:solidFill>
            <a:srgbClr val="015C66"/>
          </a:solidFill>
          <a:ln/>
        </p:spPr>
      </p:sp>
      <p:sp>
        <p:nvSpPr>
          <p:cNvPr id="32" name="Text 30"/>
          <p:cNvSpPr/>
          <p:nvPr/>
        </p:nvSpPr>
        <p:spPr>
          <a:xfrm>
            <a:off x="5504688"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状態更新</a:t>
            </a:r>
            <a:endParaRPr lang="en-US" sz="1000" dirty="0"/>
          </a:p>
        </p:txBody>
      </p:sp>
      <p:sp>
        <p:nvSpPr>
          <p:cNvPr id="33" name="Shape 31"/>
          <p:cNvSpPr/>
          <p:nvPr/>
        </p:nvSpPr>
        <p:spPr>
          <a:xfrm>
            <a:off x="7095744" y="5029200"/>
            <a:ext cx="1463040" cy="502920"/>
          </a:xfrm>
          <a:prstGeom prst="roundRect">
            <a:avLst>
              <a:gd name="adj" fmla="val 49091"/>
            </a:avLst>
          </a:prstGeom>
          <a:solidFill>
            <a:srgbClr val="015C66"/>
          </a:solidFill>
          <a:ln/>
        </p:spPr>
      </p:sp>
      <p:sp>
        <p:nvSpPr>
          <p:cNvPr id="34" name="Text 32"/>
          <p:cNvSpPr/>
          <p:nvPr/>
        </p:nvSpPr>
        <p:spPr>
          <a:xfrm>
            <a:off x="7095744"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人間承認</a:t>
            </a:r>
            <a:endParaRPr lang="en-US" sz="1000" dirty="0"/>
          </a:p>
        </p:txBody>
      </p:sp>
      <p:sp>
        <p:nvSpPr>
          <p:cNvPr id="35" name="Shape 33"/>
          <p:cNvSpPr/>
          <p:nvPr/>
        </p:nvSpPr>
        <p:spPr>
          <a:xfrm>
            <a:off x="8686800" y="5029200"/>
            <a:ext cx="1463040" cy="502920"/>
          </a:xfrm>
          <a:prstGeom prst="roundRect">
            <a:avLst>
              <a:gd name="adj" fmla="val 49091"/>
            </a:avLst>
          </a:prstGeom>
          <a:solidFill>
            <a:srgbClr val="015C66"/>
          </a:solidFill>
          <a:ln/>
        </p:spPr>
      </p:sp>
      <p:sp>
        <p:nvSpPr>
          <p:cNvPr id="36" name="Text 34"/>
          <p:cNvSpPr/>
          <p:nvPr/>
        </p:nvSpPr>
        <p:spPr>
          <a:xfrm>
            <a:off x="8686800"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Sub Agent 呼び出し</a:t>
            </a:r>
            <a:endParaRPr lang="en-US" sz="1000" dirty="0"/>
          </a:p>
        </p:txBody>
      </p:sp>
      <p:sp>
        <p:nvSpPr>
          <p:cNvPr id="37" name="Shape 35"/>
          <p:cNvSpPr/>
          <p:nvPr/>
        </p:nvSpPr>
        <p:spPr>
          <a:xfrm>
            <a:off x="10277856" y="5029200"/>
            <a:ext cx="1463040" cy="502920"/>
          </a:xfrm>
          <a:prstGeom prst="roundRect">
            <a:avLst>
              <a:gd name="adj" fmla="val 49091"/>
            </a:avLst>
          </a:prstGeom>
          <a:solidFill>
            <a:srgbClr val="015C66"/>
          </a:solidFill>
          <a:ln/>
        </p:spPr>
      </p:sp>
      <p:sp>
        <p:nvSpPr>
          <p:cNvPr id="38" name="Text 36"/>
          <p:cNvSpPr/>
          <p:nvPr/>
        </p:nvSpPr>
        <p:spPr>
          <a:xfrm>
            <a:off x="10277856" y="5029200"/>
            <a:ext cx="1463040" cy="5029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進捗通知</a:t>
            </a:r>
            <a:endParaRPr lang="en-US" sz="1000" dirty="0"/>
          </a:p>
        </p:txBody>
      </p:sp>
      <p:sp>
        <p:nvSpPr>
          <p:cNvPr id="39" name="Text 37"/>
          <p:cNvSpPr/>
          <p:nvPr/>
        </p:nvSpPr>
        <p:spPr>
          <a:xfrm>
            <a:off x="731520" y="5669280"/>
            <a:ext cx="10698480" cy="41148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A2UI</a:t>
            </a:r>
            <a:pPr indent="0" marL="0">
              <a:buNone/>
            </a:pPr>
            <a:r>
              <a:rPr lang="en-US" sz="1250" dirty="0">
                <a:solidFill>
                  <a:srgbClr val="FFFFFF"/>
                </a:solidFill>
                <a:latin typeface="Calibri" pitchFamily="34" charset="0"/>
                <a:ea typeface="Calibri" pitchFamily="34" charset="-122"/>
                <a:cs typeface="Calibri" pitchFamily="34" charset="-120"/>
              </a:rPr>
              <a:t> は「Agentが生成するUI」を標準化し、</a:t>
            </a:r>
            <a:pPr indent="0" marL="0">
              <a:buNone/>
            </a:pPr>
            <a:r>
              <a:rPr lang="en-US" sz="1250" b="1" dirty="0">
                <a:solidFill>
                  <a:srgbClr val="028090"/>
                </a:solidFill>
                <a:latin typeface="Calibri" pitchFamily="34" charset="0"/>
                <a:ea typeface="Calibri" pitchFamily="34" charset="-122"/>
                <a:cs typeface="Calibri" pitchFamily="34" charset="-120"/>
              </a:rPr>
              <a:t>AG-UI</a:t>
            </a:r>
            <a:pPr indent="0" marL="0">
              <a:buNone/>
            </a:pPr>
            <a:r>
              <a:rPr lang="en-US" sz="1250" dirty="0">
                <a:solidFill>
                  <a:srgbClr val="FFFFFF"/>
                </a:solidFill>
                <a:latin typeface="Calibri" pitchFamily="34" charset="0"/>
                <a:ea typeface="Calibri" pitchFamily="34" charset="-122"/>
                <a:cs typeface="Calibri" pitchFamily="34" charset="-120"/>
              </a:rPr>
              <a:t> は「Agentとフロントエンドの動的なやり取り」を標準化する。</a:t>
            </a:r>
            <a:endParaRPr lang="en-US" sz="1250" dirty="0"/>
          </a:p>
        </p:txBody>
      </p:sp>
      <p:sp>
        <p:nvSpPr>
          <p:cNvPr id="40" name="Text 38"/>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全体像</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Agentic Protocol 全体像</a:t>
            </a:r>
            <a:endParaRPr lang="en-US" sz="2800" dirty="0"/>
          </a:p>
        </p:txBody>
      </p:sp>
      <p:sp>
        <p:nvSpPr>
          <p:cNvPr id="5" name="Text 3"/>
          <p:cNvSpPr/>
          <p:nvPr/>
        </p:nvSpPr>
        <p:spPr>
          <a:xfrm>
            <a:off x="502920" y="1600200"/>
            <a:ext cx="10972800" cy="365760"/>
          </a:xfrm>
          <a:prstGeom prst="rect">
            <a:avLst/>
          </a:prstGeom>
          <a:noFill/>
          <a:ln/>
        </p:spPr>
        <p:txBody>
          <a:bodyPr wrap="square" lIns="0" tIns="0" rIns="0" bIns="0" rtlCol="0" anchor="ctr"/>
          <a:lstStyle/>
          <a:p>
            <a:pPr indent="0" marL="0">
              <a:buNone/>
            </a:pPr>
            <a:r>
              <a:rPr lang="en-US" sz="1350" dirty="0">
                <a:solidFill>
                  <a:srgbClr val="5B6270"/>
                </a:solidFill>
                <a:latin typeface="Calibri" pitchFamily="34" charset="0"/>
                <a:ea typeface="Calibri" pitchFamily="34" charset="-122"/>
                <a:cs typeface="Calibri" pitchFamily="34" charset="-120"/>
              </a:rPr>
              <a:t>MCP・A2A・AG-UI はそれぞれ異なる「相手」との接続を担当するプロトコルである。</a:t>
            </a:r>
            <a:endParaRPr lang="en-US" sz="1350" dirty="0"/>
          </a:p>
        </p:txBody>
      </p:sp>
      <p:sp>
        <p:nvSpPr>
          <p:cNvPr id="6" name="Shape 4"/>
          <p:cNvSpPr/>
          <p:nvPr/>
        </p:nvSpPr>
        <p:spPr>
          <a:xfrm>
            <a:off x="502920" y="2148840"/>
            <a:ext cx="11155680" cy="777240"/>
          </a:xfrm>
          <a:prstGeom prst="roundRect">
            <a:avLst>
              <a:gd name="adj" fmla="val 9412"/>
            </a:avLst>
          </a:prstGeom>
          <a:solidFill>
            <a:srgbClr val="E7EAF6"/>
          </a:solidFill>
          <a:ln/>
        </p:spPr>
      </p:sp>
      <p:sp>
        <p:nvSpPr>
          <p:cNvPr id="7" name="Shape 5"/>
          <p:cNvSpPr/>
          <p:nvPr/>
        </p:nvSpPr>
        <p:spPr>
          <a:xfrm>
            <a:off x="685800" y="2295144"/>
            <a:ext cx="1371600" cy="484632"/>
          </a:xfrm>
          <a:prstGeom prst="roundRect">
            <a:avLst>
              <a:gd name="adj" fmla="val 49057"/>
            </a:avLst>
          </a:prstGeom>
          <a:solidFill>
            <a:srgbClr val="1E2761"/>
          </a:solidFill>
          <a:ln/>
        </p:spPr>
      </p:sp>
      <p:sp>
        <p:nvSpPr>
          <p:cNvPr id="8" name="Text 6"/>
          <p:cNvSpPr/>
          <p:nvPr/>
        </p:nvSpPr>
        <p:spPr>
          <a:xfrm>
            <a:off x="685800" y="2295144"/>
            <a:ext cx="1371600"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MCP</a:t>
            </a:r>
            <a:endParaRPr lang="en-US" sz="1400" dirty="0"/>
          </a:p>
        </p:txBody>
      </p:sp>
      <p:sp>
        <p:nvSpPr>
          <p:cNvPr id="9" name="Text 7"/>
          <p:cNvSpPr/>
          <p:nvPr/>
        </p:nvSpPr>
        <p:spPr>
          <a:xfrm>
            <a:off x="2331720" y="2148840"/>
            <a:ext cx="3840480" cy="777240"/>
          </a:xfrm>
          <a:prstGeom prst="rect">
            <a:avLst/>
          </a:prstGeom>
          <a:noFill/>
          <a:ln/>
        </p:spPr>
        <p:txBody>
          <a:bodyPr wrap="square" lIns="0" tIns="0" rIns="0" bIns="0"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Agent  &lt;-&gt;  Tool / Data</a:t>
            </a:r>
            <a:endParaRPr lang="en-US" sz="1500" dirty="0"/>
          </a:p>
        </p:txBody>
      </p:sp>
      <p:sp>
        <p:nvSpPr>
          <p:cNvPr id="10" name="Text 8"/>
          <p:cNvSpPr/>
          <p:nvPr/>
        </p:nvSpPr>
        <p:spPr>
          <a:xfrm>
            <a:off x="6309360" y="2148840"/>
            <a:ext cx="5120640" cy="777240"/>
          </a:xfrm>
          <a:prstGeom prst="rect">
            <a:avLst/>
          </a:prstGeom>
          <a:noFill/>
          <a:ln/>
        </p:spPr>
        <p:txBody>
          <a:bodyPr wrap="square" lIns="0" tIns="0" rIns="0" bIns="0" rtlCol="0" anchor="ctr"/>
          <a:lstStyle/>
          <a:p>
            <a:pPr indent="0" marL="0">
              <a:buNone/>
            </a:pPr>
            <a:r>
              <a:rPr lang="en-US" sz="1250" dirty="0">
                <a:solidFill>
                  <a:srgbClr val="5B6270"/>
                </a:solidFill>
                <a:latin typeface="Calibri" pitchFamily="34" charset="0"/>
                <a:ea typeface="Calibri" pitchFamily="34" charset="-122"/>
                <a:cs typeface="Calibri" pitchFamily="34" charset="-120"/>
              </a:rPr>
              <a:t>外部ツールやデータソースへの接続</a:t>
            </a:r>
            <a:endParaRPr lang="en-US" sz="1250" dirty="0"/>
          </a:p>
        </p:txBody>
      </p:sp>
      <p:sp>
        <p:nvSpPr>
          <p:cNvPr id="11" name="Shape 9"/>
          <p:cNvSpPr/>
          <p:nvPr/>
        </p:nvSpPr>
        <p:spPr>
          <a:xfrm>
            <a:off x="502920" y="3063240"/>
            <a:ext cx="11155680" cy="777240"/>
          </a:xfrm>
          <a:prstGeom prst="roundRect">
            <a:avLst>
              <a:gd name="adj" fmla="val 9412"/>
            </a:avLst>
          </a:prstGeom>
          <a:solidFill>
            <a:srgbClr val="E7EAF6"/>
          </a:solidFill>
          <a:ln/>
        </p:spPr>
      </p:sp>
      <p:sp>
        <p:nvSpPr>
          <p:cNvPr id="12" name="Shape 10"/>
          <p:cNvSpPr/>
          <p:nvPr/>
        </p:nvSpPr>
        <p:spPr>
          <a:xfrm>
            <a:off x="685800" y="3209544"/>
            <a:ext cx="1371600" cy="484632"/>
          </a:xfrm>
          <a:prstGeom prst="roundRect">
            <a:avLst>
              <a:gd name="adj" fmla="val 49057"/>
            </a:avLst>
          </a:prstGeom>
          <a:solidFill>
            <a:srgbClr val="1E2761"/>
          </a:solidFill>
          <a:ln/>
        </p:spPr>
      </p:sp>
      <p:sp>
        <p:nvSpPr>
          <p:cNvPr id="13" name="Text 11"/>
          <p:cNvSpPr/>
          <p:nvPr/>
        </p:nvSpPr>
        <p:spPr>
          <a:xfrm>
            <a:off x="685800" y="3209544"/>
            <a:ext cx="1371600"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A2A</a:t>
            </a:r>
            <a:endParaRPr lang="en-US" sz="1400" dirty="0"/>
          </a:p>
        </p:txBody>
      </p:sp>
      <p:sp>
        <p:nvSpPr>
          <p:cNvPr id="14" name="Text 12"/>
          <p:cNvSpPr/>
          <p:nvPr/>
        </p:nvSpPr>
        <p:spPr>
          <a:xfrm>
            <a:off x="2331720" y="3063240"/>
            <a:ext cx="3840480" cy="777240"/>
          </a:xfrm>
          <a:prstGeom prst="rect">
            <a:avLst/>
          </a:prstGeom>
          <a:noFill/>
          <a:ln/>
        </p:spPr>
        <p:txBody>
          <a:bodyPr wrap="square" lIns="0" tIns="0" rIns="0" bIns="0"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Agent  &lt;-&gt;  Agent</a:t>
            </a:r>
            <a:endParaRPr lang="en-US" sz="1500" dirty="0"/>
          </a:p>
        </p:txBody>
      </p:sp>
      <p:sp>
        <p:nvSpPr>
          <p:cNvPr id="15" name="Text 13"/>
          <p:cNvSpPr/>
          <p:nvPr/>
        </p:nvSpPr>
        <p:spPr>
          <a:xfrm>
            <a:off x="6309360" y="3063240"/>
            <a:ext cx="5120640" cy="777240"/>
          </a:xfrm>
          <a:prstGeom prst="rect">
            <a:avLst/>
          </a:prstGeom>
          <a:noFill/>
          <a:ln/>
        </p:spPr>
        <p:txBody>
          <a:bodyPr wrap="square" lIns="0" tIns="0" rIns="0" bIns="0" rtlCol="0" anchor="ctr"/>
          <a:lstStyle/>
          <a:p>
            <a:pPr indent="0" marL="0">
              <a:buNone/>
            </a:pPr>
            <a:r>
              <a:rPr lang="en-US" sz="1250" dirty="0">
                <a:solidFill>
                  <a:srgbClr val="5B6270"/>
                </a:solidFill>
                <a:latin typeface="Calibri" pitchFamily="34" charset="0"/>
                <a:ea typeface="Calibri" pitchFamily="34" charset="-122"/>
                <a:cs typeface="Calibri" pitchFamily="34" charset="-120"/>
              </a:rPr>
              <a:t>エージェント同士の連携・協調</a:t>
            </a:r>
            <a:endParaRPr lang="en-US" sz="1250" dirty="0"/>
          </a:p>
        </p:txBody>
      </p:sp>
      <p:sp>
        <p:nvSpPr>
          <p:cNvPr id="16" name="Shape 14"/>
          <p:cNvSpPr/>
          <p:nvPr/>
        </p:nvSpPr>
        <p:spPr>
          <a:xfrm>
            <a:off x="502920" y="3977640"/>
            <a:ext cx="11155680" cy="777240"/>
          </a:xfrm>
          <a:prstGeom prst="roundRect">
            <a:avLst>
              <a:gd name="adj" fmla="val 9412"/>
            </a:avLst>
          </a:prstGeom>
          <a:solidFill>
            <a:srgbClr val="DCEFF0"/>
          </a:solidFill>
          <a:ln/>
        </p:spPr>
      </p:sp>
      <p:sp>
        <p:nvSpPr>
          <p:cNvPr id="17" name="Shape 15"/>
          <p:cNvSpPr/>
          <p:nvPr/>
        </p:nvSpPr>
        <p:spPr>
          <a:xfrm>
            <a:off x="685800" y="4123944"/>
            <a:ext cx="1371600" cy="484632"/>
          </a:xfrm>
          <a:prstGeom prst="roundRect">
            <a:avLst>
              <a:gd name="adj" fmla="val 49057"/>
            </a:avLst>
          </a:prstGeom>
          <a:solidFill>
            <a:srgbClr val="028090"/>
          </a:solidFill>
          <a:ln/>
        </p:spPr>
      </p:sp>
      <p:sp>
        <p:nvSpPr>
          <p:cNvPr id="18" name="Text 16"/>
          <p:cNvSpPr/>
          <p:nvPr/>
        </p:nvSpPr>
        <p:spPr>
          <a:xfrm>
            <a:off x="685800" y="4123944"/>
            <a:ext cx="1371600"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AG-UI</a:t>
            </a:r>
            <a:endParaRPr lang="en-US" sz="1400" dirty="0"/>
          </a:p>
        </p:txBody>
      </p:sp>
      <p:sp>
        <p:nvSpPr>
          <p:cNvPr id="19" name="Text 17"/>
          <p:cNvSpPr/>
          <p:nvPr/>
        </p:nvSpPr>
        <p:spPr>
          <a:xfrm>
            <a:off x="2331720" y="3977640"/>
            <a:ext cx="3840480" cy="777240"/>
          </a:xfrm>
          <a:prstGeom prst="rect">
            <a:avLst/>
          </a:prstGeom>
          <a:noFill/>
          <a:ln/>
        </p:spPr>
        <p:txBody>
          <a:bodyPr wrap="square" lIns="0" tIns="0" rIns="0" bIns="0"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Agent  &lt;-&gt;  User / Application</a:t>
            </a:r>
            <a:endParaRPr lang="en-US" sz="1500" dirty="0"/>
          </a:p>
        </p:txBody>
      </p:sp>
      <p:sp>
        <p:nvSpPr>
          <p:cNvPr id="20" name="Text 18"/>
          <p:cNvSpPr/>
          <p:nvPr/>
        </p:nvSpPr>
        <p:spPr>
          <a:xfrm>
            <a:off x="6309360" y="3977640"/>
            <a:ext cx="5120640" cy="777240"/>
          </a:xfrm>
          <a:prstGeom prst="rect">
            <a:avLst/>
          </a:prstGeom>
          <a:noFill/>
          <a:ln/>
        </p:spPr>
        <p:txBody>
          <a:bodyPr wrap="square" lIns="0" tIns="0" rIns="0" bIns="0" rtlCol="0" anchor="ctr"/>
          <a:lstStyle/>
          <a:p>
            <a:pPr indent="0" marL="0">
              <a:buNone/>
            </a:pPr>
            <a:r>
              <a:rPr lang="en-US" sz="1250" dirty="0">
                <a:solidFill>
                  <a:srgbClr val="5B6270"/>
                </a:solidFill>
                <a:latin typeface="Calibri" pitchFamily="34" charset="0"/>
                <a:ea typeface="Calibri" pitchFamily="34" charset="-122"/>
                <a:cs typeface="Calibri" pitchFamily="34" charset="-120"/>
              </a:rPr>
              <a:t>エージェントとユーザー向けアプリの接続</a:t>
            </a:r>
            <a:endParaRPr lang="en-US" sz="1250" dirty="0"/>
          </a:p>
        </p:txBody>
      </p:sp>
      <p:sp>
        <p:nvSpPr>
          <p:cNvPr id="21" name="Text 19"/>
          <p:cNvSpPr/>
          <p:nvPr/>
        </p:nvSpPr>
        <p:spPr>
          <a:xfrm>
            <a:off x="502920" y="4937760"/>
            <a:ext cx="4572000" cy="36576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Generative UI として A2UI が加わる位置付け：</a:t>
            </a:r>
            <a:endParaRPr lang="en-US" sz="1300" dirty="0"/>
          </a:p>
        </p:txBody>
      </p:sp>
      <p:sp>
        <p:nvSpPr>
          <p:cNvPr id="22" name="Shape 20"/>
          <p:cNvSpPr/>
          <p:nvPr/>
        </p:nvSpPr>
        <p:spPr>
          <a:xfrm>
            <a:off x="502920" y="5349240"/>
            <a:ext cx="2606040" cy="548640"/>
          </a:xfrm>
          <a:prstGeom prst="roundRect">
            <a:avLst>
              <a:gd name="adj" fmla="val 10000"/>
            </a:avLst>
          </a:prstGeom>
          <a:solidFill>
            <a:srgbClr val="F2F3F8"/>
          </a:solidFill>
          <a:ln w="15875">
            <a:solidFill>
              <a:srgbClr val="8A90A0"/>
            </a:solidFill>
            <a:prstDash val="solid"/>
          </a:ln>
        </p:spPr>
      </p:sp>
      <p:sp>
        <p:nvSpPr>
          <p:cNvPr id="23" name="Text 21"/>
          <p:cNvSpPr/>
          <p:nvPr/>
        </p:nvSpPr>
        <p:spPr>
          <a:xfrm>
            <a:off x="548640" y="5349240"/>
            <a:ext cx="2514600" cy="5486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Agent</a:t>
            </a:r>
            <a:endParaRPr lang="en-US" sz="1300" dirty="0"/>
          </a:p>
        </p:txBody>
      </p:sp>
      <p:sp>
        <p:nvSpPr>
          <p:cNvPr id="24" name="Shape 22"/>
          <p:cNvSpPr/>
          <p:nvPr/>
        </p:nvSpPr>
        <p:spPr>
          <a:xfrm>
            <a:off x="3136392" y="5550408"/>
            <a:ext cx="292608" cy="146304"/>
          </a:xfrm>
          <a:prstGeom prst="rightArrow">
            <a:avLst/>
          </a:prstGeom>
          <a:solidFill>
            <a:srgbClr val="5B6270"/>
          </a:solidFill>
          <a:ln/>
        </p:spPr>
      </p:sp>
      <p:sp>
        <p:nvSpPr>
          <p:cNvPr id="25" name="Shape 23"/>
          <p:cNvSpPr/>
          <p:nvPr/>
        </p:nvSpPr>
        <p:spPr>
          <a:xfrm>
            <a:off x="3456432" y="5349240"/>
            <a:ext cx="2606040" cy="548640"/>
          </a:xfrm>
          <a:prstGeom prst="roundRect">
            <a:avLst>
              <a:gd name="adj" fmla="val 10000"/>
            </a:avLst>
          </a:prstGeom>
          <a:solidFill>
            <a:srgbClr val="E7EAF6"/>
          </a:solidFill>
          <a:ln w="15875">
            <a:solidFill>
              <a:srgbClr val="1E2761"/>
            </a:solidFill>
            <a:prstDash val="solid"/>
          </a:ln>
        </p:spPr>
      </p:sp>
      <p:sp>
        <p:nvSpPr>
          <p:cNvPr id="26" name="Text 24"/>
          <p:cNvSpPr/>
          <p:nvPr/>
        </p:nvSpPr>
        <p:spPr>
          <a:xfrm>
            <a:off x="3502152" y="5349240"/>
            <a:ext cx="2514600" cy="5486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A2UI</a:t>
            </a:r>
            <a:endParaRPr lang="en-US" sz="1300" dirty="0"/>
          </a:p>
        </p:txBody>
      </p:sp>
      <p:sp>
        <p:nvSpPr>
          <p:cNvPr id="27" name="Shape 25"/>
          <p:cNvSpPr/>
          <p:nvPr/>
        </p:nvSpPr>
        <p:spPr>
          <a:xfrm>
            <a:off x="6089904" y="5550408"/>
            <a:ext cx="292608" cy="146304"/>
          </a:xfrm>
          <a:prstGeom prst="rightArrow">
            <a:avLst/>
          </a:prstGeom>
          <a:solidFill>
            <a:srgbClr val="5B6270"/>
          </a:solidFill>
          <a:ln/>
        </p:spPr>
      </p:sp>
      <p:sp>
        <p:nvSpPr>
          <p:cNvPr id="28" name="Shape 26"/>
          <p:cNvSpPr/>
          <p:nvPr/>
        </p:nvSpPr>
        <p:spPr>
          <a:xfrm>
            <a:off x="6409944" y="5349240"/>
            <a:ext cx="2606040" cy="548640"/>
          </a:xfrm>
          <a:prstGeom prst="roundRect">
            <a:avLst>
              <a:gd name="adj" fmla="val 10000"/>
            </a:avLst>
          </a:prstGeom>
          <a:solidFill>
            <a:srgbClr val="DCEFF0"/>
          </a:solidFill>
          <a:ln w="15875">
            <a:solidFill>
              <a:srgbClr val="028090"/>
            </a:solidFill>
            <a:prstDash val="solid"/>
          </a:ln>
        </p:spPr>
      </p:sp>
      <p:sp>
        <p:nvSpPr>
          <p:cNvPr id="29" name="Text 27"/>
          <p:cNvSpPr/>
          <p:nvPr/>
        </p:nvSpPr>
        <p:spPr>
          <a:xfrm>
            <a:off x="6455664" y="5349240"/>
            <a:ext cx="2514600" cy="5486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AG-UI</a:t>
            </a:r>
            <a:endParaRPr lang="en-US" sz="1300" dirty="0"/>
          </a:p>
        </p:txBody>
      </p:sp>
      <p:sp>
        <p:nvSpPr>
          <p:cNvPr id="30" name="Shape 28"/>
          <p:cNvSpPr/>
          <p:nvPr/>
        </p:nvSpPr>
        <p:spPr>
          <a:xfrm>
            <a:off x="9043416" y="5550408"/>
            <a:ext cx="292608" cy="146304"/>
          </a:xfrm>
          <a:prstGeom prst="rightArrow">
            <a:avLst/>
          </a:prstGeom>
          <a:solidFill>
            <a:srgbClr val="5B6270"/>
          </a:solidFill>
          <a:ln/>
        </p:spPr>
      </p:sp>
      <p:sp>
        <p:nvSpPr>
          <p:cNvPr id="31" name="Shape 29"/>
          <p:cNvSpPr/>
          <p:nvPr/>
        </p:nvSpPr>
        <p:spPr>
          <a:xfrm>
            <a:off x="9363456" y="5349240"/>
            <a:ext cx="2606040" cy="548640"/>
          </a:xfrm>
          <a:prstGeom prst="roundRect">
            <a:avLst>
              <a:gd name="adj" fmla="val 10000"/>
            </a:avLst>
          </a:prstGeom>
          <a:solidFill>
            <a:srgbClr val="F2F3F8"/>
          </a:solidFill>
          <a:ln w="15875">
            <a:solidFill>
              <a:srgbClr val="8A90A0"/>
            </a:solidFill>
            <a:prstDash val="solid"/>
          </a:ln>
        </p:spPr>
      </p:sp>
      <p:sp>
        <p:nvSpPr>
          <p:cNvPr id="32" name="Text 30"/>
          <p:cNvSpPr/>
          <p:nvPr/>
        </p:nvSpPr>
        <p:spPr>
          <a:xfrm>
            <a:off x="9409176" y="5349240"/>
            <a:ext cx="2514600" cy="54864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Application</a:t>
            </a:r>
            <a:endParaRPr lang="en-US" sz="1300" dirty="0"/>
          </a:p>
        </p:txBody>
      </p:sp>
      <p:sp>
        <p:nvSpPr>
          <p:cNvPr id="33" name="Text 31"/>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とは</a:t>
            </a:r>
            <a:endParaRPr lang="en-US" sz="2800" dirty="0"/>
          </a:p>
        </p:txBody>
      </p:sp>
      <p:sp>
        <p:nvSpPr>
          <p:cNvPr id="5" name="Text 3"/>
          <p:cNvSpPr/>
          <p:nvPr/>
        </p:nvSpPr>
        <p:spPr>
          <a:xfrm>
            <a:off x="502920" y="1554480"/>
            <a:ext cx="11155680" cy="822960"/>
          </a:xfrm>
          <a:prstGeom prst="rect">
            <a:avLst/>
          </a:prstGeom>
          <a:noFill/>
          <a:ln/>
        </p:spPr>
        <p:txBody>
          <a:bodyPr wrap="square" lIns="0" tIns="0" rIns="0" bIns="0" rtlCol="0" anchor="ctr"/>
          <a:lstStyle/>
          <a:p>
            <a:pPr indent="0" marL="0">
              <a:lnSpc>
                <a:spcPct val="125000"/>
              </a:lnSpc>
              <a:buNone/>
            </a:pPr>
            <a:r>
              <a:rPr lang="en-US" sz="1400" dirty="0">
                <a:solidFill>
                  <a:srgbClr val="1A1A2E"/>
                </a:solidFill>
                <a:latin typeface="Calibri" pitchFamily="34" charset="0"/>
                <a:ea typeface="Calibri" pitchFamily="34" charset="-122"/>
                <a:cs typeface="Calibri" pitchFamily="34" charset="-120"/>
              </a:rPr>
              <a:t>Google が中心となって公開している、Agent-driven UI のための宣言型 UI プロトコル。AI Agent が任意コードを実行することなく、Web / Mobile / Desktop 上にリッチでインタラクティブな UI を生成できるようにすることが目的。</a:t>
            </a:r>
            <a:endParaRPr lang="en-US" sz="1400" dirty="0"/>
          </a:p>
        </p:txBody>
      </p:sp>
      <p:sp>
        <p:nvSpPr>
          <p:cNvPr id="6" name="Shape 4"/>
          <p:cNvSpPr/>
          <p:nvPr/>
        </p:nvSpPr>
        <p:spPr>
          <a:xfrm>
            <a:off x="502920" y="2514600"/>
            <a:ext cx="11155680" cy="777240"/>
          </a:xfrm>
          <a:prstGeom prst="roundRect">
            <a:avLst>
              <a:gd name="adj" fmla="val 9412"/>
            </a:avLst>
          </a:prstGeom>
          <a:solidFill>
            <a:srgbClr val="141B4D"/>
          </a:solidFill>
          <a:ln/>
        </p:spPr>
      </p:sp>
      <p:sp>
        <p:nvSpPr>
          <p:cNvPr id="7" name="Text 5"/>
          <p:cNvSpPr/>
          <p:nvPr/>
        </p:nvSpPr>
        <p:spPr>
          <a:xfrm>
            <a:off x="731520" y="2514600"/>
            <a:ext cx="2926080" cy="7772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解決したい代表的な問題</a:t>
            </a:r>
            <a:endParaRPr lang="en-US" sz="1300" dirty="0"/>
          </a:p>
        </p:txBody>
      </p:sp>
      <p:sp>
        <p:nvSpPr>
          <p:cNvPr id="8" name="Text 6"/>
          <p:cNvSpPr/>
          <p:nvPr/>
        </p:nvSpPr>
        <p:spPr>
          <a:xfrm>
            <a:off x="3749040" y="2514600"/>
            <a:ext cx="7680960" cy="77724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別のサーバや組織で動く Agent が、安全にこちらのアプリケーションへ UI を渡すにはどうすればよいか？</a:t>
            </a:r>
            <a:endParaRPr lang="en-US" sz="1350" dirty="0"/>
          </a:p>
        </p:txBody>
      </p:sp>
      <p:sp>
        <p:nvSpPr>
          <p:cNvPr id="9" name="Text 7"/>
          <p:cNvSpPr/>
          <p:nvPr/>
        </p:nvSpPr>
        <p:spPr>
          <a:xfrm>
            <a:off x="502920" y="3520440"/>
            <a:ext cx="5486400" cy="320040"/>
          </a:xfrm>
          <a:prstGeom prst="rect">
            <a:avLst/>
          </a:prstGeom>
          <a:noFill/>
          <a:ln/>
        </p:spPr>
        <p:txBody>
          <a:bodyPr wrap="square" lIns="0" tIns="0" rIns="0" bIns="0"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従来手法（HTML / JavaScript / iframe）の課題</a:t>
            </a:r>
            <a:endParaRPr lang="en-US" sz="1350" dirty="0"/>
          </a:p>
        </p:txBody>
      </p:sp>
      <p:sp>
        <p:nvSpPr>
          <p:cNvPr id="10" name="Shape 8"/>
          <p:cNvSpPr/>
          <p:nvPr/>
        </p:nvSpPr>
        <p:spPr>
          <a:xfrm>
            <a:off x="502920" y="3941064"/>
            <a:ext cx="128016" cy="128016"/>
          </a:xfrm>
          <a:prstGeom prst="ellipse">
            <a:avLst/>
          </a:prstGeom>
          <a:solidFill>
            <a:srgbClr val="028090"/>
          </a:solidFill>
          <a:ln/>
        </p:spPr>
      </p:sp>
      <p:sp>
        <p:nvSpPr>
          <p:cNvPr id="11" name="Text 9"/>
          <p:cNvSpPr/>
          <p:nvPr/>
        </p:nvSpPr>
        <p:spPr>
          <a:xfrm>
            <a:off x="749808" y="3886200"/>
            <a:ext cx="5303520" cy="292608"/>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任意コード実行リスク</a:t>
            </a:r>
            <a:endParaRPr lang="en-US" sz="1250" dirty="0"/>
          </a:p>
        </p:txBody>
      </p:sp>
      <p:sp>
        <p:nvSpPr>
          <p:cNvPr id="12" name="Shape 10"/>
          <p:cNvSpPr/>
          <p:nvPr/>
        </p:nvSpPr>
        <p:spPr>
          <a:xfrm>
            <a:off x="502920" y="4306824"/>
            <a:ext cx="128016" cy="128016"/>
          </a:xfrm>
          <a:prstGeom prst="ellipse">
            <a:avLst/>
          </a:prstGeom>
          <a:solidFill>
            <a:srgbClr val="028090"/>
          </a:solidFill>
          <a:ln/>
        </p:spPr>
      </p:sp>
      <p:sp>
        <p:nvSpPr>
          <p:cNvPr id="13" name="Text 11"/>
          <p:cNvSpPr/>
          <p:nvPr/>
        </p:nvSpPr>
        <p:spPr>
          <a:xfrm>
            <a:off x="749808" y="4251960"/>
            <a:ext cx="5303520" cy="292608"/>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Host Applicationとのデザイン分離</a:t>
            </a:r>
            <a:endParaRPr lang="en-US" sz="1250" dirty="0"/>
          </a:p>
        </p:txBody>
      </p:sp>
      <p:sp>
        <p:nvSpPr>
          <p:cNvPr id="14" name="Shape 12"/>
          <p:cNvSpPr/>
          <p:nvPr/>
        </p:nvSpPr>
        <p:spPr>
          <a:xfrm>
            <a:off x="502920" y="4672584"/>
            <a:ext cx="128016" cy="128016"/>
          </a:xfrm>
          <a:prstGeom prst="ellipse">
            <a:avLst/>
          </a:prstGeom>
          <a:solidFill>
            <a:srgbClr val="028090"/>
          </a:solidFill>
          <a:ln/>
        </p:spPr>
      </p:sp>
      <p:sp>
        <p:nvSpPr>
          <p:cNvPr id="15" name="Text 13"/>
          <p:cNvSpPr/>
          <p:nvPr/>
        </p:nvSpPr>
        <p:spPr>
          <a:xfrm>
            <a:off x="749808" y="4617720"/>
            <a:ext cx="5303520" cy="292608"/>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Web依存</a:t>
            </a:r>
            <a:endParaRPr lang="en-US" sz="1250" dirty="0"/>
          </a:p>
        </p:txBody>
      </p:sp>
      <p:sp>
        <p:nvSpPr>
          <p:cNvPr id="16" name="Shape 14"/>
          <p:cNvSpPr/>
          <p:nvPr/>
        </p:nvSpPr>
        <p:spPr>
          <a:xfrm>
            <a:off x="502920" y="5038344"/>
            <a:ext cx="128016" cy="128016"/>
          </a:xfrm>
          <a:prstGeom prst="ellipse">
            <a:avLst/>
          </a:prstGeom>
          <a:solidFill>
            <a:srgbClr val="028090"/>
          </a:solidFill>
          <a:ln/>
        </p:spPr>
      </p:sp>
      <p:sp>
        <p:nvSpPr>
          <p:cNvPr id="17" name="Text 15"/>
          <p:cNvSpPr/>
          <p:nvPr/>
        </p:nvSpPr>
        <p:spPr>
          <a:xfrm>
            <a:off x="749808" y="4983480"/>
            <a:ext cx="5303520" cy="292608"/>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Native UIへの展開の難しさ</a:t>
            </a:r>
            <a:endParaRPr lang="en-US" sz="1250" dirty="0"/>
          </a:p>
        </p:txBody>
      </p:sp>
      <p:sp>
        <p:nvSpPr>
          <p:cNvPr id="18" name="Shape 16"/>
          <p:cNvSpPr/>
          <p:nvPr/>
        </p:nvSpPr>
        <p:spPr>
          <a:xfrm>
            <a:off x="6172200" y="3520440"/>
            <a:ext cx="5394960" cy="2194560"/>
          </a:xfrm>
          <a:prstGeom prst="roundRect">
            <a:avLst>
              <a:gd name="adj" fmla="val 3333"/>
            </a:avLst>
          </a:prstGeom>
          <a:solidFill>
            <a:srgbClr val="E7EAF6"/>
          </a:solidFill>
          <a:ln/>
          <a:effectLst>
            <a:outerShdw sx="100000" sy="100000" kx="0" ky="0" algn="bl" rotWithShape="0" blurRad="76200" dist="25400" dir="5400000">
              <a:srgbClr val="44536B">
                <a:alpha val="18000"/>
              </a:srgbClr>
            </a:outerShdw>
          </a:effectLst>
        </p:spPr>
      </p:sp>
      <p:sp>
        <p:nvSpPr>
          <p:cNvPr id="19" name="Text 17"/>
          <p:cNvSpPr/>
          <p:nvPr/>
        </p:nvSpPr>
        <p:spPr>
          <a:xfrm>
            <a:off x="6373368" y="3685032"/>
            <a:ext cx="499262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A2UI のアプローチ</a:t>
            </a:r>
            <a:endParaRPr lang="en-US" sz="1400" dirty="0"/>
          </a:p>
        </p:txBody>
      </p:sp>
      <p:sp>
        <p:nvSpPr>
          <p:cNvPr id="20" name="Text 18"/>
          <p:cNvSpPr/>
          <p:nvPr/>
        </p:nvSpPr>
        <p:spPr>
          <a:xfrm>
            <a:off x="6373368" y="4050792"/>
            <a:ext cx="4992624" cy="152704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Agent は HTML や JavaScript を送らず、宣言的なデータ（JSON）を送る。</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"component": "Button", "text": "確認" }</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Frontend はこの情報を自分の Component にマッピングして描画する。</a:t>
            </a:r>
            <a:endParaRPr lang="en-US" sz="1150" dirty="0"/>
          </a:p>
        </p:txBody>
      </p:sp>
      <p:sp>
        <p:nvSpPr>
          <p:cNvPr id="21" name="Text 19"/>
          <p:cNvSpPr/>
          <p:nvPr/>
        </p:nvSpPr>
        <p:spPr>
          <a:xfrm>
            <a:off x="502920" y="5989320"/>
            <a:ext cx="11155680" cy="365760"/>
          </a:xfrm>
          <a:prstGeom prst="rect">
            <a:avLst/>
          </a:prstGeom>
          <a:noFill/>
          <a:ln/>
        </p:spPr>
        <p:txBody>
          <a:bodyPr wrap="square" lIns="0" tIns="0" rIns="0" bIns="0" rtlCol="0" anchor="ctr"/>
          <a:lstStyle/>
          <a:p>
            <a:pPr indent="0" marL="0">
              <a:buNone/>
            </a:pPr>
            <a:r>
              <a:rPr lang="en-US" sz="1250" dirty="0">
                <a:solidFill>
                  <a:srgbClr val="5B6270"/>
                </a:solidFill>
                <a:latin typeface="Calibri" pitchFamily="34" charset="0"/>
                <a:ea typeface="Calibri" pitchFamily="34" charset="-122"/>
                <a:cs typeface="Calibri" pitchFamily="34" charset="-120"/>
              </a:rPr>
              <a:t>誰のための技術か： (1) Host App Developer　(2) Agent Developer　(3) Platform / SDK Builder</a:t>
            </a:r>
            <a:endParaRPr lang="en-US" sz="1250" dirty="0"/>
          </a:p>
        </p:txBody>
      </p:sp>
      <p:sp>
        <p:nvSpPr>
          <p:cNvPr id="22" name="Text 20"/>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Architecture</a:t>
            </a:r>
            <a:endParaRPr lang="en-US" sz="2800" dirty="0"/>
          </a:p>
        </p:txBody>
      </p:sp>
      <p:sp>
        <p:nvSpPr>
          <p:cNvPr id="5" name="Shape 3"/>
          <p:cNvSpPr/>
          <p:nvPr/>
        </p:nvSpPr>
        <p:spPr>
          <a:xfrm>
            <a:off x="502920" y="1691640"/>
            <a:ext cx="6537960" cy="777240"/>
          </a:xfrm>
          <a:prstGeom prst="roundRect">
            <a:avLst>
              <a:gd name="adj" fmla="val 7059"/>
            </a:avLst>
          </a:prstGeom>
          <a:solidFill>
            <a:srgbClr val="F2F3F8"/>
          </a:solidFill>
          <a:ln w="15875">
            <a:solidFill>
              <a:srgbClr val="1E2761"/>
            </a:solidFill>
            <a:prstDash val="solid"/>
          </a:ln>
        </p:spPr>
      </p:sp>
      <p:sp>
        <p:nvSpPr>
          <p:cNvPr id="6" name="Text 4"/>
          <p:cNvSpPr/>
          <p:nvPr/>
        </p:nvSpPr>
        <p:spPr>
          <a:xfrm>
            <a:off x="548640" y="1691640"/>
            <a:ext cx="6446520" cy="777240"/>
          </a:xfrm>
          <a:prstGeom prst="rect">
            <a:avLst/>
          </a:prstGeom>
          <a:noFill/>
          <a:ln/>
        </p:spPr>
        <p:txBody>
          <a:bodyPr wrap="square" lIns="0" tIns="0" rIns="0" bIns="0" rtlCol="0" anchor="ctr"/>
          <a:lstStyle/>
          <a:p>
            <a:pPr algn="ctr" indent="0" marL="0">
              <a:buNone/>
            </a:pPr>
            <a:endParaRPr lang="en-US" sz="1250" dirty="0"/>
          </a:p>
        </p:txBody>
      </p:sp>
      <p:sp>
        <p:nvSpPr>
          <p:cNvPr id="7" name="Text 5"/>
          <p:cNvSpPr/>
          <p:nvPr/>
        </p:nvSpPr>
        <p:spPr>
          <a:xfrm>
            <a:off x="685800" y="1783080"/>
            <a:ext cx="617220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AI Agent / LLM</a:t>
            </a:r>
            <a:endParaRPr lang="en-US" sz="1500" dirty="0"/>
          </a:p>
        </p:txBody>
      </p:sp>
      <p:sp>
        <p:nvSpPr>
          <p:cNvPr id="8" name="Text 6"/>
          <p:cNvSpPr/>
          <p:nvPr/>
        </p:nvSpPr>
        <p:spPr>
          <a:xfrm>
            <a:off x="685800" y="2103120"/>
            <a:ext cx="6172200" cy="320040"/>
          </a:xfrm>
          <a:prstGeom prst="rect">
            <a:avLst/>
          </a:prstGeom>
          <a:noFill/>
          <a:ln/>
        </p:spPr>
        <p:txBody>
          <a:bodyPr wrap="square" lIns="0" tIns="0" rIns="0" bIns="0" rtlCol="0" anchor="ctr"/>
          <a:lstStyle/>
          <a:p>
            <a:pPr indent="0" marL="0">
              <a:buNone/>
            </a:pPr>
            <a:r>
              <a:rPr lang="en-US" sz="1150" dirty="0">
                <a:solidFill>
                  <a:srgbClr val="5B6270"/>
                </a:solidFill>
                <a:latin typeface="Calibri" pitchFamily="34" charset="0"/>
                <a:ea typeface="Calibri" pitchFamily="34" charset="-122"/>
                <a:cs typeface="Calibri" pitchFamily="34" charset="-120"/>
              </a:rPr>
              <a:t>Generates A2UI JSON</a:t>
            </a:r>
            <a:endParaRPr lang="en-US" sz="1150" dirty="0"/>
          </a:p>
        </p:txBody>
      </p:sp>
      <p:sp>
        <p:nvSpPr>
          <p:cNvPr id="9" name="Shape 7"/>
          <p:cNvSpPr/>
          <p:nvPr/>
        </p:nvSpPr>
        <p:spPr>
          <a:xfrm>
            <a:off x="3671316" y="2468880"/>
            <a:ext cx="201168" cy="201168"/>
          </a:xfrm>
          <a:prstGeom prst="downArrow">
            <a:avLst/>
          </a:prstGeom>
          <a:solidFill>
            <a:srgbClr val="5B6270"/>
          </a:solidFill>
          <a:ln/>
        </p:spPr>
      </p:sp>
      <p:sp>
        <p:nvSpPr>
          <p:cNvPr id="10" name="Shape 8"/>
          <p:cNvSpPr/>
          <p:nvPr/>
        </p:nvSpPr>
        <p:spPr>
          <a:xfrm>
            <a:off x="502920" y="2761488"/>
            <a:ext cx="6537960" cy="777240"/>
          </a:xfrm>
          <a:prstGeom prst="roundRect">
            <a:avLst>
              <a:gd name="adj" fmla="val 7059"/>
            </a:avLst>
          </a:prstGeom>
          <a:solidFill>
            <a:srgbClr val="F2F3F8"/>
          </a:solidFill>
          <a:ln w="15875">
            <a:solidFill>
              <a:srgbClr val="1E2761"/>
            </a:solidFill>
            <a:prstDash val="solid"/>
          </a:ln>
        </p:spPr>
      </p:sp>
      <p:sp>
        <p:nvSpPr>
          <p:cNvPr id="11" name="Text 9"/>
          <p:cNvSpPr/>
          <p:nvPr/>
        </p:nvSpPr>
        <p:spPr>
          <a:xfrm>
            <a:off x="548640" y="2761488"/>
            <a:ext cx="6446520" cy="777240"/>
          </a:xfrm>
          <a:prstGeom prst="rect">
            <a:avLst/>
          </a:prstGeom>
          <a:noFill/>
          <a:ln/>
        </p:spPr>
        <p:txBody>
          <a:bodyPr wrap="square" lIns="0" tIns="0" rIns="0" bIns="0" rtlCol="0" anchor="ctr"/>
          <a:lstStyle/>
          <a:p>
            <a:pPr algn="ctr" indent="0" marL="0">
              <a:buNone/>
            </a:pPr>
            <a:endParaRPr lang="en-US" sz="1250" dirty="0"/>
          </a:p>
        </p:txBody>
      </p:sp>
      <p:sp>
        <p:nvSpPr>
          <p:cNvPr id="12" name="Text 10"/>
          <p:cNvSpPr/>
          <p:nvPr/>
        </p:nvSpPr>
        <p:spPr>
          <a:xfrm>
            <a:off x="685800" y="2852928"/>
            <a:ext cx="617220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Transport</a:t>
            </a:r>
            <a:endParaRPr lang="en-US" sz="1500" dirty="0"/>
          </a:p>
        </p:txBody>
      </p:sp>
      <p:sp>
        <p:nvSpPr>
          <p:cNvPr id="13" name="Text 11"/>
          <p:cNvSpPr/>
          <p:nvPr/>
        </p:nvSpPr>
        <p:spPr>
          <a:xfrm>
            <a:off x="685800" y="3172968"/>
            <a:ext cx="6172200" cy="320040"/>
          </a:xfrm>
          <a:prstGeom prst="rect">
            <a:avLst/>
          </a:prstGeom>
          <a:noFill/>
          <a:ln/>
        </p:spPr>
        <p:txBody>
          <a:bodyPr wrap="square" lIns="0" tIns="0" rIns="0" bIns="0" rtlCol="0" anchor="ctr"/>
          <a:lstStyle/>
          <a:p>
            <a:pPr indent="0" marL="0">
              <a:buNone/>
            </a:pPr>
            <a:r>
              <a:rPr lang="en-US" sz="1150" dirty="0">
                <a:solidFill>
                  <a:srgbClr val="5B6270"/>
                </a:solidFill>
                <a:latin typeface="Calibri" pitchFamily="34" charset="0"/>
                <a:ea typeface="Calibri" pitchFamily="34" charset="-122"/>
                <a:cs typeface="Calibri" pitchFamily="34" charset="-120"/>
              </a:rPr>
              <a:t>A2A / AG-UI / REST / WS</a:t>
            </a:r>
            <a:endParaRPr lang="en-US" sz="1150" dirty="0"/>
          </a:p>
        </p:txBody>
      </p:sp>
      <p:sp>
        <p:nvSpPr>
          <p:cNvPr id="14" name="Shape 12"/>
          <p:cNvSpPr/>
          <p:nvPr/>
        </p:nvSpPr>
        <p:spPr>
          <a:xfrm>
            <a:off x="3671316" y="3538728"/>
            <a:ext cx="201168" cy="201168"/>
          </a:xfrm>
          <a:prstGeom prst="downArrow">
            <a:avLst/>
          </a:prstGeom>
          <a:solidFill>
            <a:srgbClr val="5B6270"/>
          </a:solidFill>
          <a:ln/>
        </p:spPr>
      </p:sp>
      <p:sp>
        <p:nvSpPr>
          <p:cNvPr id="15" name="Shape 13"/>
          <p:cNvSpPr/>
          <p:nvPr/>
        </p:nvSpPr>
        <p:spPr>
          <a:xfrm>
            <a:off x="502920" y="3831336"/>
            <a:ext cx="6537960" cy="777240"/>
          </a:xfrm>
          <a:prstGeom prst="roundRect">
            <a:avLst>
              <a:gd name="adj" fmla="val 7059"/>
            </a:avLst>
          </a:prstGeom>
          <a:solidFill>
            <a:srgbClr val="F2F3F8"/>
          </a:solidFill>
          <a:ln w="15875">
            <a:solidFill>
              <a:srgbClr val="1E2761"/>
            </a:solidFill>
            <a:prstDash val="solid"/>
          </a:ln>
        </p:spPr>
      </p:sp>
      <p:sp>
        <p:nvSpPr>
          <p:cNvPr id="16" name="Text 14"/>
          <p:cNvSpPr/>
          <p:nvPr/>
        </p:nvSpPr>
        <p:spPr>
          <a:xfrm>
            <a:off x="548640" y="3831336"/>
            <a:ext cx="6446520" cy="777240"/>
          </a:xfrm>
          <a:prstGeom prst="rect">
            <a:avLst/>
          </a:prstGeom>
          <a:noFill/>
          <a:ln/>
        </p:spPr>
        <p:txBody>
          <a:bodyPr wrap="square" lIns="0" tIns="0" rIns="0" bIns="0" rtlCol="0" anchor="ctr"/>
          <a:lstStyle/>
          <a:p>
            <a:pPr algn="ctr" indent="0" marL="0">
              <a:buNone/>
            </a:pPr>
            <a:endParaRPr lang="en-US" sz="1250" dirty="0"/>
          </a:p>
        </p:txBody>
      </p:sp>
      <p:sp>
        <p:nvSpPr>
          <p:cNvPr id="17" name="Text 15"/>
          <p:cNvSpPr/>
          <p:nvPr/>
        </p:nvSpPr>
        <p:spPr>
          <a:xfrm>
            <a:off x="685800" y="3922776"/>
            <a:ext cx="617220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A2UI Renderer</a:t>
            </a:r>
            <a:endParaRPr lang="en-US" sz="1500" dirty="0"/>
          </a:p>
        </p:txBody>
      </p:sp>
      <p:sp>
        <p:nvSpPr>
          <p:cNvPr id="18" name="Text 16"/>
          <p:cNvSpPr/>
          <p:nvPr/>
        </p:nvSpPr>
        <p:spPr>
          <a:xfrm>
            <a:off x="685800" y="4242816"/>
            <a:ext cx="6172200" cy="320040"/>
          </a:xfrm>
          <a:prstGeom prst="rect">
            <a:avLst/>
          </a:prstGeom>
          <a:noFill/>
          <a:ln/>
        </p:spPr>
        <p:txBody>
          <a:bodyPr wrap="square" lIns="0" tIns="0" rIns="0" bIns="0" rtlCol="0" anchor="ctr"/>
          <a:lstStyle/>
          <a:p>
            <a:pPr indent="0" marL="0">
              <a:buNone/>
            </a:pPr>
            <a:r>
              <a:rPr lang="en-US" sz="1150" dirty="0">
                <a:solidFill>
                  <a:srgbClr val="5B6270"/>
                </a:solidFill>
                <a:latin typeface="Calibri" pitchFamily="34" charset="0"/>
                <a:ea typeface="Calibri" pitchFamily="34" charset="-122"/>
                <a:cs typeface="Calibri" pitchFamily="34" charset="-120"/>
              </a:rPr>
              <a:t>Message Parser ・ Data Model ・ Component Mapping</a:t>
            </a:r>
            <a:endParaRPr lang="en-US" sz="1150" dirty="0"/>
          </a:p>
        </p:txBody>
      </p:sp>
      <p:sp>
        <p:nvSpPr>
          <p:cNvPr id="19" name="Shape 17"/>
          <p:cNvSpPr/>
          <p:nvPr/>
        </p:nvSpPr>
        <p:spPr>
          <a:xfrm>
            <a:off x="3671316" y="4608576"/>
            <a:ext cx="201168" cy="201168"/>
          </a:xfrm>
          <a:prstGeom prst="downArrow">
            <a:avLst/>
          </a:prstGeom>
          <a:solidFill>
            <a:srgbClr val="5B6270"/>
          </a:solidFill>
          <a:ln/>
        </p:spPr>
      </p:sp>
      <p:sp>
        <p:nvSpPr>
          <p:cNvPr id="20" name="Shape 18"/>
          <p:cNvSpPr/>
          <p:nvPr/>
        </p:nvSpPr>
        <p:spPr>
          <a:xfrm>
            <a:off x="502920" y="4901184"/>
            <a:ext cx="6537960" cy="777240"/>
          </a:xfrm>
          <a:prstGeom prst="roundRect">
            <a:avLst>
              <a:gd name="adj" fmla="val 7059"/>
            </a:avLst>
          </a:prstGeom>
          <a:solidFill>
            <a:srgbClr val="E7EAF6"/>
          </a:solidFill>
          <a:ln w="15875">
            <a:solidFill>
              <a:srgbClr val="1E2761"/>
            </a:solidFill>
            <a:prstDash val="solid"/>
          </a:ln>
        </p:spPr>
      </p:sp>
      <p:sp>
        <p:nvSpPr>
          <p:cNvPr id="21" name="Text 19"/>
          <p:cNvSpPr/>
          <p:nvPr/>
        </p:nvSpPr>
        <p:spPr>
          <a:xfrm>
            <a:off x="548640" y="4901184"/>
            <a:ext cx="6446520" cy="777240"/>
          </a:xfrm>
          <a:prstGeom prst="rect">
            <a:avLst/>
          </a:prstGeom>
          <a:noFill/>
          <a:ln/>
        </p:spPr>
        <p:txBody>
          <a:bodyPr wrap="square" lIns="0" tIns="0" rIns="0" bIns="0" rtlCol="0" anchor="ctr"/>
          <a:lstStyle/>
          <a:p>
            <a:pPr algn="ctr" indent="0" marL="0">
              <a:buNone/>
            </a:pPr>
            <a:endParaRPr lang="en-US" sz="1250" dirty="0"/>
          </a:p>
        </p:txBody>
      </p:sp>
      <p:sp>
        <p:nvSpPr>
          <p:cNvPr id="22" name="Text 20"/>
          <p:cNvSpPr/>
          <p:nvPr/>
        </p:nvSpPr>
        <p:spPr>
          <a:xfrm>
            <a:off x="685800" y="4992624"/>
            <a:ext cx="617220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Native UI</a:t>
            </a:r>
            <a:endParaRPr lang="en-US" sz="1500" dirty="0"/>
          </a:p>
        </p:txBody>
      </p:sp>
      <p:sp>
        <p:nvSpPr>
          <p:cNvPr id="23" name="Text 21"/>
          <p:cNvSpPr/>
          <p:nvPr/>
        </p:nvSpPr>
        <p:spPr>
          <a:xfrm>
            <a:off x="685800" y="5312664"/>
            <a:ext cx="6172200" cy="320040"/>
          </a:xfrm>
          <a:prstGeom prst="rect">
            <a:avLst/>
          </a:prstGeom>
          <a:noFill/>
          <a:ln/>
        </p:spPr>
        <p:txBody>
          <a:bodyPr wrap="square" lIns="0" tIns="0" rIns="0" bIns="0" rtlCol="0" anchor="ctr"/>
          <a:lstStyle/>
          <a:p>
            <a:pPr indent="0" marL="0">
              <a:buNone/>
            </a:pPr>
            <a:r>
              <a:rPr lang="en-US" sz="1150" dirty="0">
                <a:solidFill>
                  <a:srgbClr val="5B6270"/>
                </a:solidFill>
                <a:latin typeface="Calibri" pitchFamily="34" charset="0"/>
                <a:ea typeface="Calibri" pitchFamily="34" charset="-122"/>
                <a:cs typeface="Calibri" pitchFamily="34" charset="-120"/>
              </a:rPr>
              <a:t>React / Angular / Flutter</a:t>
            </a:r>
            <a:endParaRPr lang="en-US" sz="1150" dirty="0"/>
          </a:p>
        </p:txBody>
      </p:sp>
      <p:sp>
        <p:nvSpPr>
          <p:cNvPr id="24" name="Shape 22"/>
          <p:cNvSpPr/>
          <p:nvPr/>
        </p:nvSpPr>
        <p:spPr>
          <a:xfrm>
            <a:off x="7360920" y="1691640"/>
            <a:ext cx="4297680" cy="4160520"/>
          </a:xfrm>
          <a:prstGeom prst="roundRect">
            <a:avLst>
              <a:gd name="adj" fmla="val 1758"/>
            </a:avLst>
          </a:prstGeom>
          <a:solidFill>
            <a:srgbClr val="DCEFF0"/>
          </a:solidFill>
          <a:ln/>
          <a:effectLst>
            <a:outerShdw sx="100000" sy="100000" kx="0" ky="0" algn="bl" rotWithShape="0" blurRad="76200" dist="25400" dir="5400000">
              <a:srgbClr val="44536B">
                <a:alpha val="18000"/>
              </a:srgbClr>
            </a:outerShdw>
          </a:effectLst>
        </p:spPr>
      </p:sp>
      <p:sp>
        <p:nvSpPr>
          <p:cNvPr id="25" name="Text 23"/>
          <p:cNvSpPr/>
          <p:nvPr/>
        </p:nvSpPr>
        <p:spPr>
          <a:xfrm>
            <a:off x="7562088" y="1856232"/>
            <a:ext cx="389534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ポイント</a:t>
            </a:r>
            <a:endParaRPr lang="en-US" sz="1400" dirty="0"/>
          </a:p>
        </p:txBody>
      </p:sp>
      <p:sp>
        <p:nvSpPr>
          <p:cNvPr id="26" name="Text 24"/>
          <p:cNvSpPr/>
          <p:nvPr/>
        </p:nvSpPr>
        <p:spPr>
          <a:xfrm>
            <a:off x="7562088" y="2221992"/>
            <a:ext cx="3895344" cy="3493008"/>
          </a:xfrm>
          <a:prstGeom prst="rect">
            <a:avLst/>
          </a:prstGeom>
          <a:noFill/>
          <a:ln/>
        </p:spPr>
        <p:txBody>
          <a:bodyPr wrap="square" lIns="0" tIns="0" rIns="0" bIns="0" rtlCol="0" anchor="t"/>
          <a:lstStyle/>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A2UI自体は Transport ではなく、</a:t>
            </a:r>
            <a:endParaRPr lang="en-US" sz="1250" dirty="0"/>
          </a:p>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「何を表示するか」を定義する</a:t>
            </a:r>
            <a:endParaRPr lang="en-US" sz="1250" dirty="0"/>
          </a:p>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UI payload / format である。</a:t>
            </a:r>
            <a:endParaRPr lang="en-US" sz="1250" dirty="0"/>
          </a:p>
          <a:p>
            <a:pPr indent="0" marL="0">
              <a:lnSpc>
                <a:spcPct val="115000"/>
              </a:lnSpc>
              <a:buNone/>
            </a:pPr>
            <a:endParaRPr lang="en-US" sz="1250" dirty="0"/>
          </a:p>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Transport（配送方法）は</a:t>
            </a:r>
            <a:endParaRPr lang="en-US" sz="1250" dirty="0"/>
          </a:p>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A2A・AG-UI・REST・WebSocket 等</a:t>
            </a:r>
            <a:endParaRPr lang="en-US" sz="1250" dirty="0"/>
          </a:p>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から選択可能で、A2UIは</a:t>
            </a:r>
            <a:endParaRPr lang="en-US" sz="1250" dirty="0"/>
          </a:p>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Transport Agnostic な設計。</a:t>
            </a:r>
            <a:endParaRPr lang="en-US" sz="1250" dirty="0"/>
          </a:p>
        </p:txBody>
      </p:sp>
      <p:sp>
        <p:nvSpPr>
          <p:cNvPr id="27" name="Text 25"/>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Core Concepts</a:t>
            </a:r>
            <a:endParaRPr lang="en-US" sz="2800" dirty="0"/>
          </a:p>
        </p:txBody>
      </p:sp>
      <p:sp>
        <p:nvSpPr>
          <p:cNvPr id="5" name="Shape 3"/>
          <p:cNvSpPr/>
          <p:nvPr/>
        </p:nvSpPr>
        <p:spPr>
          <a:xfrm>
            <a:off x="502920" y="1645920"/>
            <a:ext cx="3611880" cy="1481328"/>
          </a:xfrm>
          <a:prstGeom prst="roundRect">
            <a:avLst>
              <a:gd name="adj" fmla="val 4938"/>
            </a:avLst>
          </a:prstGeom>
          <a:solidFill>
            <a:srgbClr val="F5F6FA"/>
          </a:solidFill>
          <a:ln w="12700">
            <a:solidFill>
              <a:srgbClr val="E7EAF6"/>
            </a:solidFill>
            <a:prstDash val="solid"/>
          </a:ln>
        </p:spPr>
      </p:sp>
      <p:sp>
        <p:nvSpPr>
          <p:cNvPr id="6" name="Shape 4"/>
          <p:cNvSpPr/>
          <p:nvPr/>
        </p:nvSpPr>
        <p:spPr>
          <a:xfrm>
            <a:off x="640080" y="1783080"/>
            <a:ext cx="384048" cy="384048"/>
          </a:xfrm>
          <a:prstGeom prst="ellipse">
            <a:avLst/>
          </a:prstGeom>
          <a:solidFill>
            <a:srgbClr val="1E2761"/>
          </a:solidFill>
          <a:ln/>
        </p:spPr>
      </p:sp>
      <p:sp>
        <p:nvSpPr>
          <p:cNvPr id="7" name="Text 5"/>
          <p:cNvSpPr/>
          <p:nvPr/>
        </p:nvSpPr>
        <p:spPr>
          <a:xfrm>
            <a:off x="64008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43000" y="1773936"/>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Surface</a:t>
            </a:r>
            <a:endParaRPr lang="en-US" sz="1350" dirty="0"/>
          </a:p>
        </p:txBody>
      </p:sp>
      <p:sp>
        <p:nvSpPr>
          <p:cNvPr id="9" name="Text 7"/>
          <p:cNvSpPr/>
          <p:nvPr/>
        </p:nvSpPr>
        <p:spPr>
          <a:xfrm>
            <a:off x="704088" y="2176272"/>
            <a:ext cx="3227832" cy="841248"/>
          </a:xfrm>
          <a:prstGeom prst="rect">
            <a:avLst/>
          </a:prstGeom>
          <a:noFill/>
          <a:ln/>
        </p:spPr>
        <p:txBody>
          <a:bodyPr wrap="square" lIns="0" tIns="0" rIns="0" bIns="0"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UIを描画する領域。main / sidebar / dialog / modal 等を表現。</a:t>
            </a:r>
            <a:endParaRPr lang="en-US" sz="1050" dirty="0"/>
          </a:p>
        </p:txBody>
      </p:sp>
      <p:sp>
        <p:nvSpPr>
          <p:cNvPr id="10" name="Shape 8"/>
          <p:cNvSpPr/>
          <p:nvPr/>
        </p:nvSpPr>
        <p:spPr>
          <a:xfrm>
            <a:off x="4251960" y="1645920"/>
            <a:ext cx="3611880" cy="1481328"/>
          </a:xfrm>
          <a:prstGeom prst="roundRect">
            <a:avLst>
              <a:gd name="adj" fmla="val 4938"/>
            </a:avLst>
          </a:prstGeom>
          <a:solidFill>
            <a:srgbClr val="F5F6FA"/>
          </a:solidFill>
          <a:ln w="12700">
            <a:solidFill>
              <a:srgbClr val="E7EAF6"/>
            </a:solidFill>
            <a:prstDash val="solid"/>
          </a:ln>
        </p:spPr>
      </p:sp>
      <p:sp>
        <p:nvSpPr>
          <p:cNvPr id="11" name="Shape 9"/>
          <p:cNvSpPr/>
          <p:nvPr/>
        </p:nvSpPr>
        <p:spPr>
          <a:xfrm>
            <a:off x="4389120" y="1783080"/>
            <a:ext cx="384048" cy="384048"/>
          </a:xfrm>
          <a:prstGeom prst="ellipse">
            <a:avLst/>
          </a:prstGeom>
          <a:solidFill>
            <a:srgbClr val="1E2761"/>
          </a:solidFill>
          <a:ln/>
        </p:spPr>
      </p:sp>
      <p:sp>
        <p:nvSpPr>
          <p:cNvPr id="12" name="Text 10"/>
          <p:cNvSpPr/>
          <p:nvPr/>
        </p:nvSpPr>
        <p:spPr>
          <a:xfrm>
            <a:off x="438912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892040" y="1773936"/>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Components &amp; Structure</a:t>
            </a:r>
            <a:endParaRPr lang="en-US" sz="1350" dirty="0"/>
          </a:p>
        </p:txBody>
      </p:sp>
      <p:sp>
        <p:nvSpPr>
          <p:cNvPr id="14" name="Text 12"/>
          <p:cNvSpPr/>
          <p:nvPr/>
        </p:nvSpPr>
        <p:spPr>
          <a:xfrm>
            <a:off x="4453128" y="2176272"/>
            <a:ext cx="3227832" cy="841248"/>
          </a:xfrm>
          <a:prstGeom prst="rect">
            <a:avLst/>
          </a:prstGeom>
          <a:noFill/>
          <a:ln/>
        </p:spPr>
        <p:txBody>
          <a:bodyPr wrap="square" lIns="0" tIns="0" rIns="0" bIns="0"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ID参照によるフラットなComponent Treeで表現。LLMがIncrementalに生成しやすい形式。</a:t>
            </a:r>
            <a:endParaRPr lang="en-US" sz="1050" dirty="0"/>
          </a:p>
        </p:txBody>
      </p:sp>
      <p:sp>
        <p:nvSpPr>
          <p:cNvPr id="15" name="Shape 13"/>
          <p:cNvSpPr/>
          <p:nvPr/>
        </p:nvSpPr>
        <p:spPr>
          <a:xfrm>
            <a:off x="8001000" y="1645920"/>
            <a:ext cx="3611880" cy="1481328"/>
          </a:xfrm>
          <a:prstGeom prst="roundRect">
            <a:avLst>
              <a:gd name="adj" fmla="val 4938"/>
            </a:avLst>
          </a:prstGeom>
          <a:solidFill>
            <a:srgbClr val="F5F6FA"/>
          </a:solidFill>
          <a:ln w="12700">
            <a:solidFill>
              <a:srgbClr val="E7EAF6"/>
            </a:solidFill>
            <a:prstDash val="solid"/>
          </a:ln>
        </p:spPr>
      </p:sp>
      <p:sp>
        <p:nvSpPr>
          <p:cNvPr id="16" name="Shape 14"/>
          <p:cNvSpPr/>
          <p:nvPr/>
        </p:nvSpPr>
        <p:spPr>
          <a:xfrm>
            <a:off x="8138160" y="1783080"/>
            <a:ext cx="384048" cy="384048"/>
          </a:xfrm>
          <a:prstGeom prst="ellipse">
            <a:avLst/>
          </a:prstGeom>
          <a:solidFill>
            <a:srgbClr val="1E2761"/>
          </a:solidFill>
          <a:ln/>
        </p:spPr>
      </p:sp>
      <p:sp>
        <p:nvSpPr>
          <p:cNvPr id="17" name="Text 15"/>
          <p:cNvSpPr/>
          <p:nvPr/>
        </p:nvSpPr>
        <p:spPr>
          <a:xfrm>
            <a:off x="813816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641080" y="1773936"/>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Data Binding</a:t>
            </a:r>
            <a:endParaRPr lang="en-US" sz="1350" dirty="0"/>
          </a:p>
        </p:txBody>
      </p:sp>
      <p:sp>
        <p:nvSpPr>
          <p:cNvPr id="19" name="Text 17"/>
          <p:cNvSpPr/>
          <p:nvPr/>
        </p:nvSpPr>
        <p:spPr>
          <a:xfrm>
            <a:off x="8202168" y="2176272"/>
            <a:ext cx="3227832" cy="841248"/>
          </a:xfrm>
          <a:prstGeom prst="rect">
            <a:avLst/>
          </a:prstGeom>
          <a:noFill/>
          <a:ln/>
        </p:spPr>
        <p:txBody>
          <a:bodyPr wrap="square" lIns="0" tIns="0" rIns="0" bIns="0"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ComponentとData ModelをJSON Pointerで接続。値のみの更新でReactiveなUIを実現。</a:t>
            </a:r>
            <a:endParaRPr lang="en-US" sz="1050" dirty="0"/>
          </a:p>
        </p:txBody>
      </p:sp>
      <p:sp>
        <p:nvSpPr>
          <p:cNvPr id="20" name="Shape 18"/>
          <p:cNvSpPr/>
          <p:nvPr/>
        </p:nvSpPr>
        <p:spPr>
          <a:xfrm>
            <a:off x="502920" y="3291840"/>
            <a:ext cx="3611880" cy="1481328"/>
          </a:xfrm>
          <a:prstGeom prst="roundRect">
            <a:avLst>
              <a:gd name="adj" fmla="val 4938"/>
            </a:avLst>
          </a:prstGeom>
          <a:solidFill>
            <a:srgbClr val="F5F6FA"/>
          </a:solidFill>
          <a:ln w="12700">
            <a:solidFill>
              <a:srgbClr val="E7EAF6"/>
            </a:solidFill>
            <a:prstDash val="solid"/>
          </a:ln>
        </p:spPr>
      </p:sp>
      <p:sp>
        <p:nvSpPr>
          <p:cNvPr id="21" name="Shape 19"/>
          <p:cNvSpPr/>
          <p:nvPr/>
        </p:nvSpPr>
        <p:spPr>
          <a:xfrm>
            <a:off x="640080" y="3429000"/>
            <a:ext cx="384048" cy="384048"/>
          </a:xfrm>
          <a:prstGeom prst="ellipse">
            <a:avLst/>
          </a:prstGeom>
          <a:solidFill>
            <a:srgbClr val="1E2761"/>
          </a:solidFill>
          <a:ln/>
        </p:spPr>
      </p:sp>
      <p:sp>
        <p:nvSpPr>
          <p:cNvPr id="22" name="Text 20"/>
          <p:cNvSpPr/>
          <p:nvPr/>
        </p:nvSpPr>
        <p:spPr>
          <a:xfrm>
            <a:off x="640080" y="3429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143000" y="3419856"/>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Catalog</a:t>
            </a:r>
            <a:endParaRPr lang="en-US" sz="1350" dirty="0"/>
          </a:p>
        </p:txBody>
      </p:sp>
      <p:sp>
        <p:nvSpPr>
          <p:cNvPr id="24" name="Text 22"/>
          <p:cNvSpPr/>
          <p:nvPr/>
        </p:nvSpPr>
        <p:spPr>
          <a:xfrm>
            <a:off x="704088" y="3822192"/>
            <a:ext cx="3227832" cy="841248"/>
          </a:xfrm>
          <a:prstGeom prst="rect">
            <a:avLst/>
          </a:prstGeom>
          <a:noFill/>
          <a:ln/>
        </p:spPr>
        <p:txBody>
          <a:bodyPr wrap="square" lIns="0" tIns="0" rIns="0" bIns="0"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Agentが使用してよいUI Componentの一覧（Allowlist）。Design System統合・Schema Validationに寄与。</a:t>
            </a:r>
            <a:endParaRPr lang="en-US" sz="1050" dirty="0"/>
          </a:p>
        </p:txBody>
      </p:sp>
      <p:sp>
        <p:nvSpPr>
          <p:cNvPr id="25" name="Shape 23"/>
          <p:cNvSpPr/>
          <p:nvPr/>
        </p:nvSpPr>
        <p:spPr>
          <a:xfrm>
            <a:off x="4251960" y="3291840"/>
            <a:ext cx="3611880" cy="1481328"/>
          </a:xfrm>
          <a:prstGeom prst="roundRect">
            <a:avLst>
              <a:gd name="adj" fmla="val 4938"/>
            </a:avLst>
          </a:prstGeom>
          <a:solidFill>
            <a:srgbClr val="F5F6FA"/>
          </a:solidFill>
          <a:ln w="12700">
            <a:solidFill>
              <a:srgbClr val="E7EAF6"/>
            </a:solidFill>
            <a:prstDash val="solid"/>
          </a:ln>
        </p:spPr>
      </p:sp>
      <p:sp>
        <p:nvSpPr>
          <p:cNvPr id="26" name="Shape 24"/>
          <p:cNvSpPr/>
          <p:nvPr/>
        </p:nvSpPr>
        <p:spPr>
          <a:xfrm>
            <a:off x="4389120" y="3429000"/>
            <a:ext cx="384048" cy="384048"/>
          </a:xfrm>
          <a:prstGeom prst="ellipse">
            <a:avLst/>
          </a:prstGeom>
          <a:solidFill>
            <a:srgbClr val="1E2761"/>
          </a:solidFill>
          <a:ln/>
        </p:spPr>
      </p:sp>
      <p:sp>
        <p:nvSpPr>
          <p:cNvPr id="27" name="Text 25"/>
          <p:cNvSpPr/>
          <p:nvPr/>
        </p:nvSpPr>
        <p:spPr>
          <a:xfrm>
            <a:off x="4389120" y="3429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4892040" y="3419856"/>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Transports</a:t>
            </a:r>
            <a:endParaRPr lang="en-US" sz="1350" dirty="0"/>
          </a:p>
        </p:txBody>
      </p:sp>
      <p:sp>
        <p:nvSpPr>
          <p:cNvPr id="29" name="Text 27"/>
          <p:cNvSpPr/>
          <p:nvPr/>
        </p:nvSpPr>
        <p:spPr>
          <a:xfrm>
            <a:off x="4453128" y="3822192"/>
            <a:ext cx="3227832" cy="841248"/>
          </a:xfrm>
          <a:prstGeom prst="rect">
            <a:avLst/>
          </a:prstGeom>
          <a:noFill/>
          <a:ln/>
        </p:spPr>
        <p:txBody>
          <a:bodyPr wrap="square" lIns="0" tIns="0" rIns="0" bIns="0"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Transport Agnostic。A2A・AG-UI・REST・WebSocket・SSE・MCP等と連携可能。</a:t>
            </a:r>
            <a:endParaRPr lang="en-US" sz="1050" dirty="0"/>
          </a:p>
        </p:txBody>
      </p:sp>
      <p:sp>
        <p:nvSpPr>
          <p:cNvPr id="30" name="Shape 28"/>
          <p:cNvSpPr/>
          <p:nvPr/>
        </p:nvSpPr>
        <p:spPr>
          <a:xfrm>
            <a:off x="8001000" y="3291840"/>
            <a:ext cx="3611880" cy="1481328"/>
          </a:xfrm>
          <a:prstGeom prst="roundRect">
            <a:avLst>
              <a:gd name="adj" fmla="val 4938"/>
            </a:avLst>
          </a:prstGeom>
          <a:solidFill>
            <a:srgbClr val="F5F6FA"/>
          </a:solidFill>
          <a:ln w="12700">
            <a:solidFill>
              <a:srgbClr val="E7EAF6"/>
            </a:solidFill>
            <a:prstDash val="solid"/>
          </a:ln>
        </p:spPr>
      </p:sp>
      <p:sp>
        <p:nvSpPr>
          <p:cNvPr id="31" name="Shape 29"/>
          <p:cNvSpPr/>
          <p:nvPr/>
        </p:nvSpPr>
        <p:spPr>
          <a:xfrm>
            <a:off x="8138160" y="3429000"/>
            <a:ext cx="384048" cy="384048"/>
          </a:xfrm>
          <a:prstGeom prst="ellipse">
            <a:avLst/>
          </a:prstGeom>
          <a:solidFill>
            <a:srgbClr val="1E2761"/>
          </a:solidFill>
          <a:ln/>
        </p:spPr>
      </p:sp>
      <p:sp>
        <p:nvSpPr>
          <p:cNvPr id="32" name="Text 30"/>
          <p:cNvSpPr/>
          <p:nvPr/>
        </p:nvSpPr>
        <p:spPr>
          <a:xfrm>
            <a:off x="8138160" y="3429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8641080" y="3419856"/>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Actions</a:t>
            </a:r>
            <a:endParaRPr lang="en-US" sz="1350" dirty="0"/>
          </a:p>
        </p:txBody>
      </p:sp>
      <p:sp>
        <p:nvSpPr>
          <p:cNvPr id="34" name="Text 32"/>
          <p:cNvSpPr/>
          <p:nvPr/>
        </p:nvSpPr>
        <p:spPr>
          <a:xfrm>
            <a:off x="8202168" y="3822192"/>
            <a:ext cx="3227832" cy="841248"/>
          </a:xfrm>
          <a:prstGeom prst="rect">
            <a:avLst/>
          </a:prstGeom>
          <a:noFill/>
          <a:ln/>
        </p:spPr>
        <p:txBody>
          <a:bodyPr wrap="square" lIns="0" tIns="0" rIns="0" bIns="0" rtlCol="0" anchor="ctr"/>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UI上の操作をAgentに返す。Agentはこれを受けてTool実行や次のUI生成、Data Model更新を行う。</a:t>
            </a:r>
            <a:endParaRPr lang="en-US" sz="1050" dirty="0"/>
          </a:p>
        </p:txBody>
      </p:sp>
      <p:sp>
        <p:nvSpPr>
          <p:cNvPr id="35" name="Text 33"/>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公式サイト・SDK・Renderer</a:t>
            </a:r>
            <a:endParaRPr lang="en-US" sz="2800" dirty="0"/>
          </a:p>
        </p:txBody>
      </p:sp>
      <p:sp>
        <p:nvSpPr>
          <p:cNvPr id="5" name="Text 3"/>
          <p:cNvSpPr/>
          <p:nvPr/>
        </p:nvSpPr>
        <p:spPr>
          <a:xfrm>
            <a:off x="502920" y="1600200"/>
            <a:ext cx="5486400"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代表的な Message（v0.9系）</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5486400" cy="914400"/>
        </p:xfrm>
        <a:graphic>
          <a:graphicData uri="http://schemas.openxmlformats.org/drawingml/2006/table">
            <a:tbl>
              <a:tblPr/>
              <a:tblGrid>
                <a:gridCol w="2743200"/>
                <a:gridCol w="27432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Message</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役割</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E2761"/>
                    </a:solidFill>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createSurface</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Surfaceを生成</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updateComponents</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Component追加・更新</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updateDataModel</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State更新</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deleteSurface</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Surface削除</a:t>
                      </a:r>
                      <a:endParaRPr lang="en-US" sz="11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bl>
          </a:graphicData>
        </a:graphic>
      </p:graphicFrame>
      <p:sp>
        <p:nvSpPr>
          <p:cNvPr id="7" name="Text 4"/>
          <p:cNvSpPr/>
          <p:nvPr/>
        </p:nvSpPr>
        <p:spPr>
          <a:xfrm>
            <a:off x="502920" y="3977640"/>
            <a:ext cx="5486400" cy="457200"/>
          </a:xfrm>
          <a:prstGeom prst="rect">
            <a:avLst/>
          </a:prstGeom>
          <a:noFill/>
          <a:ln/>
        </p:spPr>
        <p:txBody>
          <a:bodyPr wrap="square" lIns="0" tIns="0" rIns="0" bIns="0" rtlCol="0" anchor="ctr"/>
          <a:lstStyle/>
          <a:p>
            <a:pPr indent="0" marL="0">
              <a:buNone/>
            </a:pPr>
            <a:r>
              <a:rPr lang="en-US" sz="1050" i="1" dirty="0">
                <a:solidFill>
                  <a:srgbClr val="5B6270"/>
                </a:solidFill>
                <a:latin typeface="Calibri" pitchFamily="34" charset="0"/>
                <a:ea typeface="Calibri" pitchFamily="34" charset="-122"/>
                <a:cs typeface="Calibri" pitchFamily="34" charset="-120"/>
              </a:rPr>
              <a:t>v1.0 Candidateでは actionResponse など Client/Server間RPCの強化が進行中。</a:t>
            </a:r>
            <a:endParaRPr lang="en-US" sz="1050" dirty="0"/>
          </a:p>
        </p:txBody>
      </p:sp>
      <p:sp>
        <p:nvSpPr>
          <p:cNvPr id="8" name="Text 5"/>
          <p:cNvSpPr/>
          <p:nvPr/>
        </p:nvSpPr>
        <p:spPr>
          <a:xfrm>
            <a:off x="6355080" y="1600200"/>
            <a:ext cx="5486400"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Renderer 対応状況（v0.9.1）</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355080" y="1965960"/>
          <a:ext cx="5349240" cy="914400"/>
        </p:xfrm>
        <a:graphic>
          <a:graphicData uri="http://schemas.openxmlformats.org/drawingml/2006/table">
            <a:tbl>
              <a:tblPr/>
              <a:tblGrid>
                <a:gridCol w="2011680"/>
                <a:gridCol w="2240280"/>
                <a:gridCol w="10972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Renderer</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015C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015C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状態</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015C66"/>
                    </a:solidFill>
                  </a:tcPr>
                </a:tc>
              </a:tr>
              <a:tr h="384048">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React</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Web</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Stable</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Lit</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Web</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Stable</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Angular</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Web</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Stable</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Flutter GenUI</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Mobile/Desktop/Web</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Stable</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bl>
          </a:graphicData>
        </a:graphic>
      </p:graphicFrame>
      <p:sp>
        <p:nvSpPr>
          <p:cNvPr id="10" name="Text 6"/>
          <p:cNvSpPr/>
          <p:nvPr/>
        </p:nvSpPr>
        <p:spPr>
          <a:xfrm>
            <a:off x="6355080" y="3977640"/>
            <a:ext cx="5486400" cy="365760"/>
          </a:xfrm>
          <a:prstGeom prst="rect">
            <a:avLst/>
          </a:prstGeom>
          <a:noFill/>
          <a:ln/>
        </p:spPr>
        <p:txBody>
          <a:bodyPr wrap="square" lIns="0" tIns="0" rIns="0" bIns="0" rtlCol="0" anchor="ctr"/>
          <a:lstStyle/>
          <a:p>
            <a:pPr indent="0" marL="0">
              <a:buNone/>
            </a:pPr>
            <a:r>
              <a:rPr lang="en-US" sz="1050" i="1" dirty="0">
                <a:solidFill>
                  <a:srgbClr val="5B6270"/>
                </a:solidFill>
                <a:latin typeface="Calibri" pitchFamily="34" charset="0"/>
                <a:ea typeface="Calibri" pitchFamily="34" charset="-122"/>
                <a:cs typeface="Calibri" pitchFamily="34" charset="-120"/>
              </a:rPr>
              <a:t>※ SwiftUI / Jetpack Compose 等はRoadmap上で展開予定。</a:t>
            </a:r>
            <a:endParaRPr lang="en-US" sz="1050" dirty="0"/>
          </a:p>
        </p:txBody>
      </p:sp>
      <p:sp>
        <p:nvSpPr>
          <p:cNvPr id="11" name="Shape 7"/>
          <p:cNvSpPr/>
          <p:nvPr/>
        </p:nvSpPr>
        <p:spPr>
          <a:xfrm>
            <a:off x="502920" y="4526280"/>
            <a:ext cx="11155680" cy="1691640"/>
          </a:xfrm>
          <a:prstGeom prst="roundRect">
            <a:avLst>
              <a:gd name="adj" fmla="val 4324"/>
            </a:avLst>
          </a:prstGeom>
          <a:solidFill>
            <a:srgbClr val="E7EAF6"/>
          </a:solidFill>
          <a:ln/>
          <a:effectLst>
            <a:outerShdw sx="100000" sy="100000" kx="0" ky="0" algn="bl" rotWithShape="0" blurRad="76200" dist="25400" dir="5400000">
              <a:srgbClr val="44536B">
                <a:alpha val="18000"/>
              </a:srgbClr>
            </a:outerShdw>
          </a:effectLst>
        </p:spPr>
      </p:sp>
      <p:sp>
        <p:nvSpPr>
          <p:cNvPr id="12" name="Text 8"/>
          <p:cNvSpPr/>
          <p:nvPr/>
        </p:nvSpPr>
        <p:spPr>
          <a:xfrm>
            <a:off x="704088" y="4690872"/>
            <a:ext cx="1075334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Python SDK：a2ui-agent-sdk</a:t>
            </a:r>
            <a:endParaRPr lang="en-US" sz="1400" dirty="0"/>
          </a:p>
        </p:txBody>
      </p:sp>
      <p:sp>
        <p:nvSpPr>
          <p:cNvPr id="13" name="Text 9"/>
          <p:cNvSpPr/>
          <p:nvPr/>
        </p:nvSpPr>
        <p:spPr>
          <a:xfrm>
            <a:off x="704088" y="5056632"/>
            <a:ext cx="10753344" cy="1024128"/>
          </a:xfrm>
          <a:prstGeom prst="rect">
            <a:avLst/>
          </a:prstGeom>
          <a:noFill/>
          <a:ln/>
        </p:spPr>
        <p:txBody>
          <a:bodyPr wrap="square" lIns="0" tIns="0" rIns="0" bIns="0" rtlCol="0" anchor="t"/>
          <a:lstStyle/>
          <a:p>
            <a:pPr indent="0" marL="0">
              <a:lnSpc>
                <a:spcPct val="115000"/>
              </a:lnSpc>
              <a:buNone/>
            </a:pPr>
            <a:r>
              <a:rPr lang="en-US" sz="1200" dirty="0">
                <a:solidFill>
                  <a:srgbClr val="1A1A2E"/>
                </a:solidFill>
                <a:latin typeface="Calibri" pitchFamily="34" charset="0"/>
                <a:ea typeface="Calibri" pitchFamily="34" charset="-122"/>
                <a:cs typeface="Calibri" pitchFamily="34" charset="-120"/>
              </a:rPr>
              <a:t>pip install a2ui-agent-sdk</a:t>
            </a:r>
            <a:endParaRPr lang="en-US" sz="1200" dirty="0"/>
          </a:p>
          <a:p>
            <a:pPr indent="0" marL="0">
              <a:lnSpc>
                <a:spcPct val="115000"/>
              </a:lnSpc>
              <a:buNone/>
            </a:pPr>
            <a:endParaRPr lang="en-US" sz="1200" dirty="0"/>
          </a:p>
          <a:p>
            <a:pPr indent="0" marL="0">
              <a:lnSpc>
                <a:spcPct val="115000"/>
              </a:lnSpc>
              <a:buNone/>
            </a:pPr>
            <a:r>
              <a:rPr lang="en-US" sz="1200" dirty="0">
                <a:solidFill>
                  <a:srgbClr val="1A1A2E"/>
                </a:solidFill>
                <a:latin typeface="Calibri" pitchFamily="34" charset="0"/>
                <a:ea typeface="Calibri" pitchFamily="34" charset="-122"/>
                <a:cs typeface="Calibri" pitchFamily="34" charset="-120"/>
              </a:rPr>
              <a:t>主な用途：A2UI Schema管理／Catalog管理／Schema Validation／LLM Prompt生成／A2UI JSON検証。</a:t>
            </a:r>
            <a:endParaRPr lang="en-US" sz="1200" dirty="0"/>
          </a:p>
          <a:p>
            <a:pPr indent="0" marL="0">
              <a:lnSpc>
                <a:spcPct val="115000"/>
              </a:lnSpc>
              <a:buNone/>
            </a:pPr>
            <a:r>
              <a:rPr lang="en-US" sz="1200" dirty="0">
                <a:solidFill>
                  <a:srgbClr val="1A1A2E"/>
                </a:solidFill>
                <a:latin typeface="Calibri" pitchFamily="34" charset="0"/>
                <a:ea typeface="Calibri" pitchFamily="34" charset="-122"/>
                <a:cs typeface="Calibri" pitchFamily="34" charset="-120"/>
              </a:rPr>
              <a:t>処理イメージ： User Intent → LLM → A2UI JSON → Schema Validation → Client</a:t>
            </a:r>
            <a:endParaRPr lang="en-US" sz="1200" dirty="0"/>
          </a:p>
        </p:txBody>
      </p:sp>
      <p:sp>
        <p:nvSpPr>
          <p:cNvPr id="14" name="Text 10"/>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A2UI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のメリット・注意点</a:t>
            </a:r>
            <a:endParaRPr lang="en-US" sz="2800" dirty="0"/>
          </a:p>
        </p:txBody>
      </p:sp>
      <p:sp>
        <p:nvSpPr>
          <p:cNvPr id="5" name="Shape 3"/>
          <p:cNvSpPr/>
          <p:nvPr/>
        </p:nvSpPr>
        <p:spPr>
          <a:xfrm>
            <a:off x="502920" y="1691640"/>
            <a:ext cx="5394960" cy="4480560"/>
          </a:xfrm>
          <a:prstGeom prst="roundRect">
            <a:avLst>
              <a:gd name="adj" fmla="val 1633"/>
            </a:avLst>
          </a:prstGeom>
          <a:solidFill>
            <a:srgbClr val="E7EAF6"/>
          </a:solidFill>
          <a:ln/>
          <a:effectLst>
            <a:outerShdw sx="100000" sy="100000" kx="0" ky="0" algn="bl" rotWithShape="0" blurRad="76200" dist="25400" dir="5400000">
              <a:srgbClr val="44536B">
                <a:alpha val="18000"/>
              </a:srgbClr>
            </a:outerShdw>
          </a:effectLst>
        </p:spPr>
      </p:sp>
      <p:sp>
        <p:nvSpPr>
          <p:cNvPr id="6" name="Text 4"/>
          <p:cNvSpPr/>
          <p:nvPr/>
        </p:nvSpPr>
        <p:spPr>
          <a:xfrm>
            <a:off x="704088" y="1856232"/>
            <a:ext cx="499262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メリット</a:t>
            </a:r>
            <a:endParaRPr lang="en-US" sz="1400" dirty="0"/>
          </a:p>
        </p:txBody>
      </p:sp>
      <p:sp>
        <p:nvSpPr>
          <p:cNvPr id="7" name="Text 5"/>
          <p:cNvSpPr/>
          <p:nvPr/>
        </p:nvSpPr>
        <p:spPr>
          <a:xfrm>
            <a:off x="704088" y="2221992"/>
            <a:ext cx="4992624" cy="3813048"/>
          </a:xfrm>
          <a:prstGeom prst="rect">
            <a:avLst/>
          </a:prstGeom>
          <a:noFill/>
          <a:ln/>
        </p:spPr>
        <p:txBody>
          <a:bodyPr wrap="square" lIns="0" tIns="0" rIns="0" bIns="0" rtlCol="0" anchor="t"/>
          <a:lstStyle/>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1. Declarativeで安全性を高めやすい</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2. Design Systemと統合しやすい</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3. Cross Platform（Web/Mobile/Desktop）</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4. LLM Friendly（Incremental生成に適する）</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5. Progressive Rendering</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6. AgentをFrontend Frameworkから疎結合化しやすい</a:t>
            </a:r>
            <a:endParaRPr lang="en-US" sz="1300" dirty="0"/>
          </a:p>
        </p:txBody>
      </p:sp>
      <p:sp>
        <p:nvSpPr>
          <p:cNvPr id="8" name="Shape 6"/>
          <p:cNvSpPr/>
          <p:nvPr/>
        </p:nvSpPr>
        <p:spPr>
          <a:xfrm>
            <a:off x="6172200" y="1691640"/>
            <a:ext cx="5394960" cy="4480560"/>
          </a:xfrm>
          <a:prstGeom prst="roundRect">
            <a:avLst>
              <a:gd name="adj" fmla="val 1633"/>
            </a:avLst>
          </a:prstGeom>
          <a:solidFill>
            <a:srgbClr val="FBEFE9"/>
          </a:solidFill>
          <a:ln/>
          <a:effectLst>
            <a:outerShdw sx="100000" sy="100000" kx="0" ky="0" algn="bl" rotWithShape="0" blurRad="76200" dist="25400" dir="5400000">
              <a:srgbClr val="44536B">
                <a:alpha val="18000"/>
              </a:srgbClr>
            </a:outerShdw>
          </a:effectLst>
        </p:spPr>
      </p:sp>
      <p:sp>
        <p:nvSpPr>
          <p:cNvPr id="9" name="Text 7"/>
          <p:cNvSpPr/>
          <p:nvPr/>
        </p:nvSpPr>
        <p:spPr>
          <a:xfrm>
            <a:off x="6373368" y="1856232"/>
            <a:ext cx="4992624" cy="320040"/>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注意点</a:t>
            </a:r>
            <a:endParaRPr lang="en-US" sz="1400" dirty="0"/>
          </a:p>
        </p:txBody>
      </p:sp>
      <p:sp>
        <p:nvSpPr>
          <p:cNvPr id="10" name="Text 8"/>
          <p:cNvSpPr/>
          <p:nvPr/>
        </p:nvSpPr>
        <p:spPr>
          <a:xfrm>
            <a:off x="6373368" y="2221992"/>
            <a:ext cx="4992624" cy="3813048"/>
          </a:xfrm>
          <a:prstGeom prst="rect">
            <a:avLst/>
          </a:prstGeom>
          <a:noFill/>
          <a:ln/>
        </p:spPr>
        <p:txBody>
          <a:bodyPr wrap="square" lIns="0" tIns="0" rIns="0" bIns="0" rtlCol="0" anchor="t"/>
          <a:lstStyle/>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・v1.0はまだ Candidate（策定途上）</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・Rendererの実装が必要</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・Catalog設計が必要</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・Complex UIではCustom Componentが必要になる</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・LLM Outputの Validation が必要</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・Full Web Applicationの代替にはならない</a:t>
            </a:r>
            <a:endParaRPr lang="en-US" sz="1300" dirty="0"/>
          </a:p>
        </p:txBody>
      </p:sp>
      <p:sp>
        <p:nvSpPr>
          <p:cNvPr id="11" name="Text 9"/>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028090"/>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AG-UI とは</a:t>
            </a:r>
            <a:endParaRPr lang="en-US" sz="2800" dirty="0"/>
          </a:p>
        </p:txBody>
      </p:sp>
      <p:sp>
        <p:nvSpPr>
          <p:cNvPr id="5" name="Text 3"/>
          <p:cNvSpPr/>
          <p:nvPr/>
        </p:nvSpPr>
        <p:spPr>
          <a:xfrm>
            <a:off x="502920" y="1554480"/>
            <a:ext cx="11155680" cy="822960"/>
          </a:xfrm>
          <a:prstGeom prst="rect">
            <a:avLst/>
          </a:prstGeom>
          <a:noFill/>
          <a:ln/>
        </p:spPr>
        <p:txBody>
          <a:bodyPr wrap="square" lIns="0" tIns="0" rIns="0" bIns="0" rtlCol="0" anchor="ctr"/>
          <a:lstStyle/>
          <a:p>
            <a:pPr indent="0" marL="0">
              <a:lnSpc>
                <a:spcPct val="125000"/>
              </a:lnSpc>
              <a:buNone/>
            </a:pPr>
            <a:r>
              <a:rPr lang="en-US" sz="1400" dirty="0">
                <a:solidFill>
                  <a:srgbClr val="1A1A2E"/>
                </a:solidFill>
                <a:latin typeface="Calibri" pitchFamily="34" charset="0"/>
                <a:ea typeface="Calibri" pitchFamily="34" charset="-122"/>
                <a:cs typeface="Calibri" pitchFamily="34" charset="-120"/>
              </a:rPr>
              <a:t>AI Agentとユーザー向けApplicationの接続を標準化する、Open / Lightweight / Event-based Protocol。Agentic Applicationにおいて、フロントエンドが知りたい情報はテキストだけではないという課題意識から生まれた。</a:t>
            </a:r>
            <a:endParaRPr lang="en-US" sz="1400" dirty="0"/>
          </a:p>
        </p:txBody>
      </p:sp>
      <p:sp>
        <p:nvSpPr>
          <p:cNvPr id="6" name="Text 4"/>
          <p:cNvSpPr/>
          <p:nvPr/>
        </p:nvSpPr>
        <p:spPr>
          <a:xfrm>
            <a:off x="502920" y="2514600"/>
            <a:ext cx="5029200" cy="320040"/>
          </a:xfrm>
          <a:prstGeom prst="rect">
            <a:avLst/>
          </a:prstGeom>
          <a:noFill/>
          <a:ln/>
        </p:spPr>
        <p:txBody>
          <a:bodyPr wrap="square" lIns="0" tIns="0" rIns="0" bIns="0"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フロントエンドが本当に知りたい情報</a:t>
            </a:r>
            <a:endParaRPr lang="en-US" sz="1350" dirty="0"/>
          </a:p>
        </p:txBody>
      </p:sp>
      <p:sp>
        <p:nvSpPr>
          <p:cNvPr id="7" name="Shape 5"/>
          <p:cNvSpPr/>
          <p:nvPr/>
        </p:nvSpPr>
        <p:spPr>
          <a:xfrm>
            <a:off x="502920" y="2907792"/>
            <a:ext cx="109728" cy="109728"/>
          </a:xfrm>
          <a:prstGeom prst="roundRect">
            <a:avLst/>
          </a:prstGeom>
          <a:solidFill>
            <a:srgbClr val="028090"/>
          </a:solidFill>
          <a:ln/>
        </p:spPr>
      </p:sp>
      <p:sp>
        <p:nvSpPr>
          <p:cNvPr id="8" name="Text 6"/>
          <p:cNvSpPr/>
          <p:nvPr/>
        </p:nvSpPr>
        <p:spPr>
          <a:xfrm>
            <a:off x="731520" y="2880360"/>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Agent started</a:t>
            </a:r>
            <a:endParaRPr lang="en-US" sz="1150" dirty="0"/>
          </a:p>
        </p:txBody>
      </p:sp>
      <p:sp>
        <p:nvSpPr>
          <p:cNvPr id="9" name="Shape 7"/>
          <p:cNvSpPr/>
          <p:nvPr/>
        </p:nvSpPr>
        <p:spPr>
          <a:xfrm>
            <a:off x="502920" y="3310128"/>
            <a:ext cx="109728" cy="109728"/>
          </a:xfrm>
          <a:prstGeom prst="roundRect">
            <a:avLst/>
          </a:prstGeom>
          <a:solidFill>
            <a:srgbClr val="028090"/>
          </a:solidFill>
          <a:ln/>
        </p:spPr>
      </p:sp>
      <p:sp>
        <p:nvSpPr>
          <p:cNvPr id="10" name="Text 8"/>
          <p:cNvSpPr/>
          <p:nvPr/>
        </p:nvSpPr>
        <p:spPr>
          <a:xfrm>
            <a:off x="731520" y="3282696"/>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Agent step started</a:t>
            </a:r>
            <a:endParaRPr lang="en-US" sz="1150" dirty="0"/>
          </a:p>
        </p:txBody>
      </p:sp>
      <p:sp>
        <p:nvSpPr>
          <p:cNvPr id="11" name="Shape 9"/>
          <p:cNvSpPr/>
          <p:nvPr/>
        </p:nvSpPr>
        <p:spPr>
          <a:xfrm>
            <a:off x="502920" y="3712464"/>
            <a:ext cx="109728" cy="109728"/>
          </a:xfrm>
          <a:prstGeom prst="roundRect">
            <a:avLst/>
          </a:prstGeom>
          <a:solidFill>
            <a:srgbClr val="028090"/>
          </a:solidFill>
          <a:ln/>
        </p:spPr>
      </p:sp>
      <p:sp>
        <p:nvSpPr>
          <p:cNvPr id="12" name="Text 10"/>
          <p:cNvSpPr/>
          <p:nvPr/>
        </p:nvSpPr>
        <p:spPr>
          <a:xfrm>
            <a:off x="731520" y="3685032"/>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Tool call started</a:t>
            </a:r>
            <a:endParaRPr lang="en-US" sz="1150" dirty="0"/>
          </a:p>
        </p:txBody>
      </p:sp>
      <p:sp>
        <p:nvSpPr>
          <p:cNvPr id="13" name="Shape 11"/>
          <p:cNvSpPr/>
          <p:nvPr/>
        </p:nvSpPr>
        <p:spPr>
          <a:xfrm>
            <a:off x="502920" y="4114800"/>
            <a:ext cx="109728" cy="109728"/>
          </a:xfrm>
          <a:prstGeom prst="roundRect">
            <a:avLst/>
          </a:prstGeom>
          <a:solidFill>
            <a:srgbClr val="028090"/>
          </a:solidFill>
          <a:ln/>
        </p:spPr>
      </p:sp>
      <p:sp>
        <p:nvSpPr>
          <p:cNvPr id="14" name="Text 12"/>
          <p:cNvSpPr/>
          <p:nvPr/>
        </p:nvSpPr>
        <p:spPr>
          <a:xfrm>
            <a:off x="731520" y="4087368"/>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Tool arguments</a:t>
            </a:r>
            <a:endParaRPr lang="en-US" sz="1150" dirty="0"/>
          </a:p>
        </p:txBody>
      </p:sp>
      <p:sp>
        <p:nvSpPr>
          <p:cNvPr id="15" name="Shape 13"/>
          <p:cNvSpPr/>
          <p:nvPr/>
        </p:nvSpPr>
        <p:spPr>
          <a:xfrm>
            <a:off x="3246120" y="2907792"/>
            <a:ext cx="109728" cy="109728"/>
          </a:xfrm>
          <a:prstGeom prst="roundRect">
            <a:avLst/>
          </a:prstGeom>
          <a:solidFill>
            <a:srgbClr val="028090"/>
          </a:solidFill>
          <a:ln/>
        </p:spPr>
      </p:sp>
      <p:sp>
        <p:nvSpPr>
          <p:cNvPr id="16" name="Text 14"/>
          <p:cNvSpPr/>
          <p:nvPr/>
        </p:nvSpPr>
        <p:spPr>
          <a:xfrm>
            <a:off x="3474720" y="2880360"/>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Tool result</a:t>
            </a:r>
            <a:endParaRPr lang="en-US" sz="1150" dirty="0"/>
          </a:p>
        </p:txBody>
      </p:sp>
      <p:sp>
        <p:nvSpPr>
          <p:cNvPr id="17" name="Shape 15"/>
          <p:cNvSpPr/>
          <p:nvPr/>
        </p:nvSpPr>
        <p:spPr>
          <a:xfrm>
            <a:off x="3246120" y="3310128"/>
            <a:ext cx="109728" cy="109728"/>
          </a:xfrm>
          <a:prstGeom prst="roundRect">
            <a:avLst/>
          </a:prstGeom>
          <a:solidFill>
            <a:srgbClr val="028090"/>
          </a:solidFill>
          <a:ln/>
        </p:spPr>
      </p:sp>
      <p:sp>
        <p:nvSpPr>
          <p:cNvPr id="18" name="Text 16"/>
          <p:cNvSpPr/>
          <p:nvPr/>
        </p:nvSpPr>
        <p:spPr>
          <a:xfrm>
            <a:off x="3474720" y="3282696"/>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State changed</a:t>
            </a:r>
            <a:endParaRPr lang="en-US" sz="1150" dirty="0"/>
          </a:p>
        </p:txBody>
      </p:sp>
      <p:sp>
        <p:nvSpPr>
          <p:cNvPr id="19" name="Shape 17"/>
          <p:cNvSpPr/>
          <p:nvPr/>
        </p:nvSpPr>
        <p:spPr>
          <a:xfrm>
            <a:off x="3246120" y="3712464"/>
            <a:ext cx="109728" cy="109728"/>
          </a:xfrm>
          <a:prstGeom prst="roundRect">
            <a:avLst/>
          </a:prstGeom>
          <a:solidFill>
            <a:srgbClr val="028090"/>
          </a:solidFill>
          <a:ln/>
        </p:spPr>
      </p:sp>
      <p:sp>
        <p:nvSpPr>
          <p:cNvPr id="20" name="Text 18"/>
          <p:cNvSpPr/>
          <p:nvPr/>
        </p:nvSpPr>
        <p:spPr>
          <a:xfrm>
            <a:off x="3474720" y="3685032"/>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Approval required</a:t>
            </a:r>
            <a:endParaRPr lang="en-US" sz="1150" dirty="0"/>
          </a:p>
        </p:txBody>
      </p:sp>
      <p:sp>
        <p:nvSpPr>
          <p:cNvPr id="21" name="Shape 19"/>
          <p:cNvSpPr/>
          <p:nvPr/>
        </p:nvSpPr>
        <p:spPr>
          <a:xfrm>
            <a:off x="3246120" y="4114800"/>
            <a:ext cx="109728" cy="109728"/>
          </a:xfrm>
          <a:prstGeom prst="roundRect">
            <a:avLst/>
          </a:prstGeom>
          <a:solidFill>
            <a:srgbClr val="028090"/>
          </a:solidFill>
          <a:ln/>
        </p:spPr>
      </p:sp>
      <p:sp>
        <p:nvSpPr>
          <p:cNvPr id="22" name="Text 20"/>
          <p:cNvSpPr/>
          <p:nvPr/>
        </p:nvSpPr>
        <p:spPr>
          <a:xfrm>
            <a:off x="3474720" y="4087368"/>
            <a:ext cx="2468880" cy="320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Agent finished</a:t>
            </a:r>
            <a:endParaRPr lang="en-US" sz="1150" dirty="0"/>
          </a:p>
        </p:txBody>
      </p:sp>
      <p:sp>
        <p:nvSpPr>
          <p:cNvPr id="23" name="Shape 21"/>
          <p:cNvSpPr/>
          <p:nvPr/>
        </p:nvSpPr>
        <p:spPr>
          <a:xfrm>
            <a:off x="6400800" y="2514600"/>
            <a:ext cx="5257800" cy="3657600"/>
          </a:xfrm>
          <a:prstGeom prst="roundRect">
            <a:avLst>
              <a:gd name="adj" fmla="val 2000"/>
            </a:avLst>
          </a:prstGeom>
          <a:solidFill>
            <a:srgbClr val="DCEFF0"/>
          </a:solidFill>
          <a:ln/>
          <a:effectLst>
            <a:outerShdw sx="100000" sy="100000" kx="0" ky="0" algn="bl" rotWithShape="0" blurRad="76200" dist="25400" dir="5400000">
              <a:srgbClr val="44536B">
                <a:alpha val="18000"/>
              </a:srgbClr>
            </a:outerShdw>
          </a:effectLst>
        </p:spPr>
      </p:sp>
      <p:sp>
        <p:nvSpPr>
          <p:cNvPr id="24" name="Text 22"/>
          <p:cNvSpPr/>
          <p:nvPr/>
        </p:nvSpPr>
        <p:spPr>
          <a:xfrm>
            <a:off x="6601968" y="2679192"/>
            <a:ext cx="485546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AG-UI のアプローチ</a:t>
            </a:r>
            <a:endParaRPr lang="en-US" sz="1400" dirty="0"/>
          </a:p>
        </p:txBody>
      </p:sp>
      <p:sp>
        <p:nvSpPr>
          <p:cNvPr id="25" name="Text 23"/>
          <p:cNvSpPr/>
          <p:nvPr/>
        </p:nvSpPr>
        <p:spPr>
          <a:xfrm>
            <a:off x="6601968" y="3044952"/>
            <a:ext cx="4855464" cy="2990088"/>
          </a:xfrm>
          <a:prstGeom prst="rect">
            <a:avLst/>
          </a:prstGeom>
          <a:noFill/>
          <a:ln/>
        </p:spPr>
        <p:txBody>
          <a:bodyPr wrap="square" lIns="0" tIns="0" rIns="0" bIns="0" rtlCol="0" anchor="t"/>
          <a:lstStyle/>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これらをすべて Typed Event として標準化する。</a:t>
            </a:r>
            <a:endParaRPr lang="en-US" sz="1300" dirty="0"/>
          </a:p>
          <a:p>
            <a:pPr indent="0" marL="0">
              <a:lnSpc>
                <a:spcPct val="115000"/>
              </a:lnSpc>
              <a:buNone/>
            </a:pPr>
            <a:endParaRPr lang="en-US" sz="1300" dirty="0"/>
          </a:p>
          <a:p>
            <a:pPr indent="0" marL="0">
              <a:lnSpc>
                <a:spcPct val="115000"/>
              </a:lnSpc>
              <a:buNone/>
            </a:pPr>
            <a:r>
              <a:rPr lang="en-US" sz="1300" dirty="0">
                <a:solidFill>
                  <a:srgbClr val="1A1A2E"/>
                </a:solidFill>
                <a:latin typeface="Calibri" pitchFamily="34" charset="0"/>
                <a:ea typeface="Calibri" pitchFamily="34" charset="-122"/>
                <a:cs typeface="Calibri" pitchFamily="34" charset="-120"/>
              </a:rPr>
              <a:t>Agentの結果を1レスポンスで返すのではなく、Event Streamとして流すことで、Frontendはリアルタイムに進捗・状態・Tool実行を把握できる。</a:t>
            </a:r>
            <a:endParaRPr lang="en-US" sz="1300" dirty="0"/>
          </a:p>
        </p:txBody>
      </p:sp>
      <p:sp>
        <p:nvSpPr>
          <p:cNvPr id="26" name="Text 24"/>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028090"/>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AG-UI Architecture</a:t>
            </a:r>
            <a:endParaRPr lang="en-US" sz="2800" dirty="0"/>
          </a:p>
        </p:txBody>
      </p:sp>
      <p:sp>
        <p:nvSpPr>
          <p:cNvPr id="5" name="Shape 3"/>
          <p:cNvSpPr/>
          <p:nvPr/>
        </p:nvSpPr>
        <p:spPr>
          <a:xfrm>
            <a:off x="1065276" y="1691640"/>
            <a:ext cx="6583680" cy="777240"/>
          </a:xfrm>
          <a:prstGeom prst="roundRect">
            <a:avLst>
              <a:gd name="adj" fmla="val 7059"/>
            </a:avLst>
          </a:prstGeom>
          <a:solidFill>
            <a:srgbClr val="F2F3F8"/>
          </a:solidFill>
          <a:ln w="15875">
            <a:solidFill>
              <a:srgbClr val="028090"/>
            </a:solidFill>
            <a:prstDash val="solid"/>
          </a:ln>
        </p:spPr>
      </p:sp>
      <p:sp>
        <p:nvSpPr>
          <p:cNvPr id="6" name="Text 4"/>
          <p:cNvSpPr/>
          <p:nvPr/>
        </p:nvSpPr>
        <p:spPr>
          <a:xfrm>
            <a:off x="1110996" y="1691640"/>
            <a:ext cx="6492240" cy="777240"/>
          </a:xfrm>
          <a:prstGeom prst="rect">
            <a:avLst/>
          </a:prstGeom>
          <a:noFill/>
          <a:ln/>
        </p:spPr>
        <p:txBody>
          <a:bodyPr wrap="square" lIns="0" tIns="0" rIns="0" bIns="0" rtlCol="0" anchor="ctr"/>
          <a:lstStyle/>
          <a:p>
            <a:pPr algn="ctr" indent="0" marL="0">
              <a:buNone/>
            </a:pPr>
            <a:endParaRPr lang="en-US" sz="1250" dirty="0"/>
          </a:p>
        </p:txBody>
      </p:sp>
      <p:sp>
        <p:nvSpPr>
          <p:cNvPr id="7" name="Text 5"/>
          <p:cNvSpPr/>
          <p:nvPr/>
        </p:nvSpPr>
        <p:spPr>
          <a:xfrm>
            <a:off x="1248156" y="1783080"/>
            <a:ext cx="621792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Frontend Application</a:t>
            </a:r>
            <a:endParaRPr lang="en-US" sz="1500" dirty="0"/>
          </a:p>
        </p:txBody>
      </p:sp>
      <p:sp>
        <p:nvSpPr>
          <p:cNvPr id="8" name="Text 6"/>
          <p:cNvSpPr/>
          <p:nvPr/>
        </p:nvSpPr>
        <p:spPr>
          <a:xfrm>
            <a:off x="1248156" y="2103120"/>
            <a:ext cx="6217920" cy="32004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React / Mobile / Terminal</a:t>
            </a:r>
            <a:endParaRPr lang="en-US" sz="1100" dirty="0"/>
          </a:p>
        </p:txBody>
      </p:sp>
      <p:sp>
        <p:nvSpPr>
          <p:cNvPr id="9" name="Shape 7"/>
          <p:cNvSpPr/>
          <p:nvPr/>
        </p:nvSpPr>
        <p:spPr>
          <a:xfrm>
            <a:off x="4256532" y="2468880"/>
            <a:ext cx="201168" cy="201168"/>
          </a:xfrm>
          <a:prstGeom prst="downArrow">
            <a:avLst/>
          </a:prstGeom>
          <a:solidFill>
            <a:srgbClr val="5B6270"/>
          </a:solidFill>
          <a:ln/>
        </p:spPr>
      </p:sp>
      <p:sp>
        <p:nvSpPr>
          <p:cNvPr id="10" name="Shape 8"/>
          <p:cNvSpPr/>
          <p:nvPr/>
        </p:nvSpPr>
        <p:spPr>
          <a:xfrm>
            <a:off x="1065276" y="2761488"/>
            <a:ext cx="6583680" cy="777240"/>
          </a:xfrm>
          <a:prstGeom prst="roundRect">
            <a:avLst>
              <a:gd name="adj" fmla="val 7059"/>
            </a:avLst>
          </a:prstGeom>
          <a:solidFill>
            <a:srgbClr val="DCEFF0"/>
          </a:solidFill>
          <a:ln w="15875">
            <a:solidFill>
              <a:srgbClr val="028090"/>
            </a:solidFill>
            <a:prstDash val="solid"/>
          </a:ln>
        </p:spPr>
      </p:sp>
      <p:sp>
        <p:nvSpPr>
          <p:cNvPr id="11" name="Text 9"/>
          <p:cNvSpPr/>
          <p:nvPr/>
        </p:nvSpPr>
        <p:spPr>
          <a:xfrm>
            <a:off x="1110996" y="2761488"/>
            <a:ext cx="6492240" cy="777240"/>
          </a:xfrm>
          <a:prstGeom prst="rect">
            <a:avLst/>
          </a:prstGeom>
          <a:noFill/>
          <a:ln/>
        </p:spPr>
        <p:txBody>
          <a:bodyPr wrap="square" lIns="0" tIns="0" rIns="0" bIns="0" rtlCol="0" anchor="ctr"/>
          <a:lstStyle/>
          <a:p>
            <a:pPr algn="ctr" indent="0" marL="0">
              <a:buNone/>
            </a:pPr>
            <a:endParaRPr lang="en-US" sz="1250" dirty="0"/>
          </a:p>
        </p:txBody>
      </p:sp>
      <p:sp>
        <p:nvSpPr>
          <p:cNvPr id="12" name="Text 10"/>
          <p:cNvSpPr/>
          <p:nvPr/>
        </p:nvSpPr>
        <p:spPr>
          <a:xfrm>
            <a:off x="1248156" y="2852928"/>
            <a:ext cx="621792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AG-UI Client</a:t>
            </a:r>
            <a:endParaRPr lang="en-US" sz="1500" dirty="0"/>
          </a:p>
        </p:txBody>
      </p:sp>
      <p:sp>
        <p:nvSpPr>
          <p:cNvPr id="13" name="Text 11"/>
          <p:cNvSpPr/>
          <p:nvPr/>
        </p:nvSpPr>
        <p:spPr>
          <a:xfrm>
            <a:off x="1248156" y="3172968"/>
            <a:ext cx="6217920" cy="32004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Event handling / State / Tool</a:t>
            </a:r>
            <a:endParaRPr lang="en-US" sz="1100" dirty="0"/>
          </a:p>
        </p:txBody>
      </p:sp>
      <p:sp>
        <p:nvSpPr>
          <p:cNvPr id="14" name="Shape 12"/>
          <p:cNvSpPr/>
          <p:nvPr/>
        </p:nvSpPr>
        <p:spPr>
          <a:xfrm>
            <a:off x="4256532" y="3538728"/>
            <a:ext cx="201168" cy="201168"/>
          </a:xfrm>
          <a:prstGeom prst="downArrow">
            <a:avLst/>
          </a:prstGeom>
          <a:solidFill>
            <a:srgbClr val="5B6270"/>
          </a:solidFill>
          <a:ln/>
        </p:spPr>
      </p:sp>
      <p:sp>
        <p:nvSpPr>
          <p:cNvPr id="15" name="Shape 13"/>
          <p:cNvSpPr/>
          <p:nvPr/>
        </p:nvSpPr>
        <p:spPr>
          <a:xfrm>
            <a:off x="1065276" y="3831336"/>
            <a:ext cx="6583680" cy="777240"/>
          </a:xfrm>
          <a:prstGeom prst="roundRect">
            <a:avLst>
              <a:gd name="adj" fmla="val 7059"/>
            </a:avLst>
          </a:prstGeom>
          <a:solidFill>
            <a:srgbClr val="F2F3F8"/>
          </a:solidFill>
          <a:ln w="15875">
            <a:solidFill>
              <a:srgbClr val="028090"/>
            </a:solidFill>
            <a:prstDash val="solid"/>
          </a:ln>
        </p:spPr>
      </p:sp>
      <p:sp>
        <p:nvSpPr>
          <p:cNvPr id="16" name="Text 14"/>
          <p:cNvSpPr/>
          <p:nvPr/>
        </p:nvSpPr>
        <p:spPr>
          <a:xfrm>
            <a:off x="1110996" y="3831336"/>
            <a:ext cx="6492240" cy="777240"/>
          </a:xfrm>
          <a:prstGeom prst="rect">
            <a:avLst/>
          </a:prstGeom>
          <a:noFill/>
          <a:ln/>
        </p:spPr>
        <p:txBody>
          <a:bodyPr wrap="square" lIns="0" tIns="0" rIns="0" bIns="0" rtlCol="0" anchor="ctr"/>
          <a:lstStyle/>
          <a:p>
            <a:pPr algn="ctr" indent="0" marL="0">
              <a:buNone/>
            </a:pPr>
            <a:endParaRPr lang="en-US" sz="1250" dirty="0"/>
          </a:p>
        </p:txBody>
      </p:sp>
      <p:sp>
        <p:nvSpPr>
          <p:cNvPr id="17" name="Text 15"/>
          <p:cNvSpPr/>
          <p:nvPr/>
        </p:nvSpPr>
        <p:spPr>
          <a:xfrm>
            <a:off x="1248156" y="3922776"/>
            <a:ext cx="621792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AG-UI Agent Endpoint</a:t>
            </a:r>
            <a:endParaRPr lang="en-US" sz="1500" dirty="0"/>
          </a:p>
        </p:txBody>
      </p:sp>
      <p:sp>
        <p:nvSpPr>
          <p:cNvPr id="18" name="Text 16"/>
          <p:cNvSpPr/>
          <p:nvPr/>
        </p:nvSpPr>
        <p:spPr>
          <a:xfrm>
            <a:off x="1248156" y="4242816"/>
            <a:ext cx="6217920" cy="32004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RunAgentInput / Event Stream　（SSE / HTTP / WS）</a:t>
            </a:r>
            <a:endParaRPr lang="en-US" sz="1100" dirty="0"/>
          </a:p>
        </p:txBody>
      </p:sp>
      <p:sp>
        <p:nvSpPr>
          <p:cNvPr id="19" name="Shape 17"/>
          <p:cNvSpPr/>
          <p:nvPr/>
        </p:nvSpPr>
        <p:spPr>
          <a:xfrm>
            <a:off x="4256532" y="4608576"/>
            <a:ext cx="201168" cy="201168"/>
          </a:xfrm>
          <a:prstGeom prst="downArrow">
            <a:avLst/>
          </a:prstGeom>
          <a:solidFill>
            <a:srgbClr val="5B6270"/>
          </a:solidFill>
          <a:ln/>
        </p:spPr>
      </p:sp>
      <p:sp>
        <p:nvSpPr>
          <p:cNvPr id="20" name="Shape 18"/>
          <p:cNvSpPr/>
          <p:nvPr/>
        </p:nvSpPr>
        <p:spPr>
          <a:xfrm>
            <a:off x="1065276" y="4901184"/>
            <a:ext cx="6583680" cy="777240"/>
          </a:xfrm>
          <a:prstGeom prst="roundRect">
            <a:avLst>
              <a:gd name="adj" fmla="val 7059"/>
            </a:avLst>
          </a:prstGeom>
          <a:solidFill>
            <a:srgbClr val="F2F3F8"/>
          </a:solidFill>
          <a:ln w="15875">
            <a:solidFill>
              <a:srgbClr val="028090"/>
            </a:solidFill>
            <a:prstDash val="solid"/>
          </a:ln>
        </p:spPr>
      </p:sp>
      <p:sp>
        <p:nvSpPr>
          <p:cNvPr id="21" name="Text 19"/>
          <p:cNvSpPr/>
          <p:nvPr/>
        </p:nvSpPr>
        <p:spPr>
          <a:xfrm>
            <a:off x="1110996" y="4901184"/>
            <a:ext cx="6492240" cy="777240"/>
          </a:xfrm>
          <a:prstGeom prst="rect">
            <a:avLst/>
          </a:prstGeom>
          <a:noFill/>
          <a:ln/>
        </p:spPr>
        <p:txBody>
          <a:bodyPr wrap="square" lIns="0" tIns="0" rIns="0" bIns="0" rtlCol="0" anchor="ctr"/>
          <a:lstStyle/>
          <a:p>
            <a:pPr algn="ctr" indent="0" marL="0">
              <a:buNone/>
            </a:pPr>
            <a:endParaRPr lang="en-US" sz="1250" dirty="0"/>
          </a:p>
        </p:txBody>
      </p:sp>
      <p:sp>
        <p:nvSpPr>
          <p:cNvPr id="22" name="Text 20"/>
          <p:cNvSpPr/>
          <p:nvPr/>
        </p:nvSpPr>
        <p:spPr>
          <a:xfrm>
            <a:off x="1248156" y="4992624"/>
            <a:ext cx="6217920" cy="32004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Agent Framework</a:t>
            </a:r>
            <a:endParaRPr lang="en-US" sz="1500" dirty="0"/>
          </a:p>
        </p:txBody>
      </p:sp>
      <p:sp>
        <p:nvSpPr>
          <p:cNvPr id="23" name="Text 21"/>
          <p:cNvSpPr/>
          <p:nvPr/>
        </p:nvSpPr>
        <p:spPr>
          <a:xfrm>
            <a:off x="1248156" y="5312664"/>
            <a:ext cx="6217920" cy="320040"/>
          </a:xfrm>
          <a:prstGeom prst="rect">
            <a:avLst/>
          </a:prstGeom>
          <a:noFill/>
          <a:ln/>
        </p:spPr>
        <p:txBody>
          <a:bodyPr wrap="square" lIns="0" tIns="0" rIns="0" bIns="0" rtlCol="0" anchor="ctr"/>
          <a:lstStyle/>
          <a:p>
            <a:pPr indent="0" marL="0">
              <a:buNone/>
            </a:pPr>
            <a:r>
              <a:rPr lang="en-US" sz="1100" dirty="0">
                <a:solidFill>
                  <a:srgbClr val="5B6270"/>
                </a:solidFill>
                <a:latin typeface="Calibri" pitchFamily="34" charset="0"/>
                <a:ea typeface="Calibri" pitchFamily="34" charset="-122"/>
                <a:cs typeface="Calibri" pitchFamily="34" charset="-120"/>
              </a:rPr>
              <a:t>LangGraph / ADK / Custom / etc.</a:t>
            </a:r>
            <a:endParaRPr lang="en-US" sz="1100" dirty="0"/>
          </a:p>
        </p:txBody>
      </p:sp>
      <p:sp>
        <p:nvSpPr>
          <p:cNvPr id="24" name="Shape 22"/>
          <p:cNvSpPr/>
          <p:nvPr/>
        </p:nvSpPr>
        <p:spPr>
          <a:xfrm>
            <a:off x="8732520" y="1691640"/>
            <a:ext cx="2926080" cy="4160520"/>
          </a:xfrm>
          <a:prstGeom prst="roundRect">
            <a:avLst>
              <a:gd name="adj" fmla="val 2500"/>
            </a:avLst>
          </a:prstGeom>
          <a:solidFill>
            <a:srgbClr val="DCEFF0"/>
          </a:solidFill>
          <a:ln/>
          <a:effectLst>
            <a:outerShdw sx="100000" sy="100000" kx="0" ky="0" algn="bl" rotWithShape="0" blurRad="76200" dist="25400" dir="5400000">
              <a:srgbClr val="44536B">
                <a:alpha val="18000"/>
              </a:srgbClr>
            </a:outerShdw>
          </a:effectLst>
        </p:spPr>
      </p:sp>
      <p:sp>
        <p:nvSpPr>
          <p:cNvPr id="25" name="Text 23"/>
          <p:cNvSpPr/>
          <p:nvPr/>
        </p:nvSpPr>
        <p:spPr>
          <a:xfrm>
            <a:off x="8933688" y="1856232"/>
            <a:ext cx="252374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設計思想</a:t>
            </a:r>
            <a:endParaRPr lang="en-US" sz="1400" dirty="0"/>
          </a:p>
        </p:txBody>
      </p:sp>
      <p:sp>
        <p:nvSpPr>
          <p:cNvPr id="26" name="Text 24"/>
          <p:cNvSpPr/>
          <p:nvPr/>
        </p:nvSpPr>
        <p:spPr>
          <a:xfrm>
            <a:off x="8933688" y="2221992"/>
            <a:ext cx="2523744" cy="3493008"/>
          </a:xfrm>
          <a:prstGeom prst="rect">
            <a:avLst/>
          </a:prstGeom>
          <a:noFill/>
          <a:ln/>
        </p:spPr>
        <p:txBody>
          <a:bodyPr wrap="square" lIns="0" tIns="0" rIns="0" bIns="0" rtlCol="0" anchor="t"/>
          <a:lstStyle/>
          <a:p>
            <a:pPr indent="0" marL="0">
              <a:lnSpc>
                <a:spcPct val="115000"/>
              </a:lnSpc>
              <a:buNone/>
            </a:pPr>
            <a:r>
              <a:rPr lang="en-US" sz="1100" dirty="0">
                <a:solidFill>
                  <a:srgbClr val="1A1A2E"/>
                </a:solidFill>
                <a:latin typeface="Calibri" pitchFamily="34" charset="0"/>
                <a:ea typeface="Calibri" pitchFamily="34" charset="-122"/>
                <a:cs typeface="Calibri" pitchFamily="34" charset="-120"/>
              </a:rPr>
              <a:t>AG-UIの中心はEvent Driven Architecture。</a:t>
            </a:r>
            <a:endParaRPr lang="en-US" sz="1100" dirty="0"/>
          </a:p>
          <a:p>
            <a:pPr indent="0" marL="0">
              <a:lnSpc>
                <a:spcPct val="115000"/>
              </a:lnSpc>
              <a:buNone/>
            </a:pPr>
            <a:endParaRPr lang="en-US" sz="1100" dirty="0"/>
          </a:p>
          <a:p>
            <a:pPr indent="0" marL="0">
              <a:lnSpc>
                <a:spcPct val="115000"/>
              </a:lnSpc>
              <a:buNone/>
            </a:pPr>
            <a:r>
              <a:rPr lang="en-US" sz="1100" dirty="0">
                <a:solidFill>
                  <a:srgbClr val="1A1A2E"/>
                </a:solidFill>
                <a:latin typeface="Calibri" pitchFamily="34" charset="0"/>
                <a:ea typeface="Calibri" pitchFamily="34" charset="-122"/>
                <a:cs typeface="Calibri" pitchFamily="34" charset="-120"/>
              </a:rPr>
              <a:t>Agentの結果を1レスポンスで返さずEvent Streamとして流す。</a:t>
            </a:r>
            <a:endParaRPr lang="en-US" sz="1100" dirty="0"/>
          </a:p>
          <a:p>
            <a:pPr indent="0" marL="0">
              <a:lnSpc>
                <a:spcPct val="115000"/>
              </a:lnSpc>
              <a:buNone/>
            </a:pPr>
            <a:endParaRPr lang="en-US" sz="1100" dirty="0"/>
          </a:p>
          <a:p>
            <a:pPr indent="0" marL="0">
              <a:lnSpc>
                <a:spcPct val="115000"/>
              </a:lnSpc>
              <a:buNone/>
            </a:pPr>
            <a:r>
              <a:rPr lang="en-US" sz="1100" dirty="0">
                <a:solidFill>
                  <a:srgbClr val="1A1A2E"/>
                </a:solidFill>
                <a:latin typeface="Calibri" pitchFamily="34" charset="0"/>
                <a:ea typeface="Calibri" pitchFamily="34" charset="-122"/>
                <a:cs typeface="Calibri" pitchFamily="34" charset="-120"/>
              </a:rPr>
              <a:t>Transport Agnosticで、HTTP/SSE、WebSocket、Webhook、Binary Transport等を利用可能。</a:t>
            </a:r>
            <a:endParaRPr lang="en-US" sz="1100" dirty="0"/>
          </a:p>
        </p:txBody>
      </p:sp>
      <p:sp>
        <p:nvSpPr>
          <p:cNvPr id="27" name="Text 25"/>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028090"/>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AG-UI Events</a:t>
            </a:r>
            <a:endParaRPr lang="en-US" sz="2800" dirty="0"/>
          </a:p>
        </p:txBody>
      </p:sp>
      <p:sp>
        <p:nvSpPr>
          <p:cNvPr id="5" name="Text 3"/>
          <p:cNvSpPr/>
          <p:nvPr/>
        </p:nvSpPr>
        <p:spPr>
          <a:xfrm>
            <a:off x="502920" y="1600200"/>
            <a:ext cx="4572000"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Event カテゴリ</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5303520" cy="914400"/>
        </p:xfrm>
        <a:graphic>
          <a:graphicData uri="http://schemas.openxmlformats.org/drawingml/2006/table">
            <a:tbl>
              <a:tblPr/>
              <a:tblGrid>
                <a:gridCol w="2103120"/>
                <a:gridCol w="320040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015C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内容</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015C66"/>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Lifecycle</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Agent Run</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Chat Streaming</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Tool Call</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Tool実行</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State</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State同期</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Activity</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進捗</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Reasoning</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Reasoning情報</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Special</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RAW / CUSTOM</a:t>
                      </a:r>
                      <a:endParaRPr lang="en-US" sz="11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bl>
          </a:graphicData>
        </a:graphic>
      </p:graphicFrame>
      <p:sp>
        <p:nvSpPr>
          <p:cNvPr id="7" name="Text 4"/>
          <p:cNvSpPr/>
          <p:nvPr/>
        </p:nvSpPr>
        <p:spPr>
          <a:xfrm>
            <a:off x="6172200" y="1600200"/>
            <a:ext cx="5486400"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典型的な Event の流れ</a:t>
            </a:r>
            <a:endParaRPr lang="en-US" sz="1400" dirty="0"/>
          </a:p>
        </p:txBody>
      </p:sp>
      <p:sp>
        <p:nvSpPr>
          <p:cNvPr id="8" name="Shape 5"/>
          <p:cNvSpPr/>
          <p:nvPr/>
        </p:nvSpPr>
        <p:spPr>
          <a:xfrm>
            <a:off x="6172200" y="1965960"/>
            <a:ext cx="5394960" cy="384048"/>
          </a:xfrm>
          <a:prstGeom prst="roundRect">
            <a:avLst>
              <a:gd name="adj" fmla="val 14286"/>
            </a:avLst>
          </a:prstGeom>
          <a:solidFill>
            <a:srgbClr val="DCEFF0"/>
          </a:solidFill>
          <a:ln w="12700">
            <a:solidFill>
              <a:srgbClr val="028090"/>
            </a:solidFill>
            <a:prstDash val="solid"/>
          </a:ln>
        </p:spPr>
      </p:sp>
      <p:sp>
        <p:nvSpPr>
          <p:cNvPr id="9" name="Text 6"/>
          <p:cNvSpPr/>
          <p:nvPr/>
        </p:nvSpPr>
        <p:spPr>
          <a:xfrm>
            <a:off x="6217920" y="1965960"/>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RUN_STARTED</a:t>
            </a:r>
            <a:endParaRPr lang="en-US" sz="1100" dirty="0"/>
          </a:p>
        </p:txBody>
      </p:sp>
      <p:sp>
        <p:nvSpPr>
          <p:cNvPr id="10" name="Shape 7"/>
          <p:cNvSpPr/>
          <p:nvPr/>
        </p:nvSpPr>
        <p:spPr>
          <a:xfrm>
            <a:off x="6172200" y="2404872"/>
            <a:ext cx="5394960" cy="384048"/>
          </a:xfrm>
          <a:prstGeom prst="roundRect">
            <a:avLst>
              <a:gd name="adj" fmla="val 14286"/>
            </a:avLst>
          </a:prstGeom>
          <a:solidFill>
            <a:srgbClr val="F2F3F8"/>
          </a:solidFill>
          <a:ln w="12700">
            <a:solidFill>
              <a:srgbClr val="028090"/>
            </a:solidFill>
            <a:prstDash val="solid"/>
          </a:ln>
        </p:spPr>
      </p:sp>
      <p:sp>
        <p:nvSpPr>
          <p:cNvPr id="11" name="Text 8"/>
          <p:cNvSpPr/>
          <p:nvPr/>
        </p:nvSpPr>
        <p:spPr>
          <a:xfrm>
            <a:off x="6217920" y="2404872"/>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TEXT_MESSAGE_START</a:t>
            </a:r>
            <a:endParaRPr lang="en-US" sz="1100" dirty="0"/>
          </a:p>
        </p:txBody>
      </p:sp>
      <p:sp>
        <p:nvSpPr>
          <p:cNvPr id="12" name="Shape 9"/>
          <p:cNvSpPr/>
          <p:nvPr/>
        </p:nvSpPr>
        <p:spPr>
          <a:xfrm>
            <a:off x="6172200" y="2843784"/>
            <a:ext cx="5394960" cy="384048"/>
          </a:xfrm>
          <a:prstGeom prst="roundRect">
            <a:avLst>
              <a:gd name="adj" fmla="val 14286"/>
            </a:avLst>
          </a:prstGeom>
          <a:solidFill>
            <a:srgbClr val="F2F3F8"/>
          </a:solidFill>
          <a:ln w="12700">
            <a:solidFill>
              <a:srgbClr val="028090"/>
            </a:solidFill>
            <a:prstDash val="solid"/>
          </a:ln>
        </p:spPr>
      </p:sp>
      <p:sp>
        <p:nvSpPr>
          <p:cNvPr id="13" name="Text 10"/>
          <p:cNvSpPr/>
          <p:nvPr/>
        </p:nvSpPr>
        <p:spPr>
          <a:xfrm>
            <a:off x="6217920" y="2843784"/>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TEXT_MESSAGE_CONTENT</a:t>
            </a:r>
            <a:endParaRPr lang="en-US" sz="1100" dirty="0"/>
          </a:p>
        </p:txBody>
      </p:sp>
      <p:sp>
        <p:nvSpPr>
          <p:cNvPr id="14" name="Shape 11"/>
          <p:cNvSpPr/>
          <p:nvPr/>
        </p:nvSpPr>
        <p:spPr>
          <a:xfrm>
            <a:off x="6172200" y="3282696"/>
            <a:ext cx="5394960" cy="384048"/>
          </a:xfrm>
          <a:prstGeom prst="roundRect">
            <a:avLst>
              <a:gd name="adj" fmla="val 14286"/>
            </a:avLst>
          </a:prstGeom>
          <a:solidFill>
            <a:srgbClr val="F2F3F8"/>
          </a:solidFill>
          <a:ln w="12700">
            <a:solidFill>
              <a:srgbClr val="028090"/>
            </a:solidFill>
            <a:prstDash val="solid"/>
          </a:ln>
        </p:spPr>
      </p:sp>
      <p:sp>
        <p:nvSpPr>
          <p:cNvPr id="15" name="Text 12"/>
          <p:cNvSpPr/>
          <p:nvPr/>
        </p:nvSpPr>
        <p:spPr>
          <a:xfrm>
            <a:off x="6217920" y="3282696"/>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TOOL_CALL_START</a:t>
            </a:r>
            <a:endParaRPr lang="en-US" sz="1100" dirty="0"/>
          </a:p>
        </p:txBody>
      </p:sp>
      <p:sp>
        <p:nvSpPr>
          <p:cNvPr id="16" name="Shape 13"/>
          <p:cNvSpPr/>
          <p:nvPr/>
        </p:nvSpPr>
        <p:spPr>
          <a:xfrm>
            <a:off x="6172200" y="3721608"/>
            <a:ext cx="5394960" cy="384048"/>
          </a:xfrm>
          <a:prstGeom prst="roundRect">
            <a:avLst>
              <a:gd name="adj" fmla="val 14286"/>
            </a:avLst>
          </a:prstGeom>
          <a:solidFill>
            <a:srgbClr val="F2F3F8"/>
          </a:solidFill>
          <a:ln w="12700">
            <a:solidFill>
              <a:srgbClr val="028090"/>
            </a:solidFill>
            <a:prstDash val="solid"/>
          </a:ln>
        </p:spPr>
      </p:sp>
      <p:sp>
        <p:nvSpPr>
          <p:cNvPr id="17" name="Text 14"/>
          <p:cNvSpPr/>
          <p:nvPr/>
        </p:nvSpPr>
        <p:spPr>
          <a:xfrm>
            <a:off x="6217920" y="3721608"/>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TOOL_CALL_ARGS</a:t>
            </a:r>
            <a:endParaRPr lang="en-US" sz="1100" dirty="0"/>
          </a:p>
        </p:txBody>
      </p:sp>
      <p:sp>
        <p:nvSpPr>
          <p:cNvPr id="18" name="Shape 15"/>
          <p:cNvSpPr/>
          <p:nvPr/>
        </p:nvSpPr>
        <p:spPr>
          <a:xfrm>
            <a:off x="6172200" y="4160520"/>
            <a:ext cx="5394960" cy="384048"/>
          </a:xfrm>
          <a:prstGeom prst="roundRect">
            <a:avLst>
              <a:gd name="adj" fmla="val 14286"/>
            </a:avLst>
          </a:prstGeom>
          <a:solidFill>
            <a:srgbClr val="F2F3F8"/>
          </a:solidFill>
          <a:ln w="12700">
            <a:solidFill>
              <a:srgbClr val="028090"/>
            </a:solidFill>
            <a:prstDash val="solid"/>
          </a:ln>
        </p:spPr>
      </p:sp>
      <p:sp>
        <p:nvSpPr>
          <p:cNvPr id="19" name="Text 16"/>
          <p:cNvSpPr/>
          <p:nvPr/>
        </p:nvSpPr>
        <p:spPr>
          <a:xfrm>
            <a:off x="6217920" y="4160520"/>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TOOL_CALL_END</a:t>
            </a:r>
            <a:endParaRPr lang="en-US" sz="1100" dirty="0"/>
          </a:p>
        </p:txBody>
      </p:sp>
      <p:sp>
        <p:nvSpPr>
          <p:cNvPr id="20" name="Shape 17"/>
          <p:cNvSpPr/>
          <p:nvPr/>
        </p:nvSpPr>
        <p:spPr>
          <a:xfrm>
            <a:off x="6172200" y="4599432"/>
            <a:ext cx="5394960" cy="384048"/>
          </a:xfrm>
          <a:prstGeom prst="roundRect">
            <a:avLst>
              <a:gd name="adj" fmla="val 14286"/>
            </a:avLst>
          </a:prstGeom>
          <a:solidFill>
            <a:srgbClr val="F2F3F8"/>
          </a:solidFill>
          <a:ln w="12700">
            <a:solidFill>
              <a:srgbClr val="028090"/>
            </a:solidFill>
            <a:prstDash val="solid"/>
          </a:ln>
        </p:spPr>
      </p:sp>
      <p:sp>
        <p:nvSpPr>
          <p:cNvPr id="21" name="Text 18"/>
          <p:cNvSpPr/>
          <p:nvPr/>
        </p:nvSpPr>
        <p:spPr>
          <a:xfrm>
            <a:off x="6217920" y="4599432"/>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TOOL_CALL_RESULT</a:t>
            </a:r>
            <a:endParaRPr lang="en-US" sz="1100" dirty="0"/>
          </a:p>
        </p:txBody>
      </p:sp>
      <p:sp>
        <p:nvSpPr>
          <p:cNvPr id="22" name="Shape 19"/>
          <p:cNvSpPr/>
          <p:nvPr/>
        </p:nvSpPr>
        <p:spPr>
          <a:xfrm>
            <a:off x="6172200" y="5038344"/>
            <a:ext cx="5394960" cy="384048"/>
          </a:xfrm>
          <a:prstGeom prst="roundRect">
            <a:avLst>
              <a:gd name="adj" fmla="val 14286"/>
            </a:avLst>
          </a:prstGeom>
          <a:solidFill>
            <a:srgbClr val="F2F3F8"/>
          </a:solidFill>
          <a:ln w="12700">
            <a:solidFill>
              <a:srgbClr val="028090"/>
            </a:solidFill>
            <a:prstDash val="solid"/>
          </a:ln>
        </p:spPr>
      </p:sp>
      <p:sp>
        <p:nvSpPr>
          <p:cNvPr id="23" name="Text 20"/>
          <p:cNvSpPr/>
          <p:nvPr/>
        </p:nvSpPr>
        <p:spPr>
          <a:xfrm>
            <a:off x="6217920" y="5038344"/>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TEXT_MESSAGE_END</a:t>
            </a:r>
            <a:endParaRPr lang="en-US" sz="1100" dirty="0"/>
          </a:p>
        </p:txBody>
      </p:sp>
      <p:sp>
        <p:nvSpPr>
          <p:cNvPr id="24" name="Shape 21"/>
          <p:cNvSpPr/>
          <p:nvPr/>
        </p:nvSpPr>
        <p:spPr>
          <a:xfrm>
            <a:off x="6172200" y="5477256"/>
            <a:ext cx="5394960" cy="384048"/>
          </a:xfrm>
          <a:prstGeom prst="roundRect">
            <a:avLst>
              <a:gd name="adj" fmla="val 14286"/>
            </a:avLst>
          </a:prstGeom>
          <a:solidFill>
            <a:srgbClr val="DCEFF0"/>
          </a:solidFill>
          <a:ln w="12700">
            <a:solidFill>
              <a:srgbClr val="028090"/>
            </a:solidFill>
            <a:prstDash val="solid"/>
          </a:ln>
        </p:spPr>
      </p:sp>
      <p:sp>
        <p:nvSpPr>
          <p:cNvPr id="25" name="Text 22"/>
          <p:cNvSpPr/>
          <p:nvPr/>
        </p:nvSpPr>
        <p:spPr>
          <a:xfrm>
            <a:off x="6217920" y="5477256"/>
            <a:ext cx="5303520" cy="384048"/>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RUN_FINISHED</a:t>
            </a:r>
            <a:endParaRPr lang="en-US" sz="1100" dirty="0"/>
          </a:p>
        </p:txBody>
      </p:sp>
      <p:sp>
        <p:nvSpPr>
          <p:cNvPr id="26" name="Text 23"/>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028090"/>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AG-UI State / Tool / Interrupt</a:t>
            </a:r>
            <a:endParaRPr lang="en-US" sz="2800" dirty="0"/>
          </a:p>
        </p:txBody>
      </p:sp>
      <p:sp>
        <p:nvSpPr>
          <p:cNvPr id="5" name="Shape 3"/>
          <p:cNvSpPr/>
          <p:nvPr/>
        </p:nvSpPr>
        <p:spPr>
          <a:xfrm>
            <a:off x="502920" y="1645920"/>
            <a:ext cx="3611880" cy="4206240"/>
          </a:xfrm>
          <a:prstGeom prst="roundRect">
            <a:avLst>
              <a:gd name="adj" fmla="val 2025"/>
            </a:avLst>
          </a:prstGeom>
          <a:solidFill>
            <a:srgbClr val="DCEFF0"/>
          </a:solidFill>
          <a:ln/>
          <a:effectLst>
            <a:outerShdw sx="100000" sy="100000" kx="0" ky="0" algn="bl" rotWithShape="0" blurRad="76200" dist="25400" dir="5400000">
              <a:srgbClr val="44536B">
                <a:alpha val="18000"/>
              </a:srgbClr>
            </a:outerShdw>
          </a:effectLst>
        </p:spPr>
      </p:sp>
      <p:sp>
        <p:nvSpPr>
          <p:cNvPr id="6" name="Text 4"/>
          <p:cNvSpPr/>
          <p:nvPr/>
        </p:nvSpPr>
        <p:spPr>
          <a:xfrm>
            <a:off x="704088" y="1810512"/>
            <a:ext cx="320954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State Management</a:t>
            </a:r>
            <a:endParaRPr lang="en-US" sz="1400" dirty="0"/>
          </a:p>
        </p:txBody>
      </p:sp>
      <p:sp>
        <p:nvSpPr>
          <p:cNvPr id="7" name="Text 5"/>
          <p:cNvSpPr/>
          <p:nvPr/>
        </p:nvSpPr>
        <p:spPr>
          <a:xfrm>
            <a:off x="704088" y="2176272"/>
            <a:ext cx="3209544" cy="353872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Frontend State &lt;-&gt; AG-UI &lt;-&gt; Agent State</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代表Event：</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STATE_SNAPSHOT</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STATE_DELTA</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DeltaはJSON Patchを利用でき、差分のみを効率よく同期できる。</a:t>
            </a:r>
            <a:endParaRPr lang="en-US" sz="1150" dirty="0"/>
          </a:p>
        </p:txBody>
      </p:sp>
      <p:sp>
        <p:nvSpPr>
          <p:cNvPr id="8" name="Shape 6"/>
          <p:cNvSpPr/>
          <p:nvPr/>
        </p:nvSpPr>
        <p:spPr>
          <a:xfrm>
            <a:off x="4297680" y="1645920"/>
            <a:ext cx="3611880" cy="4206240"/>
          </a:xfrm>
          <a:prstGeom prst="roundRect">
            <a:avLst>
              <a:gd name="adj" fmla="val 2025"/>
            </a:avLst>
          </a:prstGeom>
          <a:solidFill>
            <a:srgbClr val="DCEFF0"/>
          </a:solidFill>
          <a:ln/>
          <a:effectLst>
            <a:outerShdw sx="100000" sy="100000" kx="0" ky="0" algn="bl" rotWithShape="0" blurRad="76200" dist="25400" dir="5400000">
              <a:srgbClr val="44536B">
                <a:alpha val="18000"/>
              </a:srgbClr>
            </a:outerShdw>
          </a:effectLst>
        </p:spPr>
      </p:sp>
      <p:sp>
        <p:nvSpPr>
          <p:cNvPr id="9" name="Text 7"/>
          <p:cNvSpPr/>
          <p:nvPr/>
        </p:nvSpPr>
        <p:spPr>
          <a:xfrm>
            <a:off x="4498848" y="1810512"/>
            <a:ext cx="320954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Tools</a:t>
            </a:r>
            <a:endParaRPr lang="en-US" sz="1400" dirty="0"/>
          </a:p>
        </p:txBody>
      </p:sp>
      <p:sp>
        <p:nvSpPr>
          <p:cNvPr id="10" name="Text 8"/>
          <p:cNvSpPr/>
          <p:nvPr/>
        </p:nvSpPr>
        <p:spPr>
          <a:xfrm>
            <a:off x="4498848" y="2176272"/>
            <a:ext cx="3209544" cy="353872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Backend-defined ToolとFrontend-defined Toolの両方を扱える。</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例（Frontend-defined）：</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Agent → confirmDelete</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Frontend Dialog</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User Approve</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Agent へ返却</a:t>
            </a:r>
            <a:endParaRPr lang="en-US" sz="1150" dirty="0"/>
          </a:p>
        </p:txBody>
      </p:sp>
      <p:sp>
        <p:nvSpPr>
          <p:cNvPr id="11" name="Shape 9"/>
          <p:cNvSpPr/>
          <p:nvPr/>
        </p:nvSpPr>
        <p:spPr>
          <a:xfrm>
            <a:off x="8092440" y="1645920"/>
            <a:ext cx="3566160" cy="4206240"/>
          </a:xfrm>
          <a:prstGeom prst="roundRect">
            <a:avLst>
              <a:gd name="adj" fmla="val 2051"/>
            </a:avLst>
          </a:prstGeom>
          <a:solidFill>
            <a:srgbClr val="DCEFF0"/>
          </a:solidFill>
          <a:ln/>
          <a:effectLst>
            <a:outerShdw sx="100000" sy="100000" kx="0" ky="0" algn="bl" rotWithShape="0" blurRad="76200" dist="25400" dir="5400000">
              <a:srgbClr val="44536B">
                <a:alpha val="18000"/>
              </a:srgbClr>
            </a:outerShdw>
          </a:effectLst>
        </p:spPr>
      </p:sp>
      <p:sp>
        <p:nvSpPr>
          <p:cNvPr id="12" name="Text 10"/>
          <p:cNvSpPr/>
          <p:nvPr/>
        </p:nvSpPr>
        <p:spPr>
          <a:xfrm>
            <a:off x="8293608" y="1810512"/>
            <a:ext cx="316382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Interrupts</a:t>
            </a:r>
            <a:endParaRPr lang="en-US" sz="1400" dirty="0"/>
          </a:p>
        </p:txBody>
      </p:sp>
      <p:sp>
        <p:nvSpPr>
          <p:cNvPr id="13" name="Text 11"/>
          <p:cNvSpPr/>
          <p:nvPr/>
        </p:nvSpPr>
        <p:spPr>
          <a:xfrm>
            <a:off x="8293608" y="2176272"/>
            <a:ext cx="3163824" cy="353872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Human in the Loop 用の仕組み。</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Agent</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危険な操作を検出</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Interrupt</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Approve / Reject / Edit</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 Resume（再開）</a:t>
            </a:r>
            <a:endParaRPr lang="en-US" sz="1150" dirty="0"/>
          </a:p>
        </p:txBody>
      </p:sp>
      <p:sp>
        <p:nvSpPr>
          <p:cNvPr id="14" name="Text 12"/>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028090"/>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AG-UI</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AG-UI 公式サイト・SDK・Integration</a:t>
            </a:r>
            <a:endParaRPr lang="en-US" sz="2800" dirty="0"/>
          </a:p>
        </p:txBody>
      </p:sp>
      <p:sp>
        <p:nvSpPr>
          <p:cNvPr id="5" name="Shape 3"/>
          <p:cNvSpPr/>
          <p:nvPr/>
        </p:nvSpPr>
        <p:spPr>
          <a:xfrm>
            <a:off x="502920" y="1645920"/>
            <a:ext cx="5394960" cy="1965960"/>
          </a:xfrm>
          <a:prstGeom prst="roundRect">
            <a:avLst>
              <a:gd name="adj" fmla="val 3721"/>
            </a:avLst>
          </a:prstGeom>
          <a:solidFill>
            <a:srgbClr val="DCEFF0"/>
          </a:solidFill>
          <a:ln/>
          <a:effectLst>
            <a:outerShdw sx="100000" sy="100000" kx="0" ky="0" algn="bl" rotWithShape="0" blurRad="76200" dist="25400" dir="5400000">
              <a:srgbClr val="44536B">
                <a:alpha val="18000"/>
              </a:srgbClr>
            </a:outerShdw>
          </a:effectLst>
        </p:spPr>
      </p:sp>
      <p:sp>
        <p:nvSpPr>
          <p:cNvPr id="6" name="Text 4"/>
          <p:cNvSpPr/>
          <p:nvPr/>
        </p:nvSpPr>
        <p:spPr>
          <a:xfrm>
            <a:off x="704088" y="1810512"/>
            <a:ext cx="499262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Python SDK： ag-ui-protocol</a:t>
            </a:r>
            <a:endParaRPr lang="en-US" sz="1400" dirty="0"/>
          </a:p>
        </p:txBody>
      </p:sp>
      <p:sp>
        <p:nvSpPr>
          <p:cNvPr id="7" name="Text 5"/>
          <p:cNvSpPr/>
          <p:nvPr/>
        </p:nvSpPr>
        <p:spPr>
          <a:xfrm>
            <a:off x="704088" y="2176272"/>
            <a:ext cx="4992624" cy="129844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pip install ag-ui-protocol</a:t>
            </a:r>
            <a:endParaRPr lang="en-US" sz="1150" dirty="0"/>
          </a:p>
          <a:p>
            <a:pPr indent="0" marL="0">
              <a:lnSpc>
                <a:spcPct val="115000"/>
              </a:lnSpc>
              <a:buNone/>
            </a:pP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主なPackage： ag_ui.core ／ ag_ui.encoder</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主要Type： RunAgentInput / Message / Context / Tool / State</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EventEncoderでSSE形式へEncoding可能。</a:t>
            </a:r>
            <a:endParaRPr lang="en-US" sz="1150" dirty="0"/>
          </a:p>
        </p:txBody>
      </p:sp>
      <p:sp>
        <p:nvSpPr>
          <p:cNvPr id="8" name="Shape 6"/>
          <p:cNvSpPr/>
          <p:nvPr/>
        </p:nvSpPr>
        <p:spPr>
          <a:xfrm>
            <a:off x="502920" y="3749040"/>
            <a:ext cx="5394960" cy="2103120"/>
          </a:xfrm>
          <a:prstGeom prst="roundRect">
            <a:avLst>
              <a:gd name="adj" fmla="val 3478"/>
            </a:avLst>
          </a:prstGeom>
          <a:solidFill>
            <a:srgbClr val="F2F3F8"/>
          </a:solidFill>
          <a:ln/>
          <a:effectLst>
            <a:outerShdw sx="100000" sy="100000" kx="0" ky="0" algn="bl" rotWithShape="0" blurRad="76200" dist="25400" dir="5400000">
              <a:srgbClr val="44536B">
                <a:alpha val="18000"/>
              </a:srgbClr>
            </a:outerShdw>
          </a:effectLst>
        </p:spPr>
      </p:sp>
      <p:sp>
        <p:nvSpPr>
          <p:cNvPr id="9" name="Text 7"/>
          <p:cNvSpPr/>
          <p:nvPr/>
        </p:nvSpPr>
        <p:spPr>
          <a:xfrm>
            <a:off x="704088" y="3913632"/>
            <a:ext cx="4992624"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Middleware でできること</a:t>
            </a:r>
            <a:endParaRPr lang="en-US" sz="1400" dirty="0"/>
          </a:p>
        </p:txBody>
      </p:sp>
      <p:sp>
        <p:nvSpPr>
          <p:cNvPr id="10" name="Text 8"/>
          <p:cNvSpPr/>
          <p:nvPr/>
        </p:nvSpPr>
        <p:spPr>
          <a:xfrm>
            <a:off x="704088" y="4279392"/>
            <a:ext cx="4992624" cy="143560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Event Streamの途中で以下を実施可能：</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Authentication / Audit Logging / PII Filter / Event Filter / Metrics / Tracing / Error Handling / Rate Limit</a:t>
            </a:r>
            <a:endParaRPr lang="en-US" sz="1150" dirty="0"/>
          </a:p>
        </p:txBody>
      </p:sp>
      <p:sp>
        <p:nvSpPr>
          <p:cNvPr id="11" name="Shape 9"/>
          <p:cNvSpPr/>
          <p:nvPr/>
        </p:nvSpPr>
        <p:spPr>
          <a:xfrm>
            <a:off x="6172200" y="1645920"/>
            <a:ext cx="5394960" cy="1965960"/>
          </a:xfrm>
          <a:prstGeom prst="roundRect">
            <a:avLst>
              <a:gd name="adj" fmla="val 3721"/>
            </a:avLst>
          </a:prstGeom>
          <a:solidFill>
            <a:srgbClr val="F2F3F8"/>
          </a:solidFill>
          <a:ln/>
          <a:effectLst>
            <a:outerShdw sx="100000" sy="100000" kx="0" ky="0" algn="bl" rotWithShape="0" blurRad="76200" dist="25400" dir="5400000">
              <a:srgbClr val="44536B">
                <a:alpha val="18000"/>
              </a:srgbClr>
            </a:outerShdw>
          </a:effectLst>
        </p:spPr>
      </p:sp>
      <p:sp>
        <p:nvSpPr>
          <p:cNvPr id="12" name="Text 10"/>
          <p:cNvSpPr/>
          <p:nvPr/>
        </p:nvSpPr>
        <p:spPr>
          <a:xfrm>
            <a:off x="6373368" y="1810512"/>
            <a:ext cx="4992624"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Draft / Development</a:t>
            </a:r>
            <a:endParaRPr lang="en-US" sz="1400" dirty="0"/>
          </a:p>
        </p:txBody>
      </p:sp>
      <p:sp>
        <p:nvSpPr>
          <p:cNvPr id="13" name="Text 11"/>
          <p:cNvSpPr/>
          <p:nvPr/>
        </p:nvSpPr>
        <p:spPr>
          <a:xfrm>
            <a:off x="6373368" y="2176272"/>
            <a:ext cx="4992624" cy="129844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公式サイトにはDraft Proposalsとして Generative User Interfaces、Meta Events 等が存在。</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採用時はStable Concept と Draft Proposal を分けて評価する必要がある。開発は活発に継続中で、Roadmapは GitHub 上で公開。</a:t>
            </a:r>
            <a:endParaRPr lang="en-US" sz="1150" dirty="0"/>
          </a:p>
        </p:txBody>
      </p:sp>
      <p:sp>
        <p:nvSpPr>
          <p:cNvPr id="14" name="Shape 12"/>
          <p:cNvSpPr/>
          <p:nvPr/>
        </p:nvSpPr>
        <p:spPr>
          <a:xfrm>
            <a:off x="6172200" y="3749040"/>
            <a:ext cx="5394960" cy="2103120"/>
          </a:xfrm>
          <a:prstGeom prst="roundRect">
            <a:avLst>
              <a:gd name="adj" fmla="val 3478"/>
            </a:avLst>
          </a:prstGeom>
          <a:solidFill>
            <a:srgbClr val="DCEFF0"/>
          </a:solidFill>
          <a:ln/>
          <a:effectLst>
            <a:outerShdw sx="100000" sy="100000" kx="0" ky="0" algn="bl" rotWithShape="0" blurRad="76200" dist="25400" dir="5400000">
              <a:srgbClr val="44536B">
                <a:alpha val="18000"/>
              </a:srgbClr>
            </a:outerShdw>
          </a:effectLst>
        </p:spPr>
      </p:sp>
      <p:sp>
        <p:nvSpPr>
          <p:cNvPr id="15" name="Text 13"/>
          <p:cNvSpPr/>
          <p:nvPr/>
        </p:nvSpPr>
        <p:spPr>
          <a:xfrm>
            <a:off x="6373368" y="3913632"/>
            <a:ext cx="499262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Generative UI との関係</a:t>
            </a:r>
            <a:endParaRPr lang="en-US" sz="1400" dirty="0"/>
          </a:p>
        </p:txBody>
      </p:sp>
      <p:sp>
        <p:nvSpPr>
          <p:cNvPr id="16" name="Text 14"/>
          <p:cNvSpPr/>
          <p:nvPr/>
        </p:nvSpPr>
        <p:spPr>
          <a:xfrm>
            <a:off x="6373368" y="4279392"/>
            <a:ext cx="4992624" cy="1435608"/>
          </a:xfrm>
          <a:prstGeom prst="rect">
            <a:avLst/>
          </a:prstGeom>
          <a:noFill/>
          <a:ln/>
        </p:spPr>
        <p:txBody>
          <a:bodyPr wrap="square" lIns="0" tIns="0" rIns="0" bIns="0" rtlCol="0" anchor="t"/>
          <a:lstStyle/>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AG-UI自体はGenerative UI Specificationではない。</a:t>
            </a:r>
            <a:endParaRPr lang="en-US" sz="1150" dirty="0"/>
          </a:p>
          <a:p>
            <a:pPr indent="0" marL="0">
              <a:lnSpc>
                <a:spcPct val="115000"/>
              </a:lnSpc>
              <a:buNone/>
            </a:pPr>
            <a:r>
              <a:rPr lang="en-US" sz="1150" dirty="0">
                <a:solidFill>
                  <a:srgbClr val="1A1A2E"/>
                </a:solidFill>
                <a:latin typeface="Calibri" pitchFamily="34" charset="0"/>
                <a:ea typeface="Calibri" pitchFamily="34" charset="-122"/>
                <a:cs typeface="Calibri" pitchFamily="34" charset="-120"/>
              </a:rPr>
              <a:t>公式ではA2UI、Open JSON UI、MCP-UI等と区別し、それらを『Transportできる Interaction Protocol』と位置付けている。</a:t>
            </a:r>
            <a:endParaRPr lang="en-US" sz="1150" dirty="0"/>
          </a:p>
        </p:txBody>
      </p:sp>
      <p:sp>
        <p:nvSpPr>
          <p:cNvPr id="17" name="Text 15"/>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比較</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既存技術との比較</a:t>
            </a:r>
            <a:endParaRPr lang="en-US" sz="2800" dirty="0"/>
          </a:p>
        </p:txBody>
      </p:sp>
      <p:sp>
        <p:nvSpPr>
          <p:cNvPr id="5" name="Text 3"/>
          <p:cNvSpPr/>
          <p:nvPr/>
        </p:nvSpPr>
        <p:spPr>
          <a:xfrm>
            <a:off x="502920" y="1554480"/>
            <a:ext cx="54864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A2UI vs HTML / iframe</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486400" cy="914400"/>
        </p:xfrm>
        <a:graphic>
          <a:graphicData uri="http://schemas.openxmlformats.org/drawingml/2006/table">
            <a:tbl>
              <a:tblPr/>
              <a:tblGrid>
                <a:gridCol w="1828800"/>
                <a:gridCol w="1828800"/>
                <a:gridCol w="182880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項目</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A2UI</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HTML / iframe</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E2761"/>
                    </a:solidFill>
                  </a:tcPr>
                </a:tc>
              </a:tr>
              <a:tr h="329184">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任意Code</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実行しない</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JavaScript可能</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29184">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Security</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Allowlist Component</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Sandbox依存</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29184">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Native Mobile</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対応しやすい</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難しい</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29184">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LLM生成</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適する</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リスク高</a:t>
                      </a:r>
                      <a:endParaRPr lang="en-US" sz="105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bl>
          </a:graphicData>
        </a:graphic>
      </p:graphicFrame>
      <p:sp>
        <p:nvSpPr>
          <p:cNvPr id="7" name="Text 4"/>
          <p:cNvSpPr/>
          <p:nvPr/>
        </p:nvSpPr>
        <p:spPr>
          <a:xfrm>
            <a:off x="6355080" y="1554480"/>
            <a:ext cx="5486400" cy="320040"/>
          </a:xfrm>
          <a:prstGeom prst="rect">
            <a:avLst/>
          </a:prstGeom>
          <a:noFill/>
          <a:ln/>
        </p:spPr>
        <p:txBody>
          <a:bodyPr wrap="square" lIns="0" tIns="0" rIns="0" bIns="0" rtlCol="0" anchor="ctr"/>
          <a:lstStyle/>
          <a:p>
            <a:pPr indent="0" marL="0">
              <a:buNone/>
            </a:pPr>
            <a:r>
              <a:rPr lang="en-US" sz="1350" b="1" dirty="0">
                <a:solidFill>
                  <a:srgbClr val="015C66"/>
                </a:solidFill>
                <a:latin typeface="Calibri" pitchFamily="34" charset="0"/>
                <a:ea typeface="Calibri" pitchFamily="34" charset="-122"/>
                <a:cs typeface="Calibri" pitchFamily="34" charset="-120"/>
              </a:rPr>
              <a:t>AG-UI vs MCP / A2A</a:t>
            </a:r>
            <a:endParaRPr lang="en-US" sz="1350" dirty="0"/>
          </a:p>
        </p:txBody>
      </p:sp>
      <p:sp>
        <p:nvSpPr>
          <p:cNvPr id="8" name="Shape 5"/>
          <p:cNvSpPr/>
          <p:nvPr/>
        </p:nvSpPr>
        <p:spPr>
          <a:xfrm>
            <a:off x="6355080" y="1920240"/>
            <a:ext cx="5349240" cy="822960"/>
          </a:xfrm>
          <a:prstGeom prst="roundRect">
            <a:avLst>
              <a:gd name="adj" fmla="val 6667"/>
            </a:avLst>
          </a:prstGeom>
          <a:solidFill>
            <a:srgbClr val="DCEFF0"/>
          </a:solidFill>
          <a:ln/>
        </p:spPr>
      </p:sp>
      <p:sp>
        <p:nvSpPr>
          <p:cNvPr id="9" name="Text 6"/>
          <p:cNvSpPr/>
          <p:nvPr/>
        </p:nvSpPr>
        <p:spPr>
          <a:xfrm>
            <a:off x="6537960" y="2011680"/>
            <a:ext cx="50292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MCP   ＝ Agent &lt;-&gt; Tool / Data</a:t>
            </a:r>
            <a:endParaRPr lang="en-US" sz="1200" dirty="0"/>
          </a:p>
        </p:txBody>
      </p:sp>
      <p:sp>
        <p:nvSpPr>
          <p:cNvPr id="10" name="Text 7"/>
          <p:cNvSpPr/>
          <p:nvPr/>
        </p:nvSpPr>
        <p:spPr>
          <a:xfrm>
            <a:off x="6537960" y="2331720"/>
            <a:ext cx="50292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AG-UI ＝ Agent &lt;-&gt; User / Application</a:t>
            </a:r>
            <a:endParaRPr lang="en-US" sz="1200" dirty="0"/>
          </a:p>
        </p:txBody>
      </p:sp>
      <p:sp>
        <p:nvSpPr>
          <p:cNvPr id="11" name="Shape 8"/>
          <p:cNvSpPr/>
          <p:nvPr/>
        </p:nvSpPr>
        <p:spPr>
          <a:xfrm>
            <a:off x="6355080" y="2834640"/>
            <a:ext cx="5349240" cy="822960"/>
          </a:xfrm>
          <a:prstGeom prst="roundRect">
            <a:avLst>
              <a:gd name="adj" fmla="val 6667"/>
            </a:avLst>
          </a:prstGeom>
          <a:solidFill>
            <a:srgbClr val="DCEFF0"/>
          </a:solidFill>
          <a:ln/>
        </p:spPr>
      </p:sp>
      <p:sp>
        <p:nvSpPr>
          <p:cNvPr id="12" name="Text 9"/>
          <p:cNvSpPr/>
          <p:nvPr/>
        </p:nvSpPr>
        <p:spPr>
          <a:xfrm>
            <a:off x="6537960" y="2926080"/>
            <a:ext cx="50292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A2A   ＝ Agent &lt;-&gt; Agent</a:t>
            </a:r>
            <a:endParaRPr lang="en-US" sz="1200" dirty="0"/>
          </a:p>
        </p:txBody>
      </p:sp>
      <p:sp>
        <p:nvSpPr>
          <p:cNvPr id="13" name="Text 10"/>
          <p:cNvSpPr/>
          <p:nvPr/>
        </p:nvSpPr>
        <p:spPr>
          <a:xfrm>
            <a:off x="6537960" y="3246120"/>
            <a:ext cx="5029200" cy="3200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AG-UI ＝ Agent &lt;-&gt; Application / User</a:t>
            </a:r>
            <a:endParaRPr lang="en-US" sz="1200" dirty="0"/>
          </a:p>
        </p:txBody>
      </p:sp>
      <p:sp>
        <p:nvSpPr>
          <p:cNvPr id="14" name="Shape 11"/>
          <p:cNvSpPr/>
          <p:nvPr/>
        </p:nvSpPr>
        <p:spPr>
          <a:xfrm>
            <a:off x="502920" y="3977640"/>
            <a:ext cx="11155680" cy="1920240"/>
          </a:xfrm>
          <a:prstGeom prst="roundRect">
            <a:avLst>
              <a:gd name="adj" fmla="val 3810"/>
            </a:avLst>
          </a:prstGeom>
          <a:solidFill>
            <a:srgbClr val="141B4D"/>
          </a:solidFill>
          <a:ln/>
        </p:spPr>
      </p:sp>
      <p:sp>
        <p:nvSpPr>
          <p:cNvPr id="15" name="Text 12"/>
          <p:cNvSpPr/>
          <p:nvPr/>
        </p:nvSpPr>
        <p:spPr>
          <a:xfrm>
            <a:off x="731520" y="4114800"/>
            <a:ext cx="5486400" cy="320040"/>
          </a:xfrm>
          <a:prstGeom prst="rect">
            <a:avLst/>
          </a:prstGeom>
          <a:noFill/>
          <a:ln/>
        </p:spPr>
        <p:txBody>
          <a:bodyPr wrap="square" lIns="0" tIns="0" rIns="0" bIns="0" rtlCol="0" anchor="ctr"/>
          <a:lstStyle/>
          <a:p>
            <a:pPr indent="0" marL="0">
              <a:buNone/>
            </a:pPr>
            <a:r>
              <a:rPr lang="en-US" sz="1350" b="1" dirty="0">
                <a:solidFill>
                  <a:srgbClr val="CADCFC"/>
                </a:solidFill>
                <a:latin typeface="Calibri" pitchFamily="34" charset="0"/>
                <a:ea typeface="Calibri" pitchFamily="34" charset="-122"/>
                <a:cs typeface="Calibri" pitchFamily="34" charset="-120"/>
              </a:rPr>
              <a:t>A2UI vs MCP Apps</a:t>
            </a:r>
            <a:endParaRPr lang="en-US" sz="1350" dirty="0"/>
          </a:p>
        </p:txBody>
      </p:sp>
      <p:sp>
        <p:nvSpPr>
          <p:cNvPr id="16" name="Text 13"/>
          <p:cNvSpPr/>
          <p:nvPr/>
        </p:nvSpPr>
        <p:spPr>
          <a:xfrm>
            <a:off x="731520" y="4526280"/>
            <a:ext cx="10698480" cy="1234440"/>
          </a:xfrm>
          <a:prstGeom prst="rect">
            <a:avLst/>
          </a:prstGeom>
          <a:noFill/>
          <a:ln/>
        </p:spPr>
        <p:txBody>
          <a:bodyPr wrap="square" lIns="0" tIns="0" rIns="0" bIns="0" rtlCol="0" anchor="ctr"/>
          <a:lstStyle/>
          <a:p>
            <a:pPr indent="0" marL="0">
              <a:lnSpc>
                <a:spcPct val="130000"/>
              </a:lnSpc>
              <a:buNone/>
            </a:pPr>
            <a:r>
              <a:rPr lang="en-US" sz="1200" b="1" dirty="0">
                <a:solidFill>
                  <a:srgbClr val="028090"/>
                </a:solidFill>
                <a:latin typeface="Calibri" pitchFamily="34" charset="0"/>
                <a:ea typeface="Calibri" pitchFamily="34" charset="-122"/>
                <a:cs typeface="Calibri" pitchFamily="34" charset="-120"/>
              </a:rPr>
              <a:t>MCP Apps： </a:t>
            </a:r>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Server → HTML → iframe（Remote Serviceが UI全体を所有、完成済みHTML Applicationの埋め込みに向く）
</a:t>
            </a:r>
            <a:pPr indent="0" marL="0">
              <a:lnSpc>
                <a:spcPct val="130000"/>
              </a:lnSpc>
              <a:buNone/>
            </a:pPr>
            <a:r>
              <a:rPr lang="en-US" sz="1200" b="1" dirty="0">
                <a:solidFill>
                  <a:srgbClr val="CADCFC"/>
                </a:solidFill>
                <a:latin typeface="Calibri" pitchFamily="34" charset="0"/>
                <a:ea typeface="Calibri" pitchFamily="34" charset="-122"/>
                <a:cs typeface="Calibri" pitchFamily="34" charset="-120"/>
              </a:rPr>
              <a:t>A2UI： </a:t>
            </a:r>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Agent → Component JSON → Native Renderer（Host Design Systemの維持、Native Mobile対応、動的UI生成、任意コード実行の回避に向く）</a:t>
            </a:r>
            <a:endParaRPr lang="en-US" sz="1200" dirty="0"/>
          </a:p>
        </p:txBody>
      </p:sp>
      <p:sp>
        <p:nvSpPr>
          <p:cNvPr id="17" name="Text 14"/>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比較</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と AG-UI の詳細比較</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55680" cy="914400"/>
        </p:xfrm>
        <a:graphic>
          <a:graphicData uri="http://schemas.openxmlformats.org/drawingml/2006/table">
            <a:tbl>
              <a:tblPr/>
              <a:tblGrid>
                <a:gridCol w="2743200"/>
                <a:gridCol w="4206240"/>
                <a:gridCol w="4206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項目</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A2UI</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AG-UI</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solidFill>
                      <a:srgbClr val="015C66"/>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主目的</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UIを表現する</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AgentとAppを接続する</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レイヤ</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Presentation</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Interaction / Runtime</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主な形式</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Declarative UI JSON</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Typed Events</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Surface Data Model</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Agent/App Shared State</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Tool Call</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主目的ではない</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Core機能</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Human in the Loop</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Action連携</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Interrupt</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UI Component</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定義する</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定義しない</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Renderer</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必要</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任意</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Python SDK</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a2ui-agent-sdk</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ag-ui-protocol</a:t>
                      </a:r>
                      <a:endParaRPr lang="en-US" sz="1200" dirty="0">
                        <a:latin typeface="Calibri" charset="0"/>
                        <a:ea typeface="Calibri" charset="0"/>
                        <a:cs typeface="Calibri" charset="0"/>
                      </a:endParaRPr>
                    </a:p>
                  </a:txBody>
                  <a:tcPr marL="91440" marR="91440" marT="45720" marB="45720" anchor="ctr">
                    <a:lnL w="9525" cap="flat" cmpd="sng" algn="ctr">
                      <a:solidFill>
                        <a:srgbClr val="D8DCE8"/>
                      </a:solidFill>
                      <a:prstDash val="solid"/>
                      <a:round/>
                      <a:headEnd type="none" w="med" len="med"/>
                      <a:tailEnd type="none" w="med" len="med"/>
                    </a:lnL>
                    <a:lnR w="9525" cap="flat" cmpd="sng" algn="ctr">
                      <a:solidFill>
                        <a:srgbClr val="D8DCE8"/>
                      </a:solidFill>
                      <a:prstDash val="solid"/>
                      <a:round/>
                      <a:headEnd type="none" w="med" len="med"/>
                      <a:tailEnd type="none" w="med" len="med"/>
                    </a:lnR>
                    <a:lnT w="9525" cap="flat" cmpd="sng" algn="ctr">
                      <a:solidFill>
                        <a:srgbClr val="D8DCE8"/>
                      </a:solidFill>
                      <a:prstDash val="solid"/>
                      <a:round/>
                      <a:headEnd type="none" w="med" len="med"/>
                      <a:tailEnd type="none" w="med" len="med"/>
                    </a:lnT>
                    <a:lnB w="9525" cap="flat" cmpd="sng" algn="ctr">
                      <a:solidFill>
                        <a:srgbClr val="D8DCE8"/>
                      </a:solidFill>
                      <a:prstDash val="solid"/>
                      <a:round/>
                      <a:headEnd type="none" w="med" len="med"/>
                      <a:tailEnd type="none" w="med" len="med"/>
                    </a:lnB>
                  </a:tcPr>
                </a:tc>
              </a:tr>
            </a:tbl>
          </a:graphicData>
        </a:graphic>
      </p:graphicFrame>
      <p:sp>
        <p:nvSpPr>
          <p:cNvPr id="6" name="Shape 3"/>
          <p:cNvSpPr/>
          <p:nvPr/>
        </p:nvSpPr>
        <p:spPr>
          <a:xfrm>
            <a:off x="502920" y="5623560"/>
            <a:ext cx="11155680" cy="685800"/>
          </a:xfrm>
          <a:prstGeom prst="roundRect">
            <a:avLst>
              <a:gd name="adj" fmla="val 10667"/>
            </a:avLst>
          </a:prstGeom>
          <a:solidFill>
            <a:srgbClr val="141B4D"/>
          </a:solidFill>
          <a:ln/>
        </p:spPr>
      </p:sp>
      <p:sp>
        <p:nvSpPr>
          <p:cNvPr id="7" name="Text 4"/>
          <p:cNvSpPr/>
          <p:nvPr/>
        </p:nvSpPr>
        <p:spPr>
          <a:xfrm>
            <a:off x="502920" y="5623560"/>
            <a:ext cx="11155680" cy="685800"/>
          </a:xfrm>
          <a:prstGeom prst="rect">
            <a:avLst/>
          </a:prstGeom>
          <a:noFill/>
          <a:ln/>
        </p:spPr>
        <p:txBody>
          <a:bodyPr wrap="square" lIns="0" tIns="0" rIns="0" bIns="0" rtlCol="0" anchor="ctr"/>
          <a:lstStyle/>
          <a:p>
            <a:pPr algn="ctr" indent="0" marL="0">
              <a:buNone/>
            </a:pPr>
            <a:r>
              <a:rPr lang="en-US" sz="1400" b="1" dirty="0">
                <a:solidFill>
                  <a:srgbClr val="028090"/>
                </a:solidFill>
                <a:latin typeface="Calibri" pitchFamily="34" charset="0"/>
                <a:ea typeface="Calibri" pitchFamily="34" charset="-122"/>
                <a:cs typeface="Calibri" pitchFamily="34" charset="-120"/>
              </a:rPr>
              <a:t>AG-UI</a:t>
            </a:r>
            <a:pPr algn="ctr" indent="0" marL="0">
              <a:buNone/>
            </a:pPr>
            <a:r>
              <a:rPr lang="en-US" sz="1400" dirty="0">
                <a:solidFill>
                  <a:srgbClr val="FFFFFF"/>
                </a:solidFill>
                <a:latin typeface="Calibri" pitchFamily="34" charset="0"/>
                <a:ea typeface="Calibri" pitchFamily="34" charset="-122"/>
                <a:cs typeface="Calibri" pitchFamily="34" charset="-120"/>
              </a:rPr>
              <a:t> = Envelope / Pipe　　　</a:t>
            </a:r>
            <a:pPr algn="ctr" indent="0" marL="0">
              <a:buNone/>
            </a:pPr>
            <a:r>
              <a:rPr lang="en-US" sz="1400" b="1" dirty="0">
                <a:solidFill>
                  <a:srgbClr val="CADCFC"/>
                </a:solidFill>
                <a:latin typeface="Calibri" pitchFamily="34" charset="0"/>
                <a:ea typeface="Calibri" pitchFamily="34" charset="-122"/>
                <a:cs typeface="Calibri" pitchFamily="34" charset="-120"/>
              </a:rPr>
              <a:t>A2UI</a:t>
            </a:r>
            <a:pPr algn="ctr" indent="0" marL="0">
              <a:buNone/>
            </a:pPr>
            <a:r>
              <a:rPr lang="en-US" sz="1400" dirty="0">
                <a:solidFill>
                  <a:srgbClr val="FFFFFF"/>
                </a:solidFill>
                <a:latin typeface="Calibri" pitchFamily="34" charset="0"/>
                <a:ea typeface="Calibri" pitchFamily="34" charset="-122"/>
                <a:cs typeface="Calibri" pitchFamily="34" charset="-120"/>
              </a:rPr>
              <a:t> = UI Payload</a:t>
            </a:r>
            <a:endParaRPr lang="en-US" sz="1400" dirty="0"/>
          </a:p>
        </p:txBody>
      </p:sp>
      <p:sp>
        <p:nvSpPr>
          <p:cNvPr id="8" name="Text 5"/>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統合</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A2UI + AG-UI 統合 Architecture</a:t>
            </a:r>
            <a:endParaRPr lang="en-US" sz="2800" dirty="0"/>
          </a:p>
        </p:txBody>
      </p:sp>
      <p:sp>
        <p:nvSpPr>
          <p:cNvPr id="5" name="Shape 3"/>
          <p:cNvSpPr/>
          <p:nvPr/>
        </p:nvSpPr>
        <p:spPr>
          <a:xfrm>
            <a:off x="1339596" y="1554480"/>
            <a:ext cx="9509760" cy="530352"/>
          </a:xfrm>
          <a:prstGeom prst="roundRect">
            <a:avLst>
              <a:gd name="adj" fmla="val 10345"/>
            </a:avLst>
          </a:prstGeom>
          <a:solidFill>
            <a:srgbClr val="F2F3F8"/>
          </a:solidFill>
          <a:ln w="13970">
            <a:solidFill>
              <a:srgbClr val="8A90A0"/>
            </a:solidFill>
            <a:prstDash val="solid"/>
          </a:ln>
        </p:spPr>
      </p:sp>
      <p:sp>
        <p:nvSpPr>
          <p:cNvPr id="6" name="Text 4"/>
          <p:cNvSpPr/>
          <p:nvPr/>
        </p:nvSpPr>
        <p:spPr>
          <a:xfrm>
            <a:off x="1385316" y="1554480"/>
            <a:ext cx="9418320" cy="53035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User</a:t>
            </a:r>
            <a:endParaRPr lang="en-US" sz="1200" dirty="0"/>
          </a:p>
        </p:txBody>
      </p:sp>
      <p:sp>
        <p:nvSpPr>
          <p:cNvPr id="7" name="Shape 5"/>
          <p:cNvSpPr/>
          <p:nvPr/>
        </p:nvSpPr>
        <p:spPr>
          <a:xfrm>
            <a:off x="5993892" y="2084832"/>
            <a:ext cx="201168" cy="137160"/>
          </a:xfrm>
          <a:prstGeom prst="downArrow">
            <a:avLst/>
          </a:prstGeom>
          <a:solidFill>
            <a:srgbClr val="5B6270"/>
          </a:solidFill>
          <a:ln/>
        </p:spPr>
      </p:sp>
      <p:sp>
        <p:nvSpPr>
          <p:cNvPr id="8" name="Shape 6"/>
          <p:cNvSpPr/>
          <p:nvPr/>
        </p:nvSpPr>
        <p:spPr>
          <a:xfrm>
            <a:off x="1339596" y="2286000"/>
            <a:ext cx="9509760" cy="530352"/>
          </a:xfrm>
          <a:prstGeom prst="roundRect">
            <a:avLst>
              <a:gd name="adj" fmla="val 10345"/>
            </a:avLst>
          </a:prstGeom>
          <a:solidFill>
            <a:srgbClr val="F2F3F8"/>
          </a:solidFill>
          <a:ln w="13970">
            <a:solidFill>
              <a:srgbClr val="8A90A0"/>
            </a:solidFill>
            <a:prstDash val="solid"/>
          </a:ln>
        </p:spPr>
      </p:sp>
      <p:sp>
        <p:nvSpPr>
          <p:cNvPr id="9" name="Text 7"/>
          <p:cNvSpPr/>
          <p:nvPr/>
        </p:nvSpPr>
        <p:spPr>
          <a:xfrm>
            <a:off x="1385316" y="2286000"/>
            <a:ext cx="9418320" cy="53035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Frontend　－　AG-UI Client + A2UI Renderer</a:t>
            </a:r>
            <a:endParaRPr lang="en-US" sz="1200" dirty="0"/>
          </a:p>
        </p:txBody>
      </p:sp>
      <p:sp>
        <p:nvSpPr>
          <p:cNvPr id="10" name="Shape 8"/>
          <p:cNvSpPr/>
          <p:nvPr/>
        </p:nvSpPr>
        <p:spPr>
          <a:xfrm>
            <a:off x="5993892" y="2816352"/>
            <a:ext cx="201168" cy="137160"/>
          </a:xfrm>
          <a:prstGeom prst="downArrow">
            <a:avLst/>
          </a:prstGeom>
          <a:solidFill>
            <a:srgbClr val="5B6270"/>
          </a:solidFill>
          <a:ln/>
        </p:spPr>
      </p:sp>
      <p:sp>
        <p:nvSpPr>
          <p:cNvPr id="11" name="Shape 9"/>
          <p:cNvSpPr/>
          <p:nvPr/>
        </p:nvSpPr>
        <p:spPr>
          <a:xfrm>
            <a:off x="1339596" y="3017520"/>
            <a:ext cx="9509760" cy="530352"/>
          </a:xfrm>
          <a:prstGeom prst="roundRect">
            <a:avLst>
              <a:gd name="adj" fmla="val 10345"/>
            </a:avLst>
          </a:prstGeom>
          <a:solidFill>
            <a:srgbClr val="EAF0FB"/>
          </a:solidFill>
          <a:ln w="13970">
            <a:solidFill>
              <a:srgbClr val="028090"/>
            </a:solidFill>
            <a:prstDash val="solid"/>
          </a:ln>
        </p:spPr>
      </p:sp>
      <p:sp>
        <p:nvSpPr>
          <p:cNvPr id="12" name="Text 10"/>
          <p:cNvSpPr/>
          <p:nvPr/>
        </p:nvSpPr>
        <p:spPr>
          <a:xfrm>
            <a:off x="1385316" y="3017520"/>
            <a:ext cx="9418320" cy="530352"/>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Python Backend　－　ag-ui-protocol + a2ui-agent-sdk</a:t>
            </a:r>
            <a:endParaRPr lang="en-US" sz="1200" dirty="0"/>
          </a:p>
        </p:txBody>
      </p:sp>
      <p:sp>
        <p:nvSpPr>
          <p:cNvPr id="13" name="Shape 11"/>
          <p:cNvSpPr/>
          <p:nvPr/>
        </p:nvSpPr>
        <p:spPr>
          <a:xfrm>
            <a:off x="5993892" y="3547872"/>
            <a:ext cx="201168" cy="137160"/>
          </a:xfrm>
          <a:prstGeom prst="downArrow">
            <a:avLst/>
          </a:prstGeom>
          <a:solidFill>
            <a:srgbClr val="5B6270"/>
          </a:solidFill>
          <a:ln/>
        </p:spPr>
      </p:sp>
      <p:sp>
        <p:nvSpPr>
          <p:cNvPr id="14" name="Shape 12"/>
          <p:cNvSpPr/>
          <p:nvPr/>
        </p:nvSpPr>
        <p:spPr>
          <a:xfrm>
            <a:off x="1339596" y="3749040"/>
            <a:ext cx="9509760" cy="530352"/>
          </a:xfrm>
          <a:prstGeom prst="roundRect">
            <a:avLst>
              <a:gd name="adj" fmla="val 10345"/>
            </a:avLst>
          </a:prstGeom>
          <a:solidFill>
            <a:srgbClr val="F2F3F8"/>
          </a:solidFill>
          <a:ln w="13970">
            <a:solidFill>
              <a:srgbClr val="8A90A0"/>
            </a:solidFill>
            <a:prstDash val="solid"/>
          </a:ln>
        </p:spPr>
      </p:sp>
      <p:sp>
        <p:nvSpPr>
          <p:cNvPr id="15" name="Text 13"/>
          <p:cNvSpPr/>
          <p:nvPr/>
        </p:nvSpPr>
        <p:spPr>
          <a:xfrm>
            <a:off x="1385316" y="3749040"/>
            <a:ext cx="9418320" cy="53035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Agent / LLM　－　OpenAI / Gemini / Claude / LangGraph / ADK 等</a:t>
            </a:r>
            <a:endParaRPr lang="en-US" sz="1200" dirty="0"/>
          </a:p>
        </p:txBody>
      </p:sp>
      <p:sp>
        <p:nvSpPr>
          <p:cNvPr id="16" name="Shape 14"/>
          <p:cNvSpPr/>
          <p:nvPr/>
        </p:nvSpPr>
        <p:spPr>
          <a:xfrm>
            <a:off x="5993892" y="4279392"/>
            <a:ext cx="201168" cy="137160"/>
          </a:xfrm>
          <a:prstGeom prst="downArrow">
            <a:avLst/>
          </a:prstGeom>
          <a:solidFill>
            <a:srgbClr val="5B6270"/>
          </a:solidFill>
          <a:ln/>
        </p:spPr>
      </p:sp>
      <p:sp>
        <p:nvSpPr>
          <p:cNvPr id="17" name="Shape 15"/>
          <p:cNvSpPr/>
          <p:nvPr/>
        </p:nvSpPr>
        <p:spPr>
          <a:xfrm>
            <a:off x="1339596" y="4480560"/>
            <a:ext cx="9509760" cy="530352"/>
          </a:xfrm>
          <a:prstGeom prst="roundRect">
            <a:avLst>
              <a:gd name="adj" fmla="val 10345"/>
            </a:avLst>
          </a:prstGeom>
          <a:solidFill>
            <a:srgbClr val="F2F3F8"/>
          </a:solidFill>
          <a:ln w="13970">
            <a:solidFill>
              <a:srgbClr val="8A90A0"/>
            </a:solidFill>
            <a:prstDash val="solid"/>
          </a:ln>
        </p:spPr>
      </p:sp>
      <p:sp>
        <p:nvSpPr>
          <p:cNvPr id="18" name="Text 16"/>
          <p:cNvSpPr/>
          <p:nvPr/>
        </p:nvSpPr>
        <p:spPr>
          <a:xfrm>
            <a:off x="1385316" y="4480560"/>
            <a:ext cx="9418320" cy="530352"/>
          </a:xfrm>
          <a:prstGeom prst="rect">
            <a:avLst/>
          </a:prstGeom>
          <a:noFill/>
          <a:ln/>
        </p:spPr>
        <p:txBody>
          <a:bodyPr wrap="square" lIns="0" tIns="0" rIns="0" bIns="0" rtlCol="0" anchor="ctr"/>
          <a:lstStyle/>
          <a:p>
            <a:pPr algn="ctr" indent="0" marL="0">
              <a:buNone/>
            </a:pPr>
            <a:r>
              <a:rPr lang="en-US" sz="1200" dirty="0">
                <a:solidFill>
                  <a:srgbClr val="1A1A2E"/>
                </a:solidFill>
                <a:latin typeface="Calibri" pitchFamily="34" charset="0"/>
                <a:ea typeface="Calibri" pitchFamily="34" charset="-122"/>
                <a:cs typeface="Calibri" pitchFamily="34" charset="-120"/>
              </a:rPr>
              <a:t>Tool / MCP / A2A</a:t>
            </a:r>
            <a:endParaRPr lang="en-US" sz="1200" dirty="0"/>
          </a:p>
        </p:txBody>
      </p:sp>
      <p:sp>
        <p:nvSpPr>
          <p:cNvPr id="19" name="Shape 17"/>
          <p:cNvSpPr/>
          <p:nvPr/>
        </p:nvSpPr>
        <p:spPr>
          <a:xfrm>
            <a:off x="502920" y="5623560"/>
            <a:ext cx="11155680" cy="822960"/>
          </a:xfrm>
          <a:prstGeom prst="roundRect">
            <a:avLst>
              <a:gd name="adj" fmla="val 8889"/>
            </a:avLst>
          </a:prstGeom>
          <a:solidFill>
            <a:srgbClr val="E7EAF6"/>
          </a:solidFill>
          <a:ln/>
          <a:effectLst>
            <a:outerShdw sx="100000" sy="100000" kx="0" ky="0" algn="bl" rotWithShape="0" blurRad="76200" dist="25400" dir="5400000">
              <a:srgbClr val="44536B">
                <a:alpha val="18000"/>
              </a:srgbClr>
            </a:outerShdw>
          </a:effectLst>
        </p:spPr>
      </p:sp>
      <p:sp>
        <p:nvSpPr>
          <p:cNvPr id="20" name="Text 18"/>
          <p:cNvSpPr/>
          <p:nvPr/>
        </p:nvSpPr>
        <p:spPr>
          <a:xfrm>
            <a:off x="704088" y="5788152"/>
            <a:ext cx="10753344" cy="521208"/>
          </a:xfrm>
          <a:prstGeom prst="rect">
            <a:avLst/>
          </a:prstGeom>
          <a:noFill/>
          <a:ln/>
        </p:spPr>
        <p:txBody>
          <a:bodyPr wrap="square" lIns="0" tIns="0" rIns="0" bIns="0" rtlCol="0" anchor="t"/>
          <a:lstStyle/>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Backend Agentの実行状態は AG-UI、表示内容は A2UI という責務分離ができ、Agent Framework／Frontend Framework／Transport／UI Componentを比較的疎結合にできる。</a:t>
            </a:r>
            <a:endParaRPr lang="en-US" sz="1250" dirty="0"/>
          </a:p>
        </p:txBody>
      </p:sp>
      <p:sp>
        <p:nvSpPr>
          <p:cNvPr id="21" name="Text 19"/>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活用例</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ユースケース</a:t>
            </a:r>
            <a:endParaRPr lang="en-US" sz="2800" dirty="0"/>
          </a:p>
        </p:txBody>
      </p:sp>
      <p:sp>
        <p:nvSpPr>
          <p:cNvPr id="5" name="Shape 3"/>
          <p:cNvSpPr/>
          <p:nvPr/>
        </p:nvSpPr>
        <p:spPr>
          <a:xfrm>
            <a:off x="502920" y="1645920"/>
            <a:ext cx="3611880" cy="2148840"/>
          </a:xfrm>
          <a:prstGeom prst="roundRect">
            <a:avLst>
              <a:gd name="adj" fmla="val 3404"/>
            </a:avLst>
          </a:prstGeom>
          <a:solidFill>
            <a:srgbClr val="E7EAF6"/>
          </a:solidFill>
          <a:ln/>
          <a:effectLst>
            <a:outerShdw sx="100000" sy="100000" kx="0" ky="0" algn="bl" rotWithShape="0" blurRad="76200" dist="25400" dir="5400000">
              <a:srgbClr val="44536B">
                <a:alpha val="18000"/>
              </a:srgbClr>
            </a:outerShdw>
          </a:effectLst>
        </p:spPr>
      </p:sp>
      <p:sp>
        <p:nvSpPr>
          <p:cNvPr id="6" name="Text 4"/>
          <p:cNvSpPr/>
          <p:nvPr/>
        </p:nvSpPr>
        <p:spPr>
          <a:xfrm>
            <a:off x="704088" y="1810512"/>
            <a:ext cx="3209544"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AI Operations / Security Monitoring</a:t>
            </a:r>
            <a:endParaRPr lang="en-US" sz="1250" dirty="0"/>
          </a:p>
        </p:txBody>
      </p:sp>
      <p:sp>
        <p:nvSpPr>
          <p:cNvPr id="7" name="Text 5"/>
          <p:cNvSpPr/>
          <p:nvPr/>
        </p:nvSpPr>
        <p:spPr>
          <a:xfrm>
            <a:off x="704088" y="2176272"/>
            <a:ext cx="3209544" cy="1481328"/>
          </a:xfrm>
          <a:prstGeom prst="rect">
            <a:avLst/>
          </a:prstGeom>
          <a:noFill/>
          <a:ln/>
        </p:spPr>
        <p:txBody>
          <a:bodyPr wrap="square" lIns="0" tIns="0" rIns="0" bIns="0" rtlCol="0" anchor="t"/>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監視APIをTool呼び出しし、CPU/Memory/Logを分析。AG-UIで進捗をStreamingしつつ、A2UIでIncident Dashboardを生成。</a:t>
            </a:r>
            <a:endParaRPr lang="en-US" sz="1050" dirty="0"/>
          </a:p>
        </p:txBody>
      </p:sp>
      <p:sp>
        <p:nvSpPr>
          <p:cNvPr id="8" name="Shape 6"/>
          <p:cNvSpPr/>
          <p:nvPr/>
        </p:nvSpPr>
        <p:spPr>
          <a:xfrm>
            <a:off x="4251960" y="1645920"/>
            <a:ext cx="3611880" cy="2148840"/>
          </a:xfrm>
          <a:prstGeom prst="roundRect">
            <a:avLst>
              <a:gd name="adj" fmla="val 3404"/>
            </a:avLst>
          </a:prstGeom>
          <a:solidFill>
            <a:srgbClr val="DCEFF0"/>
          </a:solidFill>
          <a:ln/>
          <a:effectLst>
            <a:outerShdw sx="100000" sy="100000" kx="0" ky="0" algn="bl" rotWithShape="0" blurRad="76200" dist="25400" dir="5400000">
              <a:srgbClr val="44536B">
                <a:alpha val="18000"/>
              </a:srgbClr>
            </a:outerShdw>
          </a:effectLst>
        </p:spPr>
      </p:sp>
      <p:sp>
        <p:nvSpPr>
          <p:cNvPr id="9" name="Text 7"/>
          <p:cNvSpPr/>
          <p:nvPr/>
        </p:nvSpPr>
        <p:spPr>
          <a:xfrm>
            <a:off x="4453128" y="1810512"/>
            <a:ext cx="3209544" cy="320040"/>
          </a:xfrm>
          <a:prstGeom prst="rect">
            <a:avLst/>
          </a:prstGeom>
          <a:noFill/>
          <a:ln/>
        </p:spPr>
        <p:txBody>
          <a:bodyPr wrap="square" lIns="0" tIns="0" rIns="0" bIns="0" rtlCol="0" anchor="ctr"/>
          <a:lstStyle/>
          <a:p>
            <a:pPr indent="0" marL="0">
              <a:buNone/>
            </a:pPr>
            <a:r>
              <a:rPr lang="en-US" sz="1250" b="1" dirty="0">
                <a:solidFill>
                  <a:srgbClr val="015C66"/>
                </a:solidFill>
                <a:latin typeface="Calibri" pitchFamily="34" charset="0"/>
                <a:ea typeface="Calibri" pitchFamily="34" charset="-122"/>
                <a:cs typeface="Calibri" pitchFamily="34" charset="-120"/>
              </a:rPr>
              <a:t>Human-in-the-Loop 運用</a:t>
            </a:r>
            <a:endParaRPr lang="en-US" sz="1250" dirty="0"/>
          </a:p>
        </p:txBody>
      </p:sp>
      <p:sp>
        <p:nvSpPr>
          <p:cNvPr id="10" name="Text 8"/>
          <p:cNvSpPr/>
          <p:nvPr/>
        </p:nvSpPr>
        <p:spPr>
          <a:xfrm>
            <a:off x="4453128" y="2176272"/>
            <a:ext cx="3209544" cy="1481328"/>
          </a:xfrm>
          <a:prstGeom prst="rect">
            <a:avLst/>
          </a:prstGeom>
          <a:noFill/>
          <a:ln/>
        </p:spPr>
        <p:txBody>
          <a:bodyPr wrap="square" lIns="0" tIns="0" rIns="0" bIns="0" rtlCol="0" anchor="t"/>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「Firewallを修正して」という指示に対し、Agentがルールを生成。AG-UI Interruptを介してA2UI Approval UIを表示し、承認後にTool実行。</a:t>
            </a:r>
            <a:endParaRPr lang="en-US" sz="1050" dirty="0"/>
          </a:p>
        </p:txBody>
      </p:sp>
      <p:sp>
        <p:nvSpPr>
          <p:cNvPr id="11" name="Shape 9"/>
          <p:cNvSpPr/>
          <p:nvPr/>
        </p:nvSpPr>
        <p:spPr>
          <a:xfrm>
            <a:off x="8001000" y="1645920"/>
            <a:ext cx="3611880" cy="2148840"/>
          </a:xfrm>
          <a:prstGeom prst="roundRect">
            <a:avLst>
              <a:gd name="adj" fmla="val 3404"/>
            </a:avLst>
          </a:prstGeom>
          <a:solidFill>
            <a:srgbClr val="E7EAF6"/>
          </a:solidFill>
          <a:ln/>
          <a:effectLst>
            <a:outerShdw sx="100000" sy="100000" kx="0" ky="0" algn="bl" rotWithShape="0" blurRad="76200" dist="25400" dir="5400000">
              <a:srgbClr val="44536B">
                <a:alpha val="18000"/>
              </a:srgbClr>
            </a:outerShdw>
          </a:effectLst>
        </p:spPr>
      </p:sp>
      <p:sp>
        <p:nvSpPr>
          <p:cNvPr id="12" name="Text 10"/>
          <p:cNvSpPr/>
          <p:nvPr/>
        </p:nvSpPr>
        <p:spPr>
          <a:xfrm>
            <a:off x="8202168" y="1810512"/>
            <a:ext cx="3209544"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Customer Support</a:t>
            </a:r>
            <a:endParaRPr lang="en-US" sz="1250" dirty="0"/>
          </a:p>
        </p:txBody>
      </p:sp>
      <p:sp>
        <p:nvSpPr>
          <p:cNvPr id="13" name="Text 11"/>
          <p:cNvSpPr/>
          <p:nvPr/>
        </p:nvSpPr>
        <p:spPr>
          <a:xfrm>
            <a:off x="8202168" y="2176272"/>
            <a:ext cx="3209544" cy="1481328"/>
          </a:xfrm>
          <a:prstGeom prst="rect">
            <a:avLst/>
          </a:prstGeom>
          <a:noFill/>
          <a:ln/>
        </p:spPr>
        <p:txBody>
          <a:bodyPr wrap="square" lIns="0" tIns="0" rIns="0" bIns="0" rtlCol="0" anchor="t"/>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契約プラン変更・配送変更・返品等で、A2UIが選択UIを生成し、AG-UIがConversation/State/Tool/Confirmationを管理。</a:t>
            </a:r>
            <a:endParaRPr lang="en-US" sz="1050" dirty="0"/>
          </a:p>
        </p:txBody>
      </p:sp>
      <p:sp>
        <p:nvSpPr>
          <p:cNvPr id="14" name="Shape 12"/>
          <p:cNvSpPr/>
          <p:nvPr/>
        </p:nvSpPr>
        <p:spPr>
          <a:xfrm>
            <a:off x="502920" y="3977640"/>
            <a:ext cx="3611880" cy="2148840"/>
          </a:xfrm>
          <a:prstGeom prst="roundRect">
            <a:avLst>
              <a:gd name="adj" fmla="val 3404"/>
            </a:avLst>
          </a:prstGeom>
          <a:solidFill>
            <a:srgbClr val="DCEFF0"/>
          </a:solidFill>
          <a:ln/>
          <a:effectLst>
            <a:outerShdw sx="100000" sy="100000" kx="0" ky="0" algn="bl" rotWithShape="0" blurRad="76200" dist="25400" dir="5400000">
              <a:srgbClr val="44536B">
                <a:alpha val="18000"/>
              </a:srgbClr>
            </a:outerShdw>
          </a:effectLst>
        </p:spPr>
      </p:sp>
      <p:sp>
        <p:nvSpPr>
          <p:cNvPr id="15" name="Text 13"/>
          <p:cNvSpPr/>
          <p:nvPr/>
        </p:nvSpPr>
        <p:spPr>
          <a:xfrm>
            <a:off x="704088" y="4142232"/>
            <a:ext cx="3209544" cy="320040"/>
          </a:xfrm>
          <a:prstGeom prst="rect">
            <a:avLst/>
          </a:prstGeom>
          <a:noFill/>
          <a:ln/>
        </p:spPr>
        <p:txBody>
          <a:bodyPr wrap="square" lIns="0" tIns="0" rIns="0" bIns="0" rtlCol="0" anchor="ctr"/>
          <a:lstStyle/>
          <a:p>
            <a:pPr indent="0" marL="0">
              <a:buNone/>
            </a:pPr>
            <a:r>
              <a:rPr lang="en-US" sz="1250" b="1" dirty="0">
                <a:solidFill>
                  <a:srgbClr val="015C66"/>
                </a:solidFill>
                <a:latin typeface="Calibri" pitchFamily="34" charset="0"/>
                <a:ea typeface="Calibri" pitchFamily="34" charset="-122"/>
                <a:cs typeface="Calibri" pitchFamily="34" charset="-120"/>
              </a:rPr>
              <a:t>Reservation / Booking</a:t>
            </a:r>
            <a:endParaRPr lang="en-US" sz="1250" dirty="0"/>
          </a:p>
        </p:txBody>
      </p:sp>
      <p:sp>
        <p:nvSpPr>
          <p:cNvPr id="16" name="Text 14"/>
          <p:cNvSpPr/>
          <p:nvPr/>
        </p:nvSpPr>
        <p:spPr>
          <a:xfrm>
            <a:off x="704088" y="4507992"/>
            <a:ext cx="3209544" cy="1481328"/>
          </a:xfrm>
          <a:prstGeom prst="rect">
            <a:avLst/>
          </a:prstGeom>
          <a:noFill/>
          <a:ln/>
        </p:spPr>
        <p:txBody>
          <a:bodyPr wrap="square" lIns="0" tIns="0" rIns="0" bIns="0" rtlCol="0" anchor="t"/>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Restaurant Card・Date Picker・Time Selector・ConfirmationをA2UIで表示。Search Progress/Tool Call/StateをAG-UIで管理。</a:t>
            </a:r>
            <a:endParaRPr lang="en-US" sz="1050" dirty="0"/>
          </a:p>
        </p:txBody>
      </p:sp>
      <p:sp>
        <p:nvSpPr>
          <p:cNvPr id="17" name="Shape 15"/>
          <p:cNvSpPr/>
          <p:nvPr/>
        </p:nvSpPr>
        <p:spPr>
          <a:xfrm>
            <a:off x="4251960" y="3977640"/>
            <a:ext cx="3611880" cy="2148840"/>
          </a:xfrm>
          <a:prstGeom prst="roundRect">
            <a:avLst>
              <a:gd name="adj" fmla="val 3404"/>
            </a:avLst>
          </a:prstGeom>
          <a:solidFill>
            <a:srgbClr val="E7EAF6"/>
          </a:solidFill>
          <a:ln/>
          <a:effectLst>
            <a:outerShdw sx="100000" sy="100000" kx="0" ky="0" algn="bl" rotWithShape="0" blurRad="76200" dist="25400" dir="5400000">
              <a:srgbClr val="44536B">
                <a:alpha val="18000"/>
              </a:srgbClr>
            </a:outerShdw>
          </a:effectLst>
        </p:spPr>
      </p:sp>
      <p:sp>
        <p:nvSpPr>
          <p:cNvPr id="18" name="Text 16"/>
          <p:cNvSpPr/>
          <p:nvPr/>
        </p:nvSpPr>
        <p:spPr>
          <a:xfrm>
            <a:off x="4453128" y="4142232"/>
            <a:ext cx="3209544"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Analysis</a:t>
            </a:r>
            <a:endParaRPr lang="en-US" sz="1250" dirty="0"/>
          </a:p>
        </p:txBody>
      </p:sp>
      <p:sp>
        <p:nvSpPr>
          <p:cNvPr id="19" name="Text 17"/>
          <p:cNvSpPr/>
          <p:nvPr/>
        </p:nvSpPr>
        <p:spPr>
          <a:xfrm>
            <a:off x="4453128" y="4507992"/>
            <a:ext cx="3209544" cy="1481328"/>
          </a:xfrm>
          <a:prstGeom prst="rect">
            <a:avLst/>
          </a:prstGeom>
          <a:noFill/>
          <a:ln/>
        </p:spPr>
        <p:txBody>
          <a:bodyPr wrap="square" lIns="0" tIns="0" rIns="0" bIns="0" rtlCol="0" anchor="t"/>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Data WarehouseをToolで検索し、結果に応じてChart/KPI Card/Table/Alertを動的に生成。</a:t>
            </a:r>
            <a:endParaRPr lang="en-US" sz="1050" dirty="0"/>
          </a:p>
        </p:txBody>
      </p:sp>
      <p:sp>
        <p:nvSpPr>
          <p:cNvPr id="20" name="Shape 18"/>
          <p:cNvSpPr/>
          <p:nvPr/>
        </p:nvSpPr>
        <p:spPr>
          <a:xfrm>
            <a:off x="8001000" y="3977640"/>
            <a:ext cx="3611880" cy="2148840"/>
          </a:xfrm>
          <a:prstGeom prst="roundRect">
            <a:avLst>
              <a:gd name="adj" fmla="val 3404"/>
            </a:avLst>
          </a:prstGeom>
          <a:solidFill>
            <a:srgbClr val="DCEFF0"/>
          </a:solidFill>
          <a:ln/>
          <a:effectLst>
            <a:outerShdw sx="100000" sy="100000" kx="0" ky="0" algn="bl" rotWithShape="0" blurRad="76200" dist="25400" dir="5400000">
              <a:srgbClr val="44536B">
                <a:alpha val="18000"/>
              </a:srgbClr>
            </a:outerShdw>
          </a:effectLst>
        </p:spPr>
      </p:sp>
      <p:sp>
        <p:nvSpPr>
          <p:cNvPr id="21" name="Text 19"/>
          <p:cNvSpPr/>
          <p:nvPr/>
        </p:nvSpPr>
        <p:spPr>
          <a:xfrm>
            <a:off x="8202168" y="4142232"/>
            <a:ext cx="3209544" cy="320040"/>
          </a:xfrm>
          <a:prstGeom prst="rect">
            <a:avLst/>
          </a:prstGeom>
          <a:noFill/>
          <a:ln/>
        </p:spPr>
        <p:txBody>
          <a:bodyPr wrap="square" lIns="0" tIns="0" rIns="0" bIns="0" rtlCol="0" anchor="ctr"/>
          <a:lstStyle/>
          <a:p>
            <a:pPr indent="0" marL="0">
              <a:buNone/>
            </a:pPr>
            <a:r>
              <a:rPr lang="en-US" sz="1250" b="1" dirty="0">
                <a:solidFill>
                  <a:srgbClr val="015C66"/>
                </a:solidFill>
                <a:latin typeface="Calibri" pitchFamily="34" charset="0"/>
                <a:ea typeface="Calibri" pitchFamily="34" charset="-122"/>
                <a:cs typeface="Calibri" pitchFamily="34" charset="-120"/>
              </a:rPr>
              <a:t>Enterprise Multi-Agent Portal</a:t>
            </a:r>
            <a:endParaRPr lang="en-US" sz="1250" dirty="0"/>
          </a:p>
        </p:txBody>
      </p:sp>
      <p:sp>
        <p:nvSpPr>
          <p:cNvPr id="22" name="Text 20"/>
          <p:cNvSpPr/>
          <p:nvPr/>
        </p:nvSpPr>
        <p:spPr>
          <a:xfrm>
            <a:off x="8202168" y="4507992"/>
            <a:ext cx="3209544" cy="1481328"/>
          </a:xfrm>
          <a:prstGeom prst="rect">
            <a:avLst/>
          </a:prstGeom>
          <a:noFill/>
          <a:ln/>
        </p:spPr>
        <p:txBody>
          <a:bodyPr wrap="square" lIns="0" tIns="0" rIns="0" bIns="0" rtlCol="0" anchor="t"/>
          <a:lstStyle/>
          <a:p>
            <a:pPr indent="0" marL="0">
              <a:lnSpc>
                <a:spcPct val="115000"/>
              </a:lnSpc>
              <a:buNone/>
            </a:pPr>
            <a:r>
              <a:rPr lang="en-US" sz="1050" dirty="0">
                <a:solidFill>
                  <a:srgbClr val="1A1A2E"/>
                </a:solidFill>
                <a:latin typeface="Calibri" pitchFamily="34" charset="0"/>
                <a:ea typeface="Calibri" pitchFamily="34" charset="-122"/>
                <a:cs typeface="Calibri" pitchFamily="34" charset="-120"/>
              </a:rPr>
              <a:t>HR/IT/Security/Financeといった複数Agentに、A2UIで統一UIを提供し、AG-UI/A2Aで接続を標準化。</a:t>
            </a:r>
            <a:endParaRPr lang="en-US" sz="1050" dirty="0"/>
          </a:p>
        </p:txBody>
      </p:sp>
      <p:sp>
        <p:nvSpPr>
          <p:cNvPr id="23" name="Text 21"/>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PoC</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Python PoC 推奨構成</a:t>
            </a:r>
            <a:endParaRPr lang="en-US" sz="2800" dirty="0"/>
          </a:p>
        </p:txBody>
      </p:sp>
      <p:sp>
        <p:nvSpPr>
          <p:cNvPr id="5" name="Text 3"/>
          <p:cNvSpPr/>
          <p:nvPr/>
        </p:nvSpPr>
        <p:spPr>
          <a:xfrm>
            <a:off x="502920" y="1600200"/>
            <a:ext cx="5486400"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Backend / Frontend 構成</a:t>
            </a:r>
            <a:endParaRPr lang="en-US" sz="1400" dirty="0"/>
          </a:p>
        </p:txBody>
      </p:sp>
      <p:sp>
        <p:nvSpPr>
          <p:cNvPr id="6" name="Shape 4"/>
          <p:cNvSpPr/>
          <p:nvPr/>
        </p:nvSpPr>
        <p:spPr>
          <a:xfrm>
            <a:off x="502920" y="2011680"/>
            <a:ext cx="5303520" cy="502920"/>
          </a:xfrm>
          <a:prstGeom prst="roundRect">
            <a:avLst>
              <a:gd name="adj" fmla="val 10909"/>
            </a:avLst>
          </a:prstGeom>
          <a:solidFill>
            <a:srgbClr val="E7EAF6"/>
          </a:solidFill>
          <a:ln w="12700">
            <a:solidFill>
              <a:srgbClr val="1E2761"/>
            </a:solidFill>
            <a:prstDash val="solid"/>
          </a:ln>
        </p:spPr>
      </p:sp>
      <p:sp>
        <p:nvSpPr>
          <p:cNvPr id="7" name="Text 5"/>
          <p:cNvSpPr/>
          <p:nvPr/>
        </p:nvSpPr>
        <p:spPr>
          <a:xfrm>
            <a:off x="548640" y="2011680"/>
            <a:ext cx="5212080" cy="502920"/>
          </a:xfrm>
          <a:prstGeom prst="rect">
            <a:avLst/>
          </a:prstGeom>
          <a:noFill/>
          <a:ln/>
        </p:spPr>
        <p:txBody>
          <a:bodyPr wrap="square" lIns="0" tIns="0" rIns="0" bIns="0" rtlCol="0" anchor="ctr"/>
          <a:lstStyle/>
          <a:p>
            <a:pPr algn="ctr" indent="0" marL="0">
              <a:buNone/>
            </a:pPr>
            <a:r>
              <a:rPr lang="en-US" sz="1150" b="1" dirty="0">
                <a:solidFill>
                  <a:srgbClr val="1A1A2E"/>
                </a:solidFill>
                <a:latin typeface="Calibri" pitchFamily="34" charset="0"/>
                <a:ea typeface="Calibri" pitchFamily="34" charset="-122"/>
                <a:cs typeface="Calibri" pitchFamily="34" charset="-120"/>
              </a:rPr>
              <a:t>Browser</a:t>
            </a:r>
            <a:endParaRPr lang="en-US" sz="1150" dirty="0"/>
          </a:p>
        </p:txBody>
      </p:sp>
      <p:sp>
        <p:nvSpPr>
          <p:cNvPr id="8" name="Shape 6"/>
          <p:cNvSpPr/>
          <p:nvPr/>
        </p:nvSpPr>
        <p:spPr>
          <a:xfrm>
            <a:off x="3054096" y="2514600"/>
            <a:ext cx="201168" cy="137160"/>
          </a:xfrm>
          <a:prstGeom prst="downArrow">
            <a:avLst/>
          </a:prstGeom>
          <a:solidFill>
            <a:srgbClr val="5B6270"/>
          </a:solidFill>
          <a:ln/>
        </p:spPr>
      </p:sp>
      <p:sp>
        <p:nvSpPr>
          <p:cNvPr id="9" name="Shape 7"/>
          <p:cNvSpPr/>
          <p:nvPr/>
        </p:nvSpPr>
        <p:spPr>
          <a:xfrm>
            <a:off x="502920" y="2651760"/>
            <a:ext cx="5303520" cy="502920"/>
          </a:xfrm>
          <a:prstGeom prst="roundRect">
            <a:avLst>
              <a:gd name="adj" fmla="val 10909"/>
            </a:avLst>
          </a:prstGeom>
          <a:solidFill>
            <a:srgbClr val="E7EAF6"/>
          </a:solidFill>
          <a:ln w="12700">
            <a:solidFill>
              <a:srgbClr val="1E2761"/>
            </a:solidFill>
            <a:prstDash val="solid"/>
          </a:ln>
        </p:spPr>
      </p:sp>
      <p:sp>
        <p:nvSpPr>
          <p:cNvPr id="10" name="Text 8"/>
          <p:cNvSpPr/>
          <p:nvPr/>
        </p:nvSpPr>
        <p:spPr>
          <a:xfrm>
            <a:off x="548640" y="2651760"/>
            <a:ext cx="5212080" cy="502920"/>
          </a:xfrm>
          <a:prstGeom prst="rect">
            <a:avLst/>
          </a:prstGeom>
          <a:noFill/>
          <a:ln/>
        </p:spPr>
        <p:txBody>
          <a:bodyPr wrap="square" lIns="0" tIns="0" rIns="0" bIns="0" rtlCol="0" anchor="ctr"/>
          <a:lstStyle/>
          <a:p>
            <a:pPr algn="ctr" indent="0" marL="0">
              <a:buNone/>
            </a:pPr>
            <a:r>
              <a:rPr lang="en-US" sz="1150" b="1" dirty="0">
                <a:solidFill>
                  <a:srgbClr val="1A1A2E"/>
                </a:solidFill>
                <a:latin typeface="Calibri" pitchFamily="34" charset="0"/>
                <a:ea typeface="Calibri" pitchFamily="34" charset="-122"/>
                <a:cs typeface="Calibri" pitchFamily="34" charset="-120"/>
              </a:rPr>
              <a:t>FastAPI</a:t>
            </a:r>
            <a:endParaRPr lang="en-US" sz="1150" dirty="0"/>
          </a:p>
        </p:txBody>
      </p:sp>
      <p:sp>
        <p:nvSpPr>
          <p:cNvPr id="11" name="Shape 9"/>
          <p:cNvSpPr/>
          <p:nvPr/>
        </p:nvSpPr>
        <p:spPr>
          <a:xfrm>
            <a:off x="3054096" y="3154680"/>
            <a:ext cx="201168" cy="137160"/>
          </a:xfrm>
          <a:prstGeom prst="downArrow">
            <a:avLst/>
          </a:prstGeom>
          <a:solidFill>
            <a:srgbClr val="5B6270"/>
          </a:solidFill>
          <a:ln/>
        </p:spPr>
      </p:sp>
      <p:sp>
        <p:nvSpPr>
          <p:cNvPr id="12" name="Shape 10"/>
          <p:cNvSpPr/>
          <p:nvPr/>
        </p:nvSpPr>
        <p:spPr>
          <a:xfrm>
            <a:off x="502920" y="3291840"/>
            <a:ext cx="5303520" cy="502920"/>
          </a:xfrm>
          <a:prstGeom prst="roundRect">
            <a:avLst>
              <a:gd name="adj" fmla="val 10909"/>
            </a:avLst>
          </a:prstGeom>
          <a:solidFill>
            <a:srgbClr val="F2F3F8"/>
          </a:solidFill>
          <a:ln w="12700">
            <a:solidFill>
              <a:srgbClr val="8A90A0"/>
            </a:solidFill>
            <a:prstDash val="solid"/>
          </a:ln>
        </p:spPr>
      </p:sp>
      <p:sp>
        <p:nvSpPr>
          <p:cNvPr id="13" name="Text 11"/>
          <p:cNvSpPr/>
          <p:nvPr/>
        </p:nvSpPr>
        <p:spPr>
          <a:xfrm>
            <a:off x="548640" y="3291840"/>
            <a:ext cx="5212080" cy="502920"/>
          </a:xfrm>
          <a:prstGeom prst="rect">
            <a:avLst/>
          </a:prstGeom>
          <a:noFill/>
          <a:ln/>
        </p:spPr>
        <p:txBody>
          <a:bodyPr wrap="square" lIns="0" tIns="0" rIns="0" bIns="0" rtlCol="0" anchor="ctr"/>
          <a:lstStyle/>
          <a:p>
            <a:pPr algn="ctr" indent="0" marL="0">
              <a:buNone/>
            </a:pPr>
            <a:r>
              <a:rPr lang="en-US" sz="1150" dirty="0">
                <a:solidFill>
                  <a:srgbClr val="1A1A2E"/>
                </a:solidFill>
                <a:latin typeface="Calibri" pitchFamily="34" charset="0"/>
                <a:ea typeface="Calibri" pitchFamily="34" charset="-122"/>
                <a:cs typeface="Calibri" pitchFamily="34" charset="-120"/>
              </a:rPr>
              <a:t>( ag-ui-protocol / a2ui-agent-sdk )</a:t>
            </a:r>
            <a:endParaRPr lang="en-US" sz="1150" dirty="0"/>
          </a:p>
        </p:txBody>
      </p:sp>
      <p:sp>
        <p:nvSpPr>
          <p:cNvPr id="14" name="Shape 12"/>
          <p:cNvSpPr/>
          <p:nvPr/>
        </p:nvSpPr>
        <p:spPr>
          <a:xfrm>
            <a:off x="3054096" y="3794760"/>
            <a:ext cx="201168" cy="137160"/>
          </a:xfrm>
          <a:prstGeom prst="downArrow">
            <a:avLst/>
          </a:prstGeom>
          <a:solidFill>
            <a:srgbClr val="5B6270"/>
          </a:solidFill>
          <a:ln/>
        </p:spPr>
      </p:sp>
      <p:sp>
        <p:nvSpPr>
          <p:cNvPr id="15" name="Shape 13"/>
          <p:cNvSpPr/>
          <p:nvPr/>
        </p:nvSpPr>
        <p:spPr>
          <a:xfrm>
            <a:off x="502920" y="3931920"/>
            <a:ext cx="5303520" cy="502920"/>
          </a:xfrm>
          <a:prstGeom prst="roundRect">
            <a:avLst>
              <a:gd name="adj" fmla="val 10909"/>
            </a:avLst>
          </a:prstGeom>
          <a:solidFill>
            <a:srgbClr val="E7EAF6"/>
          </a:solidFill>
          <a:ln w="12700">
            <a:solidFill>
              <a:srgbClr val="1E2761"/>
            </a:solidFill>
            <a:prstDash val="solid"/>
          </a:ln>
        </p:spPr>
      </p:sp>
      <p:sp>
        <p:nvSpPr>
          <p:cNvPr id="16" name="Text 14"/>
          <p:cNvSpPr/>
          <p:nvPr/>
        </p:nvSpPr>
        <p:spPr>
          <a:xfrm>
            <a:off x="548640" y="3931920"/>
            <a:ext cx="5212080" cy="502920"/>
          </a:xfrm>
          <a:prstGeom prst="rect">
            <a:avLst/>
          </a:prstGeom>
          <a:noFill/>
          <a:ln/>
        </p:spPr>
        <p:txBody>
          <a:bodyPr wrap="square" lIns="0" tIns="0" rIns="0" bIns="0" rtlCol="0" anchor="ctr"/>
          <a:lstStyle/>
          <a:p>
            <a:pPr algn="ctr" indent="0" marL="0">
              <a:buNone/>
            </a:pPr>
            <a:r>
              <a:rPr lang="en-US" sz="1150" b="1" dirty="0">
                <a:solidFill>
                  <a:srgbClr val="1A1A2E"/>
                </a:solidFill>
                <a:latin typeface="Calibri" pitchFamily="34" charset="0"/>
                <a:ea typeface="Calibri" pitchFamily="34" charset="-122"/>
                <a:cs typeface="Calibri" pitchFamily="34" charset="-120"/>
              </a:rPr>
              <a:t>Agent</a:t>
            </a:r>
            <a:endParaRPr lang="en-US" sz="1150" dirty="0"/>
          </a:p>
        </p:txBody>
      </p:sp>
      <p:sp>
        <p:nvSpPr>
          <p:cNvPr id="17" name="Shape 15"/>
          <p:cNvSpPr/>
          <p:nvPr/>
        </p:nvSpPr>
        <p:spPr>
          <a:xfrm>
            <a:off x="3054096" y="4434840"/>
            <a:ext cx="201168" cy="137160"/>
          </a:xfrm>
          <a:prstGeom prst="downArrow">
            <a:avLst/>
          </a:prstGeom>
          <a:solidFill>
            <a:srgbClr val="5B6270"/>
          </a:solidFill>
          <a:ln/>
        </p:spPr>
      </p:sp>
      <p:sp>
        <p:nvSpPr>
          <p:cNvPr id="18" name="Shape 16"/>
          <p:cNvSpPr/>
          <p:nvPr/>
        </p:nvSpPr>
        <p:spPr>
          <a:xfrm>
            <a:off x="502920" y="4572000"/>
            <a:ext cx="5303520" cy="502920"/>
          </a:xfrm>
          <a:prstGeom prst="roundRect">
            <a:avLst>
              <a:gd name="adj" fmla="val 10909"/>
            </a:avLst>
          </a:prstGeom>
          <a:solidFill>
            <a:srgbClr val="F2F3F8"/>
          </a:solidFill>
          <a:ln w="12700">
            <a:solidFill>
              <a:srgbClr val="8A90A0"/>
            </a:solidFill>
            <a:prstDash val="solid"/>
          </a:ln>
        </p:spPr>
      </p:sp>
      <p:sp>
        <p:nvSpPr>
          <p:cNvPr id="19" name="Text 17"/>
          <p:cNvSpPr/>
          <p:nvPr/>
        </p:nvSpPr>
        <p:spPr>
          <a:xfrm>
            <a:off x="548640" y="4572000"/>
            <a:ext cx="5212080" cy="502920"/>
          </a:xfrm>
          <a:prstGeom prst="rect">
            <a:avLst/>
          </a:prstGeom>
          <a:noFill/>
          <a:ln/>
        </p:spPr>
        <p:txBody>
          <a:bodyPr wrap="square" lIns="0" tIns="0" rIns="0" bIns="0" rtlCol="0" anchor="ctr"/>
          <a:lstStyle/>
          <a:p>
            <a:pPr algn="ctr" indent="0" marL="0">
              <a:buNone/>
            </a:pPr>
            <a:r>
              <a:rPr lang="en-US" sz="1150" dirty="0">
                <a:solidFill>
                  <a:srgbClr val="1A1A2E"/>
                </a:solidFill>
                <a:latin typeface="Calibri" pitchFamily="34" charset="0"/>
                <a:ea typeface="Calibri" pitchFamily="34" charset="-122"/>
                <a:cs typeface="Calibri" pitchFamily="34" charset="-120"/>
              </a:rPr>
              <a:t>( LLM / Tool / State )</a:t>
            </a:r>
            <a:endParaRPr lang="en-US" sz="1150" dirty="0"/>
          </a:p>
        </p:txBody>
      </p:sp>
      <p:sp>
        <p:nvSpPr>
          <p:cNvPr id="20" name="Text 18"/>
          <p:cNvSpPr/>
          <p:nvPr/>
        </p:nvSpPr>
        <p:spPr>
          <a:xfrm>
            <a:off x="502920" y="5303520"/>
            <a:ext cx="5303520" cy="365760"/>
          </a:xfrm>
          <a:prstGeom prst="rect">
            <a:avLst/>
          </a:prstGeom>
          <a:noFill/>
          <a:ln/>
        </p:spPr>
        <p:txBody>
          <a:bodyPr wrap="square" lIns="0" tIns="0" rIns="0" bIns="0" rtlCol="0" anchor="ctr"/>
          <a:lstStyle/>
          <a:p>
            <a:pPr indent="0" marL="0">
              <a:buNone/>
            </a:pPr>
            <a:r>
              <a:rPr lang="en-US" sz="1150" i="1" dirty="0">
                <a:solidFill>
                  <a:srgbClr val="5B6270"/>
                </a:solidFill>
                <a:latin typeface="Calibri" pitchFamily="34" charset="0"/>
                <a:ea typeface="Calibri" pitchFamily="34" charset="-122"/>
                <a:cs typeface="Calibri" pitchFamily="34" charset="-120"/>
              </a:rPr>
              <a:t>Frontend： AG-UI Client ＋ A2UI Renderer</a:t>
            </a:r>
            <a:endParaRPr lang="en-US" sz="1150" dirty="0"/>
          </a:p>
        </p:txBody>
      </p:sp>
      <p:sp>
        <p:nvSpPr>
          <p:cNvPr id="21" name="Shape 19"/>
          <p:cNvSpPr/>
          <p:nvPr/>
        </p:nvSpPr>
        <p:spPr>
          <a:xfrm>
            <a:off x="6172200" y="1600200"/>
            <a:ext cx="5394960" cy="4297680"/>
          </a:xfrm>
          <a:prstGeom prst="roundRect">
            <a:avLst>
              <a:gd name="adj" fmla="val 1702"/>
            </a:avLst>
          </a:prstGeom>
          <a:solidFill>
            <a:srgbClr val="DCEFF0"/>
          </a:solidFill>
          <a:ln/>
          <a:effectLst>
            <a:outerShdw sx="100000" sy="100000" kx="0" ky="0" algn="bl" rotWithShape="0" blurRad="76200" dist="25400" dir="5400000">
              <a:srgbClr val="44536B">
                <a:alpha val="18000"/>
              </a:srgbClr>
            </a:outerShdw>
          </a:effectLst>
        </p:spPr>
      </p:sp>
      <p:sp>
        <p:nvSpPr>
          <p:cNvPr id="22" name="Text 20"/>
          <p:cNvSpPr/>
          <p:nvPr/>
        </p:nvSpPr>
        <p:spPr>
          <a:xfrm>
            <a:off x="6373368" y="1764792"/>
            <a:ext cx="4992624"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検証順序（推奨）</a:t>
            </a:r>
            <a:endParaRPr lang="en-US" sz="1400" dirty="0"/>
          </a:p>
        </p:txBody>
      </p:sp>
      <p:sp>
        <p:nvSpPr>
          <p:cNvPr id="23" name="Shape 21"/>
          <p:cNvSpPr/>
          <p:nvPr/>
        </p:nvSpPr>
        <p:spPr>
          <a:xfrm>
            <a:off x="6400800" y="2286000"/>
            <a:ext cx="384048" cy="384048"/>
          </a:xfrm>
          <a:prstGeom prst="ellipse">
            <a:avLst/>
          </a:prstGeom>
          <a:solidFill>
            <a:srgbClr val="015C66"/>
          </a:solidFill>
          <a:ln/>
        </p:spPr>
      </p:sp>
      <p:sp>
        <p:nvSpPr>
          <p:cNvPr id="24" name="Text 22"/>
          <p:cNvSpPr/>
          <p:nvPr/>
        </p:nvSpPr>
        <p:spPr>
          <a:xfrm>
            <a:off x="6400800"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5" name="Text 23"/>
          <p:cNvSpPr/>
          <p:nvPr/>
        </p:nvSpPr>
        <p:spPr>
          <a:xfrm>
            <a:off x="6903720" y="2286000"/>
            <a:ext cx="4480560" cy="38404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AG-UI 単体で疎通確認</a:t>
            </a:r>
            <a:endParaRPr lang="en-US" sz="1300" dirty="0"/>
          </a:p>
        </p:txBody>
      </p:sp>
      <p:sp>
        <p:nvSpPr>
          <p:cNvPr id="26" name="Shape 24"/>
          <p:cNvSpPr/>
          <p:nvPr/>
        </p:nvSpPr>
        <p:spPr>
          <a:xfrm>
            <a:off x="6492240" y="2670048"/>
            <a:ext cx="201168" cy="320040"/>
          </a:xfrm>
          <a:prstGeom prst="downArrow">
            <a:avLst/>
          </a:prstGeom>
          <a:solidFill>
            <a:srgbClr val="028090"/>
          </a:solidFill>
          <a:ln/>
        </p:spPr>
      </p:sp>
      <p:sp>
        <p:nvSpPr>
          <p:cNvPr id="27" name="Shape 25"/>
          <p:cNvSpPr/>
          <p:nvPr/>
        </p:nvSpPr>
        <p:spPr>
          <a:xfrm>
            <a:off x="6400800" y="3200400"/>
            <a:ext cx="384048" cy="384048"/>
          </a:xfrm>
          <a:prstGeom prst="ellipse">
            <a:avLst/>
          </a:prstGeom>
          <a:solidFill>
            <a:srgbClr val="015C66"/>
          </a:solidFill>
          <a:ln/>
        </p:spPr>
      </p:sp>
      <p:sp>
        <p:nvSpPr>
          <p:cNvPr id="28" name="Text 26"/>
          <p:cNvSpPr/>
          <p:nvPr/>
        </p:nvSpPr>
        <p:spPr>
          <a:xfrm>
            <a:off x="640080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Text 27"/>
          <p:cNvSpPr/>
          <p:nvPr/>
        </p:nvSpPr>
        <p:spPr>
          <a:xfrm>
            <a:off x="6903720" y="3200400"/>
            <a:ext cx="4480560" cy="38404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A2UI 単体でUI生成・描画確認</a:t>
            </a:r>
            <a:endParaRPr lang="en-US" sz="1300" dirty="0"/>
          </a:p>
        </p:txBody>
      </p:sp>
      <p:sp>
        <p:nvSpPr>
          <p:cNvPr id="30" name="Shape 28"/>
          <p:cNvSpPr/>
          <p:nvPr/>
        </p:nvSpPr>
        <p:spPr>
          <a:xfrm>
            <a:off x="6492240" y="3584448"/>
            <a:ext cx="201168" cy="320040"/>
          </a:xfrm>
          <a:prstGeom prst="downArrow">
            <a:avLst/>
          </a:prstGeom>
          <a:solidFill>
            <a:srgbClr val="028090"/>
          </a:solidFill>
          <a:ln/>
        </p:spPr>
      </p:sp>
      <p:sp>
        <p:nvSpPr>
          <p:cNvPr id="31" name="Shape 29"/>
          <p:cNvSpPr/>
          <p:nvPr/>
        </p:nvSpPr>
        <p:spPr>
          <a:xfrm>
            <a:off x="6400800" y="4114800"/>
            <a:ext cx="384048" cy="384048"/>
          </a:xfrm>
          <a:prstGeom prst="ellipse">
            <a:avLst/>
          </a:prstGeom>
          <a:solidFill>
            <a:srgbClr val="015C66"/>
          </a:solidFill>
          <a:ln/>
        </p:spPr>
      </p:sp>
      <p:sp>
        <p:nvSpPr>
          <p:cNvPr id="32" name="Text 30"/>
          <p:cNvSpPr/>
          <p:nvPr/>
        </p:nvSpPr>
        <p:spPr>
          <a:xfrm>
            <a:off x="6400800"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3" name="Text 31"/>
          <p:cNvSpPr/>
          <p:nvPr/>
        </p:nvSpPr>
        <p:spPr>
          <a:xfrm>
            <a:off x="6903720" y="4114800"/>
            <a:ext cx="4480560" cy="384048"/>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AG-UI + A2UI を統合し End-to-End 確認</a:t>
            </a:r>
            <a:endParaRPr lang="en-US" sz="1300" dirty="0"/>
          </a:p>
        </p:txBody>
      </p:sp>
      <p:sp>
        <p:nvSpPr>
          <p:cNvPr id="34" name="Text 32"/>
          <p:cNvSpPr/>
          <p:nvPr/>
        </p:nvSpPr>
        <p:spPr>
          <a:xfrm>
            <a:off x="6400800" y="5120640"/>
            <a:ext cx="4937760" cy="822960"/>
          </a:xfrm>
          <a:prstGeom prst="rect">
            <a:avLst/>
          </a:prstGeom>
          <a:noFill/>
          <a:ln/>
        </p:spPr>
        <p:txBody>
          <a:bodyPr wrap="square" lIns="0" tIns="0" rIns="0" bIns="0" rtlCol="0" anchor="ctr"/>
          <a:lstStyle/>
          <a:p>
            <a:pPr indent="0" marL="0">
              <a:lnSpc>
                <a:spcPct val="120000"/>
              </a:lnSpc>
              <a:buNone/>
            </a:pPr>
            <a:r>
              <a:rPr lang="en-US" sz="1100" i="1" dirty="0">
                <a:solidFill>
                  <a:srgbClr val="1A1A2E"/>
                </a:solidFill>
                <a:latin typeface="Calibri" pitchFamily="34" charset="0"/>
                <a:ea typeface="Calibri" pitchFamily="34" charset="-122"/>
                <a:cs typeface="Calibri" pitchFamily="34" charset="-120"/>
              </a:rPr>
              <a:t>Python中心の技術検証環境を想定し、まず単体で各プロトコルの挙動を確認したうえで、統合構成に進む段階的アプローチを推奨。</a:t>
            </a:r>
            <a:endParaRPr lang="en-US" sz="1100" dirty="0"/>
          </a:p>
        </p:txBody>
      </p:sp>
      <p:sp>
        <p:nvSpPr>
          <p:cNvPr id="35" name="Text 33"/>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PoC</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検証項目チェックリスト</a:t>
            </a:r>
            <a:endParaRPr lang="en-US" sz="2800" dirty="0"/>
          </a:p>
        </p:txBody>
      </p:sp>
      <p:sp>
        <p:nvSpPr>
          <p:cNvPr id="5" name="Text 3"/>
          <p:cNvSpPr/>
          <p:nvPr/>
        </p:nvSpPr>
        <p:spPr>
          <a:xfrm>
            <a:off x="502920" y="1554480"/>
            <a:ext cx="11155680" cy="365760"/>
          </a:xfrm>
          <a:prstGeom prst="rect">
            <a:avLst/>
          </a:prstGeom>
          <a:noFill/>
          <a:ln/>
        </p:spPr>
        <p:txBody>
          <a:bodyPr wrap="square" lIns="0" tIns="0" rIns="0" bIns="0" rtlCol="0" anchor="ctr"/>
          <a:lstStyle/>
          <a:p>
            <a:pPr indent="0" marL="0">
              <a:buNone/>
            </a:pPr>
            <a:r>
              <a:rPr lang="en-US" sz="1250" i="1" dirty="0">
                <a:solidFill>
                  <a:srgbClr val="5B6270"/>
                </a:solidFill>
                <a:latin typeface="Calibri" pitchFamily="34" charset="0"/>
                <a:ea typeface="Calibri" pitchFamily="34" charset="-122"/>
                <a:cs typeface="Calibri" pitchFamily="34" charset="-120"/>
              </a:rPr>
              <a:t>以下は公式ドキュメントの機能一覧に基づく、PoCで確認すべき検証観点である（実施結果は別途記録）。</a:t>
            </a:r>
            <a:endParaRPr lang="en-US" sz="1250" dirty="0"/>
          </a:p>
        </p:txBody>
      </p:sp>
      <p:sp>
        <p:nvSpPr>
          <p:cNvPr id="6" name="Shape 4"/>
          <p:cNvSpPr/>
          <p:nvPr/>
        </p:nvSpPr>
        <p:spPr>
          <a:xfrm>
            <a:off x="502920" y="2011680"/>
            <a:ext cx="3657600" cy="4206240"/>
          </a:xfrm>
          <a:prstGeom prst="roundRect">
            <a:avLst>
              <a:gd name="adj" fmla="val 2000"/>
            </a:avLst>
          </a:prstGeom>
          <a:solidFill>
            <a:srgbClr val="E7EAF6"/>
          </a:solidFill>
          <a:ln/>
        </p:spPr>
      </p:sp>
      <p:sp>
        <p:nvSpPr>
          <p:cNvPr id="7" name="Text 5"/>
          <p:cNvSpPr/>
          <p:nvPr/>
        </p:nvSpPr>
        <p:spPr>
          <a:xfrm>
            <a:off x="685800" y="2121408"/>
            <a:ext cx="3291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A2UI</a:t>
            </a:r>
            <a:endParaRPr lang="en-US" sz="1350" dirty="0"/>
          </a:p>
        </p:txBody>
      </p:sp>
      <p:sp>
        <p:nvSpPr>
          <p:cNvPr id="8" name="Shape 6"/>
          <p:cNvSpPr/>
          <p:nvPr/>
        </p:nvSpPr>
        <p:spPr>
          <a:xfrm>
            <a:off x="704088" y="2560320"/>
            <a:ext cx="128016" cy="128016"/>
          </a:xfrm>
          <a:prstGeom prst="roundRect">
            <a:avLst/>
          </a:prstGeom>
          <a:solidFill>
            <a:srgbClr val="FFFFFF"/>
          </a:solidFill>
          <a:ln w="12700">
            <a:solidFill>
              <a:srgbClr val="1E2761"/>
            </a:solidFill>
            <a:prstDash val="solid"/>
          </a:ln>
        </p:spPr>
      </p:sp>
      <p:sp>
        <p:nvSpPr>
          <p:cNvPr id="9" name="Text 7"/>
          <p:cNvSpPr/>
          <p:nvPr/>
        </p:nvSpPr>
        <p:spPr>
          <a:xfrm>
            <a:off x="914400" y="2514600"/>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createSurface</a:t>
            </a:r>
            <a:endParaRPr lang="en-US" sz="1050" dirty="0"/>
          </a:p>
        </p:txBody>
      </p:sp>
      <p:sp>
        <p:nvSpPr>
          <p:cNvPr id="10" name="Shape 8"/>
          <p:cNvSpPr/>
          <p:nvPr/>
        </p:nvSpPr>
        <p:spPr>
          <a:xfrm>
            <a:off x="704088" y="2848356"/>
            <a:ext cx="128016" cy="128016"/>
          </a:xfrm>
          <a:prstGeom prst="roundRect">
            <a:avLst/>
          </a:prstGeom>
          <a:solidFill>
            <a:srgbClr val="FFFFFF"/>
          </a:solidFill>
          <a:ln w="12700">
            <a:solidFill>
              <a:srgbClr val="1E2761"/>
            </a:solidFill>
            <a:prstDash val="solid"/>
          </a:ln>
        </p:spPr>
      </p:sp>
      <p:sp>
        <p:nvSpPr>
          <p:cNvPr id="11" name="Text 9"/>
          <p:cNvSpPr/>
          <p:nvPr/>
        </p:nvSpPr>
        <p:spPr>
          <a:xfrm>
            <a:off x="914400" y="2802636"/>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updateComponents</a:t>
            </a:r>
            <a:endParaRPr lang="en-US" sz="1050" dirty="0"/>
          </a:p>
        </p:txBody>
      </p:sp>
      <p:sp>
        <p:nvSpPr>
          <p:cNvPr id="12" name="Shape 10"/>
          <p:cNvSpPr/>
          <p:nvPr/>
        </p:nvSpPr>
        <p:spPr>
          <a:xfrm>
            <a:off x="704088" y="3136392"/>
            <a:ext cx="128016" cy="128016"/>
          </a:xfrm>
          <a:prstGeom prst="roundRect">
            <a:avLst/>
          </a:prstGeom>
          <a:solidFill>
            <a:srgbClr val="FFFFFF"/>
          </a:solidFill>
          <a:ln w="12700">
            <a:solidFill>
              <a:srgbClr val="1E2761"/>
            </a:solidFill>
            <a:prstDash val="solid"/>
          </a:ln>
        </p:spPr>
      </p:sp>
      <p:sp>
        <p:nvSpPr>
          <p:cNvPr id="13" name="Text 11"/>
          <p:cNvSpPr/>
          <p:nvPr/>
        </p:nvSpPr>
        <p:spPr>
          <a:xfrm>
            <a:off x="914400" y="3090672"/>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updateDataModel</a:t>
            </a:r>
            <a:endParaRPr lang="en-US" sz="1050" dirty="0"/>
          </a:p>
        </p:txBody>
      </p:sp>
      <p:sp>
        <p:nvSpPr>
          <p:cNvPr id="14" name="Shape 12"/>
          <p:cNvSpPr/>
          <p:nvPr/>
        </p:nvSpPr>
        <p:spPr>
          <a:xfrm>
            <a:off x="704088" y="3424428"/>
            <a:ext cx="128016" cy="128016"/>
          </a:xfrm>
          <a:prstGeom prst="roundRect">
            <a:avLst/>
          </a:prstGeom>
          <a:solidFill>
            <a:srgbClr val="FFFFFF"/>
          </a:solidFill>
          <a:ln w="12700">
            <a:solidFill>
              <a:srgbClr val="1E2761"/>
            </a:solidFill>
            <a:prstDash val="solid"/>
          </a:ln>
        </p:spPr>
      </p:sp>
      <p:sp>
        <p:nvSpPr>
          <p:cNvPr id="15" name="Text 13"/>
          <p:cNvSpPr/>
          <p:nvPr/>
        </p:nvSpPr>
        <p:spPr>
          <a:xfrm>
            <a:off x="914400" y="3378708"/>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deleteSurface</a:t>
            </a:r>
            <a:endParaRPr lang="en-US" sz="1050" dirty="0"/>
          </a:p>
        </p:txBody>
      </p:sp>
      <p:sp>
        <p:nvSpPr>
          <p:cNvPr id="16" name="Shape 14"/>
          <p:cNvSpPr/>
          <p:nvPr/>
        </p:nvSpPr>
        <p:spPr>
          <a:xfrm>
            <a:off x="704088" y="3712464"/>
            <a:ext cx="128016" cy="128016"/>
          </a:xfrm>
          <a:prstGeom prst="roundRect">
            <a:avLst/>
          </a:prstGeom>
          <a:solidFill>
            <a:srgbClr val="FFFFFF"/>
          </a:solidFill>
          <a:ln w="12700">
            <a:solidFill>
              <a:srgbClr val="1E2761"/>
            </a:solidFill>
            <a:prstDash val="solid"/>
          </a:ln>
        </p:spPr>
      </p:sp>
      <p:sp>
        <p:nvSpPr>
          <p:cNvPr id="17" name="Text 15"/>
          <p:cNvSpPr/>
          <p:nvPr/>
        </p:nvSpPr>
        <p:spPr>
          <a:xfrm>
            <a:off x="914400" y="3666744"/>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Data Binding</a:t>
            </a:r>
            <a:endParaRPr lang="en-US" sz="1050" dirty="0"/>
          </a:p>
        </p:txBody>
      </p:sp>
      <p:sp>
        <p:nvSpPr>
          <p:cNvPr id="18" name="Shape 16"/>
          <p:cNvSpPr/>
          <p:nvPr/>
        </p:nvSpPr>
        <p:spPr>
          <a:xfrm>
            <a:off x="704088" y="4000500"/>
            <a:ext cx="128016" cy="128016"/>
          </a:xfrm>
          <a:prstGeom prst="roundRect">
            <a:avLst/>
          </a:prstGeom>
          <a:solidFill>
            <a:srgbClr val="FFFFFF"/>
          </a:solidFill>
          <a:ln w="12700">
            <a:solidFill>
              <a:srgbClr val="1E2761"/>
            </a:solidFill>
            <a:prstDash val="solid"/>
          </a:ln>
        </p:spPr>
      </p:sp>
      <p:sp>
        <p:nvSpPr>
          <p:cNvPr id="19" name="Text 17"/>
          <p:cNvSpPr/>
          <p:nvPr/>
        </p:nvSpPr>
        <p:spPr>
          <a:xfrm>
            <a:off x="914400" y="3954780"/>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Dynamic List</a:t>
            </a:r>
            <a:endParaRPr lang="en-US" sz="1050" dirty="0"/>
          </a:p>
        </p:txBody>
      </p:sp>
      <p:sp>
        <p:nvSpPr>
          <p:cNvPr id="20" name="Shape 18"/>
          <p:cNvSpPr/>
          <p:nvPr/>
        </p:nvSpPr>
        <p:spPr>
          <a:xfrm>
            <a:off x="704088" y="4288536"/>
            <a:ext cx="128016" cy="128016"/>
          </a:xfrm>
          <a:prstGeom prst="roundRect">
            <a:avLst/>
          </a:prstGeom>
          <a:solidFill>
            <a:srgbClr val="FFFFFF"/>
          </a:solidFill>
          <a:ln w="12700">
            <a:solidFill>
              <a:srgbClr val="1E2761"/>
            </a:solidFill>
            <a:prstDash val="solid"/>
          </a:ln>
        </p:spPr>
      </p:sp>
      <p:sp>
        <p:nvSpPr>
          <p:cNvPr id="21" name="Text 19"/>
          <p:cNvSpPr/>
          <p:nvPr/>
        </p:nvSpPr>
        <p:spPr>
          <a:xfrm>
            <a:off x="914400" y="4242816"/>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Action</a:t>
            </a:r>
            <a:endParaRPr lang="en-US" sz="1050" dirty="0"/>
          </a:p>
        </p:txBody>
      </p:sp>
      <p:sp>
        <p:nvSpPr>
          <p:cNvPr id="22" name="Shape 20"/>
          <p:cNvSpPr/>
          <p:nvPr/>
        </p:nvSpPr>
        <p:spPr>
          <a:xfrm>
            <a:off x="704088" y="4576572"/>
            <a:ext cx="128016" cy="128016"/>
          </a:xfrm>
          <a:prstGeom prst="roundRect">
            <a:avLst/>
          </a:prstGeom>
          <a:solidFill>
            <a:srgbClr val="FFFFFF"/>
          </a:solidFill>
          <a:ln w="12700">
            <a:solidFill>
              <a:srgbClr val="1E2761"/>
            </a:solidFill>
            <a:prstDash val="solid"/>
          </a:ln>
        </p:spPr>
      </p:sp>
      <p:sp>
        <p:nvSpPr>
          <p:cNvPr id="23" name="Text 21"/>
          <p:cNvSpPr/>
          <p:nvPr/>
        </p:nvSpPr>
        <p:spPr>
          <a:xfrm>
            <a:off x="914400" y="4530852"/>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Catalog</a:t>
            </a:r>
            <a:endParaRPr lang="en-US" sz="1050" dirty="0"/>
          </a:p>
        </p:txBody>
      </p:sp>
      <p:sp>
        <p:nvSpPr>
          <p:cNvPr id="24" name="Shape 22"/>
          <p:cNvSpPr/>
          <p:nvPr/>
        </p:nvSpPr>
        <p:spPr>
          <a:xfrm>
            <a:off x="704088" y="4864608"/>
            <a:ext cx="128016" cy="128016"/>
          </a:xfrm>
          <a:prstGeom prst="roundRect">
            <a:avLst/>
          </a:prstGeom>
          <a:solidFill>
            <a:srgbClr val="FFFFFF"/>
          </a:solidFill>
          <a:ln w="12700">
            <a:solidFill>
              <a:srgbClr val="1E2761"/>
            </a:solidFill>
            <a:prstDash val="solid"/>
          </a:ln>
        </p:spPr>
      </p:sp>
      <p:sp>
        <p:nvSpPr>
          <p:cNvPr id="25" name="Text 23"/>
          <p:cNvSpPr/>
          <p:nvPr/>
        </p:nvSpPr>
        <p:spPr>
          <a:xfrm>
            <a:off x="914400" y="4818888"/>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Custom Component</a:t>
            </a:r>
            <a:endParaRPr lang="en-US" sz="1050" dirty="0"/>
          </a:p>
        </p:txBody>
      </p:sp>
      <p:sp>
        <p:nvSpPr>
          <p:cNvPr id="26" name="Shape 24"/>
          <p:cNvSpPr/>
          <p:nvPr/>
        </p:nvSpPr>
        <p:spPr>
          <a:xfrm>
            <a:off x="704088" y="5152644"/>
            <a:ext cx="128016" cy="128016"/>
          </a:xfrm>
          <a:prstGeom prst="roundRect">
            <a:avLst/>
          </a:prstGeom>
          <a:solidFill>
            <a:srgbClr val="FFFFFF"/>
          </a:solidFill>
          <a:ln w="12700">
            <a:solidFill>
              <a:srgbClr val="1E2761"/>
            </a:solidFill>
            <a:prstDash val="solid"/>
          </a:ln>
        </p:spPr>
      </p:sp>
      <p:sp>
        <p:nvSpPr>
          <p:cNvPr id="27" name="Text 25"/>
          <p:cNvSpPr/>
          <p:nvPr/>
        </p:nvSpPr>
        <p:spPr>
          <a:xfrm>
            <a:off x="914400" y="5106924"/>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Renderer</a:t>
            </a:r>
            <a:endParaRPr lang="en-US" sz="1050" dirty="0"/>
          </a:p>
        </p:txBody>
      </p:sp>
      <p:sp>
        <p:nvSpPr>
          <p:cNvPr id="28" name="Shape 26"/>
          <p:cNvSpPr/>
          <p:nvPr/>
        </p:nvSpPr>
        <p:spPr>
          <a:xfrm>
            <a:off x="704088" y="5440680"/>
            <a:ext cx="128016" cy="128016"/>
          </a:xfrm>
          <a:prstGeom prst="roundRect">
            <a:avLst/>
          </a:prstGeom>
          <a:solidFill>
            <a:srgbClr val="FFFFFF"/>
          </a:solidFill>
          <a:ln w="12700">
            <a:solidFill>
              <a:srgbClr val="1E2761"/>
            </a:solidFill>
            <a:prstDash val="solid"/>
          </a:ln>
        </p:spPr>
      </p:sp>
      <p:sp>
        <p:nvSpPr>
          <p:cNvPr id="29" name="Text 27"/>
          <p:cNvSpPr/>
          <p:nvPr/>
        </p:nvSpPr>
        <p:spPr>
          <a:xfrm>
            <a:off x="914400" y="5394960"/>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Schema Validation</a:t>
            </a:r>
            <a:endParaRPr lang="en-US" sz="1050" dirty="0"/>
          </a:p>
        </p:txBody>
      </p:sp>
      <p:sp>
        <p:nvSpPr>
          <p:cNvPr id="30" name="Shape 28"/>
          <p:cNvSpPr/>
          <p:nvPr/>
        </p:nvSpPr>
        <p:spPr>
          <a:xfrm>
            <a:off x="4297680" y="2011680"/>
            <a:ext cx="3657600" cy="4206240"/>
          </a:xfrm>
          <a:prstGeom prst="roundRect">
            <a:avLst>
              <a:gd name="adj" fmla="val 2000"/>
            </a:avLst>
          </a:prstGeom>
          <a:solidFill>
            <a:srgbClr val="DCEFF0"/>
          </a:solidFill>
          <a:ln/>
        </p:spPr>
      </p:sp>
      <p:sp>
        <p:nvSpPr>
          <p:cNvPr id="31" name="Text 29"/>
          <p:cNvSpPr/>
          <p:nvPr/>
        </p:nvSpPr>
        <p:spPr>
          <a:xfrm>
            <a:off x="4480560" y="2121408"/>
            <a:ext cx="3291840" cy="320040"/>
          </a:xfrm>
          <a:prstGeom prst="rect">
            <a:avLst/>
          </a:prstGeom>
          <a:noFill/>
          <a:ln/>
        </p:spPr>
        <p:txBody>
          <a:bodyPr wrap="square" lIns="0" tIns="0" rIns="0" bIns="0" rtlCol="0" anchor="ctr"/>
          <a:lstStyle/>
          <a:p>
            <a:pPr indent="0" marL="0">
              <a:buNone/>
            </a:pPr>
            <a:r>
              <a:rPr lang="en-US" sz="1350" b="1" dirty="0">
                <a:solidFill>
                  <a:srgbClr val="015C66"/>
                </a:solidFill>
                <a:latin typeface="Calibri" pitchFamily="34" charset="0"/>
                <a:ea typeface="Calibri" pitchFamily="34" charset="-122"/>
                <a:cs typeface="Calibri" pitchFamily="34" charset="-120"/>
              </a:rPr>
              <a:t>AG-UI</a:t>
            </a:r>
            <a:endParaRPr lang="en-US" sz="1350" dirty="0"/>
          </a:p>
        </p:txBody>
      </p:sp>
      <p:sp>
        <p:nvSpPr>
          <p:cNvPr id="32" name="Shape 30"/>
          <p:cNvSpPr/>
          <p:nvPr/>
        </p:nvSpPr>
        <p:spPr>
          <a:xfrm>
            <a:off x="4498848" y="2560320"/>
            <a:ext cx="128016" cy="128016"/>
          </a:xfrm>
          <a:prstGeom prst="roundRect">
            <a:avLst/>
          </a:prstGeom>
          <a:solidFill>
            <a:srgbClr val="FFFFFF"/>
          </a:solidFill>
          <a:ln w="12700">
            <a:solidFill>
              <a:srgbClr val="015C66"/>
            </a:solidFill>
            <a:prstDash val="solid"/>
          </a:ln>
        </p:spPr>
      </p:sp>
      <p:sp>
        <p:nvSpPr>
          <p:cNvPr id="33" name="Text 31"/>
          <p:cNvSpPr/>
          <p:nvPr/>
        </p:nvSpPr>
        <p:spPr>
          <a:xfrm>
            <a:off x="4709160" y="2514600"/>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RUN_STARTED</a:t>
            </a:r>
            <a:endParaRPr lang="en-US" sz="1050" dirty="0"/>
          </a:p>
        </p:txBody>
      </p:sp>
      <p:sp>
        <p:nvSpPr>
          <p:cNvPr id="34" name="Shape 32"/>
          <p:cNvSpPr/>
          <p:nvPr/>
        </p:nvSpPr>
        <p:spPr>
          <a:xfrm>
            <a:off x="4498848" y="2848356"/>
            <a:ext cx="128016" cy="128016"/>
          </a:xfrm>
          <a:prstGeom prst="roundRect">
            <a:avLst/>
          </a:prstGeom>
          <a:solidFill>
            <a:srgbClr val="FFFFFF"/>
          </a:solidFill>
          <a:ln w="12700">
            <a:solidFill>
              <a:srgbClr val="015C66"/>
            </a:solidFill>
            <a:prstDash val="solid"/>
          </a:ln>
        </p:spPr>
      </p:sp>
      <p:sp>
        <p:nvSpPr>
          <p:cNvPr id="35" name="Text 33"/>
          <p:cNvSpPr/>
          <p:nvPr/>
        </p:nvSpPr>
        <p:spPr>
          <a:xfrm>
            <a:off x="4709160" y="2802636"/>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TEXT_MESSAGE streaming</a:t>
            </a:r>
            <a:endParaRPr lang="en-US" sz="1050" dirty="0"/>
          </a:p>
        </p:txBody>
      </p:sp>
      <p:sp>
        <p:nvSpPr>
          <p:cNvPr id="36" name="Shape 34"/>
          <p:cNvSpPr/>
          <p:nvPr/>
        </p:nvSpPr>
        <p:spPr>
          <a:xfrm>
            <a:off x="4498848" y="3136392"/>
            <a:ext cx="128016" cy="128016"/>
          </a:xfrm>
          <a:prstGeom prst="roundRect">
            <a:avLst/>
          </a:prstGeom>
          <a:solidFill>
            <a:srgbClr val="FFFFFF"/>
          </a:solidFill>
          <a:ln w="12700">
            <a:solidFill>
              <a:srgbClr val="015C66"/>
            </a:solidFill>
            <a:prstDash val="solid"/>
          </a:ln>
        </p:spPr>
      </p:sp>
      <p:sp>
        <p:nvSpPr>
          <p:cNvPr id="37" name="Text 35"/>
          <p:cNvSpPr/>
          <p:nvPr/>
        </p:nvSpPr>
        <p:spPr>
          <a:xfrm>
            <a:off x="4709160" y="3090672"/>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TOOL_CALL</a:t>
            </a:r>
            <a:endParaRPr lang="en-US" sz="1050" dirty="0"/>
          </a:p>
        </p:txBody>
      </p:sp>
      <p:sp>
        <p:nvSpPr>
          <p:cNvPr id="38" name="Shape 36"/>
          <p:cNvSpPr/>
          <p:nvPr/>
        </p:nvSpPr>
        <p:spPr>
          <a:xfrm>
            <a:off x="4498848" y="3424428"/>
            <a:ext cx="128016" cy="128016"/>
          </a:xfrm>
          <a:prstGeom prst="roundRect">
            <a:avLst/>
          </a:prstGeom>
          <a:solidFill>
            <a:srgbClr val="FFFFFF"/>
          </a:solidFill>
          <a:ln w="12700">
            <a:solidFill>
              <a:srgbClr val="015C66"/>
            </a:solidFill>
            <a:prstDash val="solid"/>
          </a:ln>
        </p:spPr>
      </p:sp>
      <p:sp>
        <p:nvSpPr>
          <p:cNvPr id="39" name="Text 37"/>
          <p:cNvSpPr/>
          <p:nvPr/>
        </p:nvSpPr>
        <p:spPr>
          <a:xfrm>
            <a:off x="4709160" y="3378708"/>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STATE_SNAPSHOT</a:t>
            </a:r>
            <a:endParaRPr lang="en-US" sz="1050" dirty="0"/>
          </a:p>
        </p:txBody>
      </p:sp>
      <p:sp>
        <p:nvSpPr>
          <p:cNvPr id="40" name="Shape 38"/>
          <p:cNvSpPr/>
          <p:nvPr/>
        </p:nvSpPr>
        <p:spPr>
          <a:xfrm>
            <a:off x="4498848" y="3712464"/>
            <a:ext cx="128016" cy="128016"/>
          </a:xfrm>
          <a:prstGeom prst="roundRect">
            <a:avLst/>
          </a:prstGeom>
          <a:solidFill>
            <a:srgbClr val="FFFFFF"/>
          </a:solidFill>
          <a:ln w="12700">
            <a:solidFill>
              <a:srgbClr val="015C66"/>
            </a:solidFill>
            <a:prstDash val="solid"/>
          </a:ln>
        </p:spPr>
      </p:sp>
      <p:sp>
        <p:nvSpPr>
          <p:cNvPr id="41" name="Text 39"/>
          <p:cNvSpPr/>
          <p:nvPr/>
        </p:nvSpPr>
        <p:spPr>
          <a:xfrm>
            <a:off x="4709160" y="3666744"/>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STATE_DELTA</a:t>
            </a:r>
            <a:endParaRPr lang="en-US" sz="1050" dirty="0"/>
          </a:p>
        </p:txBody>
      </p:sp>
      <p:sp>
        <p:nvSpPr>
          <p:cNvPr id="42" name="Shape 40"/>
          <p:cNvSpPr/>
          <p:nvPr/>
        </p:nvSpPr>
        <p:spPr>
          <a:xfrm>
            <a:off x="4498848" y="4000500"/>
            <a:ext cx="128016" cy="128016"/>
          </a:xfrm>
          <a:prstGeom prst="roundRect">
            <a:avLst/>
          </a:prstGeom>
          <a:solidFill>
            <a:srgbClr val="FFFFFF"/>
          </a:solidFill>
          <a:ln w="12700">
            <a:solidFill>
              <a:srgbClr val="015C66"/>
            </a:solidFill>
            <a:prstDash val="solid"/>
          </a:ln>
        </p:spPr>
      </p:sp>
      <p:sp>
        <p:nvSpPr>
          <p:cNvPr id="43" name="Text 41"/>
          <p:cNvSpPr/>
          <p:nvPr/>
        </p:nvSpPr>
        <p:spPr>
          <a:xfrm>
            <a:off x="4709160" y="3954780"/>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CUSTOM Event</a:t>
            </a:r>
            <a:endParaRPr lang="en-US" sz="1050" dirty="0"/>
          </a:p>
        </p:txBody>
      </p:sp>
      <p:sp>
        <p:nvSpPr>
          <p:cNvPr id="44" name="Shape 42"/>
          <p:cNvSpPr/>
          <p:nvPr/>
        </p:nvSpPr>
        <p:spPr>
          <a:xfrm>
            <a:off x="4498848" y="4288536"/>
            <a:ext cx="128016" cy="128016"/>
          </a:xfrm>
          <a:prstGeom prst="roundRect">
            <a:avLst/>
          </a:prstGeom>
          <a:solidFill>
            <a:srgbClr val="FFFFFF"/>
          </a:solidFill>
          <a:ln w="12700">
            <a:solidFill>
              <a:srgbClr val="015C66"/>
            </a:solidFill>
            <a:prstDash val="solid"/>
          </a:ln>
        </p:spPr>
      </p:sp>
      <p:sp>
        <p:nvSpPr>
          <p:cNvPr id="45" name="Text 43"/>
          <p:cNvSpPr/>
          <p:nvPr/>
        </p:nvSpPr>
        <p:spPr>
          <a:xfrm>
            <a:off x="4709160" y="4242816"/>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Metadata</a:t>
            </a:r>
            <a:endParaRPr lang="en-US" sz="1050" dirty="0"/>
          </a:p>
        </p:txBody>
      </p:sp>
      <p:sp>
        <p:nvSpPr>
          <p:cNvPr id="46" name="Shape 44"/>
          <p:cNvSpPr/>
          <p:nvPr/>
        </p:nvSpPr>
        <p:spPr>
          <a:xfrm>
            <a:off x="4498848" y="4576572"/>
            <a:ext cx="128016" cy="128016"/>
          </a:xfrm>
          <a:prstGeom prst="roundRect">
            <a:avLst/>
          </a:prstGeom>
          <a:solidFill>
            <a:srgbClr val="FFFFFF"/>
          </a:solidFill>
          <a:ln w="12700">
            <a:solidFill>
              <a:srgbClr val="015C66"/>
            </a:solidFill>
            <a:prstDash val="solid"/>
          </a:ln>
        </p:spPr>
      </p:sp>
      <p:sp>
        <p:nvSpPr>
          <p:cNvPr id="47" name="Text 45"/>
          <p:cNvSpPr/>
          <p:nvPr/>
        </p:nvSpPr>
        <p:spPr>
          <a:xfrm>
            <a:off x="4709160" y="4530852"/>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Interrupt</a:t>
            </a:r>
            <a:endParaRPr lang="en-US" sz="1050" dirty="0"/>
          </a:p>
        </p:txBody>
      </p:sp>
      <p:sp>
        <p:nvSpPr>
          <p:cNvPr id="48" name="Shape 46"/>
          <p:cNvSpPr/>
          <p:nvPr/>
        </p:nvSpPr>
        <p:spPr>
          <a:xfrm>
            <a:off x="4498848" y="4864608"/>
            <a:ext cx="128016" cy="128016"/>
          </a:xfrm>
          <a:prstGeom prst="roundRect">
            <a:avLst/>
          </a:prstGeom>
          <a:solidFill>
            <a:srgbClr val="FFFFFF"/>
          </a:solidFill>
          <a:ln w="12700">
            <a:solidFill>
              <a:srgbClr val="015C66"/>
            </a:solidFill>
            <a:prstDash val="solid"/>
          </a:ln>
        </p:spPr>
      </p:sp>
      <p:sp>
        <p:nvSpPr>
          <p:cNvPr id="49" name="Text 47"/>
          <p:cNvSpPr/>
          <p:nvPr/>
        </p:nvSpPr>
        <p:spPr>
          <a:xfrm>
            <a:off x="4709160" y="4818888"/>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Middleware</a:t>
            </a:r>
            <a:endParaRPr lang="en-US" sz="1050" dirty="0"/>
          </a:p>
        </p:txBody>
      </p:sp>
      <p:sp>
        <p:nvSpPr>
          <p:cNvPr id="50" name="Shape 48"/>
          <p:cNvSpPr/>
          <p:nvPr/>
        </p:nvSpPr>
        <p:spPr>
          <a:xfrm>
            <a:off x="4498848" y="5152644"/>
            <a:ext cx="128016" cy="128016"/>
          </a:xfrm>
          <a:prstGeom prst="roundRect">
            <a:avLst/>
          </a:prstGeom>
          <a:solidFill>
            <a:srgbClr val="FFFFFF"/>
          </a:solidFill>
          <a:ln w="12700">
            <a:solidFill>
              <a:srgbClr val="015C66"/>
            </a:solidFill>
            <a:prstDash val="solid"/>
          </a:ln>
        </p:spPr>
      </p:sp>
      <p:sp>
        <p:nvSpPr>
          <p:cNvPr id="51" name="Text 49"/>
          <p:cNvSpPr/>
          <p:nvPr/>
        </p:nvSpPr>
        <p:spPr>
          <a:xfrm>
            <a:off x="4709160" y="5106924"/>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Error Handling</a:t>
            </a:r>
            <a:endParaRPr lang="en-US" sz="1050" dirty="0"/>
          </a:p>
        </p:txBody>
      </p:sp>
      <p:sp>
        <p:nvSpPr>
          <p:cNvPr id="52" name="Shape 50"/>
          <p:cNvSpPr/>
          <p:nvPr/>
        </p:nvSpPr>
        <p:spPr>
          <a:xfrm>
            <a:off x="4498848" y="5440680"/>
            <a:ext cx="128016" cy="128016"/>
          </a:xfrm>
          <a:prstGeom prst="roundRect">
            <a:avLst/>
          </a:prstGeom>
          <a:solidFill>
            <a:srgbClr val="FFFFFF"/>
          </a:solidFill>
          <a:ln w="12700">
            <a:solidFill>
              <a:srgbClr val="015C66"/>
            </a:solidFill>
            <a:prstDash val="solid"/>
          </a:ln>
        </p:spPr>
      </p:sp>
      <p:sp>
        <p:nvSpPr>
          <p:cNvPr id="53" name="Text 51"/>
          <p:cNvSpPr/>
          <p:nvPr/>
        </p:nvSpPr>
        <p:spPr>
          <a:xfrm>
            <a:off x="4709160" y="5394960"/>
            <a:ext cx="306324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Serialization</a:t>
            </a:r>
            <a:endParaRPr lang="en-US" sz="1050" dirty="0"/>
          </a:p>
        </p:txBody>
      </p:sp>
      <p:sp>
        <p:nvSpPr>
          <p:cNvPr id="54" name="Shape 52"/>
          <p:cNvSpPr/>
          <p:nvPr/>
        </p:nvSpPr>
        <p:spPr>
          <a:xfrm>
            <a:off x="8092440" y="2011680"/>
            <a:ext cx="3566160" cy="4206240"/>
          </a:xfrm>
          <a:prstGeom prst="roundRect">
            <a:avLst>
              <a:gd name="adj" fmla="val 2051"/>
            </a:avLst>
          </a:prstGeom>
          <a:solidFill>
            <a:srgbClr val="F2F3F8"/>
          </a:solidFill>
          <a:ln/>
        </p:spPr>
      </p:sp>
      <p:sp>
        <p:nvSpPr>
          <p:cNvPr id="55" name="Text 53"/>
          <p:cNvSpPr/>
          <p:nvPr/>
        </p:nvSpPr>
        <p:spPr>
          <a:xfrm>
            <a:off x="8275320" y="2121408"/>
            <a:ext cx="3200400" cy="320040"/>
          </a:xfrm>
          <a:prstGeom prst="rect">
            <a:avLst/>
          </a:prstGeom>
          <a:noFill/>
          <a:ln/>
        </p:spPr>
        <p:txBody>
          <a:bodyPr wrap="square" lIns="0" tIns="0" rIns="0" bIns="0"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Integration</a:t>
            </a:r>
            <a:endParaRPr lang="en-US" sz="1350" dirty="0"/>
          </a:p>
        </p:txBody>
      </p:sp>
      <p:sp>
        <p:nvSpPr>
          <p:cNvPr id="56" name="Shape 54"/>
          <p:cNvSpPr/>
          <p:nvPr/>
        </p:nvSpPr>
        <p:spPr>
          <a:xfrm>
            <a:off x="8293608" y="2560320"/>
            <a:ext cx="128016" cy="128016"/>
          </a:xfrm>
          <a:prstGeom prst="roundRect">
            <a:avLst/>
          </a:prstGeom>
          <a:solidFill>
            <a:srgbClr val="FFFFFF"/>
          </a:solidFill>
          <a:ln w="12700">
            <a:solidFill>
              <a:srgbClr val="1A1A2E"/>
            </a:solidFill>
            <a:prstDash val="solid"/>
          </a:ln>
        </p:spPr>
      </p:sp>
      <p:sp>
        <p:nvSpPr>
          <p:cNvPr id="57" name="Text 55"/>
          <p:cNvSpPr/>
          <p:nvPr/>
        </p:nvSpPr>
        <p:spPr>
          <a:xfrm>
            <a:off x="8503920" y="2514600"/>
            <a:ext cx="297180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AG-UI経由でA2UI messageを配送</a:t>
            </a:r>
            <a:endParaRPr lang="en-US" sz="1050" dirty="0"/>
          </a:p>
        </p:txBody>
      </p:sp>
      <p:sp>
        <p:nvSpPr>
          <p:cNvPr id="58" name="Shape 56"/>
          <p:cNvSpPr/>
          <p:nvPr/>
        </p:nvSpPr>
        <p:spPr>
          <a:xfrm>
            <a:off x="8293608" y="2848356"/>
            <a:ext cx="128016" cy="128016"/>
          </a:xfrm>
          <a:prstGeom prst="roundRect">
            <a:avLst/>
          </a:prstGeom>
          <a:solidFill>
            <a:srgbClr val="FFFFFF"/>
          </a:solidFill>
          <a:ln w="12700">
            <a:solidFill>
              <a:srgbClr val="1A1A2E"/>
            </a:solidFill>
            <a:prstDash val="solid"/>
          </a:ln>
        </p:spPr>
      </p:sp>
      <p:sp>
        <p:nvSpPr>
          <p:cNvPr id="59" name="Text 57"/>
          <p:cNvSpPr/>
          <p:nvPr/>
        </p:nvSpPr>
        <p:spPr>
          <a:xfrm>
            <a:off x="8503920" y="2802636"/>
            <a:ext cx="297180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A2UI Rendererで UI表示</a:t>
            </a:r>
            <a:endParaRPr lang="en-US" sz="1050" dirty="0"/>
          </a:p>
        </p:txBody>
      </p:sp>
      <p:sp>
        <p:nvSpPr>
          <p:cNvPr id="60" name="Shape 58"/>
          <p:cNvSpPr/>
          <p:nvPr/>
        </p:nvSpPr>
        <p:spPr>
          <a:xfrm>
            <a:off x="8293608" y="3136392"/>
            <a:ext cx="128016" cy="128016"/>
          </a:xfrm>
          <a:prstGeom prst="roundRect">
            <a:avLst/>
          </a:prstGeom>
          <a:solidFill>
            <a:srgbClr val="FFFFFF"/>
          </a:solidFill>
          <a:ln w="12700">
            <a:solidFill>
              <a:srgbClr val="1A1A2E"/>
            </a:solidFill>
            <a:prstDash val="solid"/>
          </a:ln>
        </p:spPr>
      </p:sp>
      <p:sp>
        <p:nvSpPr>
          <p:cNvPr id="61" name="Text 59"/>
          <p:cNvSpPr/>
          <p:nvPr/>
        </p:nvSpPr>
        <p:spPr>
          <a:xfrm>
            <a:off x="8503920" y="3090672"/>
            <a:ext cx="297180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User ActionをAgentに返却</a:t>
            </a:r>
            <a:endParaRPr lang="en-US" sz="1050" dirty="0"/>
          </a:p>
        </p:txBody>
      </p:sp>
      <p:sp>
        <p:nvSpPr>
          <p:cNvPr id="62" name="Shape 60"/>
          <p:cNvSpPr/>
          <p:nvPr/>
        </p:nvSpPr>
        <p:spPr>
          <a:xfrm>
            <a:off x="8293608" y="3424428"/>
            <a:ext cx="128016" cy="128016"/>
          </a:xfrm>
          <a:prstGeom prst="roundRect">
            <a:avLst/>
          </a:prstGeom>
          <a:solidFill>
            <a:srgbClr val="FFFFFF"/>
          </a:solidFill>
          <a:ln w="12700">
            <a:solidFill>
              <a:srgbClr val="1A1A2E"/>
            </a:solidFill>
            <a:prstDash val="solid"/>
          </a:ln>
        </p:spPr>
      </p:sp>
      <p:sp>
        <p:nvSpPr>
          <p:cNvPr id="63" name="Text 61"/>
          <p:cNvSpPr/>
          <p:nvPr/>
        </p:nvSpPr>
        <p:spPr>
          <a:xfrm>
            <a:off x="8503920" y="3378708"/>
            <a:ext cx="297180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State同期</a:t>
            </a:r>
            <a:endParaRPr lang="en-US" sz="1050" dirty="0"/>
          </a:p>
        </p:txBody>
      </p:sp>
      <p:sp>
        <p:nvSpPr>
          <p:cNvPr id="64" name="Shape 62"/>
          <p:cNvSpPr/>
          <p:nvPr/>
        </p:nvSpPr>
        <p:spPr>
          <a:xfrm>
            <a:off x="8293608" y="3712464"/>
            <a:ext cx="128016" cy="128016"/>
          </a:xfrm>
          <a:prstGeom prst="roundRect">
            <a:avLst/>
          </a:prstGeom>
          <a:solidFill>
            <a:srgbClr val="FFFFFF"/>
          </a:solidFill>
          <a:ln w="12700">
            <a:solidFill>
              <a:srgbClr val="1A1A2E"/>
            </a:solidFill>
            <a:prstDash val="solid"/>
          </a:ln>
        </p:spPr>
      </p:sp>
      <p:sp>
        <p:nvSpPr>
          <p:cNvPr id="65" name="Text 63"/>
          <p:cNvSpPr/>
          <p:nvPr/>
        </p:nvSpPr>
        <p:spPr>
          <a:xfrm>
            <a:off x="8503920" y="3666744"/>
            <a:ext cx="297180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Tool実行</a:t>
            </a:r>
            <a:endParaRPr lang="en-US" sz="1050" dirty="0"/>
          </a:p>
        </p:txBody>
      </p:sp>
      <p:sp>
        <p:nvSpPr>
          <p:cNvPr id="66" name="Shape 64"/>
          <p:cNvSpPr/>
          <p:nvPr/>
        </p:nvSpPr>
        <p:spPr>
          <a:xfrm>
            <a:off x="8293608" y="4000500"/>
            <a:ext cx="128016" cy="128016"/>
          </a:xfrm>
          <a:prstGeom prst="roundRect">
            <a:avLst/>
          </a:prstGeom>
          <a:solidFill>
            <a:srgbClr val="FFFFFF"/>
          </a:solidFill>
          <a:ln w="12700">
            <a:solidFill>
              <a:srgbClr val="1A1A2E"/>
            </a:solidFill>
            <a:prstDash val="solid"/>
          </a:ln>
        </p:spPr>
      </p:sp>
      <p:sp>
        <p:nvSpPr>
          <p:cNvPr id="67" name="Text 65"/>
          <p:cNvSpPr/>
          <p:nvPr/>
        </p:nvSpPr>
        <p:spPr>
          <a:xfrm>
            <a:off x="8503920" y="3954780"/>
            <a:ext cx="2971800" cy="25603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Human Approval</a:t>
            </a:r>
            <a:endParaRPr lang="en-US" sz="1050" dirty="0"/>
          </a:p>
        </p:txBody>
      </p:sp>
      <p:sp>
        <p:nvSpPr>
          <p:cNvPr id="68" name="Text 66"/>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判断</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採用判断</a:t>
            </a:r>
            <a:endParaRPr lang="en-US" sz="2800" dirty="0"/>
          </a:p>
        </p:txBody>
      </p:sp>
      <p:sp>
        <p:nvSpPr>
          <p:cNvPr id="5" name="Shape 3"/>
          <p:cNvSpPr/>
          <p:nvPr/>
        </p:nvSpPr>
        <p:spPr>
          <a:xfrm>
            <a:off x="502920" y="1645920"/>
            <a:ext cx="5394960" cy="4297680"/>
          </a:xfrm>
          <a:prstGeom prst="roundRect">
            <a:avLst>
              <a:gd name="adj" fmla="val 1702"/>
            </a:avLst>
          </a:prstGeom>
          <a:solidFill>
            <a:srgbClr val="E7EAF6"/>
          </a:solidFill>
          <a:ln/>
        </p:spPr>
      </p:sp>
      <p:sp>
        <p:nvSpPr>
          <p:cNvPr id="6" name="Text 4"/>
          <p:cNvSpPr/>
          <p:nvPr/>
        </p:nvSpPr>
        <p:spPr>
          <a:xfrm>
            <a:off x="685800" y="1773936"/>
            <a:ext cx="502920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A2UI</a:t>
            </a:r>
            <a:endParaRPr lang="en-US" sz="1450" dirty="0"/>
          </a:p>
        </p:txBody>
      </p:sp>
      <p:sp>
        <p:nvSpPr>
          <p:cNvPr id="7" name="Text 5"/>
          <p:cNvSpPr/>
          <p:nvPr/>
        </p:nvSpPr>
        <p:spPr>
          <a:xfrm>
            <a:off x="685800" y="2148840"/>
            <a:ext cx="5029200" cy="274320"/>
          </a:xfrm>
          <a:prstGeom prst="rect">
            <a:avLst/>
          </a:prstGeom>
          <a:noFill/>
          <a:ln/>
        </p:spPr>
        <p:txBody>
          <a:bodyPr wrap="square" lIns="0" tIns="0" rIns="0" bIns="0" rtlCol="0" anchor="ctr"/>
          <a:lstStyle/>
          <a:p>
            <a:pPr indent="0" marL="0">
              <a:buNone/>
            </a:pPr>
            <a:r>
              <a:rPr lang="en-US" sz="1150" b="1" dirty="0">
                <a:solidFill>
                  <a:srgbClr val="1A1A2E"/>
                </a:solidFill>
                <a:latin typeface="Calibri" pitchFamily="34" charset="0"/>
                <a:ea typeface="Calibri" pitchFamily="34" charset="-122"/>
                <a:cs typeface="Calibri" pitchFamily="34" charset="-120"/>
              </a:rPr>
              <a:t>向いているケース</a:t>
            </a:r>
            <a:endParaRPr lang="en-US" sz="1150" dirty="0"/>
          </a:p>
        </p:txBody>
      </p:sp>
      <p:sp>
        <p:nvSpPr>
          <p:cNvPr id="8" name="Text 6"/>
          <p:cNvSpPr/>
          <p:nvPr/>
        </p:nvSpPr>
        <p:spPr>
          <a:xfrm>
            <a:off x="685800" y="2423160"/>
            <a:ext cx="5029200" cy="123444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・Agentに動的UIを生成させたい</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・自社Design Systemを守りたい</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・Mobile/Webを共通化したい</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・Remote Agentを安全にUIへ接続したい</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・AgentからHTML/JSを送らせたくない</a:t>
            </a:r>
            <a:endParaRPr lang="en-US" sz="1000" dirty="0"/>
          </a:p>
        </p:txBody>
      </p:sp>
      <p:sp>
        <p:nvSpPr>
          <p:cNvPr id="9" name="Text 7"/>
          <p:cNvSpPr/>
          <p:nvPr/>
        </p:nvSpPr>
        <p:spPr>
          <a:xfrm>
            <a:off x="685800" y="3703320"/>
            <a:ext cx="5029200" cy="274320"/>
          </a:xfrm>
          <a:prstGeom prst="rect">
            <a:avLst/>
          </a:prstGeom>
          <a:noFill/>
          <a:ln/>
        </p:spPr>
        <p:txBody>
          <a:bodyPr wrap="square" lIns="0" tIns="0" rIns="0" bIns="0" rtlCol="0" anchor="ctr"/>
          <a:lstStyle/>
          <a:p>
            <a:pPr indent="0" marL="0">
              <a:buNone/>
            </a:pPr>
            <a:r>
              <a:rPr lang="en-US" sz="1150" b="1" dirty="0">
                <a:solidFill>
                  <a:srgbClr val="1A1A2E"/>
                </a:solidFill>
                <a:latin typeface="Calibri" pitchFamily="34" charset="0"/>
                <a:ea typeface="Calibri" pitchFamily="34" charset="-122"/>
                <a:cs typeface="Calibri" pitchFamily="34" charset="-120"/>
              </a:rPr>
              <a:t>不要なケース</a:t>
            </a:r>
            <a:endParaRPr lang="en-US" sz="1150" dirty="0"/>
          </a:p>
        </p:txBody>
      </p:sp>
      <p:sp>
        <p:nvSpPr>
          <p:cNvPr id="10" name="Text 8"/>
          <p:cNvSpPr/>
          <p:nvPr/>
        </p:nvSpPr>
        <p:spPr>
          <a:xfrm>
            <a:off x="685800" y="3977640"/>
            <a:ext cx="5029200" cy="100584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・Text Chatのみ</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・Markdownのみ</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・Static Website</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・AgentがUIを生成しない</a:t>
            </a:r>
            <a:endParaRPr lang="en-US" sz="1000" dirty="0"/>
          </a:p>
        </p:txBody>
      </p:sp>
      <p:sp>
        <p:nvSpPr>
          <p:cNvPr id="11" name="Shape 9"/>
          <p:cNvSpPr/>
          <p:nvPr/>
        </p:nvSpPr>
        <p:spPr>
          <a:xfrm>
            <a:off x="6172200" y="1645920"/>
            <a:ext cx="5394960" cy="4297680"/>
          </a:xfrm>
          <a:prstGeom prst="roundRect">
            <a:avLst>
              <a:gd name="adj" fmla="val 1702"/>
            </a:avLst>
          </a:prstGeom>
          <a:solidFill>
            <a:srgbClr val="DCEFF0"/>
          </a:solidFill>
          <a:ln/>
        </p:spPr>
      </p:sp>
      <p:sp>
        <p:nvSpPr>
          <p:cNvPr id="12" name="Text 10"/>
          <p:cNvSpPr/>
          <p:nvPr/>
        </p:nvSpPr>
        <p:spPr>
          <a:xfrm>
            <a:off x="6355080" y="1773936"/>
            <a:ext cx="5029200" cy="320040"/>
          </a:xfrm>
          <a:prstGeom prst="rect">
            <a:avLst/>
          </a:prstGeom>
          <a:noFill/>
          <a:ln/>
        </p:spPr>
        <p:txBody>
          <a:bodyPr wrap="square" lIns="0" tIns="0" rIns="0" bIns="0" rtlCol="0" anchor="ctr"/>
          <a:lstStyle/>
          <a:p>
            <a:pPr indent="0" marL="0">
              <a:buNone/>
            </a:pPr>
            <a:r>
              <a:rPr lang="en-US" sz="1450" b="1" dirty="0">
                <a:solidFill>
                  <a:srgbClr val="015C66"/>
                </a:solidFill>
                <a:latin typeface="Calibri" pitchFamily="34" charset="0"/>
                <a:ea typeface="Calibri" pitchFamily="34" charset="-122"/>
                <a:cs typeface="Calibri" pitchFamily="34" charset="-120"/>
              </a:rPr>
              <a:t>AG-UI</a:t>
            </a:r>
            <a:endParaRPr lang="en-US" sz="1450" dirty="0"/>
          </a:p>
        </p:txBody>
      </p:sp>
      <p:sp>
        <p:nvSpPr>
          <p:cNvPr id="13" name="Text 11"/>
          <p:cNvSpPr/>
          <p:nvPr/>
        </p:nvSpPr>
        <p:spPr>
          <a:xfrm>
            <a:off x="6355080" y="2148840"/>
            <a:ext cx="5029200" cy="274320"/>
          </a:xfrm>
          <a:prstGeom prst="rect">
            <a:avLst/>
          </a:prstGeom>
          <a:noFill/>
          <a:ln/>
        </p:spPr>
        <p:txBody>
          <a:bodyPr wrap="square" lIns="0" tIns="0" rIns="0" bIns="0" rtlCol="0" anchor="ctr"/>
          <a:lstStyle/>
          <a:p>
            <a:pPr indent="0" marL="0">
              <a:buNone/>
            </a:pPr>
            <a:r>
              <a:rPr lang="en-US" sz="1150" b="1" dirty="0">
                <a:solidFill>
                  <a:srgbClr val="1A1A2E"/>
                </a:solidFill>
                <a:latin typeface="Calibri" pitchFamily="34" charset="0"/>
                <a:ea typeface="Calibri" pitchFamily="34" charset="-122"/>
                <a:cs typeface="Calibri" pitchFamily="34" charset="-120"/>
              </a:rPr>
              <a:t>向いているケース</a:t>
            </a:r>
            <a:endParaRPr lang="en-US" sz="1150" dirty="0"/>
          </a:p>
        </p:txBody>
      </p:sp>
      <p:sp>
        <p:nvSpPr>
          <p:cNvPr id="14" name="Text 12"/>
          <p:cNvSpPr/>
          <p:nvPr/>
        </p:nvSpPr>
        <p:spPr>
          <a:xfrm>
            <a:off x="6355080" y="2423160"/>
            <a:ext cx="5029200" cy="123444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・Agent-Frontend間のStreamingを標準化したい</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・Tool/State/ProgressをUIに表示したい</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・Human in the Loopが必要</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・Agent Frameworkを差し替える可能性がある</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・複雑なAgentic Application</a:t>
            </a:r>
            <a:endParaRPr lang="en-US" sz="1000" dirty="0"/>
          </a:p>
        </p:txBody>
      </p:sp>
      <p:sp>
        <p:nvSpPr>
          <p:cNvPr id="15" name="Text 13"/>
          <p:cNvSpPr/>
          <p:nvPr/>
        </p:nvSpPr>
        <p:spPr>
          <a:xfrm>
            <a:off x="6355080" y="3703320"/>
            <a:ext cx="5029200" cy="274320"/>
          </a:xfrm>
          <a:prstGeom prst="rect">
            <a:avLst/>
          </a:prstGeom>
          <a:noFill/>
          <a:ln/>
        </p:spPr>
        <p:txBody>
          <a:bodyPr wrap="square" lIns="0" tIns="0" rIns="0" bIns="0" rtlCol="0" anchor="ctr"/>
          <a:lstStyle/>
          <a:p>
            <a:pPr indent="0" marL="0">
              <a:buNone/>
            </a:pPr>
            <a:r>
              <a:rPr lang="en-US" sz="1150" b="1" dirty="0">
                <a:solidFill>
                  <a:srgbClr val="1A1A2E"/>
                </a:solidFill>
                <a:latin typeface="Calibri" pitchFamily="34" charset="0"/>
                <a:ea typeface="Calibri" pitchFamily="34" charset="-122"/>
                <a:cs typeface="Calibri" pitchFamily="34" charset="-120"/>
              </a:rPr>
              <a:t>不要なケース</a:t>
            </a:r>
            <a:endParaRPr lang="en-US" sz="1150" dirty="0"/>
          </a:p>
        </p:txBody>
      </p:sp>
      <p:sp>
        <p:nvSpPr>
          <p:cNvPr id="16" name="Text 14"/>
          <p:cNvSpPr/>
          <p:nvPr/>
        </p:nvSpPr>
        <p:spPr>
          <a:xfrm>
            <a:off x="6355080" y="3977640"/>
            <a:ext cx="5029200" cy="100584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・単純なRequest/Response API</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・1回のLLM Callのみ</a:t>
            </a:r>
            <a:endParaRPr lang="en-US" sz="1000" dirty="0"/>
          </a:p>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・Frontend/AgentのShared Stateが不要</a:t>
            </a:r>
            <a:endParaRPr lang="en-US" sz="1000" dirty="0"/>
          </a:p>
        </p:txBody>
      </p:sp>
      <p:sp>
        <p:nvSpPr>
          <p:cNvPr id="17" name="Text 15"/>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1E2761"/>
          </a:solidFill>
          <a:ln/>
        </p:spPr>
      </p:sp>
      <p:sp>
        <p:nvSpPr>
          <p:cNvPr id="3" name="Shape 1"/>
          <p:cNvSpPr/>
          <p:nvPr/>
        </p:nvSpPr>
        <p:spPr>
          <a:xfrm>
            <a:off x="502920" y="411480"/>
            <a:ext cx="1417320" cy="329184"/>
          </a:xfrm>
          <a:prstGeom prst="roundRect">
            <a:avLst>
              <a:gd name="adj" fmla="val 50000"/>
            </a:avLst>
          </a:prstGeom>
          <a:solidFill>
            <a:srgbClr val="015C66"/>
          </a:solidFill>
          <a:ln/>
        </p:spPr>
      </p:sp>
      <p:sp>
        <p:nvSpPr>
          <p:cNvPr id="4" name="Text 2"/>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結論</a:t>
            </a:r>
            <a:endParaRPr lang="en-US" sz="1200" dirty="0"/>
          </a:p>
        </p:txBody>
      </p:sp>
      <p:sp>
        <p:nvSpPr>
          <p:cNvPr id="5" name="Text 3"/>
          <p:cNvSpPr/>
          <p:nvPr/>
        </p:nvSpPr>
        <p:spPr>
          <a:xfrm>
            <a:off x="502920" y="91440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結論：A2UI と AG-UI は競合ではない</a:t>
            </a:r>
            <a:endParaRPr lang="en-US" sz="3000" dirty="0"/>
          </a:p>
        </p:txBody>
      </p:sp>
      <p:sp>
        <p:nvSpPr>
          <p:cNvPr id="6" name="Shape 4"/>
          <p:cNvSpPr/>
          <p:nvPr/>
        </p:nvSpPr>
        <p:spPr>
          <a:xfrm>
            <a:off x="1751076" y="1783080"/>
            <a:ext cx="8686800" cy="566928"/>
          </a:xfrm>
          <a:prstGeom prst="roundRect">
            <a:avLst>
              <a:gd name="adj" fmla="val 9677"/>
            </a:avLst>
          </a:prstGeom>
          <a:solidFill>
            <a:srgbClr val="E7EAF6"/>
          </a:solidFill>
          <a:ln/>
        </p:spPr>
      </p:sp>
      <p:sp>
        <p:nvSpPr>
          <p:cNvPr id="7" name="Text 5"/>
          <p:cNvSpPr/>
          <p:nvPr/>
        </p:nvSpPr>
        <p:spPr>
          <a:xfrm>
            <a:off x="1979676" y="1783080"/>
            <a:ext cx="4114800" cy="566928"/>
          </a:xfrm>
          <a:prstGeom prst="rect">
            <a:avLst/>
          </a:prstGeom>
          <a:noFill/>
          <a:ln/>
        </p:spPr>
        <p:txBody>
          <a:bodyPr wrap="square" lIns="0" tIns="0" rIns="0" bIns="0" rtlCol="0" anchor="ctr"/>
          <a:lstStyle/>
          <a:p>
            <a:pPr indent="0" marL="0">
              <a:buNone/>
            </a:pPr>
            <a:r>
              <a:rPr lang="en-US" sz="1250" dirty="0">
                <a:solidFill>
                  <a:srgbClr val="1E2761"/>
                </a:solidFill>
                <a:latin typeface="Calibri" pitchFamily="34" charset="0"/>
                <a:ea typeface="Calibri" pitchFamily="34" charset="-122"/>
                <a:cs typeface="Calibri" pitchFamily="34" charset="-120"/>
              </a:rPr>
              <a:t>Presentation</a:t>
            </a:r>
            <a:endParaRPr lang="en-US" sz="1250" dirty="0"/>
          </a:p>
        </p:txBody>
      </p:sp>
      <p:sp>
        <p:nvSpPr>
          <p:cNvPr id="8" name="Text 6"/>
          <p:cNvSpPr/>
          <p:nvPr/>
        </p:nvSpPr>
        <p:spPr>
          <a:xfrm>
            <a:off x="6140196" y="1783080"/>
            <a:ext cx="4069080" cy="566928"/>
          </a:xfrm>
          <a:prstGeom prst="rect">
            <a:avLst/>
          </a:prstGeom>
          <a:noFill/>
          <a:ln/>
        </p:spPr>
        <p:txBody>
          <a:bodyPr wrap="square" lIns="0" tIns="0" rIns="0" bIns="0" rtlCol="0" anchor="ctr"/>
          <a:lstStyle/>
          <a:p>
            <a:pPr algn="r" indent="0" marL="0">
              <a:buNone/>
            </a:pPr>
            <a:r>
              <a:rPr lang="en-US" sz="1300" b="1" dirty="0">
                <a:solidFill>
                  <a:srgbClr val="1E2761"/>
                </a:solidFill>
                <a:latin typeface="Calibri" pitchFamily="34" charset="0"/>
                <a:ea typeface="Calibri" pitchFamily="34" charset="-122"/>
                <a:cs typeface="Calibri" pitchFamily="34" charset="-120"/>
              </a:rPr>
              <a:t>A2UI</a:t>
            </a:r>
            <a:endParaRPr lang="en-US" sz="1300" dirty="0"/>
          </a:p>
        </p:txBody>
      </p:sp>
      <p:sp>
        <p:nvSpPr>
          <p:cNvPr id="9" name="Shape 7"/>
          <p:cNvSpPr/>
          <p:nvPr/>
        </p:nvSpPr>
        <p:spPr>
          <a:xfrm>
            <a:off x="1751076" y="2441448"/>
            <a:ext cx="8686800" cy="566928"/>
          </a:xfrm>
          <a:prstGeom prst="roundRect">
            <a:avLst>
              <a:gd name="adj" fmla="val 9677"/>
            </a:avLst>
          </a:prstGeom>
          <a:solidFill>
            <a:srgbClr val="DCEFF0"/>
          </a:solidFill>
          <a:ln/>
        </p:spPr>
      </p:sp>
      <p:sp>
        <p:nvSpPr>
          <p:cNvPr id="10" name="Text 8"/>
          <p:cNvSpPr/>
          <p:nvPr/>
        </p:nvSpPr>
        <p:spPr>
          <a:xfrm>
            <a:off x="1979676" y="2441448"/>
            <a:ext cx="4114800" cy="566928"/>
          </a:xfrm>
          <a:prstGeom prst="rect">
            <a:avLst/>
          </a:prstGeom>
          <a:noFill/>
          <a:ln/>
        </p:spPr>
        <p:txBody>
          <a:bodyPr wrap="square" lIns="0" tIns="0" rIns="0" bIns="0" rtlCol="0" anchor="ctr"/>
          <a:lstStyle/>
          <a:p>
            <a:pPr indent="0" marL="0">
              <a:buNone/>
            </a:pPr>
            <a:r>
              <a:rPr lang="en-US" sz="1250" dirty="0">
                <a:solidFill>
                  <a:srgbClr val="015C66"/>
                </a:solidFill>
                <a:latin typeface="Calibri" pitchFamily="34" charset="0"/>
                <a:ea typeface="Calibri" pitchFamily="34" charset="-122"/>
                <a:cs typeface="Calibri" pitchFamily="34" charset="-120"/>
              </a:rPr>
              <a:t>Agent Interaction / Runtime</a:t>
            </a:r>
            <a:endParaRPr lang="en-US" sz="1250" dirty="0"/>
          </a:p>
        </p:txBody>
      </p:sp>
      <p:sp>
        <p:nvSpPr>
          <p:cNvPr id="11" name="Text 9"/>
          <p:cNvSpPr/>
          <p:nvPr/>
        </p:nvSpPr>
        <p:spPr>
          <a:xfrm>
            <a:off x="6140196" y="2441448"/>
            <a:ext cx="4069080" cy="566928"/>
          </a:xfrm>
          <a:prstGeom prst="rect">
            <a:avLst/>
          </a:prstGeom>
          <a:noFill/>
          <a:ln/>
        </p:spPr>
        <p:txBody>
          <a:bodyPr wrap="square" lIns="0" tIns="0" rIns="0" bIns="0" rtlCol="0" anchor="ctr"/>
          <a:lstStyle/>
          <a:p>
            <a:pPr algn="r" indent="0" marL="0">
              <a:buNone/>
            </a:pPr>
            <a:r>
              <a:rPr lang="en-US" sz="1300" b="1" dirty="0">
                <a:solidFill>
                  <a:srgbClr val="015C66"/>
                </a:solidFill>
                <a:latin typeface="Calibri" pitchFamily="34" charset="0"/>
                <a:ea typeface="Calibri" pitchFamily="34" charset="-122"/>
                <a:cs typeface="Calibri" pitchFamily="34" charset="-120"/>
              </a:rPr>
              <a:t>AG-UI</a:t>
            </a:r>
            <a:endParaRPr lang="en-US" sz="1300" dirty="0"/>
          </a:p>
        </p:txBody>
      </p:sp>
      <p:sp>
        <p:nvSpPr>
          <p:cNvPr id="12" name="Shape 10"/>
          <p:cNvSpPr/>
          <p:nvPr/>
        </p:nvSpPr>
        <p:spPr>
          <a:xfrm>
            <a:off x="1751076" y="3099816"/>
            <a:ext cx="8686800" cy="566928"/>
          </a:xfrm>
          <a:prstGeom prst="roundRect">
            <a:avLst>
              <a:gd name="adj" fmla="val 9677"/>
            </a:avLst>
          </a:prstGeom>
          <a:solidFill>
            <a:srgbClr val="EDEDED"/>
          </a:solidFill>
          <a:ln/>
        </p:spPr>
      </p:sp>
      <p:sp>
        <p:nvSpPr>
          <p:cNvPr id="13" name="Text 11"/>
          <p:cNvSpPr/>
          <p:nvPr/>
        </p:nvSpPr>
        <p:spPr>
          <a:xfrm>
            <a:off x="1979676" y="3099816"/>
            <a:ext cx="4114800" cy="566928"/>
          </a:xfrm>
          <a:prstGeom prst="rect">
            <a:avLst/>
          </a:prstGeom>
          <a:noFill/>
          <a:ln/>
        </p:spPr>
        <p:txBody>
          <a:bodyPr wrap="square" lIns="0" tIns="0" rIns="0" bIns="0" rtlCol="0" anchor="ctr"/>
          <a:lstStyle/>
          <a:p>
            <a:pPr indent="0" marL="0">
              <a:buNone/>
            </a:pPr>
            <a:r>
              <a:rPr lang="en-US" sz="1250" dirty="0">
                <a:solidFill>
                  <a:srgbClr val="444444"/>
                </a:solidFill>
                <a:latin typeface="Calibri" pitchFamily="34" charset="0"/>
                <a:ea typeface="Calibri" pitchFamily="34" charset="-122"/>
                <a:cs typeface="Calibri" pitchFamily="34" charset="-120"/>
              </a:rPr>
              <a:t>Agent Framework</a:t>
            </a:r>
            <a:endParaRPr lang="en-US" sz="1250" dirty="0"/>
          </a:p>
        </p:txBody>
      </p:sp>
      <p:sp>
        <p:nvSpPr>
          <p:cNvPr id="14" name="Text 12"/>
          <p:cNvSpPr/>
          <p:nvPr/>
        </p:nvSpPr>
        <p:spPr>
          <a:xfrm>
            <a:off x="6140196" y="3099816"/>
            <a:ext cx="4069080" cy="566928"/>
          </a:xfrm>
          <a:prstGeom prst="rect">
            <a:avLst/>
          </a:prstGeom>
          <a:noFill/>
          <a:ln/>
        </p:spPr>
        <p:txBody>
          <a:bodyPr wrap="square" lIns="0" tIns="0" rIns="0" bIns="0" rtlCol="0" anchor="ctr"/>
          <a:lstStyle/>
          <a:p>
            <a:pPr algn="r" indent="0" marL="0">
              <a:buNone/>
            </a:pPr>
            <a:r>
              <a:rPr lang="en-US" sz="1300" b="1" dirty="0">
                <a:solidFill>
                  <a:srgbClr val="444444"/>
                </a:solidFill>
                <a:latin typeface="Calibri" pitchFamily="34" charset="0"/>
                <a:ea typeface="Calibri" pitchFamily="34" charset="-122"/>
                <a:cs typeface="Calibri" pitchFamily="34" charset="-120"/>
              </a:rPr>
              <a:t>LangGraph / ADK / Custom / etc.</a:t>
            </a:r>
            <a:endParaRPr lang="en-US" sz="1300" dirty="0"/>
          </a:p>
        </p:txBody>
      </p:sp>
      <p:sp>
        <p:nvSpPr>
          <p:cNvPr id="15" name="Shape 13"/>
          <p:cNvSpPr/>
          <p:nvPr/>
        </p:nvSpPr>
        <p:spPr>
          <a:xfrm>
            <a:off x="1751076" y="3758184"/>
            <a:ext cx="8686800" cy="566928"/>
          </a:xfrm>
          <a:prstGeom prst="roundRect">
            <a:avLst>
              <a:gd name="adj" fmla="val 9677"/>
            </a:avLst>
          </a:prstGeom>
          <a:solidFill>
            <a:srgbClr val="EDEDED"/>
          </a:solidFill>
          <a:ln/>
        </p:spPr>
      </p:sp>
      <p:sp>
        <p:nvSpPr>
          <p:cNvPr id="16" name="Text 14"/>
          <p:cNvSpPr/>
          <p:nvPr/>
        </p:nvSpPr>
        <p:spPr>
          <a:xfrm>
            <a:off x="1979676" y="3758184"/>
            <a:ext cx="4114800" cy="566928"/>
          </a:xfrm>
          <a:prstGeom prst="rect">
            <a:avLst/>
          </a:prstGeom>
          <a:noFill/>
          <a:ln/>
        </p:spPr>
        <p:txBody>
          <a:bodyPr wrap="square" lIns="0" tIns="0" rIns="0" bIns="0" rtlCol="0" anchor="ctr"/>
          <a:lstStyle/>
          <a:p>
            <a:pPr indent="0" marL="0">
              <a:buNone/>
            </a:pPr>
            <a:r>
              <a:rPr lang="en-US" sz="1250" dirty="0">
                <a:solidFill>
                  <a:srgbClr val="444444"/>
                </a:solidFill>
                <a:latin typeface="Calibri" pitchFamily="34" charset="0"/>
                <a:ea typeface="Calibri" pitchFamily="34" charset="-122"/>
                <a:cs typeface="Calibri" pitchFamily="34" charset="-120"/>
              </a:rPr>
              <a:t>Tool / Data</a:t>
            </a:r>
            <a:endParaRPr lang="en-US" sz="1250" dirty="0"/>
          </a:p>
        </p:txBody>
      </p:sp>
      <p:sp>
        <p:nvSpPr>
          <p:cNvPr id="17" name="Text 15"/>
          <p:cNvSpPr/>
          <p:nvPr/>
        </p:nvSpPr>
        <p:spPr>
          <a:xfrm>
            <a:off x="6140196" y="3758184"/>
            <a:ext cx="4069080" cy="566928"/>
          </a:xfrm>
          <a:prstGeom prst="rect">
            <a:avLst/>
          </a:prstGeom>
          <a:noFill/>
          <a:ln/>
        </p:spPr>
        <p:txBody>
          <a:bodyPr wrap="square" lIns="0" tIns="0" rIns="0" bIns="0" rtlCol="0" anchor="ctr"/>
          <a:lstStyle/>
          <a:p>
            <a:pPr algn="r" indent="0" marL="0">
              <a:buNone/>
            </a:pPr>
            <a:r>
              <a:rPr lang="en-US" sz="1300" b="1" dirty="0">
                <a:solidFill>
                  <a:srgbClr val="444444"/>
                </a:solidFill>
                <a:latin typeface="Calibri" pitchFamily="34" charset="0"/>
                <a:ea typeface="Calibri" pitchFamily="34" charset="-122"/>
                <a:cs typeface="Calibri" pitchFamily="34" charset="-120"/>
              </a:rPr>
              <a:t>MCP</a:t>
            </a:r>
            <a:endParaRPr lang="en-US" sz="1300" dirty="0"/>
          </a:p>
        </p:txBody>
      </p:sp>
      <p:sp>
        <p:nvSpPr>
          <p:cNvPr id="18" name="Shape 16"/>
          <p:cNvSpPr/>
          <p:nvPr/>
        </p:nvSpPr>
        <p:spPr>
          <a:xfrm>
            <a:off x="1751076" y="4416552"/>
            <a:ext cx="8686800" cy="566928"/>
          </a:xfrm>
          <a:prstGeom prst="roundRect">
            <a:avLst>
              <a:gd name="adj" fmla="val 9677"/>
            </a:avLst>
          </a:prstGeom>
          <a:solidFill>
            <a:srgbClr val="EDEDED"/>
          </a:solidFill>
          <a:ln/>
        </p:spPr>
      </p:sp>
      <p:sp>
        <p:nvSpPr>
          <p:cNvPr id="19" name="Text 17"/>
          <p:cNvSpPr/>
          <p:nvPr/>
        </p:nvSpPr>
        <p:spPr>
          <a:xfrm>
            <a:off x="1979676" y="4416552"/>
            <a:ext cx="4114800" cy="566928"/>
          </a:xfrm>
          <a:prstGeom prst="rect">
            <a:avLst/>
          </a:prstGeom>
          <a:noFill/>
          <a:ln/>
        </p:spPr>
        <p:txBody>
          <a:bodyPr wrap="square" lIns="0" tIns="0" rIns="0" bIns="0" rtlCol="0" anchor="ctr"/>
          <a:lstStyle/>
          <a:p>
            <a:pPr indent="0" marL="0">
              <a:buNone/>
            </a:pPr>
            <a:r>
              <a:rPr lang="en-US" sz="1250" dirty="0">
                <a:solidFill>
                  <a:srgbClr val="444444"/>
                </a:solidFill>
                <a:latin typeface="Calibri" pitchFamily="34" charset="0"/>
                <a:ea typeface="Calibri" pitchFamily="34" charset="-122"/>
                <a:cs typeface="Calibri" pitchFamily="34" charset="-120"/>
              </a:rPr>
              <a:t>Agent Collaboration</a:t>
            </a:r>
            <a:endParaRPr lang="en-US" sz="1250" dirty="0"/>
          </a:p>
        </p:txBody>
      </p:sp>
      <p:sp>
        <p:nvSpPr>
          <p:cNvPr id="20" name="Text 18"/>
          <p:cNvSpPr/>
          <p:nvPr/>
        </p:nvSpPr>
        <p:spPr>
          <a:xfrm>
            <a:off x="6140196" y="4416552"/>
            <a:ext cx="4069080" cy="566928"/>
          </a:xfrm>
          <a:prstGeom prst="rect">
            <a:avLst/>
          </a:prstGeom>
          <a:noFill/>
          <a:ln/>
        </p:spPr>
        <p:txBody>
          <a:bodyPr wrap="square" lIns="0" tIns="0" rIns="0" bIns="0" rtlCol="0" anchor="ctr"/>
          <a:lstStyle/>
          <a:p>
            <a:pPr algn="r" indent="0" marL="0">
              <a:buNone/>
            </a:pPr>
            <a:r>
              <a:rPr lang="en-US" sz="1300" b="1" dirty="0">
                <a:solidFill>
                  <a:srgbClr val="444444"/>
                </a:solidFill>
                <a:latin typeface="Calibri" pitchFamily="34" charset="0"/>
                <a:ea typeface="Calibri" pitchFamily="34" charset="-122"/>
                <a:cs typeface="Calibri" pitchFamily="34" charset="-120"/>
              </a:rPr>
              <a:t>A2A</a:t>
            </a:r>
            <a:endParaRPr lang="en-US" sz="1300" dirty="0"/>
          </a:p>
        </p:txBody>
      </p:sp>
      <p:sp>
        <p:nvSpPr>
          <p:cNvPr id="21" name="Text 19"/>
          <p:cNvSpPr/>
          <p:nvPr/>
        </p:nvSpPr>
        <p:spPr>
          <a:xfrm>
            <a:off x="502920" y="5212080"/>
            <a:ext cx="11155680" cy="45720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A2UI と AG-UI は競合ではなく、Agentic Application を構成する異なるレイヤの標準である。</a:t>
            </a:r>
            <a:endParaRPr lang="en-US" sz="1500" dirty="0"/>
          </a:p>
        </p:txBody>
      </p:sp>
      <p:sp>
        <p:nvSpPr>
          <p:cNvPr id="22" name="Text 20"/>
          <p:cNvSpPr/>
          <p:nvPr/>
        </p:nvSpPr>
        <p:spPr>
          <a:xfrm>
            <a:off x="822960" y="5760720"/>
            <a:ext cx="10515600" cy="548640"/>
          </a:xfrm>
          <a:prstGeom prst="rect">
            <a:avLst/>
          </a:prstGeom>
          <a:noFill/>
          <a:ln/>
        </p:spPr>
        <p:txBody>
          <a:bodyPr wrap="square" lIns="0" tIns="0" rIns="0" bIns="0" rtlCol="0" anchor="ctr"/>
          <a:lstStyle/>
          <a:p>
            <a:pPr algn="ctr" indent="0" marL="0">
              <a:lnSpc>
                <a:spcPct val="120000"/>
              </a:lnSpc>
              <a:buNone/>
            </a:pPr>
            <a:r>
              <a:rPr lang="en-US" sz="1150" dirty="0">
                <a:solidFill>
                  <a:srgbClr val="8A90A0"/>
                </a:solidFill>
                <a:latin typeface="Calibri" pitchFamily="34" charset="0"/>
                <a:ea typeface="Calibri" pitchFamily="34" charset="-122"/>
                <a:cs typeface="Calibri" pitchFamily="34" charset="-120"/>
              </a:rPr>
              <a:t>本番採用時は、Protocol Version／SDK Version／Renderer Compatibility／Agent Framework Integration／Security Design／Migration Strategy を明確にした上で評価することが望ましい。</a:t>
            </a:r>
            <a:endParaRPr lang="en-US" sz="1150" dirty="0"/>
          </a:p>
        </p:txBody>
      </p:sp>
      <p:sp>
        <p:nvSpPr>
          <p:cNvPr id="23" name="Text 21"/>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417320" cy="329184"/>
          </a:xfrm>
          <a:prstGeom prst="roundRect">
            <a:avLst>
              <a:gd name="adj" fmla="val 50000"/>
            </a:avLst>
          </a:prstGeom>
          <a:solidFill>
            <a:srgbClr val="1E2761"/>
          </a:solidFill>
          <a:ln/>
        </p:spPr>
      </p:sp>
      <p:sp>
        <p:nvSpPr>
          <p:cNvPr id="3" name="Text 1"/>
          <p:cNvSpPr/>
          <p:nvPr/>
        </p:nvSpPr>
        <p:spPr>
          <a:xfrm>
            <a:off x="502920" y="411480"/>
            <a:ext cx="14173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502920" y="868680"/>
            <a:ext cx="11183112"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参考資料（公式ドキュメント）</a:t>
            </a:r>
            <a:endParaRPr lang="en-US" sz="2800" dirty="0"/>
          </a:p>
        </p:txBody>
      </p:sp>
      <p:sp>
        <p:nvSpPr>
          <p:cNvPr id="5" name="Text 3"/>
          <p:cNvSpPr/>
          <p:nvPr/>
        </p:nvSpPr>
        <p:spPr>
          <a:xfrm>
            <a:off x="502920" y="1600200"/>
            <a:ext cx="53035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A2UI</a:t>
            </a:r>
            <a:endParaRPr lang="en-US" sz="1400" dirty="0"/>
          </a:p>
        </p:txBody>
      </p:sp>
      <p:sp>
        <p:nvSpPr>
          <p:cNvPr id="6" name="Text 4"/>
          <p:cNvSpPr/>
          <p:nvPr/>
        </p:nvSpPr>
        <p:spPr>
          <a:xfrm>
            <a:off x="502920" y="1965960"/>
            <a:ext cx="5394960" cy="3931920"/>
          </a:xfrm>
          <a:prstGeom prst="rect">
            <a:avLst/>
          </a:prstGeom>
          <a:noFill/>
          <a:ln/>
        </p:spPr>
        <p:txBody>
          <a:bodyPr wrap="square" lIns="0" tIns="0" rIns="0" bIns="0" rtlCol="0" anchor="t"/>
          <a:lstStyle/>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https://a2ui.org/introduction/what-is-a2ui/</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https://a2ui.org/introduction/who-is-it-for/</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https://a2ui.org/concepts/overview/</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https://a2ui.org/concepts/data-binding/</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https://a2ui.org/concepts/transports/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https://a2ui.org/reference/messages/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https://a2ui.org/renderers/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https://a2ui.org/roadmap/</a:t>
            </a:r>
            <a:endParaRPr lang="en-US" sz="1050" dirty="0"/>
          </a:p>
        </p:txBody>
      </p:sp>
      <p:sp>
        <p:nvSpPr>
          <p:cNvPr id="7" name="Text 5"/>
          <p:cNvSpPr/>
          <p:nvPr/>
        </p:nvSpPr>
        <p:spPr>
          <a:xfrm>
            <a:off x="6172200" y="1600200"/>
            <a:ext cx="5394960" cy="320040"/>
          </a:xfrm>
          <a:prstGeom prst="rect">
            <a:avLst/>
          </a:prstGeom>
          <a:noFill/>
          <a:ln/>
        </p:spPr>
        <p:txBody>
          <a:bodyPr wrap="square" lIns="0" tIns="0" rIns="0" bIns="0" rtlCol="0" anchor="ctr"/>
          <a:lstStyle/>
          <a:p>
            <a:pPr indent="0" marL="0">
              <a:buNone/>
            </a:pPr>
            <a:r>
              <a:rPr lang="en-US" sz="1400" b="1" dirty="0">
                <a:solidFill>
                  <a:srgbClr val="015C66"/>
                </a:solidFill>
                <a:latin typeface="Calibri" pitchFamily="34" charset="0"/>
                <a:ea typeface="Calibri" pitchFamily="34" charset="-122"/>
                <a:cs typeface="Calibri" pitchFamily="34" charset="-120"/>
              </a:rPr>
              <a:t>AG-UI</a:t>
            </a:r>
            <a:endParaRPr lang="en-US" sz="1400" dirty="0"/>
          </a:p>
        </p:txBody>
      </p:sp>
      <p:sp>
        <p:nvSpPr>
          <p:cNvPr id="8" name="Text 6"/>
          <p:cNvSpPr/>
          <p:nvPr/>
        </p:nvSpPr>
        <p:spPr>
          <a:xfrm>
            <a:off x="6172200" y="1965960"/>
            <a:ext cx="5394960" cy="3931920"/>
          </a:xfrm>
          <a:prstGeom prst="rect">
            <a:avLst/>
          </a:prstGeom>
          <a:noFill/>
          <a:ln/>
        </p:spPr>
        <p:txBody>
          <a:bodyPr wrap="square" lIns="0" tIns="0" rIns="0" bIns="0" rtlCol="0" anchor="t"/>
          <a:lstStyle/>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https://docs.ag-ui.com/introduction</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https://docs.ag-ui.com/agentic-protocols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https://docs.ag-ui.com/concepts/architecture</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https://docs.ag-ui.com/concepts/events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https://docs.ag-ui.com/concepts/state</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https://docs.ag-ui.com/concepts/interrupts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https://docs.ag-ui.com/concepts/tools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https://docs.ag-ui.com/concepts/generative-ui-specs</a:t>
            </a:r>
            <a:endParaRPr lang="en-US" sz="1050" dirty="0"/>
          </a:p>
          <a:p>
            <a:pPr indent="0" marL="0">
              <a:lnSpc>
                <a:spcPct val="135000"/>
              </a:lnSpc>
              <a:buNone/>
            </a:pPr>
            <a:r>
              <a:rPr lang="en-US" sz="1050" dirty="0">
                <a:solidFill>
                  <a:srgbClr val="1A1A2E"/>
                </a:solidFill>
                <a:latin typeface="Calibri" pitchFamily="34" charset="0"/>
                <a:ea typeface="Calibri" pitchFamily="34" charset="-122"/>
                <a:cs typeface="Calibri" pitchFamily="34" charset="-120"/>
              </a:rPr>
              <a:t>https://docs.ag-ui.com/sdk/python/core/overview</a:t>
            </a:r>
            <a:endParaRPr lang="en-US" sz="1050" dirty="0"/>
          </a:p>
        </p:txBody>
      </p:sp>
      <p:sp>
        <p:nvSpPr>
          <p:cNvPr id="9" name="Text 7"/>
          <p:cNvSpPr/>
          <p:nvPr/>
        </p:nvSpPr>
        <p:spPr>
          <a:xfrm>
            <a:off x="11365992" y="6446520"/>
            <a:ext cx="548640" cy="274320"/>
          </a:xfrm>
          <a:prstGeom prst="rect">
            <a:avLst/>
          </a:prstGeom>
          <a:noFill/>
          <a:ln/>
        </p:spPr>
        <p:txBody>
          <a:bodyPr wrap="square" rtlCol="0" anchor="ctr"/>
          <a:lstStyle/>
          <a:p>
            <a:pPr algn="r" indent="0" marL="0">
              <a:buNone/>
            </a:pPr>
            <a:r>
              <a:rPr lang="en-US" sz="1000" dirty="0">
                <a:solidFill>
                  <a:srgbClr val="8A90A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2026-08-20T02:23:49Z</dcterms:created>
  <dcterms:modified xsi:type="dcterms:W3CDTF">2026-08-20T02:23:49Z</dcterms:modified>
</cp:coreProperties>
</file>