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6"/>
    <p:sldId id="269" r:id="rId5"/>
    <p:sldId id="270" r:id="rId4"/>
    <p:sldId id="271" r:id="rId3"/>
    <p:sldId id="272" r:id="rId2"/>
    <p:sldId id="273" r:id="rId24"/>
    <p:sldId id="274" r:id="rId25"/>
    <p:sldId id="275" r:id="rId26"/>
    <p:sldId id="276"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901" autoAdjust="0"/>
    <p:restoredTop sz="66969" autoAdjust="0"/>
  </p:normalViewPr>
  <p:slideViewPr>
    <p:cSldViewPr snapToGrid="0" snapToObjects="1">
      <p:cViewPr varScale="1">
        <p:scale>
          <a:sx n="74" d="100"/>
          <a:sy n="74" d="100"/>
        </p:scale>
        <p:origin x="153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7.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57056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01｜表紙 — 操作できるAIから、仕事の進め方を持つAIへ</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本日は「Skills over MCP」によって、AIの使い方がどう変わるのかをお話しします。</a:t>
            </a:r>
          </a:p>
          <a:p/>
          <a:p>
            <a:r>
              <a:rPr lang="ja-JP" altLang="en-US">
                <a:latin typeface="BIZ UDゴシック"/>
                <a:ea typeface="BIZ UDゴシック"/>
                <a:cs typeface="BIZ UDゴシック"/>
              </a:rPr>
              <a:t>最初にお伝えしたいのは、これは「新しいAIモデルが賢くなった」という話ではない、ということです。</a:t>
            </a:r>
          </a:p>
          <a:p/>
          <a:p>
            <a:r>
              <a:rPr lang="ja-JP" altLang="en-US">
                <a:latin typeface="BIZ UDゴシック"/>
                <a:ea typeface="BIZ UDゴシック"/>
                <a:cs typeface="BIZ UDゴシック"/>
              </a:rPr>
              <a:t>AIに渡す「道具」と「業務の進め方」を分けて提供する、という設計の話です。</a:t>
            </a:r>
          </a:p>
          <a:p/>
          <a:p>
            <a:r>
              <a:rPr lang="ja-JP" altLang="en-US">
                <a:latin typeface="BIZ UDゴシック"/>
                <a:ea typeface="BIZ UDゴシック"/>
                <a:cs typeface="BIZ UDゴシック"/>
              </a:rPr>
              <a:t>題材には、誰にでもイメージしやすい「来週の会議の準備をして」という依頼を使います。同じ依頼に対して、MCPツール中心の構成と、Skills + MCPの構成で何が違うのかを比べていきます。</a:t>
            </a:r>
          </a:p>
          <a:p/>
          <a:p>
            <a:r>
              <a:rPr lang="ja-JP" altLang="en-US">
                <a:latin typeface="BIZ UDゴシック"/>
                <a:ea typeface="BIZ UDゴシック"/>
                <a:cs typeface="BIZ UDゴシック"/>
              </a:rPr>
              <a:t>スライド下部の図のとおり、MCPは工具箱、Skillは業務手順書、その結果として会議準備パッケージという成果物ができる、という流れをイメージしてください。</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モデルの性能向上の話ではなく、「道具」と「進め方」を分けて渡す設計の話</a:t>
            </a:r>
          </a:p>
          <a:p>
            <a:r>
              <a:rPr lang="ja-JP" altLang="en-US">
                <a:latin typeface="BIZ UDゴシック"/>
                <a:ea typeface="BIZ UDゴシック"/>
                <a:cs typeface="BIZ UDゴシック"/>
              </a:rPr>
              <a:t>- 比較の題材は「来週の会議の準備をして」</a:t>
            </a:r>
          </a:p>
          <a:p>
            <a:r>
              <a:rPr lang="ja-JP" altLang="en-US">
                <a:latin typeface="BIZ UDゴシック"/>
                <a:ea typeface="BIZ UDゴシック"/>
                <a:cs typeface="BIZ UDゴシック"/>
              </a:rPr>
              <a:t>- 論点は、操作できることから、業務手順を再利用・配布できることへ</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02｜本日の結論を先に</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まず結論からお伝えします。</a:t>
            </a:r>
          </a:p>
          <a:p/>
          <a:p>
            <a:r>
              <a:rPr lang="ja-JP" altLang="en-US">
                <a:latin typeface="BIZ UDゴシック"/>
                <a:ea typeface="BIZ UDゴシック"/>
                <a:cs typeface="BIZ UDゴシック"/>
              </a:rPr>
              <a:t>今回の変化の本質は、AIが「どんな操作をできるか」が増えたことではありません。「仕事をどう再現できるか」を設計できるようになった点にあります。</a:t>
            </a:r>
          </a:p>
          <a:p/>
          <a:p>
            <a:r>
              <a:rPr lang="ja-JP" altLang="en-US">
                <a:latin typeface="BIZ UDゴシック"/>
                <a:ea typeface="BIZ UDゴシック"/>
                <a:cs typeface="BIZ UDゴシック"/>
              </a:rPr>
              <a:t>役割を一言で言うと、MCPは「能力への接続」、Skillsは「能力の使い方」、Pluginはそれらを「まとめて配布する単位」です。</a:t>
            </a:r>
          </a:p>
          <a:p/>
          <a:p>
            <a:r>
              <a:rPr lang="ja-JP" altLang="en-US">
                <a:latin typeface="BIZ UDゴシック"/>
                <a:ea typeface="BIZ UDゴシック"/>
                <a:cs typeface="BIZ UDゴシック"/>
              </a:rPr>
              <a:t>表のとおり、MCPが答えるのは「何を操作できるか」、Skillが答えるのは「どう仕事を完了するか」です。両方がそろうことで、「必要な手順を実行して結果を作れるか」という、業務として使える形になります。</a:t>
            </a:r>
          </a:p>
          <a:p/>
          <a:p>
            <a:r>
              <a:rPr lang="ja-JP" altLang="en-US">
                <a:latin typeface="BIZ UDゴシック"/>
                <a:ea typeface="BIZ UDゴシック"/>
                <a:cs typeface="BIZ UDゴシック"/>
              </a:rPr>
              <a:t>ただし、ここで一つ先に補足しておきます。Skillは権限管理や、決定論的に動くワークフローエンジンの代わりにはなりません。この点は後半の「限界」のスライドで詳しく扱います。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MCP＝能力への接続／Skills＝能力の使い方／Plugin＝まとめて配布する単位</a:t>
            </a:r>
          </a:p>
          <a:p>
            <a:r>
              <a:rPr lang="ja-JP" altLang="en-US">
                <a:latin typeface="BIZ UDゴシック"/>
                <a:ea typeface="BIZ UDゴシック"/>
                <a:cs typeface="BIZ UDゴシック"/>
              </a:rPr>
              <a:t>- 問いが「何を操作できるか」から「どう仕事を完了するか」へ</a:t>
            </a:r>
          </a:p>
          <a:p>
            <a:r>
              <a:rPr lang="ja-JP" altLang="en-US">
                <a:latin typeface="BIZ UDゴシック"/>
                <a:ea typeface="BIZ UDゴシック"/>
                <a:cs typeface="BIZ UDゴシック"/>
              </a:rPr>
              <a:t>- Skillは権限管理やワークフローエンジンの代替ではない</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03｜題材：同じ依頼をしたら何が起こる？</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今回の比較の題材は、「来週の会議の準備をして」という一文だけの依頼です。</a:t>
            </a:r>
          </a:p>
          <a:p/>
          <a:p>
            <a:r>
              <a:rPr lang="ja-JP" altLang="en-US">
                <a:latin typeface="BIZ UDゴシック"/>
                <a:ea typeface="BIZ UDゴシック"/>
                <a:cs typeface="BIZ UDゴシック"/>
              </a:rPr>
              <a:t>比較の前提をそろえておきます。AIはカレンダー、メール、ドキュメントを読む権限を持っていて、会議の目的、参加者、直近の議事録を確認できます。</a:t>
            </a:r>
          </a:p>
          <a:p/>
          <a:p>
            <a:r>
              <a:rPr lang="ja-JP" altLang="en-US">
                <a:latin typeface="BIZ UDゴシック"/>
                <a:ea typeface="BIZ UDゴシック"/>
                <a:cs typeface="BIZ UDゴシック"/>
              </a:rPr>
              <a:t>完了条件は、要点整理、未決事項、アジェンダ案、事前確認事項を出すことです。そして、外部への送信や予定の変更といった書き込み操作は、ユーザーの承認後に行うこととします。</a:t>
            </a:r>
          </a:p>
          <a:p/>
          <a:p>
            <a:r>
              <a:rPr lang="ja-JP" altLang="en-US">
                <a:latin typeface="BIZ UDゴシック"/>
                <a:ea typeface="BIZ UDゴシック"/>
                <a:cs typeface="BIZ UDゴシック"/>
              </a:rPr>
              <a:t>ここが大事なポイントで、使える外部システムとデータの条件は、両方の方式でまったく同じにしています。違いは「業務Skillが用意されているかどうか」だけです。</a:t>
            </a:r>
          </a:p>
          <a:p/>
          <a:p>
            <a:r>
              <a:rPr lang="ja-JP" altLang="en-US">
                <a:latin typeface="BIZ UDゴシック"/>
                <a:ea typeface="BIZ UDゴシック"/>
                <a:cs typeface="BIZ UDゴシック"/>
              </a:rPr>
              <a:t>この前提をそろえておかないと、「新しい方式のほうが多くの情報にアクセスできるから優れている」という誤解が生まれてしまいます。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依頼は「来週の会議の準備をして」の一文だけ</a:t>
            </a:r>
          </a:p>
          <a:p>
            <a:r>
              <a:rPr lang="ja-JP" altLang="en-US">
                <a:latin typeface="BIZ UDゴシック"/>
                <a:ea typeface="BIZ UDゴシック"/>
                <a:cs typeface="BIZ UDゴシック"/>
              </a:rPr>
              <a:t>- 権限・データ条件は両方式で同一</a:t>
            </a:r>
          </a:p>
          <a:p>
            <a:r>
              <a:rPr lang="ja-JP" altLang="en-US">
                <a:latin typeface="BIZ UDゴシック"/>
                <a:ea typeface="BIZ UDゴシック"/>
                <a:cs typeface="BIZ UDゴシック"/>
              </a:rPr>
              <a:t>- 違いは業務Skillの有無のみ（アクセスできる情報量の差ではない）</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04｜従来：MCPツール中心の構成</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まず、従来の典型的な構成です。</a:t>
            </a:r>
          </a:p>
          <a:p/>
          <a:p>
            <a:r>
              <a:rPr lang="ja-JP" altLang="en-US">
                <a:latin typeface="BIZ UDゴシック"/>
                <a:ea typeface="BIZ UDゴシック"/>
                <a:cs typeface="BIZ UDゴシック"/>
              </a:rPr>
              <a:t>ユーザーが「会議の準備をして」と頼むと、AIはカレンダー検索、メール検索、ドキュメント取得といったMCPツールを使えます。道具はきちんと揃っています。</a:t>
            </a:r>
          </a:p>
          <a:p/>
          <a:p>
            <a:r>
              <a:rPr lang="ja-JP" altLang="en-US">
                <a:latin typeface="BIZ UDゴシック"/>
                <a:ea typeface="BIZ UDゴシック"/>
                <a:cs typeface="BIZ UDゴシック"/>
              </a:rPr>
              <a:t>ただし、「どのツールを選ぶか」「どの順番で情報を抽出するか」「結果をどうまとめるか」は、その場でAIが判断して組み立てることになります。</a:t>
            </a:r>
          </a:p>
          <a:p/>
          <a:p>
            <a:r>
              <a:rPr lang="ja-JP" altLang="en-US">
                <a:latin typeface="BIZ UDゴシック"/>
                <a:ea typeface="BIZ UDゴシック"/>
                <a:cs typeface="BIZ UDゴシック"/>
              </a:rPr>
              <a:t>そのため、どの順番・どの条件で確認するかは、別途の指示やAIの推論に依存しやすく、回答の構成や調査範囲が会話ごとに変わる可能性があります。</a:t>
            </a:r>
          </a:p>
          <a:p/>
          <a:p>
            <a:r>
              <a:rPr lang="ja-JP" altLang="en-US">
                <a:latin typeface="BIZ UDゴシック"/>
                <a:ea typeface="BIZ UDゴシック"/>
                <a:cs typeface="BIZ UDゴシック"/>
              </a:rPr>
              <a:t>ここで誤解のないようにお伝えしておきます。「MCPだけでは手順を指定できない」ということではありません。MCPにはツールの説明のほか、リソース、プロンプト、サーバー指示といった仕組みもあり、固定プロンプトやオーケストレーションのコードで手順を標準化することは、従来から可能でした。</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道具は揃っているが、段取りはその場で組み立てる</a:t>
            </a:r>
          </a:p>
          <a:p>
            <a:r>
              <a:rPr lang="ja-JP" altLang="en-US">
                <a:latin typeface="BIZ UDゴシック"/>
                <a:ea typeface="BIZ UDゴシック"/>
                <a:cs typeface="BIZ UDゴシック"/>
              </a:rPr>
              <a:t>- 結果の構成・範囲が会話ごとにぶれやすい</a:t>
            </a:r>
          </a:p>
          <a:p>
            <a:r>
              <a:rPr lang="ja-JP" altLang="en-US">
                <a:latin typeface="BIZ UDゴシック"/>
                <a:ea typeface="BIZ UDゴシック"/>
                <a:cs typeface="BIZ UDゴシック"/>
              </a:rPr>
              <a:t>- 「MCPでは手順化できない」わけではない（従来から標準化は可能）</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05｜新方式：Skills + MCPの構成</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次に、Skills + MCPの構成です。</a:t>
            </a:r>
          </a:p>
          <a:p/>
          <a:p>
            <a:r>
              <a:rPr lang="ja-JP" altLang="en-US">
                <a:latin typeface="BIZ UDゴシック"/>
                <a:ea typeface="BIZ UDゴシック"/>
                <a:cs typeface="BIZ UDゴシック"/>
              </a:rPr>
              <a:t>同じ「会議の準備をして」という依頼に対して、AIはまず会議準備Skillを選択します。</a:t>
            </a:r>
          </a:p>
          <a:p/>
          <a:p>
            <a:r>
              <a:rPr lang="ja-JP" altLang="en-US">
                <a:latin typeface="BIZ UDゴシック"/>
                <a:ea typeface="BIZ UDゴシック"/>
                <a:cs typeface="BIZ UDゴシック"/>
              </a:rPr>
              <a:t>このSkillには、会議の目的・参加者を確認する、過去の議事録ややり取りを取得する、決定済み・未決・要確認に分類する、アジェンダと論点を作る、情報源・不足情報・承認事項を明示する、という5つのステップが書かれています。</a:t>
            </a:r>
          </a:p>
          <a:p/>
          <a:p>
            <a:r>
              <a:rPr lang="ja-JP" altLang="en-US">
                <a:latin typeface="BIZ UDゴシック"/>
                <a:ea typeface="BIZ UDゴシック"/>
                <a:cs typeface="BIZ UDゴシック"/>
              </a:rPr>
              <a:t>AIはこの手順に沿って、MCP経由でカレンダー、メール、資料を利用し、最終的に標準形式の会議準備パックを作ります。</a:t>
            </a:r>
          </a:p>
          <a:p/>
          <a:p>
            <a:r>
              <a:rPr lang="ja-JP" altLang="en-US">
                <a:latin typeface="BIZ UDゴシック"/>
                <a:ea typeface="BIZ UDゴシック"/>
                <a:cs typeface="BIZ UDゴシック"/>
              </a:rPr>
              <a:t>つまりSkillは、AIとMCPの間に入る「業務手順レイヤー」です。いつ、どのツールを、どの順序で使うか、情報が足りないときにどう扱うか、成果物に何が必要かを定義できます。一方で、実際のデータへのアクセスや操作権限は、引き続きMCP側が担います。</a:t>
            </a:r>
          </a:p>
          <a:p/>
          <a:p>
            <a:r>
              <a:rPr lang="ja-JP" altLang="en-US">
                <a:latin typeface="BIZ UDゴシック"/>
                <a:ea typeface="BIZ UDゴシック"/>
                <a:cs typeface="BIZ UDゴシック"/>
              </a:rPr>
              <a:t>注意点として、Skillはあくまで手順を案内するものであり、指定した手順どおりに厳密に実行されることを保証するプログラムではありません。</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Skillは AI と MCP の間の「業務手順レイヤー」</a:t>
            </a:r>
          </a:p>
          <a:p>
            <a:r>
              <a:rPr lang="ja-JP" altLang="en-US">
                <a:latin typeface="BIZ UDゴシック"/>
                <a:ea typeface="BIZ UDゴシック"/>
                <a:cs typeface="BIZ UDゴシック"/>
              </a:rPr>
              <a:t>- 手順・不明時の扱い・成果物の要素を定義できる</a:t>
            </a:r>
          </a:p>
          <a:p>
            <a:r>
              <a:rPr lang="ja-JP" altLang="en-US">
                <a:latin typeface="BIZ UDゴシック"/>
                <a:ea typeface="BIZ UDゴシック"/>
                <a:cs typeface="BIZ UDゴシック"/>
              </a:rPr>
              <a:t>- データアクセスと権限はMCP側／Skillは実行保証ではない</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06｜同一シナリオの結果を比較</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同じシナリオで、2つの方式を観点ごとに比べたのがこの表です。</a:t>
            </a:r>
          </a:p>
          <a:p/>
          <a:p>
            <a:r>
              <a:rPr lang="ja-JP" altLang="en-US">
                <a:latin typeface="BIZ UDゴシック"/>
                <a:ea typeface="BIZ UDゴシック"/>
                <a:cs typeface="BIZ UDゴシック"/>
              </a:rPr>
              <a:t>会議の特定や参照範囲は、Skillがない場合はAIが検索して推定しますが、Skillがあれば確認項目や対象・期間・優先順位をあらかじめ指定できます。</a:t>
            </a:r>
          </a:p>
          <a:p/>
          <a:p>
            <a:r>
              <a:rPr lang="ja-JP" altLang="en-US">
                <a:latin typeface="BIZ UDゴシック"/>
                <a:ea typeface="BIZ UDゴシック"/>
                <a:cs typeface="BIZ UDゴシック"/>
              </a:rPr>
              <a:t>未決事項を拾うかどうか、情報が足りないときにどう振る舞うか、アジェンダをどの形式で出すかも、Skillで明示的に定義できます。</a:t>
            </a:r>
          </a:p>
          <a:p/>
          <a:p>
            <a:r>
              <a:rPr lang="ja-JP" altLang="en-US">
                <a:latin typeface="BIZ UDゴシック"/>
                <a:ea typeface="BIZ UDゴシック"/>
                <a:cs typeface="BIZ UDゴシック"/>
              </a:rPr>
              <a:t>外部送信については少し注意が必要です。Skillでも「送信前に確認を取る」ように求めることはできますが、それを確実に強制するのはMCP側の権限や承認の仕組みです。</a:t>
            </a:r>
          </a:p>
          <a:p/>
          <a:p>
            <a:r>
              <a:rPr lang="ja-JP" altLang="en-US">
                <a:latin typeface="BIZ UDゴシック"/>
                <a:ea typeface="BIZ UDゴシック"/>
                <a:cs typeface="BIZ UDゴシック"/>
              </a:rPr>
              <a:t>ここでの差は、「回答できるかどうか」ではありません。どちらの方式でも回答自体はできます。違いは、毎回「何を揃えて出すか」を安定させやすいかどうかです。「対応可能」から「定義した手順と成果物に寄せやすい」へ、という変化です。</a:t>
            </a:r>
          </a:p>
          <a:p/>
          <a:p>
            <a:r>
              <a:rPr lang="ja-JP" altLang="en-US">
                <a:latin typeface="BIZ UDゴシック"/>
                <a:ea typeface="BIZ UDゴシック"/>
                <a:cs typeface="BIZ UDゴシック"/>
              </a:rPr>
              <a:t>なお、これは潜在的な傾向の比較であり、Skillなしが必ず劣る、Skillありなら必ず成功する、という性能保証ではありません。</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差は「回答できるか」ではなく「安定して何を揃えるか」</a:t>
            </a:r>
          </a:p>
          <a:p>
            <a:r>
              <a:rPr lang="ja-JP" altLang="en-US">
                <a:latin typeface="BIZ UDゴシック"/>
                <a:ea typeface="BIZ UDゴシック"/>
                <a:cs typeface="BIZ UDゴシック"/>
              </a:rPr>
              <a:t>- 外部送信の事前確認はSkillで要求できるが、強制はMCP側</a:t>
            </a:r>
          </a:p>
          <a:p>
            <a:r>
              <a:rPr lang="ja-JP" altLang="en-US">
                <a:latin typeface="BIZ UDゴシック"/>
                <a:ea typeface="BIZ UDゴシック"/>
                <a:cs typeface="BIZ UDゴシック"/>
              </a:rPr>
              <a:t>- 傾向の比較であり、性能保証ではない</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07｜Before / After：出力イメージ</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では、実際の出力イメージで比べてみます。</a:t>
            </a:r>
          </a:p>
          <a:p/>
          <a:p>
            <a:r>
              <a:rPr lang="ja-JP" altLang="en-US">
                <a:latin typeface="BIZ UDゴシック"/>
                <a:ea typeface="BIZ UDゴシック"/>
                <a:cs typeface="BIZ UDゴシック"/>
              </a:rPr>
              <a:t>左のBeforeは、標準手順がない場合の一例です。「来週火曜の会議は14時開始です。前回議事録を確認しました。テーマは進捗共有です。」という回答で、内容としては間違っていません。ただ、未決の論点は何か、どの情報を根拠にしたのか、次に何をすればよいのかが読み取りにくい状態です。</a:t>
            </a:r>
          </a:p>
          <a:p/>
          <a:p>
            <a:r>
              <a:rPr lang="ja-JP" altLang="en-US">
                <a:latin typeface="BIZ UDゴシック"/>
                <a:ea typeface="BIZ UDゴシック"/>
                <a:cs typeface="BIZ UDゴシック"/>
              </a:rPr>
              <a:t>右のAfterは、会議準備Skillで成果物の形を指定した場合の一例です。目的、決定済み事項、未決事項、推奨アジェンダ、要確認事項、参照した情報源、そして承認待ちの事項が、毎回同じ形で整理されます。</a:t>
            </a:r>
          </a:p>
          <a:p/>
          <a:p>
            <a:r>
              <a:rPr lang="ja-JP" altLang="en-US">
                <a:latin typeface="BIZ UDゴシック"/>
                <a:ea typeface="BIZ UDゴシック"/>
                <a:cs typeface="BIZ UDゴシック"/>
              </a:rPr>
              <a:t>特に、「担当者Xの最新見解は未取得」のように、取れなかった情報を明示している点と、「参加者への事前送信」を勝手に実行せず承認待ちとして示している点に注目してください。</a:t>
            </a:r>
          </a:p>
          <a:p/>
          <a:p>
            <a:r>
              <a:rPr lang="ja-JP" altLang="en-US">
                <a:latin typeface="BIZ UDゴシック"/>
                <a:ea typeface="BIZ UDゴシック"/>
                <a:cs typeface="BIZ UDゴシック"/>
              </a:rPr>
              <a:t>なお、この出力はいずれも説明用の架空例です。Skillを使えば常にこうした優れた結果が得られる、という実証データではありません。</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「準備できました」の中身＝何を揃えて出すかが変わる</a:t>
            </a:r>
          </a:p>
          <a:p>
            <a:r>
              <a:rPr lang="ja-JP" altLang="en-US">
                <a:latin typeface="BIZ UDゴシック"/>
                <a:ea typeface="BIZ UDゴシック"/>
                <a:cs typeface="BIZ UDゴシック"/>
              </a:rPr>
              <a:t>- 未取得情報と承認待ち事項を明示できる</a:t>
            </a:r>
          </a:p>
          <a:p>
            <a:r>
              <a:rPr lang="ja-JP" altLang="en-US">
                <a:latin typeface="BIZ UDゴシック"/>
                <a:ea typeface="BIZ UDゴシック"/>
                <a:cs typeface="BIZ UDゴシック"/>
              </a:rPr>
              <a:t>- 説明用の架空例であり、実証データではない</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08｜革新性①：接続能力と業務知識の分離</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ここからは、Skills + MCPの革新性を5つの観点で見ていきます。1つ目は「接続能力と業務知識の分離」です。</a:t>
            </a:r>
          </a:p>
          <a:p/>
          <a:p>
            <a:r>
              <a:rPr lang="ja-JP" altLang="en-US">
                <a:latin typeface="BIZ UDゴシック"/>
                <a:ea typeface="BIZ UDゴシック"/>
                <a:cs typeface="BIZ UDゴシック"/>
              </a:rPr>
              <a:t>従来よくある構造では、API仕様、プロンプト、業務判断、出力形式が、一つのアプリや長い指示文の中に混在していました。</a:t>
            </a:r>
          </a:p>
          <a:p/>
          <a:p>
            <a:r>
              <a:rPr lang="ja-JP" altLang="en-US">
                <a:latin typeface="BIZ UDゴシック"/>
                <a:ea typeface="BIZ UDゴシック"/>
                <a:cs typeface="BIZ UDゴシック"/>
              </a:rPr>
              <a:t>Skills + MCPでは、これを3つの層に分けることを目指せます。MCP層はデータ取得やアクション、認証・認可、実行制約を担います。Skill層は業務フロー、判断基準、例外対応、参照ルール、成果物テンプレートを担います。そしてAI層が、文脈の理解、選択、推論、生成、必要に応じた確認を行います。</a:t>
            </a:r>
          </a:p>
          <a:p/>
          <a:p>
            <a:r>
              <a:rPr lang="ja-JP" altLang="en-US">
                <a:latin typeface="BIZ UDゴシック"/>
                <a:ea typeface="BIZ UDゴシック"/>
                <a:cs typeface="BIZ UDゴシック"/>
              </a:rPr>
              <a:t>これは、ソフトウェア設計でいう「関心の分離」に近い考え方です。例えば、同じ「検索」と「文書取得」のツールを使って、会議準備Skill、調査Skill、監査Skillを作り分けることができます。変更の影響範囲を小さくし、設計上の責任を明確にできます。</a:t>
            </a:r>
          </a:p>
          <a:p/>
          <a:p>
            <a:r>
              <a:rPr lang="ja-JP" altLang="en-US">
                <a:latin typeface="BIZ UDゴシック"/>
                <a:ea typeface="BIZ UDゴシック"/>
                <a:cs typeface="BIZ UDゴシック"/>
              </a:rPr>
              <a:t>ただし、MCPインターフェースの破壊的な変更や、スキーマの変更、業務ルールそのものの変更があった場合は、両方の層をあわせて調整する必要があります。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「ツールを実装する人」と「仕事の進め方を設計する人」を分けられる</a:t>
            </a:r>
          </a:p>
          <a:p>
            <a:r>
              <a:rPr lang="ja-JP" altLang="en-US">
                <a:latin typeface="BIZ UDゴシック"/>
                <a:ea typeface="BIZ UDゴシック"/>
                <a:cs typeface="BIZ UDゴシック"/>
              </a:rPr>
              <a:t>- 関心の分離：同じツールで複数の業務Skillを構築できる</a:t>
            </a:r>
          </a:p>
          <a:p>
            <a:r>
              <a:rPr lang="ja-JP" altLang="en-US">
                <a:latin typeface="BIZ UDゴシック"/>
                <a:ea typeface="BIZ UDゴシック"/>
                <a:cs typeface="BIZ UDゴシック"/>
              </a:rPr>
              <a:t>- ただしインターフェースや業務ルールの変更時は連動調整が必要</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09｜革新性②：専門ノウハウをAIが使う資産にできる</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2つ目は、専門ノウハウをAIが使える資産にできる点です。</a:t>
            </a:r>
          </a:p>
          <a:p/>
          <a:p>
            <a:r>
              <a:rPr lang="ja-JP" altLang="en-US">
                <a:latin typeface="BIZ UDゴシック"/>
                <a:ea typeface="BIZ UDゴシック"/>
                <a:cs typeface="BIZ UDゴシック"/>
              </a:rPr>
              <a:t>これまでは、優秀な担当者が暗黙的に行っていた確認の順番や判断の基準を、ほかの人が再現するのは難しいものでした。</a:t>
            </a:r>
          </a:p>
          <a:p/>
          <a:p>
            <a:r>
              <a:rPr lang="ja-JP" altLang="en-US">
                <a:latin typeface="BIZ UDゴシック"/>
                <a:ea typeface="BIZ UDゴシック"/>
                <a:cs typeface="BIZ UDゴシック"/>
              </a:rPr>
              <a:t>Skillを使うと、担当者が経験から得た手順を、「まず確認すべき情報」「条件分岐・判断基準」「見落としてはいけない例外」「使うべき資料やテンプレート」「最終出力とレビュー観点」という形で書き出せます。</a:t>
            </a:r>
          </a:p>
          <a:p/>
          <a:p>
            <a:r>
              <a:rPr lang="ja-JP" altLang="en-US">
                <a:latin typeface="BIZ UDゴシック"/>
                <a:ea typeface="BIZ UDゴシック"/>
                <a:cs typeface="BIZ UDゴシック"/>
              </a:rPr>
              <a:t>マニュアルをPDFで保管しておくだけでは、どのタイミングで、どの作業単位で使うのかが分かれていません。Skillは、利用条件を示すメタデータと本体の手順、必要に応じて参照資料やスクリプトを持てます。そのため、専門家が作ったワークフローを、別の利用者が呼び出しやすくなります。</a:t>
            </a:r>
          </a:p>
          <a:p/>
          <a:p>
            <a:r>
              <a:rPr lang="ja-JP" altLang="en-US">
                <a:latin typeface="BIZ UDゴシック"/>
                <a:ea typeface="BIZ UDゴシック"/>
                <a:cs typeface="BIZ UDゴシック"/>
              </a:rPr>
              <a:t>ただし、暗黙知の中には文章にしきれない部分もありますし、最終的な専門家判断の責任は人に残ります。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暗黙知を、レビュー可能な作業手順として書き出せる</a:t>
            </a:r>
          </a:p>
          <a:p>
            <a:r>
              <a:rPr lang="ja-JP" altLang="en-US">
                <a:latin typeface="BIZ UDゴシック"/>
                <a:ea typeface="BIZ UDゴシック"/>
                <a:cs typeface="BIZ UDゴシック"/>
              </a:rPr>
              <a:t>- 単なるマニュアル保管ではなく、AIが実行時に参照できる形式になる</a:t>
            </a:r>
          </a:p>
          <a:p>
            <a:r>
              <a:rPr lang="ja-JP" altLang="en-US">
                <a:latin typeface="BIZ UDゴシック"/>
                <a:ea typeface="BIZ UDゴシック"/>
                <a:cs typeface="BIZ UDゴシック"/>
              </a:rPr>
              <a:t>- 文章化できない部分や、専門家判断の責任は残る</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10｜革新性③：一度作った手順を配布・組み合わせられる</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3つ目は、一度作った手順を配布し、組み合わせられる点です。</a:t>
            </a:r>
          </a:p>
          <a:p/>
          <a:p>
            <a:r>
              <a:rPr lang="ja-JP" altLang="en-US">
                <a:latin typeface="BIZ UDゴシック"/>
                <a:ea typeface="BIZ UDゴシック"/>
                <a:cs typeface="BIZ UDゴシック"/>
              </a:rPr>
              <a:t>図のように、検索・取得・登録・更新といった共通のMCPツール群の上に、会議準備、議事録化、稟議準備、障害報告といった複数のSkillを載せることができます。そしてこれらを、Pluginとしてまとめて配布できます。</a:t>
            </a:r>
          </a:p>
          <a:p/>
          <a:p>
            <a:r>
              <a:rPr lang="ja-JP" altLang="en-US">
                <a:latin typeface="BIZ UDゴシック"/>
                <a:ea typeface="BIZ UDゴシック"/>
                <a:cs typeface="BIZ UDゴシック"/>
              </a:rPr>
              <a:t>これにより、「一人の上手いプロンプト」が、「複数人が使える業務パッケージ」に変わります。</a:t>
            </a:r>
          </a:p>
          <a:p/>
          <a:p>
            <a:r>
              <a:rPr lang="ja-JP" altLang="en-US">
                <a:latin typeface="BIZ UDゴシック"/>
                <a:ea typeface="BIZ UDゴシック"/>
                <a:cs typeface="BIZ UDゴシック"/>
              </a:rPr>
              <a:t>組織としては、チーム間で同じ手順やフォーマットを共有できる、新しいメンバーが習熟しやすくなる、手順の修正をパッケージとして展開できる、Skillごとに担当者やレビュー責任者を置ける、といった効果が期待できます。</a:t>
            </a:r>
          </a:p>
          <a:p/>
          <a:p>
            <a:r>
              <a:rPr lang="ja-JP" altLang="en-US">
                <a:latin typeface="BIZ UDゴシック"/>
                <a:ea typeface="BIZ UDゴシック"/>
                <a:cs typeface="BIZ UDゴシック"/>
              </a:rPr>
              <a:t>ただし、これらには前提があります。Skillの説明が適切で、正しい場面で選ばれること。必要な接続権限があること。そして出力の評価基準が設計されていることです。また、「配布できること」と「自動で導入・統制できること」は別の話です。公開Pluginの仕様や配布方法は、製品ごとに対応状況を確認してください。</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共通MCPツールの上に、業務別Skillを載せて組み合わせる</a:t>
            </a:r>
          </a:p>
          <a:p>
            <a:r>
              <a:rPr lang="ja-JP" altLang="en-US">
                <a:latin typeface="BIZ UDゴシック"/>
                <a:ea typeface="BIZ UDゴシック"/>
                <a:cs typeface="BIZ UDゴシック"/>
              </a:rPr>
              <a:t>- Pluginとしてまとめて配布でき、組織で共有・改善しやすい</a:t>
            </a:r>
          </a:p>
          <a:p>
            <a:r>
              <a:rPr lang="ja-JP" altLang="en-US">
                <a:latin typeface="BIZ UDゴシック"/>
                <a:ea typeface="BIZ UDゴシック"/>
                <a:cs typeface="BIZ UDゴシック"/>
              </a:rPr>
              <a:t>- 効果は「期待」であり、選択・権限・評価基準の設計が前提</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11｜革新性④：AI業務を改善サイクルに載せやすい</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4つ目は、AIによる業務を改善サイクルに載せやすくなる点です。</a:t>
            </a:r>
          </a:p>
          <a:p/>
          <a:p>
            <a:r>
              <a:rPr lang="ja-JP" altLang="en-US">
                <a:latin typeface="BIZ UDゴシック"/>
                <a:ea typeface="BIZ UDゴシック"/>
                <a:cs typeface="BIZ UDゴシック"/>
              </a:rPr>
              <a:t>業務手順がSkillというファイルになることで、まずSkill v1を作り、代表的なタスクで試し、抜け漏れや誤判定、失敗したケースを記録し、手順・条件・テンプレートを改訂して、Skill v2として再評価・配布する、というループを回せます。</a:t>
            </a:r>
          </a:p>
          <a:p/>
          <a:p>
            <a:r>
              <a:rPr lang="ja-JP" altLang="en-US">
                <a:latin typeface="BIZ UDゴシック"/>
                <a:ea typeface="BIZ UDゴシック"/>
                <a:cs typeface="BIZ UDゴシック"/>
              </a:rPr>
              <a:t>その結果、手順の変更履歴を残せる、良い出力と悪い出力の条件を比較できる、業務ルールの変更と外部ツールの変更を分けて検討できる、導入前に業務部門のレビューを受けやすい、といったメリットがあります。</a:t>
            </a:r>
          </a:p>
          <a:p/>
          <a:p>
            <a:r>
              <a:rPr lang="ja-JP" altLang="en-US">
                <a:latin typeface="BIZ UDゴシック"/>
                <a:ea typeface="BIZ UDゴシック"/>
                <a:cs typeface="BIZ UDゴシック"/>
              </a:rPr>
              <a:t>測定の対象としては、例えば、必要な情報の網羅率、出典の正確性、未確認事項の明示率、承認ルールの遵守率、利用者による修正量、完了までの時間などが考えられます。</a:t>
            </a:r>
          </a:p>
          <a:p/>
          <a:p>
            <a:r>
              <a:rPr lang="ja-JP" altLang="en-US">
                <a:latin typeface="BIZ UDゴシック"/>
                <a:ea typeface="BIZ UDゴシック"/>
                <a:cs typeface="BIZ UDゴシック"/>
              </a:rPr>
              <a:t>ただし、ここでの改善はあくまで仮説で、実際に測ってみる必要があります。また、Skillを作れば自動的にテストの仕組みが手に入るわけではない点にも注意してください。</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手順がファイルになる → 検証・差分管理・レビューが可能に</a:t>
            </a:r>
          </a:p>
          <a:p>
            <a:r>
              <a:rPr lang="ja-JP" altLang="en-US">
                <a:latin typeface="BIZ UDゴシック"/>
                <a:ea typeface="BIZ UDゴシック"/>
                <a:cs typeface="BIZ UDゴシック"/>
              </a:rPr>
              <a:t>- v1 → 試行 → 記録 → 改訂 → v2 の改善ループ</a:t>
            </a:r>
          </a:p>
          <a:p>
            <a:r>
              <a:rPr lang="ja-JP" altLang="en-US">
                <a:latin typeface="BIZ UDゴシック"/>
                <a:ea typeface="BIZ UDゴシック"/>
                <a:cs typeface="BIZ UDゴシック"/>
              </a:rPr>
              <a:t>- 改善は仮説。測定指標を決めて実測する（テスト基盤は別途必要）</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12｜革新性⑤：業務能力を製品・サービスとして提供しやすい</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5つ目は、業務の能力そのものを、製品やサービスとして提供しやすくなる点です。</a:t>
            </a:r>
          </a:p>
          <a:p/>
          <a:p>
            <a:r>
              <a:rPr lang="ja-JP" altLang="en-US">
                <a:latin typeface="BIZ UDゴシック"/>
                <a:ea typeface="BIZ UDゴシック"/>
                <a:cs typeface="BIZ UDゴシック"/>
              </a:rPr>
              <a:t>左の図を上から見てください。データやAPIが提供するのは、情報への接続と操作です。MCPサーバーは、AIが安全なツールインターフェースで利用できることを提供します。Skillは、業務別の手順、品質基準、成果物の形式を提供します。そしてSkillsとMCPをまとめたPluginは、ユーザーが自分で見つけて導入できる「業務体験」になります。下に行くほど、業務の成果に近い形での提供になります。</a:t>
            </a:r>
          </a:p>
          <a:p/>
          <a:p>
            <a:r>
              <a:rPr lang="ja-JP" altLang="en-US">
                <a:latin typeface="BIZ UDゴシック"/>
                <a:ea typeface="BIZ UDゴシック"/>
                <a:cs typeface="BIZ UDゴシック"/>
              </a:rPr>
              <a:t>事業の観点では、業界や職種に特化した業務パッケージを設計し、専門知識、テンプレート、ツール連携をセットで提供できます。利用者は、長いプロンプトの書き方を覚えなくても始めやすくなります。</a:t>
            </a:r>
          </a:p>
          <a:p/>
          <a:p>
            <a:r>
              <a:rPr lang="ja-JP" altLang="en-US">
                <a:latin typeface="BIZ UDゴシック"/>
                <a:ea typeface="BIZ UDゴシック"/>
                <a:cs typeface="BIZ UDゴシック"/>
              </a:rPr>
              <a:t>ただし、Plugin化しただけで製品としての価値が生まれるわけではありません。ユーザーの課題、導入率、実行環境、継続的な改善、セキュリティ、サポートコストなどによって、事業として成立するかどうかが決まりま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API提供から「成果物までの進め方」の提供へ</a:t>
            </a:r>
          </a:p>
          <a:p>
            <a:r>
              <a:rPr lang="ja-JP" altLang="en-US">
                <a:latin typeface="BIZ UDゴシック"/>
                <a:ea typeface="BIZ UDゴシック"/>
                <a:cs typeface="BIZ UDゴシック"/>
              </a:rPr>
              <a:t>- Plugin＝ユーザーが見つけて導入できる業務体験</a:t>
            </a:r>
          </a:p>
          <a:p>
            <a:r>
              <a:rPr lang="ja-JP" altLang="en-US">
                <a:latin typeface="BIZ UDゴシック"/>
                <a:ea typeface="BIZ UDゴシック"/>
                <a:cs typeface="BIZ UDゴシック"/>
              </a:rPr>
              <a:t>- Plugin化＝製品価値ではない。事業成立は複数要因に依存</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13｜「革命」と言い切る前に：何が本当に新しいのか？</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ここまで革新性をお話ししてきましたが、「革命だ」と言い切る前に、何が本当に新しいのかを冷静に整理しておきます。</a:t>
            </a:r>
          </a:p>
          <a:p/>
          <a:p>
            <a:r>
              <a:rPr lang="ja-JP" altLang="en-US">
                <a:latin typeface="BIZ UDゴシック"/>
                <a:ea typeface="BIZ UDゴシック"/>
                <a:cs typeface="BIZ UDゴシック"/>
              </a:rPr>
              <a:t>右側は、以前から実現できていたことです。複数のAPIを順番に呼ぶこと、条件分岐や承認フローを作ること、システムプロンプトで作業手順を指定すること、コードとワークフローエンジンで厳密な処理を実行すること、MCPのリソースやプロンプトを使うこと。これらはSkills以前から可能でした。</a:t>
            </a:r>
          </a:p>
          <a:p/>
          <a:p>
            <a:r>
              <a:rPr lang="ja-JP" altLang="en-US">
                <a:latin typeface="BIZ UDゴシック"/>
                <a:ea typeface="BIZ UDゴシック"/>
                <a:cs typeface="BIZ UDゴシック"/>
              </a:rPr>
              <a:t>一方、左側が新しい価値の大きい点です。ワークフローの知識を専用のSkillファイル群として標準化しやすいこと、SkillとMCPを組み合わせてPlugin単位で提供できること、必要なSkillの詳細だけを読み込む設計を取りやすいこと、仕事ごとの説明やテンプレート、参照資料を再利用できることです。</a:t>
            </a:r>
          </a:p>
          <a:p/>
          <a:p>
            <a:r>
              <a:rPr lang="ja-JP" altLang="en-US">
                <a:latin typeface="BIZ UDゴシック"/>
                <a:ea typeface="BIZ UDゴシック"/>
                <a:cs typeface="BIZ UDゴシック"/>
              </a:rPr>
              <a:t>まとめると、技術的には連続的な進化ですが、製品化や流通という観点では大きな前進です。「できること」の発明というより、「作り方・届け方・育て方」の標準化だと捉えるのが適切だと考えます。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多くの機能は以前から実現可能だった</a:t>
            </a:r>
          </a:p>
          <a:p>
            <a:r>
              <a:rPr lang="ja-JP" altLang="en-US">
                <a:latin typeface="BIZ UDゴシック"/>
                <a:ea typeface="BIZ UDゴシック"/>
                <a:cs typeface="BIZ UDゴシック"/>
              </a:rPr>
              <a:t>- 新しさは標準化・組み合わせ・必要時の読み込み・再利用</a:t>
            </a:r>
          </a:p>
          <a:p>
            <a:r>
              <a:rPr lang="ja-JP" altLang="en-US">
                <a:latin typeface="BIZ UDゴシック"/>
                <a:ea typeface="BIZ UDゴシック"/>
                <a:cs typeface="BIZ UDゴシック"/>
              </a:rPr>
              <a:t>- 「できること」の発明ではなく「作り方・届け方・育て方」の標準化</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14｜重要な限界：Skillはワークフローエンジンではない</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ここは、Skillsへの過剰な期待を避けるための、とても重要なスライドです。</a:t>
            </a:r>
          </a:p>
          <a:p/>
          <a:p>
            <a:r>
              <a:rPr lang="ja-JP" altLang="en-US">
                <a:latin typeface="BIZ UDゴシック"/>
                <a:ea typeface="BIZ UDゴシック"/>
                <a:cs typeface="BIZ UDゴシック"/>
              </a:rPr>
              <a:t>Skillはワークフローエンジンではありません。「指示すること」「実行すること」「強制すること」を混同しないようにしましょう。</a:t>
            </a:r>
          </a:p>
          <a:p/>
          <a:p>
            <a:r>
              <a:rPr lang="ja-JP" altLang="en-US">
                <a:latin typeface="BIZ UDゴシック"/>
                <a:ea typeface="BIZ UDゴシック"/>
                <a:cs typeface="BIZ UDゴシック"/>
              </a:rPr>
              <a:t>例えば、「必ず指定した順番で動いてほしい」という期待に対して、Skillができるのは順番と基準を指示することまでです。厳密に守らせる必要があるなら、コード側での強制や状態機械が必要です。</a:t>
            </a:r>
          </a:p>
          <a:p/>
          <a:p>
            <a:r>
              <a:rPr lang="ja-JP" altLang="en-US">
                <a:latin typeface="BIZ UDゴシック"/>
                <a:ea typeface="BIZ UDゴシック"/>
                <a:cs typeface="BIZ UDゴシック"/>
              </a:rPr>
              <a:t>誤操作を防ぎたい場合、Skillには注意事項や承認条件を書けますが、実際に防ぐのはMCP側の認可、権限、確認UIです。定刻に実行したいならスケジューラーやジョブ基盤、障害から確実に復旧したいならリトライ、冪等性、監視、キューが必要です。出力品質の保証には、自動テスト、人手のレビュー、評価指標が必要になります。</a:t>
            </a:r>
          </a:p>
          <a:p/>
          <a:p>
            <a:r>
              <a:rPr lang="ja-JP" altLang="en-US">
                <a:latin typeface="BIZ UDゴシック"/>
                <a:ea typeface="BIZ UDゴシック"/>
                <a:cs typeface="BIZ UDゴシック"/>
              </a:rPr>
              <a:t>要するに、Skillは行動を「導く」もの、システムの安全性や確実性は実行基盤で「担保する」もの、という役割分担です。特に、個人情報、顧客データ、外部送信、支払い、削除などを扱う場面では、この区別が重要で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Skill＝指示・ガイド／実行基盤＝強制・担保</a:t>
            </a:r>
          </a:p>
          <a:p>
            <a:r>
              <a:rPr lang="ja-JP" altLang="en-US">
                <a:latin typeface="BIZ UDゴシック"/>
                <a:ea typeface="BIZ UDゴシック"/>
                <a:cs typeface="BIZ UDゴシック"/>
              </a:rPr>
              <a:t>- 順序保証、誤操作防止、定刻実行、障害復旧、品質保証は別の仕組みが必要</a:t>
            </a:r>
          </a:p>
          <a:p>
            <a:r>
              <a:rPr lang="ja-JP" altLang="en-US">
                <a:latin typeface="BIZ UDゴシック"/>
                <a:ea typeface="BIZ UDゴシック"/>
                <a:cs typeface="BIZ UDゴシック"/>
              </a:rPr>
              <a:t>- 高リスク操作（個人情報・送信・支払い・削除）では特に重要</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15｜どんな用途なら最も効果が高いか</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では、Skillはどんな用途で最も効果を発揮するのでしょうか。</a:t>
            </a:r>
          </a:p>
          <a:p/>
          <a:p>
            <a:r>
              <a:rPr lang="ja-JP" altLang="en-US">
                <a:latin typeface="BIZ UDゴシック"/>
                <a:ea typeface="BIZ UDゴシック"/>
                <a:cs typeface="BIZ UDゴシック"/>
              </a:rPr>
              <a:t>考え方としては、「繰り返しの多さ」「判断の複雑さ」「品質基準の明確さ」の掛け算で見るのが分かりやすいと思います。</a:t>
            </a:r>
          </a:p>
          <a:p/>
          <a:p>
            <a:r>
              <a:rPr lang="ja-JP" altLang="en-US">
                <a:latin typeface="BIZ UDゴシック"/>
                <a:ea typeface="BIZ UDゴシック"/>
                <a:cs typeface="BIZ UDゴシック"/>
              </a:rPr>
              <a:t>左の図は、横軸に繰り返しの頻度、縦軸に判断の複雑さを取ったものです。右上の、何度も繰り返し発生し、かつ判断を伴う領域が、Skillの最も効果的な領域です。</a:t>
            </a:r>
          </a:p>
          <a:p/>
          <a:p>
            <a:r>
              <a:rPr lang="ja-JP" altLang="en-US">
                <a:latin typeface="BIZ UDゴシック"/>
                <a:ea typeface="BIZ UDゴシック"/>
                <a:cs typeface="BIZ UDゴシック"/>
              </a:rPr>
              <a:t>具体的には、定型的だが判断も必要な会議準備、レビュー観点や例外基準を共有できる文書レビュー、調査の順序や切り分け条件を定義できる障害の一次調査などが、適性の高い用途です。</a:t>
            </a:r>
          </a:p>
          <a:p/>
          <a:p>
            <a:r>
              <a:rPr lang="ja-JP" altLang="en-US">
                <a:latin typeface="BIZ UDゴシック"/>
                <a:ea typeface="BIZ UDゴシック"/>
                <a:cs typeface="BIZ UDゴシック"/>
              </a:rPr>
              <a:t>一方、一度きりの雑談は、手順を再利用する価値が低いので向きません。1秒未満で大量に処理する決定論的な処理は、普通のコードのほうが適していることが多いです。</a:t>
            </a:r>
          </a:p>
          <a:p/>
          <a:p>
            <a:r>
              <a:rPr lang="ja-JP" altLang="en-US">
                <a:latin typeface="BIZ UDゴシック"/>
                <a:ea typeface="BIZ UDゴシック"/>
                <a:cs typeface="BIZ UDゴシック"/>
              </a:rPr>
              <a:t>そして、自動送金や削除のような高リスクな操作では、Skillは補助的な役割にとどめるべきです。強い認可、人間による承認、監査の仕組みが必要です。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「繰り返し × 判断の複雑さ × 品質基準の明確さ」で判断</a:t>
            </a:r>
          </a:p>
          <a:p>
            <a:r>
              <a:rPr lang="ja-JP" altLang="en-US">
                <a:latin typeface="BIZ UDゴシック"/>
                <a:ea typeface="BIZ UDゴシック"/>
                <a:cs typeface="BIZ UDゴシック"/>
              </a:rPr>
              <a:t>- 右上（高頻度・判断あり）がSkill最適領域</a:t>
            </a:r>
          </a:p>
          <a:p>
            <a:r>
              <a:rPr lang="ja-JP" altLang="en-US">
                <a:latin typeface="BIZ UDゴシック"/>
                <a:ea typeface="BIZ UDゴシック"/>
                <a:cs typeface="BIZ UDゴシック"/>
              </a:rPr>
              <a:t>- 大量の決定論的処理はコード、高リスク操作は補助に限定</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16｜導入効果の確かめ方：会議準備のA/B比較</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導入効果は、「便利そう」という印象ではなく、同じ条件で測って確かめるべきです。</a:t>
            </a:r>
          </a:p>
          <a:p/>
          <a:p>
            <a:r>
              <a:rPr lang="ja-JP" altLang="en-US">
                <a:latin typeface="BIZ UDゴシック"/>
                <a:ea typeface="BIZ UDゴシック"/>
                <a:cs typeface="BIZ UDゴシック"/>
              </a:rPr>
              <a:t>比較の条件としては、同じAIモデル、同じ会議と資料、同じMCPの接続権限をそろえます。その上で、Aは業務Skillなし、Bは会議準備Skillありとして比べます。難易度の異なる会議を複数用意し、それぞれ独立に評価することが大切です。</a:t>
            </a:r>
          </a:p>
          <a:p/>
          <a:p>
            <a:r>
              <a:rPr lang="ja-JP" altLang="en-US">
                <a:latin typeface="BIZ UDゴシック"/>
                <a:ea typeface="BIZ UDゴシック"/>
                <a:cs typeface="BIZ UDゴシック"/>
              </a:rPr>
              <a:t>評価指標は6つ提案します。重要な決定や未決事項をどれだけ拾えたかという情報網羅率。根拠が実際の文書やメールに対応しているかという出典正確率。取得できなかった情報を勝手に補っていないかという欠落時の挙動。依頼なく外部送信や変更をしていないかという承認違反件数。指定テンプレートの必要項目がそろっているかという成果物の一致度。そして、人が修正・確認するのにかかった工数です。</a:t>
            </a:r>
          </a:p>
          <a:p/>
          <a:p>
            <a:r>
              <a:rPr lang="ja-JP" altLang="en-US">
                <a:latin typeface="BIZ UDゴシック"/>
                <a:ea typeface="BIZ UDゴシック"/>
                <a:cs typeface="BIZ UDゴシック"/>
              </a:rPr>
              <a:t>判定の原則として、Skills導入による改善はあくまで仮説です。実測の結果が出るまでは、向上率や削減率を数値で断言しないようにしましょう。</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モデル・資料・権限をそろえ、Skillの有無だけを変えて比較</a:t>
            </a:r>
          </a:p>
          <a:p>
            <a:r>
              <a:rPr lang="ja-JP" altLang="en-US">
                <a:latin typeface="BIZ UDゴシック"/>
                <a:ea typeface="BIZ UDゴシック"/>
                <a:cs typeface="BIZ UDゴシック"/>
              </a:rPr>
              <a:t>- 網羅率・出典・欠落時の挙動・承認違反・一致度・工数の6指標</a:t>
            </a:r>
          </a:p>
          <a:p>
            <a:r>
              <a:rPr lang="ja-JP" altLang="en-US">
                <a:latin typeface="BIZ UDゴシック"/>
                <a:ea typeface="BIZ UDゴシック"/>
                <a:cs typeface="BIZ UDゴシック"/>
              </a:rPr>
              <a:t>- 結果が出るまで、改善率は数値で断言しない</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17｜実装イメージ：会議準備Skillの最小構成</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最後に、実装のイメージをお見せします。難しい仕組みというより、まずは業務マニュアルを再利用する、というところから始められます。</a:t>
            </a:r>
          </a:p>
          <a:p/>
          <a:p>
            <a:r>
              <a:rPr lang="ja-JP" altLang="en-US">
                <a:latin typeface="BIZ UDゴシック"/>
                <a:ea typeface="BIZ UDゴシック"/>
                <a:cs typeface="BIZ UDゴシック"/>
              </a:rPr>
              <a:t>左上がフォルダ構成です。meeting-prepというフォルダの中に、本体となるSKILL.md、参照資料としてアジェンダ作成のポリシー、そしてアセットとしてアジェンダのテンプレートを置いています。</a:t>
            </a:r>
          </a:p>
          <a:p/>
          <a:p>
            <a:r>
              <a:rPr lang="ja-JP" altLang="en-US">
                <a:latin typeface="BIZ UDゴシック"/>
                <a:ea typeface="BIZ UDゴシック"/>
                <a:cs typeface="BIZ UDゴシック"/>
              </a:rPr>
              <a:t>左下はSKILL.mdの冒頭にあるメタデータです。nameとdescriptionを書き、「会議の準備を依頼されたときに使う」という利用条件を示します。AIはこの説明をもとに、どのSkillを使うかを判断します。</a:t>
            </a:r>
          </a:p>
          <a:p/>
          <a:p>
            <a:r>
              <a:rPr lang="ja-JP" altLang="en-US">
                <a:latin typeface="BIZ UDゴシック"/>
                <a:ea typeface="BIZ UDゴシック"/>
                <a:cs typeface="BIZ UDゴシック"/>
              </a:rPr>
              <a:t>右側が本文の手順です。対象の会議を特定し、曖昧なら確認する。権限の範囲内で予定・議事録・関連文書を取得する。決定済み・未決・要確認に分類する。アジェンダ案と事前確認事項を出す。出典と未取得の情報を明示する。そして、外部送信や更新の前にはユーザーの承認を求める、という6ステップです。</a:t>
            </a:r>
          </a:p>
          <a:p/>
          <a:p>
            <a:r>
              <a:rPr lang="ja-JP" altLang="en-US">
                <a:latin typeface="BIZ UDゴシック"/>
                <a:ea typeface="BIZ UDゴシック"/>
                <a:cs typeface="BIZ UDゴシック"/>
              </a:rPr>
              <a:t>これは説明のための簡略化した例です。実際の運用では、具体的なツール名、呼び出し条件、失敗したときの手順、出力の評価方法を追加します。また、認可はSkillではなくツール側で強制します。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最小構成は SKILL.md ＋ 参照資料 ＋ テンプレート</a:t>
            </a:r>
          </a:p>
          <a:p>
            <a:r>
              <a:rPr lang="ja-JP" altLang="en-US">
                <a:latin typeface="BIZ UDゴシック"/>
                <a:ea typeface="BIZ UDゴシック"/>
                <a:cs typeface="BIZ UDゴシック"/>
              </a:rPr>
              <a:t>- description が「いつ使うか」の判断材料になる</a:t>
            </a:r>
          </a:p>
          <a:p>
            <a:r>
              <a:rPr lang="ja-JP" altLang="en-US">
                <a:latin typeface="BIZ UDゴシック"/>
                <a:ea typeface="BIZ UDゴシック"/>
                <a:cs typeface="BIZ UDゴシック"/>
              </a:rPr>
              <a:t>- 簡略例。実運用では失敗時手順・評価を追加し、認可はツール側で強制</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Slide 18｜最終まとめ：技術論だけでなく「仕事の資産化」の話</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まとめです。</a:t>
            </a:r>
          </a:p>
          <a:p/>
          <a:p>
            <a:r>
              <a:rPr lang="ja-JP" altLang="en-US">
                <a:latin typeface="BIZ UDゴシック"/>
                <a:ea typeface="BIZ UDゴシック"/>
                <a:cs typeface="BIZ UDゴシック"/>
              </a:rPr>
              <a:t>これまでは、AIに「使える道具」を渡していました。これからは、AIに「使える道具」と「仕事の進め方」の両方を渡す、という形に変わっていきます。</a:t>
            </a:r>
          </a:p>
          <a:p/>
          <a:p>
            <a:r>
              <a:rPr lang="ja-JP" altLang="en-US">
                <a:latin typeface="BIZ UDゴシック"/>
                <a:ea typeface="BIZ UDゴシック"/>
                <a:cs typeface="BIZ UDゴシック"/>
              </a:rPr>
              <a:t>その価値は立場によって異なります。個人にとっては、依頼のたびに細かい手順を説明し直す負担が減ります。チームにとっては、成果物や判断の観点を揃えやすくなります。開発者にとっては、ツールと業務フローを分けて開発・改善しやすくなります。企業にとっては、業務ノウハウを管理可能なAI資産にできます。そして提供事業者にとっては、業務成果に近い形で機能を配布できるようになります。</a:t>
            </a:r>
          </a:p>
          <a:p/>
          <a:p>
            <a:r>
              <a:rPr lang="ja-JP" altLang="en-US">
                <a:latin typeface="BIZ UDゴシック"/>
                <a:ea typeface="BIZ UDゴシック"/>
                <a:cs typeface="BIZ UDゴシック"/>
              </a:rPr>
              <a:t>最後に一言でまとめます。Skills over MCPの本質は、AIが使えるツールを増やすことではありません。人間が培ってきた「仕事の進め方」を、AIが再利用できる形で届けることにあります。</a:t>
            </a:r>
          </a:p>
          <a:p/>
          <a:p>
            <a:r>
              <a:rPr lang="ja-JP" altLang="en-US">
                <a:latin typeface="BIZ UDゴシック"/>
                <a:ea typeface="BIZ UDゴシック"/>
                <a:cs typeface="BIZ UDゴシック"/>
              </a:rPr>
              <a:t>ご清聴ありがとうございました。ご質問があればお受けします。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「道具」に加えて「仕事の進め方」を渡す</a:t>
            </a:r>
          </a:p>
          <a:p>
            <a:r>
              <a:rPr lang="ja-JP" altLang="en-US">
                <a:latin typeface="BIZ UDゴシック"/>
                <a:ea typeface="BIZ UDゴシック"/>
                <a:cs typeface="BIZ UDゴシック"/>
              </a:rPr>
              <a:t>- 個人・チーム・開発者・企業・提供事業者それぞれに価値がある</a:t>
            </a:r>
          </a:p>
          <a:p>
            <a:r>
              <a:rPr lang="ja-JP" altLang="en-US">
                <a:latin typeface="BIZ UDゴシック"/>
                <a:ea typeface="BIZ UDゴシック"/>
                <a:cs typeface="BIZ UDゴシック"/>
              </a:rPr>
              <a:t>- 本質は「仕事の進め方」を再利用可能な形で届けること</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付録A（1/2）｜想定質問と回答 Q1〜Q3</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ここからは付録として、想定される質問と回答をまとめています。質疑応答の際にご活用ください。</a:t>
            </a:r>
          </a:p>
          <a:p/>
          <a:p>
            <a:r>
              <a:rPr lang="ja-JP" altLang="en-US">
                <a:latin typeface="BIZ UDゴシック"/>
                <a:ea typeface="BIZ UDゴシック"/>
                <a:cs typeface="BIZ UDゴシック"/>
              </a:rPr>
              <a:t>Q1は「従来のMCPにプロンプトを渡せば、同じことができたのでは？」という質問です。答えは「その通り」です。MCPのプロンプトやリソース、システム指示、オーケストレーションのプログラムで、同様の業務フローは従来も実装できました。新しい意義は、Skillを独立した再利用可能な単位として管理し、MCPツールと組み合わせてPluginとして配布できる点にあります。</a:t>
            </a:r>
          </a:p>
          <a:p/>
          <a:p>
            <a:r>
              <a:rPr lang="ja-JP" altLang="en-US">
                <a:latin typeface="BIZ UDゴシック"/>
                <a:ea typeface="BIZ UDゴシック"/>
                <a:cs typeface="BIZ UDゴシック"/>
              </a:rPr>
              <a:t>Q2は「Skillがあれば、AIは業務手順を必ず守るのか？」です。これは保証されません。Skillはモデルへの指示なので、厳密な実行順序や必ず守るべき条件は、コード、認可、承認、評価で補う必要があります。</a:t>
            </a:r>
          </a:p>
          <a:p/>
          <a:p>
            <a:r>
              <a:rPr lang="ja-JP" altLang="en-US">
                <a:latin typeface="BIZ UDゴシック"/>
                <a:ea typeface="BIZ UDゴシック"/>
                <a:cs typeface="BIZ UDゴシック"/>
              </a:rPr>
              <a:t>Q3は「MCPサーバーを自社開発しないと使えないのか？」です。答えは「いいえ」です。指示や参照資料、既存のツールだけで成り立つ作業であれば、Skills単独でも使えます。外部サービスのライブデータや操作が必要な場合に、MCPが有効になりま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Q1：同様のことは従来も可能。新しさは管理・組み合わせ・配布の単位</a:t>
            </a:r>
          </a:p>
          <a:p>
            <a:r>
              <a:rPr lang="ja-JP" altLang="en-US">
                <a:latin typeface="BIZ UDゴシック"/>
                <a:ea typeface="BIZ UDゴシック"/>
                <a:cs typeface="BIZ UDゴシック"/>
              </a:rPr>
              <a:t>- Q2：手順遵守は保証されない。コード・認可・承認・評価で補完</a:t>
            </a:r>
          </a:p>
          <a:p>
            <a:r>
              <a:rPr lang="ja-JP" altLang="en-US">
                <a:latin typeface="BIZ UDゴシック"/>
                <a:ea typeface="BIZ UDゴシック"/>
                <a:cs typeface="BIZ UDゴシック"/>
              </a:rPr>
              <a:t>- Q3：MCPの自社開発は必須ではない</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付録A（2/2）｜想定質問と回答 Q4〜Q6</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Q4は「従来のワークフローエンジンやRPAは不要になるのか？」です。不要にはなりません。反復性が高く、厳密な分岐、再試行、監査が必要な処理は、通常のプログラムやワークフローエンジンのほうが適しています。Skillは、曖昧な依頼を扱う判断・調査・作成の業務と相性が良いものです。</a:t>
            </a:r>
          </a:p>
          <a:p/>
          <a:p>
            <a:r>
              <a:rPr lang="ja-JP" altLang="en-US">
                <a:latin typeface="BIZ UDゴシック"/>
                <a:ea typeface="BIZ UDゴシック"/>
                <a:cs typeface="BIZ UDゴシック"/>
              </a:rPr>
              <a:t>Q5は「社内に広めれば、全員の品質が自動的に上がるのか？」です。自動的には上がりません。ワークフロー自体の質、更新や評価の体制、権限設定、利用者によるレビュー、入力データの品質に左右されます。比較試験で確認するべきです。</a:t>
            </a:r>
          </a:p>
          <a:p/>
          <a:p>
            <a:r>
              <a:rPr lang="ja-JP" altLang="en-US">
                <a:latin typeface="BIZ UDゴシック"/>
                <a:ea typeface="BIZ UDゴシック"/>
                <a:cs typeface="BIZ UDゴシック"/>
              </a:rPr>
              <a:t>Q6は「コスト削減も期待できるのか？」です。期待はできますが、保証はされません。プロンプトで説明を繰り返す手間や、人による修正が減る可能性がある一方で、Skillの読み込みや追加のツール呼び出しによって、トークン数や処理時間が増える場合もあります。こちらも実測が必要です。</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Q4：ワークフローエンジン・RPAとは役割分担（置き換えではない）</a:t>
            </a:r>
          </a:p>
          <a:p>
            <a:r>
              <a:rPr lang="ja-JP" altLang="en-US">
                <a:latin typeface="BIZ UDゴシック"/>
                <a:ea typeface="BIZ UDゴシック"/>
                <a:cs typeface="BIZ UDゴシック"/>
              </a:rPr>
              <a:t>- Q5：品質向上は自動ではない。体制・権限・データ品質に依存</a:t>
            </a:r>
          </a:p>
          <a:p>
            <a:r>
              <a:rPr lang="ja-JP" altLang="en-US">
                <a:latin typeface="BIZ UDゴシック"/>
                <a:ea typeface="BIZ UDゴシック"/>
                <a:cs typeface="BIZ UDゴシック"/>
              </a:rPr>
              <a:t>- Q6：コスト削減は可能性。トークン・処理時間の増加もあり得るため実測</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ノート プレースホルダー 2"/>
          <p:cNvSpPr>
            <a:spLocks noGrp="1"/>
          </p:cNvSpPr>
          <p:nvPr>
            <p:ph type="body" idx="1"/>
          </p:nvPr>
        </p:nvSpPr>
        <p:spPr>
          <a:xfrm>
            <a:off x="685800" y="5867400"/>
            <a:ext cx="5486400" cy="4800600"/>
          </a:xfrm>
          <a:prstGeom prst="rect">
            <a:avLst/>
          </a:prstGeom>
        </p:spPr>
        <p:txBody>
          <a:bodyPr/>
          <a:lstStyle/>
          <a:p>
            <a:r>
              <a:rPr lang="ja-JP" altLang="en-US">
                <a:latin typeface="BIZ UDゴシック"/>
                <a:ea typeface="BIZ UDゴシック"/>
                <a:cs typeface="BIZ UDゴシック"/>
              </a:rPr>
              <a:t># 付録C｜出典と確認範囲</a:t>
            </a:r>
          </a:p>
          <a:p/>
          <a:p>
            <a:r>
              <a:rPr lang="ja-JP" altLang="en-US">
                <a:latin typeface="BIZ UDゴシック"/>
                <a:ea typeface="BIZ UDゴシック"/>
                <a:cs typeface="BIZ UDゴシック"/>
              </a:rPr>
              <a:t>## 話す内容</a:t>
            </a:r>
          </a:p>
          <a:p/>
          <a:p>
            <a:r>
              <a:rPr lang="ja-JP" altLang="en-US">
                <a:latin typeface="BIZ UDゴシック"/>
                <a:ea typeface="BIZ UDゴシック"/>
                <a:cs typeface="BIZ UDゴシック"/>
              </a:rPr>
              <a:t>最後に、本資料の出典と確認範囲です。2026年10月26日時点で確認しています。</a:t>
            </a:r>
          </a:p>
          <a:p/>
          <a:p>
            <a:r>
              <a:rPr lang="ja-JP" altLang="en-US">
                <a:latin typeface="BIZ UDゴシック"/>
                <a:ea typeface="BIZ UDゴシック"/>
                <a:cs typeface="BIZ UDゴシック"/>
              </a:rPr>
              <a:t>MCP、Skills、Pluginの役割や構成、配布要件に関する記述は、ここに挙げたOpenAI Developersの公式資料に基づいています。例えば、Skillsが再利用可能なワークフローを定義するフォルダーであること、PluginにSkillsとMCPの両方を含められること、MCPがツールのほかにResources、Prompts、Instructionsを提供し得ることなどです。</a:t>
            </a:r>
          </a:p>
          <a:p/>
          <a:p>
            <a:r>
              <a:rPr lang="ja-JP" altLang="en-US">
                <a:latin typeface="BIZ UDゴシック"/>
                <a:ea typeface="BIZ UDゴシック"/>
                <a:cs typeface="BIZ UDゴシック"/>
              </a:rPr>
              <a:t>一方で、業務改善、組織改革、事業価値、導入の適性、KPIといった内容は、資料作成者による分析・提案です。OpenAIが成果を保証した事実ではありませんので、その区別を意識してご覧ください。</a:t>
            </a:r>
          </a:p>
          <a:p/>
          <a:p>
            <a:r>
              <a:rPr lang="ja-JP" altLang="en-US">
                <a:latin typeface="BIZ UDゴシック"/>
                <a:ea typeface="BIZ UDゴシック"/>
                <a:cs typeface="BIZ UDゴシック"/>
              </a:rPr>
              <a:t>## 強調ポイント</a:t>
            </a:r>
          </a:p>
          <a:p/>
          <a:p>
            <a:r>
              <a:rPr lang="ja-JP" altLang="en-US">
                <a:latin typeface="BIZ UDゴシック"/>
                <a:ea typeface="BIZ UDゴシック"/>
                <a:cs typeface="BIZ UDゴシック"/>
              </a:rPr>
              <a:t>- 役割・構成・配布要件は公式資料に基づくファクト</a:t>
            </a:r>
          </a:p>
          <a:p>
            <a:r>
              <a:rPr lang="ja-JP" altLang="en-US">
                <a:latin typeface="BIZ UDゴシック"/>
                <a:ea typeface="BIZ UDゴシック"/>
                <a:cs typeface="BIZ UDゴシック"/>
              </a:rPr>
              <a:t>- 業務改善・事業価値・KPIは作成者の分析・提案</a:t>
            </a:r>
          </a:p>
          <a:p>
            <a:r>
              <a:rPr lang="ja-JP" altLang="en-US">
                <a:latin typeface="BIZ UDゴシック"/>
                <a:ea typeface="BIZ UDゴシック"/>
                <a:cs typeface="BIZ UDゴシック"/>
              </a:rPr>
              <a:t>- 確認日：2026-10-26（仕様は変わり得るため、最新情報を確認）</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E9FBBD-9175-C2DA-94A9-D2F44FEE552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F655F49-85B0-6E83-48D2-2F4D0B35211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63138AB-8F27-4922-1073-05A9E88E7D7E}"/>
              </a:ext>
            </a:extLst>
          </p:cNvPr>
          <p:cNvSpPr>
            <a:spLocks noGrp="1"/>
          </p:cNvSpPr>
          <p:nvPr>
            <p:ph type="dt" sz="half" idx="10"/>
          </p:nvPr>
        </p:nvSpPr>
        <p:spPr/>
        <p:txBody>
          <a:bodyPr/>
          <a:lstStyle/>
          <a:p>
            <a:fld id="{6D51EAFE-413E-4B54-98CB-93D3540A8C02}" type="datetimeFigureOut">
              <a:rPr kumimoji="1" lang="ja-JP" altLang="en-US" smtClean="0"/>
              <a:t>2026/9/15</a:t>
            </a:fld>
            <a:endParaRPr kumimoji="1" lang="ja-JP" altLang="en-US"/>
          </a:p>
        </p:txBody>
      </p:sp>
      <p:sp>
        <p:nvSpPr>
          <p:cNvPr id="5" name="フッター プレースホルダー 4">
            <a:extLst>
              <a:ext uri="{FF2B5EF4-FFF2-40B4-BE49-F238E27FC236}">
                <a16:creationId xmlns:a16="http://schemas.microsoft.com/office/drawing/2014/main" id="{AA53E919-A704-A686-E2C8-F1FB7FBE406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CBB3009-6011-956D-4EAB-CC6F80894A7E}"/>
              </a:ext>
            </a:extLst>
          </p:cNvPr>
          <p:cNvSpPr>
            <a:spLocks noGrp="1"/>
          </p:cNvSpPr>
          <p:nvPr>
            <p:ph type="sldNum" sz="quarter" idx="12"/>
          </p:nvPr>
        </p:nvSpPr>
        <p:spPr/>
        <p:txBody>
          <a:bodyPr/>
          <a:lstStyle/>
          <a:p>
            <a:fld id="{6E7D50D9-7A9B-42E0-9A9F-A900E210B2BF}" type="slidenum">
              <a:rPr kumimoji="1" lang="ja-JP" altLang="en-US" smtClean="0"/>
              <a:t>‹#›</a:t>
            </a:fld>
            <a:endParaRPr kumimoji="1" lang="ja-JP" altLang="en-US"/>
          </a:p>
        </p:txBody>
      </p:sp>
    </p:spTree>
    <p:extLst>
      <p:ext uri="{BB962C8B-B14F-4D97-AF65-F5344CB8AC3E}">
        <p14:creationId xmlns:p14="http://schemas.microsoft.com/office/powerpoint/2010/main" val="210777773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developers.openai.com/plugins/concepts/skills" TargetMode="External"/><Relationship Id="rId3" Type="http://schemas.openxmlformats.org/officeDocument/2006/relationships/hyperlink" Target="https://developers.openai.com/plugins/concepts/plugins" TargetMode="External"/><Relationship Id="rId4" Type="http://schemas.openxmlformats.org/officeDocument/2006/relationships/hyperlink" Target="https://developers.openai.com/plugins/concepts/mcp-server" TargetMode="External"/><Relationship Id="rId5" Type="http://schemas.openxmlformats.org/officeDocument/2006/relationships/hyperlink" Target="https://developers.openai.com/plugins/build/skills" TargetMode="External"/><Relationship Id="rId6" Type="http://schemas.openxmlformats.org/officeDocument/2006/relationships/hyperlink" Target="https://developers.openai.com/plugins/deploy/submission" TargetMode="External"/><Relationship Id="rId7" Type="http://schemas.openxmlformats.org/officeDocument/2006/relationships/hyperlink" Target="https://developers.openai.com/plugins/plugin-guidelines" TargetMode="External"/><Relationship Id="rId8"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548640" y="502920"/>
            <a:ext cx="2377440" cy="329184"/>
          </a:xfrm>
          <a:prstGeom prst="roundRect">
            <a:avLst>
              <a:gd name="adj" fmla="val 50000"/>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B87A1E"/>
                </a:solidFill>
                <a:latin typeface="BIZ UDゴシック"/>
                <a:ea typeface="BIZ UDゴシック"/>
                <a:cs typeface="BIZ UDゴシック"/>
              </a:rPr>
              <a:t>2026年10月26日版</a:t>
            </a:r>
          </a:p>
        </p:txBody>
      </p:sp>
      <p:sp>
        <p:nvSpPr>
          <p:cNvPr id="3" name="Cover Title"/>
          <p:cNvSpPr txBox="1"/>
          <p:nvPr/>
        </p:nvSpPr>
        <p:spPr>
          <a:xfrm>
            <a:off x="548640" y="1005840"/>
            <a:ext cx="11064240" cy="1188720"/>
          </a:xfrm>
          <a:prstGeom prst="rect">
            <a:avLst/>
          </a:prstGeom>
          <a:noFill/>
        </p:spPr>
        <p:txBody>
          <a:bodyPr wrap="square" lIns="0" rIns="0" tIns="0" bIns="0" anchor="t"/>
          <a:lstStyle/>
          <a:p>
            <a:pPr algn="l">
              <a:lnSpc>
                <a:spcPct val="110000"/>
              </a:lnSpc>
            </a:pPr>
            <a:r>
              <a:rPr sz="3400" b="1" i="0" lang="ja-JP" altLang="en-US">
                <a:solidFill>
                  <a:srgbClr val="1E2761"/>
                </a:solidFill>
                <a:latin typeface="BIZ UDゴシック"/>
                <a:ea typeface="BIZ UDゴシック"/>
                <a:cs typeface="BIZ UDゴシック"/>
              </a:rPr>
              <a:t>操作できるAIから、</a:t>
            </a:r>
          </a:p>
          <a:p>
            <a:pPr algn="l">
              <a:lnSpc>
                <a:spcPct val="110000"/>
              </a:lnSpc>
            </a:pPr>
            <a:r>
              <a:rPr sz="3400" b="1" i="0" lang="ja-JP" altLang="en-US">
                <a:solidFill>
                  <a:srgbClr val="1E2761"/>
                </a:solidFill>
                <a:latin typeface="BIZ UDゴシック"/>
                <a:ea typeface="BIZ UDゴシック"/>
                <a:cs typeface="BIZ UDゴシック"/>
              </a:rPr>
              <a:t>仕事の進め方を持つAIへ</a:t>
            </a:r>
          </a:p>
        </p:txBody>
      </p:sp>
      <p:sp>
        <p:nvSpPr>
          <p:cNvPr id="4" name="TextBox 3"/>
          <p:cNvSpPr txBox="1"/>
          <p:nvPr/>
        </p:nvSpPr>
        <p:spPr>
          <a:xfrm>
            <a:off x="548640" y="2286000"/>
            <a:ext cx="11064240" cy="411480"/>
          </a:xfrm>
          <a:prstGeom prst="rect">
            <a:avLst/>
          </a:prstGeom>
          <a:noFill/>
        </p:spPr>
        <p:txBody>
          <a:bodyPr wrap="square" lIns="0" rIns="0" tIns="0" bIns="0" anchor="t"/>
          <a:lstStyle/>
          <a:p>
            <a:pPr algn="l"/>
            <a:r>
              <a:rPr sz="1800" b="1" i="0" lang="ja-JP" altLang="en-US">
                <a:solidFill>
                  <a:srgbClr val="5A6B87"/>
                </a:solidFill>
                <a:latin typeface="BIZ UDゴシック"/>
                <a:ea typeface="BIZ UDゴシック"/>
                <a:cs typeface="BIZ UDゴシック"/>
              </a:rPr>
              <a:t>Skills over MCPで何が変わるのか？</a:t>
            </a:r>
          </a:p>
        </p:txBody>
      </p:sp>
      <p:sp>
        <p:nvSpPr>
          <p:cNvPr id="5" name="Rounded Rectangle 4"/>
          <p:cNvSpPr/>
          <p:nvPr/>
        </p:nvSpPr>
        <p:spPr>
          <a:xfrm>
            <a:off x="548640" y="2926080"/>
            <a:ext cx="3200400" cy="457200"/>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Rounded Rectangle 5"/>
          <p:cNvSpPr/>
          <p:nvPr/>
        </p:nvSpPr>
        <p:spPr>
          <a:xfrm>
            <a:off x="621792" y="2990088"/>
            <a:ext cx="685800" cy="329184"/>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FFFFFF"/>
                </a:solidFill>
                <a:latin typeface="BIZ UDゴシック"/>
                <a:ea typeface="BIZ UDゴシック"/>
                <a:cs typeface="BIZ UDゴシック"/>
              </a:rPr>
              <a:t>題材</a:t>
            </a:r>
          </a:p>
        </p:txBody>
      </p:sp>
      <p:sp>
        <p:nvSpPr>
          <p:cNvPr id="7" name="TextBox 6"/>
          <p:cNvSpPr txBox="1"/>
          <p:nvPr/>
        </p:nvSpPr>
        <p:spPr>
          <a:xfrm>
            <a:off x="1417319" y="2926080"/>
            <a:ext cx="2286000" cy="457200"/>
          </a:xfrm>
          <a:prstGeom prst="rect">
            <a:avLst/>
          </a:prstGeom>
          <a:noFill/>
        </p:spPr>
        <p:txBody>
          <a:bodyPr wrap="square" lIns="0" rIns="0" tIns="0" bIns="0" anchor="ctr"/>
          <a:lstStyle/>
          <a:p>
            <a:pPr algn="l"/>
            <a:r>
              <a:rPr sz="1050" b="0" i="0" lang="ja-JP" altLang="en-US">
                <a:solidFill>
                  <a:srgbClr val="1E2761"/>
                </a:solidFill>
                <a:latin typeface="BIZ UDゴシック"/>
                <a:ea typeface="BIZ UDゴシック"/>
                <a:cs typeface="BIZ UDゴシック"/>
              </a:rPr>
              <a:t>「来週の会議の準備をして」</a:t>
            </a:r>
          </a:p>
        </p:txBody>
      </p:sp>
      <p:sp>
        <p:nvSpPr>
          <p:cNvPr id="8" name="Rounded Rectangle 7"/>
          <p:cNvSpPr/>
          <p:nvPr/>
        </p:nvSpPr>
        <p:spPr>
          <a:xfrm>
            <a:off x="3886200" y="2926080"/>
            <a:ext cx="3657600" cy="457200"/>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ounded Rectangle 8"/>
          <p:cNvSpPr/>
          <p:nvPr/>
        </p:nvSpPr>
        <p:spPr>
          <a:xfrm>
            <a:off x="3959352" y="2990088"/>
            <a:ext cx="685800" cy="329184"/>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FFFFFF"/>
                </a:solidFill>
                <a:latin typeface="BIZ UDゴシック"/>
                <a:ea typeface="BIZ UDゴシック"/>
                <a:cs typeface="BIZ UDゴシック"/>
              </a:rPr>
              <a:t>比較</a:t>
            </a:r>
          </a:p>
        </p:txBody>
      </p:sp>
      <p:sp>
        <p:nvSpPr>
          <p:cNvPr id="10" name="TextBox 9"/>
          <p:cNvSpPr txBox="1"/>
          <p:nvPr/>
        </p:nvSpPr>
        <p:spPr>
          <a:xfrm>
            <a:off x="4754880" y="2926080"/>
            <a:ext cx="2743200" cy="457200"/>
          </a:xfrm>
          <a:prstGeom prst="rect">
            <a:avLst/>
          </a:prstGeom>
          <a:noFill/>
        </p:spPr>
        <p:txBody>
          <a:bodyPr wrap="square" lIns="0" rIns="0" tIns="0" bIns="0" anchor="ctr"/>
          <a:lstStyle/>
          <a:p>
            <a:pPr algn="l"/>
            <a:r>
              <a:rPr sz="1050" b="0" i="0" lang="ja-JP" altLang="en-US">
                <a:solidFill>
                  <a:srgbClr val="1E2761"/>
                </a:solidFill>
                <a:latin typeface="BIZ UDゴシック"/>
                <a:ea typeface="BIZ UDゴシック"/>
                <a:cs typeface="BIZ UDゴシック"/>
              </a:rPr>
              <a:t>MCPツール中心 vs. Skills + MCP</a:t>
            </a:r>
          </a:p>
        </p:txBody>
      </p:sp>
      <p:sp>
        <p:nvSpPr>
          <p:cNvPr id="11" name="Rounded Rectangle 10"/>
          <p:cNvSpPr/>
          <p:nvPr/>
        </p:nvSpPr>
        <p:spPr>
          <a:xfrm>
            <a:off x="7680960" y="2926080"/>
            <a:ext cx="4206240" cy="457200"/>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ounded Rectangle 11"/>
          <p:cNvSpPr/>
          <p:nvPr/>
        </p:nvSpPr>
        <p:spPr>
          <a:xfrm>
            <a:off x="7754112" y="2990088"/>
            <a:ext cx="685800" cy="329184"/>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FFFFFF"/>
                </a:solidFill>
                <a:latin typeface="BIZ UDゴシック"/>
                <a:ea typeface="BIZ UDゴシック"/>
                <a:cs typeface="BIZ UDゴシック"/>
              </a:rPr>
              <a:t>論点</a:t>
            </a:r>
          </a:p>
        </p:txBody>
      </p:sp>
      <p:sp>
        <p:nvSpPr>
          <p:cNvPr id="13" name="TextBox 12"/>
          <p:cNvSpPr txBox="1"/>
          <p:nvPr/>
        </p:nvSpPr>
        <p:spPr>
          <a:xfrm>
            <a:off x="8549640" y="2926080"/>
            <a:ext cx="3291839" cy="457200"/>
          </a:xfrm>
          <a:prstGeom prst="rect">
            <a:avLst/>
          </a:prstGeom>
          <a:noFill/>
        </p:spPr>
        <p:txBody>
          <a:bodyPr wrap="square" lIns="0" rIns="0" tIns="0" bIns="0" anchor="ctr"/>
          <a:lstStyle/>
          <a:p>
            <a:pPr algn="l"/>
            <a:r>
              <a:rPr sz="1050" b="0" i="0" lang="ja-JP" altLang="en-US">
                <a:solidFill>
                  <a:srgbClr val="1E2761"/>
                </a:solidFill>
                <a:latin typeface="BIZ UDゴシック"/>
                <a:ea typeface="BIZ UDゴシック"/>
                <a:cs typeface="BIZ UDゴシック"/>
              </a:rPr>
              <a:t>操作可能性から、業務手順の再利用・配布へ</a:t>
            </a:r>
          </a:p>
        </p:txBody>
      </p:sp>
      <p:sp>
        <p:nvSpPr>
          <p:cNvPr id="14" name="Cover Band"/>
          <p:cNvSpPr/>
          <p:nvPr/>
        </p:nvSpPr>
        <p:spPr>
          <a:xfrm>
            <a:off x="0" y="3794760"/>
            <a:ext cx="12191695" cy="30632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ounded Rectangle 14"/>
          <p:cNvSpPr/>
          <p:nvPr/>
        </p:nvSpPr>
        <p:spPr>
          <a:xfrm>
            <a:off x="548640" y="4206240"/>
            <a:ext cx="3291840" cy="2148840"/>
          </a:xfrm>
          <a:prstGeom prst="roundRect">
            <a:avLst>
              <a:gd name="adj" fmla="val 4255"/>
            </a:avLst>
          </a:prstGeom>
          <a:solidFill>
            <a:srgbClr val="232B5C"/>
          </a:solidFill>
          <a:ln w="12700">
            <a:solidFill>
              <a:srgbClr val="3A468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822959" y="4389120"/>
            <a:ext cx="2743200" cy="274320"/>
          </a:xfrm>
          <a:prstGeom prst="rect">
            <a:avLst/>
          </a:prstGeom>
          <a:noFill/>
        </p:spPr>
        <p:txBody>
          <a:bodyPr wrap="square" lIns="0" rIns="0" tIns="0" bIns="0" anchor="t"/>
          <a:lstStyle/>
          <a:p>
            <a:pPr algn="l"/>
            <a:r>
              <a:rPr sz="1100" b="1" i="0" lang="ja-JP" altLang="en-US">
                <a:solidFill>
                  <a:srgbClr val="E8A33D"/>
                </a:solidFill>
                <a:latin typeface="BIZ UDゴシック"/>
                <a:ea typeface="BIZ UDゴシック"/>
                <a:cs typeface="BIZ UDゴシック"/>
              </a:rPr>
              <a:t>Tools</a:t>
            </a:r>
          </a:p>
        </p:txBody>
      </p:sp>
      <p:sp>
        <p:nvSpPr>
          <p:cNvPr id="17" name="TextBox 16"/>
          <p:cNvSpPr txBox="1"/>
          <p:nvPr/>
        </p:nvSpPr>
        <p:spPr>
          <a:xfrm>
            <a:off x="822959" y="4709160"/>
            <a:ext cx="2743200" cy="457200"/>
          </a:xfrm>
          <a:prstGeom prst="rect">
            <a:avLst/>
          </a:prstGeom>
          <a:noFill/>
        </p:spPr>
        <p:txBody>
          <a:bodyPr wrap="square" lIns="0" rIns="0" tIns="0" bIns="0" anchor="ctr"/>
          <a:lstStyle/>
          <a:p>
            <a:pPr algn="l"/>
            <a:r>
              <a:rPr sz="2000" b="1" i="0" lang="ja-JP" altLang="en-US">
                <a:solidFill>
                  <a:srgbClr val="FFFFFF"/>
                </a:solidFill>
                <a:latin typeface="BIZ UDゴシック"/>
                <a:ea typeface="BIZ UDゴシック"/>
                <a:cs typeface="BIZ UDゴシック"/>
              </a:rPr>
              <a:t>MCP</a:t>
            </a:r>
          </a:p>
        </p:txBody>
      </p:sp>
      <p:sp>
        <p:nvSpPr>
          <p:cNvPr id="18" name="TextBox 17"/>
          <p:cNvSpPr txBox="1"/>
          <p:nvPr/>
        </p:nvSpPr>
        <p:spPr>
          <a:xfrm>
            <a:off x="822959" y="5212080"/>
            <a:ext cx="2743200" cy="274320"/>
          </a:xfrm>
          <a:prstGeom prst="rect">
            <a:avLst/>
          </a:prstGeom>
          <a:noFill/>
        </p:spPr>
        <p:txBody>
          <a:bodyPr wrap="square" lIns="0" rIns="0" tIns="0" bIns="0" anchor="t"/>
          <a:lstStyle/>
          <a:p>
            <a:pPr algn="l"/>
            <a:r>
              <a:rPr sz="1100" b="1" i="0" lang="ja-JP" altLang="en-US">
                <a:solidFill>
                  <a:srgbClr val="CADCFC"/>
                </a:solidFill>
                <a:latin typeface="BIZ UDゴシック"/>
                <a:ea typeface="BIZ UDゴシック"/>
                <a:cs typeface="BIZ UDゴシック"/>
              </a:rPr>
              <a:t>工具箱</a:t>
            </a:r>
          </a:p>
        </p:txBody>
      </p:sp>
      <p:sp>
        <p:nvSpPr>
          <p:cNvPr id="19" name="TextBox 18"/>
          <p:cNvSpPr txBox="1"/>
          <p:nvPr/>
        </p:nvSpPr>
        <p:spPr>
          <a:xfrm>
            <a:off x="822959" y="5532120"/>
            <a:ext cx="2743200" cy="640080"/>
          </a:xfrm>
          <a:prstGeom prst="rect">
            <a:avLst/>
          </a:prstGeom>
          <a:noFill/>
        </p:spPr>
        <p:txBody>
          <a:bodyPr wrap="square" lIns="0" rIns="0" tIns="0" bIns="0" anchor="t"/>
          <a:lstStyle/>
          <a:p>
            <a:pPr algn="l"/>
            <a:r>
              <a:rPr sz="1100" b="0" i="0" lang="ja-JP" altLang="en-US">
                <a:solidFill>
                  <a:srgbClr val="CADCFC"/>
                </a:solidFill>
                <a:latin typeface="BIZ UDゴシック"/>
                <a:ea typeface="BIZ UDゴシック"/>
                <a:cs typeface="BIZ UDゴシック"/>
              </a:rPr>
              <a:t>外部のデータや操作への接続を提供する</a:t>
            </a:r>
          </a:p>
        </p:txBody>
      </p:sp>
      <p:sp>
        <p:nvSpPr>
          <p:cNvPr id="20" name="Right Arrow 19"/>
          <p:cNvSpPr/>
          <p:nvPr/>
        </p:nvSpPr>
        <p:spPr>
          <a:xfrm>
            <a:off x="3913632" y="5074920"/>
            <a:ext cx="402336" cy="411480"/>
          </a:xfrm>
          <a:prstGeom prst="rightArrow">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ounded Rectangle 20"/>
          <p:cNvSpPr/>
          <p:nvPr/>
        </p:nvSpPr>
        <p:spPr>
          <a:xfrm>
            <a:off x="4389120" y="4206240"/>
            <a:ext cx="3291840" cy="2148840"/>
          </a:xfrm>
          <a:prstGeom prst="roundRect">
            <a:avLst>
              <a:gd name="adj" fmla="val 4255"/>
            </a:avLst>
          </a:prstGeom>
          <a:solidFill>
            <a:srgbClr val="232B5C"/>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4663440" y="4389120"/>
            <a:ext cx="2743200" cy="274320"/>
          </a:xfrm>
          <a:prstGeom prst="rect">
            <a:avLst/>
          </a:prstGeom>
          <a:noFill/>
        </p:spPr>
        <p:txBody>
          <a:bodyPr wrap="square" lIns="0" rIns="0" tIns="0" bIns="0" anchor="t"/>
          <a:lstStyle/>
          <a:p>
            <a:pPr algn="l"/>
            <a:r>
              <a:rPr sz="1100" b="1" i="0" lang="ja-JP" altLang="en-US">
                <a:solidFill>
                  <a:srgbClr val="E8A33D"/>
                </a:solidFill>
                <a:latin typeface="BIZ UDゴシック"/>
                <a:ea typeface="BIZ UDゴシック"/>
                <a:cs typeface="BIZ UDゴシック"/>
              </a:rPr>
              <a:t>Workflow</a:t>
            </a:r>
          </a:p>
        </p:txBody>
      </p:sp>
      <p:sp>
        <p:nvSpPr>
          <p:cNvPr id="23" name="TextBox 22"/>
          <p:cNvSpPr txBox="1"/>
          <p:nvPr/>
        </p:nvSpPr>
        <p:spPr>
          <a:xfrm>
            <a:off x="4663440" y="4709160"/>
            <a:ext cx="2743200" cy="457200"/>
          </a:xfrm>
          <a:prstGeom prst="rect">
            <a:avLst/>
          </a:prstGeom>
          <a:noFill/>
        </p:spPr>
        <p:txBody>
          <a:bodyPr wrap="square" lIns="0" rIns="0" tIns="0" bIns="0" anchor="ctr"/>
          <a:lstStyle/>
          <a:p>
            <a:pPr algn="l"/>
            <a:r>
              <a:rPr sz="2000" b="1" i="0" lang="ja-JP" altLang="en-US">
                <a:solidFill>
                  <a:srgbClr val="FFFFFF"/>
                </a:solidFill>
                <a:latin typeface="BIZ UDゴシック"/>
                <a:ea typeface="BIZ UDゴシック"/>
                <a:cs typeface="BIZ UDゴシック"/>
              </a:rPr>
              <a:t>Skill</a:t>
            </a:r>
          </a:p>
        </p:txBody>
      </p:sp>
      <p:sp>
        <p:nvSpPr>
          <p:cNvPr id="24" name="TextBox 23"/>
          <p:cNvSpPr txBox="1"/>
          <p:nvPr/>
        </p:nvSpPr>
        <p:spPr>
          <a:xfrm>
            <a:off x="4663440" y="5212080"/>
            <a:ext cx="2743200" cy="274320"/>
          </a:xfrm>
          <a:prstGeom prst="rect">
            <a:avLst/>
          </a:prstGeom>
          <a:noFill/>
        </p:spPr>
        <p:txBody>
          <a:bodyPr wrap="square" lIns="0" rIns="0" tIns="0" bIns="0" anchor="t"/>
          <a:lstStyle/>
          <a:p>
            <a:pPr algn="l"/>
            <a:r>
              <a:rPr sz="1100" b="1" i="0" lang="ja-JP" altLang="en-US">
                <a:solidFill>
                  <a:srgbClr val="CADCFC"/>
                </a:solidFill>
                <a:latin typeface="BIZ UDゴシック"/>
                <a:ea typeface="BIZ UDゴシック"/>
                <a:cs typeface="BIZ UDゴシック"/>
              </a:rPr>
              <a:t>業務手順書</a:t>
            </a:r>
          </a:p>
        </p:txBody>
      </p:sp>
      <p:sp>
        <p:nvSpPr>
          <p:cNvPr id="25" name="TextBox 24"/>
          <p:cNvSpPr txBox="1"/>
          <p:nvPr/>
        </p:nvSpPr>
        <p:spPr>
          <a:xfrm>
            <a:off x="4663440" y="5532120"/>
            <a:ext cx="2743200" cy="640080"/>
          </a:xfrm>
          <a:prstGeom prst="rect">
            <a:avLst/>
          </a:prstGeom>
          <a:noFill/>
        </p:spPr>
        <p:txBody>
          <a:bodyPr wrap="square" lIns="0" rIns="0" tIns="0" bIns="0" anchor="t"/>
          <a:lstStyle/>
          <a:p>
            <a:pPr algn="l"/>
            <a:r>
              <a:rPr sz="1100" b="0" i="0" lang="ja-JP" altLang="en-US">
                <a:solidFill>
                  <a:srgbClr val="CADCFC"/>
                </a:solidFill>
                <a:latin typeface="BIZ UDゴシック"/>
                <a:ea typeface="BIZ UDゴシック"/>
                <a:cs typeface="BIZ UDゴシック"/>
              </a:rPr>
              <a:t>手順・判断条件・成果物の基準を提供する</a:t>
            </a:r>
          </a:p>
        </p:txBody>
      </p:sp>
      <p:sp>
        <p:nvSpPr>
          <p:cNvPr id="26" name="Right Arrow 25"/>
          <p:cNvSpPr/>
          <p:nvPr/>
        </p:nvSpPr>
        <p:spPr>
          <a:xfrm>
            <a:off x="7754112" y="5074920"/>
            <a:ext cx="402336" cy="411480"/>
          </a:xfrm>
          <a:prstGeom prst="rightArrow">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ounded Rectangle 26"/>
          <p:cNvSpPr/>
          <p:nvPr/>
        </p:nvSpPr>
        <p:spPr>
          <a:xfrm>
            <a:off x="8229600" y="4206240"/>
            <a:ext cx="3291840" cy="2148840"/>
          </a:xfrm>
          <a:prstGeom prst="roundRect">
            <a:avLst>
              <a:gd name="adj" fmla="val 4255"/>
            </a:avLst>
          </a:prstGeom>
          <a:solidFill>
            <a:srgbClr val="232B5C"/>
          </a:solidFill>
          <a:ln w="12700">
            <a:solidFill>
              <a:srgbClr val="3A468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8503920" y="4389120"/>
            <a:ext cx="2743200" cy="274320"/>
          </a:xfrm>
          <a:prstGeom prst="rect">
            <a:avLst/>
          </a:prstGeom>
          <a:noFill/>
        </p:spPr>
        <p:txBody>
          <a:bodyPr wrap="square" lIns="0" rIns="0" tIns="0" bIns="0" anchor="t"/>
          <a:lstStyle/>
          <a:p>
            <a:pPr algn="l"/>
            <a:r>
              <a:rPr sz="1100" b="1" i="0" lang="ja-JP" altLang="en-US">
                <a:solidFill>
                  <a:srgbClr val="E8A33D"/>
                </a:solidFill>
                <a:latin typeface="BIZ UDゴシック"/>
                <a:ea typeface="BIZ UDゴシック"/>
                <a:cs typeface="BIZ UDゴシック"/>
              </a:rPr>
              <a:t>Outcome</a:t>
            </a:r>
          </a:p>
        </p:txBody>
      </p:sp>
      <p:sp>
        <p:nvSpPr>
          <p:cNvPr id="29" name="TextBox 28"/>
          <p:cNvSpPr txBox="1"/>
          <p:nvPr/>
        </p:nvSpPr>
        <p:spPr>
          <a:xfrm>
            <a:off x="8503920" y="4709160"/>
            <a:ext cx="2743200" cy="457200"/>
          </a:xfrm>
          <a:prstGeom prst="rect">
            <a:avLst/>
          </a:prstGeom>
          <a:noFill/>
        </p:spPr>
        <p:txBody>
          <a:bodyPr wrap="square" lIns="0" rIns="0" tIns="0" bIns="0" anchor="ctr"/>
          <a:lstStyle/>
          <a:p>
            <a:pPr algn="l"/>
            <a:r>
              <a:rPr sz="1700" b="1" i="0" lang="ja-JP" altLang="en-US">
                <a:solidFill>
                  <a:srgbClr val="FFFFFF"/>
                </a:solidFill>
                <a:latin typeface="BIZ UDゴシック"/>
                <a:ea typeface="BIZ UDゴシック"/>
                <a:cs typeface="BIZ UDゴシック"/>
              </a:rPr>
              <a:t>会議準備パッケージ</a:t>
            </a:r>
          </a:p>
        </p:txBody>
      </p:sp>
      <p:sp>
        <p:nvSpPr>
          <p:cNvPr id="30" name="TextBox 29"/>
          <p:cNvSpPr txBox="1"/>
          <p:nvPr/>
        </p:nvSpPr>
        <p:spPr>
          <a:xfrm>
            <a:off x="8503920" y="5212080"/>
            <a:ext cx="2743200" cy="274320"/>
          </a:xfrm>
          <a:prstGeom prst="rect">
            <a:avLst/>
          </a:prstGeom>
          <a:noFill/>
        </p:spPr>
        <p:txBody>
          <a:bodyPr wrap="square" lIns="0" rIns="0" tIns="0" bIns="0" anchor="t"/>
          <a:lstStyle/>
          <a:p>
            <a:pPr algn="l"/>
            <a:r>
              <a:rPr sz="1100" b="1" i="0" lang="ja-JP" altLang="en-US">
                <a:solidFill>
                  <a:srgbClr val="CADCFC"/>
                </a:solidFill>
                <a:latin typeface="BIZ UDゴシック"/>
                <a:ea typeface="BIZ UDゴシック"/>
                <a:cs typeface="BIZ UDゴシック"/>
              </a:rPr>
              <a:t>完成した成果物</a:t>
            </a:r>
          </a:p>
        </p:txBody>
      </p:sp>
      <p:sp>
        <p:nvSpPr>
          <p:cNvPr id="31" name="TextBox 30"/>
          <p:cNvSpPr txBox="1"/>
          <p:nvPr/>
        </p:nvSpPr>
        <p:spPr>
          <a:xfrm>
            <a:off x="8503920" y="5532120"/>
            <a:ext cx="2743200" cy="640080"/>
          </a:xfrm>
          <a:prstGeom prst="rect">
            <a:avLst/>
          </a:prstGeom>
          <a:noFill/>
        </p:spPr>
        <p:txBody>
          <a:bodyPr wrap="square" lIns="0" rIns="0" tIns="0" bIns="0" anchor="t"/>
          <a:lstStyle/>
          <a:p>
            <a:pPr algn="l"/>
            <a:r>
              <a:rPr sz="1100" b="0" i="0" lang="ja-JP" altLang="en-US">
                <a:solidFill>
                  <a:srgbClr val="CADCFC"/>
                </a:solidFill>
                <a:latin typeface="BIZ UDゴシック"/>
                <a:ea typeface="BIZ UDゴシック"/>
                <a:cs typeface="BIZ UDゴシック"/>
              </a:rPr>
              <a:t>要点・未決事項・アジェンダ案・確認事項</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本日の結論を先に</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変化の本質は「できる操作」ではなく「再現できる仕事」の設計にある。</a:t>
            </a:r>
          </a:p>
        </p:txBody>
      </p:sp>
      <p:sp>
        <p:nvSpPr>
          <p:cNvPr id="7" name="Rounded Rectangle 6"/>
          <p:cNvSpPr/>
          <p:nvPr/>
        </p:nvSpPr>
        <p:spPr>
          <a:xfrm>
            <a:off x="457200" y="1783080"/>
            <a:ext cx="3575304" cy="1188720"/>
          </a:xfrm>
          <a:prstGeom prst="roundRect">
            <a:avLst>
              <a:gd name="adj" fmla="val 7692"/>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ounded Rectangle 7"/>
          <p:cNvSpPr/>
          <p:nvPr/>
        </p:nvSpPr>
        <p:spPr>
          <a:xfrm>
            <a:off x="685800" y="1938528"/>
            <a:ext cx="914400" cy="310896"/>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50" b="1" i="0" lang="ja-JP" altLang="en-US">
                <a:solidFill>
                  <a:srgbClr val="FFFFFF"/>
                </a:solidFill>
                <a:latin typeface="BIZ UDゴシック"/>
                <a:ea typeface="BIZ UDゴシック"/>
                <a:cs typeface="BIZ UDゴシック"/>
              </a:rPr>
              <a:t>MCP</a:t>
            </a:r>
          </a:p>
        </p:txBody>
      </p:sp>
      <p:sp>
        <p:nvSpPr>
          <p:cNvPr id="9" name="TextBox 8"/>
          <p:cNvSpPr txBox="1"/>
          <p:nvPr/>
        </p:nvSpPr>
        <p:spPr>
          <a:xfrm>
            <a:off x="1691640" y="1901952"/>
            <a:ext cx="2286000" cy="384048"/>
          </a:xfrm>
          <a:prstGeom prst="rect">
            <a:avLst/>
          </a:prstGeom>
          <a:noFill/>
        </p:spPr>
        <p:txBody>
          <a:bodyPr wrap="square" lIns="0" rIns="0" tIns="0" bIns="0" anchor="ctr"/>
          <a:lstStyle/>
          <a:p>
            <a:pPr algn="l"/>
            <a:r>
              <a:rPr sz="1450" b="1" i="0" lang="ja-JP" altLang="en-US">
                <a:solidFill>
                  <a:srgbClr val="1E2761"/>
                </a:solidFill>
                <a:latin typeface="BIZ UDゴシック"/>
                <a:ea typeface="BIZ UDゴシック"/>
                <a:cs typeface="BIZ UDゴシック"/>
              </a:rPr>
              <a:t>＝ 能力への接続</a:t>
            </a:r>
          </a:p>
        </p:txBody>
      </p:sp>
      <p:sp>
        <p:nvSpPr>
          <p:cNvPr id="10" name="TextBox 9"/>
          <p:cNvSpPr txBox="1"/>
          <p:nvPr/>
        </p:nvSpPr>
        <p:spPr>
          <a:xfrm>
            <a:off x="685800" y="2395728"/>
            <a:ext cx="3154680" cy="457200"/>
          </a:xfrm>
          <a:prstGeom prst="rect">
            <a:avLst/>
          </a:prstGeom>
          <a:noFill/>
        </p:spPr>
        <p:txBody>
          <a:bodyPr wrap="square" lIns="0" rIns="0" tIns="0" bIns="0" anchor="t"/>
          <a:lstStyle/>
          <a:p>
            <a:pPr algn="l"/>
            <a:r>
              <a:rPr sz="1150" b="0" i="0" lang="ja-JP" altLang="en-US">
                <a:solidFill>
                  <a:srgbClr val="1E2761"/>
                </a:solidFill>
                <a:latin typeface="BIZ UDゴシック"/>
                <a:ea typeface="BIZ UDゴシック"/>
                <a:cs typeface="BIZ UDゴシック"/>
              </a:rPr>
              <a:t>外部のデータや操作をAIに提供する</a:t>
            </a:r>
          </a:p>
        </p:txBody>
      </p:sp>
      <p:sp>
        <p:nvSpPr>
          <p:cNvPr id="11" name="Rounded Rectangle 10"/>
          <p:cNvSpPr/>
          <p:nvPr/>
        </p:nvSpPr>
        <p:spPr>
          <a:xfrm>
            <a:off x="4306824" y="1783080"/>
            <a:ext cx="3575304" cy="1188720"/>
          </a:xfrm>
          <a:prstGeom prst="roundRect">
            <a:avLst>
              <a:gd name="adj" fmla="val 7692"/>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ounded Rectangle 11"/>
          <p:cNvSpPr/>
          <p:nvPr/>
        </p:nvSpPr>
        <p:spPr>
          <a:xfrm>
            <a:off x="4535424" y="1938528"/>
            <a:ext cx="914400" cy="310896"/>
          </a:xfrm>
          <a:prstGeom prst="roundRect">
            <a:avLst>
              <a:gd name="adj" fmla="val 5000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50" b="1" i="0" lang="ja-JP" altLang="en-US">
                <a:solidFill>
                  <a:srgbClr val="FFFFFF"/>
                </a:solidFill>
                <a:latin typeface="BIZ UDゴシック"/>
                <a:ea typeface="BIZ UDゴシック"/>
                <a:cs typeface="BIZ UDゴシック"/>
              </a:rPr>
              <a:t>Skills</a:t>
            </a:r>
          </a:p>
        </p:txBody>
      </p:sp>
      <p:sp>
        <p:nvSpPr>
          <p:cNvPr id="13" name="TextBox 12"/>
          <p:cNvSpPr txBox="1"/>
          <p:nvPr/>
        </p:nvSpPr>
        <p:spPr>
          <a:xfrm>
            <a:off x="5541264" y="1901952"/>
            <a:ext cx="2286000" cy="384048"/>
          </a:xfrm>
          <a:prstGeom prst="rect">
            <a:avLst/>
          </a:prstGeom>
          <a:noFill/>
        </p:spPr>
        <p:txBody>
          <a:bodyPr wrap="square" lIns="0" rIns="0" tIns="0" bIns="0" anchor="ctr"/>
          <a:lstStyle/>
          <a:p>
            <a:pPr algn="l"/>
            <a:r>
              <a:rPr sz="1450" b="1" i="0" lang="ja-JP" altLang="en-US">
                <a:solidFill>
                  <a:srgbClr val="1E2761"/>
                </a:solidFill>
                <a:latin typeface="BIZ UDゴシック"/>
                <a:ea typeface="BIZ UDゴシック"/>
                <a:cs typeface="BIZ UDゴシック"/>
              </a:rPr>
              <a:t>＝ 能力の使い方</a:t>
            </a:r>
          </a:p>
        </p:txBody>
      </p:sp>
      <p:sp>
        <p:nvSpPr>
          <p:cNvPr id="14" name="TextBox 13"/>
          <p:cNvSpPr txBox="1"/>
          <p:nvPr/>
        </p:nvSpPr>
        <p:spPr>
          <a:xfrm>
            <a:off x="4535424" y="2395728"/>
            <a:ext cx="3154680" cy="457200"/>
          </a:xfrm>
          <a:prstGeom prst="rect">
            <a:avLst/>
          </a:prstGeom>
          <a:noFill/>
        </p:spPr>
        <p:txBody>
          <a:bodyPr wrap="square" lIns="0" rIns="0" tIns="0" bIns="0" anchor="t"/>
          <a:lstStyle/>
          <a:p>
            <a:pPr algn="l"/>
            <a:r>
              <a:rPr sz="1150" b="0" i="0" lang="ja-JP" altLang="en-US">
                <a:solidFill>
                  <a:srgbClr val="1E2761"/>
                </a:solidFill>
                <a:latin typeface="BIZ UDゴシック"/>
                <a:ea typeface="BIZ UDゴシック"/>
                <a:cs typeface="BIZ UDゴシック"/>
              </a:rPr>
              <a:t>手順・条件・成果物の基準をAIに提供する</a:t>
            </a:r>
          </a:p>
        </p:txBody>
      </p:sp>
      <p:sp>
        <p:nvSpPr>
          <p:cNvPr id="15" name="Rounded Rectangle 14"/>
          <p:cNvSpPr/>
          <p:nvPr/>
        </p:nvSpPr>
        <p:spPr>
          <a:xfrm>
            <a:off x="8156448" y="1783080"/>
            <a:ext cx="3575304" cy="1188720"/>
          </a:xfrm>
          <a:prstGeom prst="roundRect">
            <a:avLst>
              <a:gd name="adj" fmla="val 7692"/>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ounded Rectangle 15"/>
          <p:cNvSpPr/>
          <p:nvPr/>
        </p:nvSpPr>
        <p:spPr>
          <a:xfrm>
            <a:off x="8385048" y="1938528"/>
            <a:ext cx="914400" cy="310896"/>
          </a:xfrm>
          <a:prstGeom prst="roundRect">
            <a:avLst>
              <a:gd name="adj" fmla="val 50000"/>
            </a:avLst>
          </a:prstGeom>
          <a:solidFill>
            <a:srgbClr val="141A45"/>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50" b="1" i="0" lang="ja-JP" altLang="en-US">
                <a:solidFill>
                  <a:srgbClr val="FFFFFF"/>
                </a:solidFill>
                <a:latin typeface="BIZ UDゴシック"/>
                <a:ea typeface="BIZ UDゴシック"/>
                <a:cs typeface="BIZ UDゴシック"/>
              </a:rPr>
              <a:t>Plugin</a:t>
            </a:r>
          </a:p>
        </p:txBody>
      </p:sp>
      <p:sp>
        <p:nvSpPr>
          <p:cNvPr id="17" name="TextBox 16"/>
          <p:cNvSpPr txBox="1"/>
          <p:nvPr/>
        </p:nvSpPr>
        <p:spPr>
          <a:xfrm>
            <a:off x="9390888" y="1901952"/>
            <a:ext cx="2286000" cy="384048"/>
          </a:xfrm>
          <a:prstGeom prst="rect">
            <a:avLst/>
          </a:prstGeom>
          <a:noFill/>
        </p:spPr>
        <p:txBody>
          <a:bodyPr wrap="square" lIns="0" rIns="0" tIns="0" bIns="0" anchor="ctr"/>
          <a:lstStyle/>
          <a:p>
            <a:pPr algn="l"/>
            <a:r>
              <a:rPr sz="1450" b="1" i="0" lang="ja-JP" altLang="en-US">
                <a:solidFill>
                  <a:srgbClr val="1E2761"/>
                </a:solidFill>
                <a:latin typeface="BIZ UDゴシック"/>
                <a:ea typeface="BIZ UDゴシック"/>
                <a:cs typeface="BIZ UDゴシック"/>
              </a:rPr>
              <a:t>＝ まとめて配布する単位</a:t>
            </a:r>
          </a:p>
        </p:txBody>
      </p:sp>
      <p:sp>
        <p:nvSpPr>
          <p:cNvPr id="18" name="TextBox 17"/>
          <p:cNvSpPr txBox="1"/>
          <p:nvPr/>
        </p:nvSpPr>
        <p:spPr>
          <a:xfrm>
            <a:off x="8385048" y="2395728"/>
            <a:ext cx="3154680" cy="457200"/>
          </a:xfrm>
          <a:prstGeom prst="rect">
            <a:avLst/>
          </a:prstGeom>
          <a:noFill/>
        </p:spPr>
        <p:txBody>
          <a:bodyPr wrap="square" lIns="0" rIns="0" tIns="0" bIns="0" anchor="t"/>
          <a:lstStyle/>
          <a:p>
            <a:pPr algn="l"/>
            <a:r>
              <a:rPr sz="1150" b="0" i="0" lang="ja-JP" altLang="en-US">
                <a:solidFill>
                  <a:srgbClr val="1E2761"/>
                </a:solidFill>
                <a:latin typeface="BIZ UDゴシック"/>
                <a:ea typeface="BIZ UDゴシック"/>
                <a:cs typeface="BIZ UDゴシック"/>
              </a:rPr>
              <a:t>Skills と MCP をセットで届ける</a:t>
            </a:r>
          </a:p>
        </p:txBody>
      </p:sp>
      <p:graphicFrame>
        <p:nvGraphicFramePr>
          <p:cNvPr id="19" name="Table 18"/>
          <p:cNvGraphicFramePr>
            <a:graphicFrameLocks noGrp="1"/>
          </p:cNvGraphicFramePr>
          <p:nvPr/>
        </p:nvGraphicFramePr>
        <p:xfrm>
          <a:off x="457200" y="3200400"/>
          <a:ext cx="11274552" cy="1920240"/>
        </p:xfrm>
        <a:graphic>
          <a:graphicData uri="http://schemas.openxmlformats.org/drawingml/2006/table">
            <a:tbl>
              <a:tblPr firstRow="0" bandRow="0"/>
              <a:tblGrid>
                <a:gridCol w="1371600"/>
                <a:gridCol w="3108960"/>
                <a:gridCol w="3291840"/>
                <a:gridCol w="3502152"/>
              </a:tblGrid>
              <a:tr h="411480">
                <a:tc>
                  <a:txBody>
                    <a:bodyPr wrap="square"/>
                    <a:lstStyle/>
                    <a:p>
                      <a:pPr algn="l"/>
                      <a:r>
                        <a:rPr sz="1200" b="1" i="0" lang="ja-JP" altLang="en-US">
                          <a:solidFill>
                            <a:srgbClr val="FFFFFF"/>
                          </a:solidFill>
                          <a:latin typeface="BIZ UDゴシック"/>
                          <a:ea typeface="BIZ UDゴシック"/>
                          <a:cs typeface="BIZ UDゴシック"/>
                        </a:rPr>
                        <a:t>領域</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41A45"/>
                    </a:solidFill>
                  </a:tcPr>
                </a:tc>
                <a:tc>
                  <a:txBody>
                    <a:bodyPr wrap="square"/>
                    <a:lstStyle/>
                    <a:p>
                      <a:pPr algn="l"/>
                      <a:r>
                        <a:rPr sz="1200" b="1" i="0" lang="ja-JP" altLang="en-US">
                          <a:solidFill>
                            <a:srgbClr val="FFFFFF"/>
                          </a:solidFill>
                          <a:latin typeface="BIZ UDゴシック"/>
                          <a:ea typeface="BIZ UDゴシック"/>
                          <a:cs typeface="BIZ UDゴシック"/>
                        </a:rPr>
                        <a:t>MCP</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E2761"/>
                    </a:solidFill>
                  </a:tcPr>
                </a:tc>
                <a:tc>
                  <a:txBody>
                    <a:bodyPr wrap="square"/>
                    <a:lstStyle/>
                    <a:p>
                      <a:pPr algn="l"/>
                      <a:r>
                        <a:rPr sz="1200" b="1" i="0" lang="ja-JP" altLang="en-US">
                          <a:solidFill>
                            <a:srgbClr val="FFFFFF"/>
                          </a:solidFill>
                          <a:latin typeface="BIZ UDゴシック"/>
                          <a:ea typeface="BIZ UDゴシック"/>
                          <a:cs typeface="BIZ UDゴシック"/>
                        </a:rPr>
                        <a:t>Skill</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8A33D"/>
                    </a:solidFill>
                  </a:tcPr>
                </a:tc>
                <a:tc>
                  <a:txBody>
                    <a:bodyPr wrap="square"/>
                    <a:lstStyle/>
                    <a:p>
                      <a:pPr algn="l"/>
                      <a:r>
                        <a:rPr sz="1200" b="1" i="0" lang="ja-JP" altLang="en-US">
                          <a:solidFill>
                            <a:srgbClr val="FFFFFF"/>
                          </a:solidFill>
                          <a:latin typeface="BIZ UDゴシック"/>
                          <a:ea typeface="BIZ UDゴシック"/>
                          <a:cs typeface="BIZ UDゴシック"/>
                        </a:rPr>
                        <a:t>組み合わせた価値</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41A45"/>
                    </a:solidFill>
                  </a:tcPr>
                </a:tc>
              </a:tr>
              <a:tr h="502920">
                <a:tc>
                  <a:txBody>
                    <a:bodyPr wrap="square"/>
                    <a:lstStyle/>
                    <a:p>
                      <a:pPr algn="l"/>
                      <a:r>
                        <a:rPr sz="1200" b="1" i="0" lang="ja-JP" altLang="en-US">
                          <a:solidFill>
                            <a:srgbClr val="222222"/>
                          </a:solidFill>
                          <a:latin typeface="BIZ UDゴシック"/>
                          <a:ea typeface="BIZ UDゴシック"/>
                          <a:cs typeface="BIZ UDゴシック"/>
                        </a:rPr>
                        <a:t>役割</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外部のデータや操作を提供</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手順・条件・成果物の基準を提供</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1" i="0" lang="ja-JP" altLang="en-US">
                          <a:solidFill>
                            <a:srgbClr val="1E2761"/>
                          </a:solidFill>
                          <a:latin typeface="BIZ UDゴシック"/>
                          <a:ea typeface="BIZ UDゴシック"/>
                          <a:cs typeface="BIZ UDゴシック"/>
                        </a:rPr>
                        <a:t>業務として使える操作体系</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r h="502920">
                <a:tc>
                  <a:txBody>
                    <a:bodyPr wrap="square"/>
                    <a:lstStyle/>
                    <a:p>
                      <a:pPr algn="l"/>
                      <a:r>
                        <a:rPr sz="1200" b="1" i="0" lang="ja-JP" altLang="en-US">
                          <a:solidFill>
                            <a:srgbClr val="222222"/>
                          </a:solidFill>
                          <a:latin typeface="BIZ UDゴシック"/>
                          <a:ea typeface="BIZ UDゴシック"/>
                          <a:cs typeface="BIZ UDゴシック"/>
                        </a:rPr>
                        <a:t>問い</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200" b="0" i="0" lang="ja-JP" altLang="en-US">
                          <a:solidFill>
                            <a:srgbClr val="222222"/>
                          </a:solidFill>
                          <a:latin typeface="BIZ UDゴシック"/>
                          <a:ea typeface="BIZ UDゴシック"/>
                          <a:cs typeface="BIZ UDゴシック"/>
                        </a:rPr>
                        <a:t>「何を操作できるか？」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200" b="0" i="0" lang="ja-JP" altLang="en-US">
                          <a:solidFill>
                            <a:srgbClr val="222222"/>
                          </a:solidFill>
                          <a:latin typeface="BIZ UDゴシック"/>
                          <a:ea typeface="BIZ UDゴシック"/>
                          <a:cs typeface="BIZ UDゴシック"/>
                        </a:rPr>
                        <a:t>「どう仕事を完了するか？」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200" b="1" i="0" lang="ja-JP" altLang="en-US">
                          <a:solidFill>
                            <a:srgbClr val="1E2761"/>
                          </a:solidFill>
                          <a:latin typeface="BIZ UDゴシック"/>
                          <a:ea typeface="BIZ UDゴシック"/>
                          <a:cs typeface="BIZ UDゴシック"/>
                        </a:rPr>
                        <a:t>「必要な手順を実行して結果を作れるか？」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r>
              <a:tr h="502920">
                <a:tc>
                  <a:txBody>
                    <a:bodyPr wrap="square"/>
                    <a:lstStyle/>
                    <a:p>
                      <a:pPr algn="l"/>
                      <a:r>
                        <a:rPr sz="1200" b="1" i="0" lang="ja-JP" altLang="en-US">
                          <a:solidFill>
                            <a:srgbClr val="222222"/>
                          </a:solidFill>
                          <a:latin typeface="BIZ UDゴシック"/>
                          <a:ea typeface="BIZ UDゴシック"/>
                          <a:cs typeface="BIZ UDゴシック"/>
                        </a:rPr>
                        <a:t>責任</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認証・認可・ツール実行</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ガイダンス・テンプレート・判断順序</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1" i="0" lang="ja-JP" altLang="en-US">
                          <a:solidFill>
                            <a:srgbClr val="1E2761"/>
                          </a:solidFill>
                          <a:latin typeface="BIZ UDゴシック"/>
                          <a:ea typeface="BIZ UDゴシック"/>
                          <a:cs typeface="BIZ UDゴシック"/>
                        </a:rPr>
                        <a:t>構成に応じて分担</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bl>
          </a:graphicData>
        </a:graphic>
      </p:graphicFrame>
      <p:sp>
        <p:nvSpPr>
          <p:cNvPr id="20" name="Rounded Rectangle 19"/>
          <p:cNvSpPr/>
          <p:nvPr/>
        </p:nvSpPr>
        <p:spPr>
          <a:xfrm>
            <a:off x="457200" y="5577840"/>
            <a:ext cx="11274552" cy="566928"/>
          </a:xfrm>
          <a:prstGeom prst="roundRect">
            <a:avLst>
              <a:gd name="adj" fmla="val 12903"/>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274320" rIns="274320" tIns="0" bIns="0" wrap="square"/>
          <a:lstStyle/>
          <a:p>
            <a:pPr algn="l"/>
            <a:r>
              <a:rPr sz="1250" b="1" i="0" lang="ja-JP" altLang="en-US">
                <a:solidFill>
                  <a:srgbClr val="B87A1E"/>
                </a:solidFill>
                <a:latin typeface="BIZ UDゴシック"/>
                <a:ea typeface="BIZ UDゴシック"/>
                <a:cs typeface="BIZ UDゴシック"/>
              </a:rPr>
              <a:t>補足　</a:t>
            </a:r>
            <a:r>
              <a:rPr sz="1250" b="0" i="0" lang="ja-JP" altLang="en-US">
                <a:solidFill>
                  <a:srgbClr val="222222"/>
                </a:solidFill>
                <a:latin typeface="BIZ UDゴシック"/>
                <a:ea typeface="BIZ UDゴシック"/>
                <a:cs typeface="BIZ UDゴシック"/>
              </a:rPr>
              <a:t>Skillは、権限管理や決定論的なワークフローエンジンの代わりにはならない。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題材：同じ依頼をしたら何が起こる？</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使える外部システムとデータの条件は両方式で同一。違いは「業務Skillが用意されているかどうか」だけ。</a:t>
            </a:r>
          </a:p>
        </p:txBody>
      </p:sp>
      <p:sp>
        <p:nvSpPr>
          <p:cNvPr id="7" name="Rounded Rectangle 6"/>
          <p:cNvSpPr/>
          <p:nvPr/>
        </p:nvSpPr>
        <p:spPr>
          <a:xfrm>
            <a:off x="457200" y="1783080"/>
            <a:ext cx="4846320" cy="3337560"/>
          </a:xfrm>
          <a:prstGeom prst="roundRect">
            <a:avLst>
              <a:gd name="adj" fmla="val 2739"/>
            </a:avLst>
          </a:prstGeom>
          <a:solidFill>
            <a:srgbClr val="1E2761"/>
          </a:solidFill>
          <a:ln w="12700">
            <a:solidFill>
              <a:srgbClr val="1E2761"/>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777240" y="2011680"/>
            <a:ext cx="4206240" cy="320040"/>
          </a:xfrm>
          <a:prstGeom prst="rect">
            <a:avLst/>
          </a:prstGeom>
          <a:noFill/>
        </p:spPr>
        <p:txBody>
          <a:bodyPr wrap="square" lIns="0" rIns="0" tIns="0" bIns="0" anchor="t"/>
          <a:lstStyle/>
          <a:p>
            <a:pPr algn="l"/>
            <a:r>
              <a:rPr sz="1300" b="1" i="0" lang="ja-JP" altLang="en-US">
                <a:solidFill>
                  <a:srgbClr val="E8A33D"/>
                </a:solidFill>
                <a:latin typeface="BIZ UDゴシック"/>
                <a:ea typeface="BIZ UDゴシック"/>
                <a:cs typeface="BIZ UDゴシック"/>
              </a:rPr>
              <a:t>ユーザーの依頼は一文だけ</a:t>
            </a:r>
          </a:p>
        </p:txBody>
      </p:sp>
      <p:sp>
        <p:nvSpPr>
          <p:cNvPr id="9" name="TextBox 8"/>
          <p:cNvSpPr txBox="1"/>
          <p:nvPr/>
        </p:nvSpPr>
        <p:spPr>
          <a:xfrm>
            <a:off x="777240" y="2606040"/>
            <a:ext cx="4206240" cy="1463040"/>
          </a:xfrm>
          <a:prstGeom prst="rect">
            <a:avLst/>
          </a:prstGeom>
          <a:noFill/>
        </p:spPr>
        <p:txBody>
          <a:bodyPr wrap="square" lIns="0" rIns="0" tIns="0" bIns="0" anchor="t"/>
          <a:lstStyle/>
          <a:p>
            <a:pPr algn="l">
              <a:lnSpc>
                <a:spcPct val="115000"/>
              </a:lnSpc>
            </a:pPr>
            <a:r>
              <a:rPr sz="3000" b="1" i="0" lang="ja-JP" altLang="en-US">
                <a:solidFill>
                  <a:srgbClr val="FFFFFF"/>
                </a:solidFill>
                <a:latin typeface="BIZ UDゴシック"/>
                <a:ea typeface="BIZ UDゴシック"/>
                <a:cs typeface="BIZ UDゴシック"/>
              </a:rPr>
              <a:t>「来週の会議の</a:t>
            </a:r>
          </a:p>
          <a:p>
            <a:pPr algn="l">
              <a:lnSpc>
                <a:spcPct val="115000"/>
              </a:lnSpc>
            </a:pPr>
            <a:r>
              <a:rPr sz="3000" b="1" i="0" lang="ja-JP" altLang="en-US">
                <a:solidFill>
                  <a:srgbClr val="FFFFFF"/>
                </a:solidFill>
                <a:latin typeface="BIZ UDゴシック"/>
                <a:ea typeface="BIZ UDゴシック"/>
                <a:cs typeface="BIZ UDゴシック"/>
              </a:rPr>
              <a:t>　準備をして」</a:t>
            </a:r>
          </a:p>
        </p:txBody>
      </p:sp>
      <p:sp>
        <p:nvSpPr>
          <p:cNvPr id="10" name="TextBox 9"/>
          <p:cNvSpPr txBox="1"/>
          <p:nvPr/>
        </p:nvSpPr>
        <p:spPr>
          <a:xfrm>
            <a:off x="777240" y="4297680"/>
            <a:ext cx="4206240" cy="548640"/>
          </a:xfrm>
          <a:prstGeom prst="rect">
            <a:avLst/>
          </a:prstGeom>
          <a:noFill/>
        </p:spPr>
        <p:txBody>
          <a:bodyPr wrap="square" lIns="0" rIns="0" tIns="0" bIns="0" anchor="t"/>
          <a:lstStyle/>
          <a:p>
            <a:pPr algn="l"/>
            <a:r>
              <a:rPr sz="1100" b="0" i="0" lang="ja-JP" altLang="en-US">
                <a:solidFill>
                  <a:srgbClr val="CADCFC"/>
                </a:solidFill>
                <a:latin typeface="BIZ UDゴシック"/>
                <a:ea typeface="BIZ UDゴシック"/>
                <a:cs typeface="BIZ UDゴシック"/>
              </a:rPr>
              <a:t>この一文に対して、MCPツール中心の構成とSkills + MCPの構成を比べる。</a:t>
            </a:r>
          </a:p>
        </p:txBody>
      </p:sp>
      <p:sp>
        <p:nvSpPr>
          <p:cNvPr id="11" name="Rounded Rectangle 10"/>
          <p:cNvSpPr/>
          <p:nvPr/>
        </p:nvSpPr>
        <p:spPr>
          <a:xfrm>
            <a:off x="5577840" y="1783080"/>
            <a:ext cx="6153912" cy="3337560"/>
          </a:xfrm>
          <a:prstGeom prst="roundRect">
            <a:avLst>
              <a:gd name="adj" fmla="val 2739"/>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5852160" y="1938528"/>
            <a:ext cx="5577840" cy="320040"/>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今回の前提</a:t>
            </a:r>
          </a:p>
        </p:txBody>
      </p:sp>
      <p:sp>
        <p:nvSpPr>
          <p:cNvPr id="13" name="Oval 12"/>
          <p:cNvSpPr/>
          <p:nvPr/>
        </p:nvSpPr>
        <p:spPr>
          <a:xfrm>
            <a:off x="5852160" y="2459736"/>
            <a:ext cx="347472" cy="347472"/>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1</a:t>
            </a:r>
          </a:p>
        </p:txBody>
      </p:sp>
      <p:sp>
        <p:nvSpPr>
          <p:cNvPr id="14" name="TextBox 13"/>
          <p:cNvSpPr txBox="1"/>
          <p:nvPr/>
        </p:nvSpPr>
        <p:spPr>
          <a:xfrm>
            <a:off x="6355080" y="2423160"/>
            <a:ext cx="5120640" cy="457200"/>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カレンダー、メール、ドキュメントを読む権限がある</a:t>
            </a:r>
          </a:p>
        </p:txBody>
      </p:sp>
      <p:sp>
        <p:nvSpPr>
          <p:cNvPr id="15" name="Oval 14"/>
          <p:cNvSpPr/>
          <p:nvPr/>
        </p:nvSpPr>
        <p:spPr>
          <a:xfrm>
            <a:off x="5852160" y="3099815"/>
            <a:ext cx="347472" cy="347472"/>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2</a:t>
            </a:r>
          </a:p>
        </p:txBody>
      </p:sp>
      <p:sp>
        <p:nvSpPr>
          <p:cNvPr id="16" name="TextBox 15"/>
          <p:cNvSpPr txBox="1"/>
          <p:nvPr/>
        </p:nvSpPr>
        <p:spPr>
          <a:xfrm>
            <a:off x="6355080" y="3063239"/>
            <a:ext cx="5120640" cy="457200"/>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会議の目的、参加者、直近の議事録を確認できる</a:t>
            </a:r>
          </a:p>
        </p:txBody>
      </p:sp>
      <p:sp>
        <p:nvSpPr>
          <p:cNvPr id="17" name="Oval 16"/>
          <p:cNvSpPr/>
          <p:nvPr/>
        </p:nvSpPr>
        <p:spPr>
          <a:xfrm>
            <a:off x="5852160" y="3739896"/>
            <a:ext cx="347472" cy="347472"/>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3</a:t>
            </a:r>
          </a:p>
        </p:txBody>
      </p:sp>
      <p:sp>
        <p:nvSpPr>
          <p:cNvPr id="18" name="TextBox 17"/>
          <p:cNvSpPr txBox="1"/>
          <p:nvPr/>
        </p:nvSpPr>
        <p:spPr>
          <a:xfrm>
            <a:off x="6355080" y="3703320"/>
            <a:ext cx="5120640" cy="457200"/>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完了条件：要点整理、未決事項、アジェンダ案、事前確認事項を出す</a:t>
            </a:r>
          </a:p>
        </p:txBody>
      </p:sp>
      <p:sp>
        <p:nvSpPr>
          <p:cNvPr id="19" name="Oval 18"/>
          <p:cNvSpPr/>
          <p:nvPr/>
        </p:nvSpPr>
        <p:spPr>
          <a:xfrm>
            <a:off x="5852160" y="4379976"/>
            <a:ext cx="347472" cy="347472"/>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4</a:t>
            </a:r>
          </a:p>
        </p:txBody>
      </p:sp>
      <p:sp>
        <p:nvSpPr>
          <p:cNvPr id="20" name="TextBox 19"/>
          <p:cNvSpPr txBox="1"/>
          <p:nvPr/>
        </p:nvSpPr>
        <p:spPr>
          <a:xfrm>
            <a:off x="6355080" y="4343400"/>
            <a:ext cx="5120640" cy="457200"/>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外部送信・予定変更などの書き込み操作は、承認後に行う</a:t>
            </a:r>
          </a:p>
        </p:txBody>
      </p:sp>
      <p:sp>
        <p:nvSpPr>
          <p:cNvPr id="21" name="Rounded Rectangle 20"/>
          <p:cNvSpPr/>
          <p:nvPr/>
        </p:nvSpPr>
        <p:spPr>
          <a:xfrm>
            <a:off x="457200" y="5349240"/>
            <a:ext cx="11274552" cy="822960"/>
          </a:xfrm>
          <a:prstGeom prst="roundRect">
            <a:avLst>
              <a:gd name="adj" fmla="val 8888"/>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274320" rIns="274320" tIns="0" bIns="0" wrap="square"/>
          <a:lstStyle/>
          <a:p>
            <a:pPr algn="l">
              <a:spcAft>
                <a:spcPts val="200"/>
              </a:spcAft>
            </a:pPr>
            <a:r>
              <a:rPr sz="1250" b="1" i="0" lang="ja-JP" altLang="en-US">
                <a:solidFill>
                  <a:srgbClr val="B87A1E"/>
                </a:solidFill>
                <a:latin typeface="BIZ UDゴシック"/>
                <a:ea typeface="BIZ UDゴシック"/>
                <a:cs typeface="BIZ UDゴシック"/>
              </a:rPr>
              <a:t>比較上のポイント</a:t>
            </a:r>
          </a:p>
          <a:p>
            <a:pPr algn="l">
              <a:spcAft>
                <a:spcPts val="200"/>
              </a:spcAft>
            </a:pPr>
            <a:r>
              <a:rPr sz="1250" b="0" i="0" lang="ja-JP" altLang="en-US">
                <a:solidFill>
                  <a:srgbClr val="222222"/>
                </a:solidFill>
                <a:latin typeface="BIZ UDゴシック"/>
                <a:ea typeface="BIZ UDゴシック"/>
                <a:cs typeface="BIZ UDゴシック"/>
              </a:rPr>
              <a:t>使用可能な外部システムとデータ条件は両方式で同一。違いは、業務Skillが用意されているかどうか。</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従来：MCPツール中心の構成</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道具は揃っている。仕事の段取りは、その場で組み立てる。</a:t>
            </a:r>
          </a:p>
        </p:txBody>
      </p:sp>
      <p:sp>
        <p:nvSpPr>
          <p:cNvPr id="7" name="Rounded Rectangle 6"/>
          <p:cNvSpPr/>
          <p:nvPr/>
        </p:nvSpPr>
        <p:spPr>
          <a:xfrm>
            <a:off x="457200" y="1783080"/>
            <a:ext cx="6355080" cy="457200"/>
          </a:xfrm>
          <a:prstGeom prst="roundRect">
            <a:avLst>
              <a:gd name="adj" fmla="val 50000"/>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lang="ja-JP" altLang="en-US">
                <a:solidFill>
                  <a:srgbClr val="1E2761"/>
                </a:solidFill>
                <a:latin typeface="BIZ UDゴシック"/>
                <a:ea typeface="BIZ UDゴシック"/>
                <a:cs typeface="BIZ UDゴシック"/>
              </a:rPr>
              <a:t>ユーザー「会議の準備をして」</a:t>
            </a:r>
          </a:p>
        </p:txBody>
      </p:sp>
      <p:sp>
        <p:nvSpPr>
          <p:cNvPr id="8" name="Down Arrow 7"/>
          <p:cNvSpPr/>
          <p:nvPr/>
        </p:nvSpPr>
        <p:spPr>
          <a:xfrm>
            <a:off x="3456432" y="2304288"/>
            <a:ext cx="365760" cy="274320"/>
          </a:xfrm>
          <a:prstGeom prst="downArrow">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ounded Rectangle 8"/>
          <p:cNvSpPr/>
          <p:nvPr/>
        </p:nvSpPr>
        <p:spPr>
          <a:xfrm>
            <a:off x="457200" y="2651760"/>
            <a:ext cx="2743200" cy="2103120"/>
          </a:xfrm>
          <a:prstGeom prst="roundRect">
            <a:avLst>
              <a:gd name="adj" fmla="val 4347"/>
            </a:avLst>
          </a:prstGeom>
          <a:solidFill>
            <a:srgbClr val="141A45"/>
          </a:solidFill>
          <a:ln w="12700">
            <a:solidFill>
              <a:srgbClr val="141A45"/>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685800" y="2761488"/>
            <a:ext cx="914400" cy="411480"/>
          </a:xfrm>
          <a:prstGeom prst="rect">
            <a:avLst/>
          </a:prstGeom>
          <a:noFill/>
        </p:spPr>
        <p:txBody>
          <a:bodyPr wrap="square" lIns="0" rIns="0" tIns="0" bIns="0" anchor="ctr"/>
          <a:lstStyle/>
          <a:p>
            <a:pPr algn="l"/>
            <a:r>
              <a:rPr sz="1800" b="1" i="0" lang="ja-JP" altLang="en-US">
                <a:solidFill>
                  <a:srgbClr val="FFFFFF"/>
                </a:solidFill>
                <a:latin typeface="BIZ UDゴシック"/>
                <a:ea typeface="BIZ UDゴシック"/>
                <a:cs typeface="BIZ UDゴシック"/>
              </a:rPr>
              <a:t>AI</a:t>
            </a:r>
          </a:p>
        </p:txBody>
      </p:sp>
      <p:sp>
        <p:nvSpPr>
          <p:cNvPr id="11" name="Rounded Rectangle 10"/>
          <p:cNvSpPr/>
          <p:nvPr/>
        </p:nvSpPr>
        <p:spPr>
          <a:xfrm>
            <a:off x="1691640" y="2816352"/>
            <a:ext cx="1325880" cy="310896"/>
          </a:xfrm>
          <a:prstGeom prst="roundRect">
            <a:avLst>
              <a:gd name="adj" fmla="val 5000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FFFFFF"/>
                </a:solidFill>
                <a:latin typeface="BIZ UDゴシック"/>
                <a:ea typeface="BIZ UDゴシック"/>
                <a:cs typeface="BIZ UDゴシック"/>
              </a:rPr>
              <a:t>都度判断</a:t>
            </a:r>
          </a:p>
        </p:txBody>
      </p:sp>
      <p:sp>
        <p:nvSpPr>
          <p:cNvPr id="12" name="TextBox 11"/>
          <p:cNvSpPr txBox="1"/>
          <p:nvPr/>
        </p:nvSpPr>
        <p:spPr>
          <a:xfrm>
            <a:off x="685800" y="3291840"/>
            <a:ext cx="2377440" cy="1371600"/>
          </a:xfrm>
          <a:prstGeom prst="rect">
            <a:avLst/>
          </a:prstGeom>
          <a:noFill/>
        </p:spPr>
        <p:txBody>
          <a:bodyPr wrap="square" lIns="0" rIns="0" tIns="0" bIns="0" anchor="t"/>
          <a:lstStyle/>
          <a:p>
            <a:pPr algn="l" marL="201168" indent="-201168">
              <a:spcAft>
                <a:spcPts val="500"/>
              </a:spcAft>
              <a:buClr>
                <a:srgbClr val="E8A33D"/>
              </a:buClr>
              <a:buFont typeface="BIZ UDゴシック"/>
              <a:buChar char="•"/>
            </a:pPr>
            <a:r>
              <a:rPr sz="1150" b="0" i="0" lang="ja-JP" altLang="en-US">
                <a:solidFill>
                  <a:srgbClr val="CADCFC"/>
                </a:solidFill>
                <a:latin typeface="BIZ UDゴシック"/>
                <a:ea typeface="BIZ UDゴシック"/>
                <a:cs typeface="BIZ UDゴシック"/>
              </a:rPr>
              <a:t>どのツールを選ぶか</a:t>
            </a:r>
          </a:p>
          <a:p>
            <a:pPr algn="l" marL="201168" indent="-201168">
              <a:spcAft>
                <a:spcPts val="500"/>
              </a:spcAft>
              <a:buClr>
                <a:srgbClr val="E8A33D"/>
              </a:buClr>
              <a:buFont typeface="BIZ UDゴシック"/>
              <a:buChar char="•"/>
            </a:pPr>
            <a:r>
              <a:rPr sz="1150" b="0" i="0" lang="ja-JP" altLang="en-US">
                <a:solidFill>
                  <a:srgbClr val="CADCFC"/>
                </a:solidFill>
                <a:latin typeface="BIZ UDゴシック"/>
                <a:ea typeface="BIZ UDゴシック"/>
                <a:cs typeface="BIZ UDゴシック"/>
              </a:rPr>
              <a:t>どの順番で情報を抽出するか</a:t>
            </a:r>
          </a:p>
          <a:p>
            <a:pPr algn="l" marL="201168" indent="-201168">
              <a:spcAft>
                <a:spcPts val="500"/>
              </a:spcAft>
              <a:buClr>
                <a:srgbClr val="E8A33D"/>
              </a:buClr>
              <a:buFont typeface="BIZ UDゴシック"/>
              <a:buChar char="•"/>
            </a:pPr>
            <a:r>
              <a:rPr sz="1150" b="0" i="0" lang="ja-JP" altLang="en-US">
                <a:solidFill>
                  <a:srgbClr val="CADCFC"/>
                </a:solidFill>
                <a:latin typeface="BIZ UDゴシック"/>
                <a:ea typeface="BIZ UDゴシック"/>
                <a:cs typeface="BIZ UDゴシック"/>
              </a:rPr>
              <a:t>結果をどうまとめるか</a:t>
            </a:r>
          </a:p>
        </p:txBody>
      </p:sp>
      <p:sp>
        <p:nvSpPr>
          <p:cNvPr id="13" name="Rounded Rectangle 12"/>
          <p:cNvSpPr/>
          <p:nvPr/>
        </p:nvSpPr>
        <p:spPr>
          <a:xfrm>
            <a:off x="3931920" y="2697480"/>
            <a:ext cx="2880360" cy="548640"/>
          </a:xfrm>
          <a:prstGeom prst="roundRect">
            <a:avLst>
              <a:gd name="adj" fmla="val 16666"/>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ounded Rectangle 13"/>
          <p:cNvSpPr/>
          <p:nvPr/>
        </p:nvSpPr>
        <p:spPr>
          <a:xfrm>
            <a:off x="4041648" y="2834640"/>
            <a:ext cx="566928" cy="274320"/>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950" b="1" i="0" lang="ja-JP" altLang="en-US">
                <a:solidFill>
                  <a:srgbClr val="FFFFFF"/>
                </a:solidFill>
                <a:latin typeface="BIZ UDゴシック"/>
                <a:ea typeface="BIZ UDゴシック"/>
                <a:cs typeface="BIZ UDゴシック"/>
              </a:rPr>
              <a:t>MCP</a:t>
            </a:r>
          </a:p>
        </p:txBody>
      </p:sp>
      <p:sp>
        <p:nvSpPr>
          <p:cNvPr id="15" name="TextBox 14"/>
          <p:cNvSpPr txBox="1"/>
          <p:nvPr/>
        </p:nvSpPr>
        <p:spPr>
          <a:xfrm>
            <a:off x="4709160" y="2697480"/>
            <a:ext cx="2057400" cy="548640"/>
          </a:xfrm>
          <a:prstGeom prst="rect">
            <a:avLst/>
          </a:prstGeom>
          <a:noFill/>
        </p:spPr>
        <p:txBody>
          <a:bodyPr wrap="square" lIns="0" rIns="0" tIns="0" bIns="0" anchor="ctr"/>
          <a:lstStyle/>
          <a:p>
            <a:pPr algn="l"/>
            <a:r>
              <a:rPr sz="1150" b="1" i="0" lang="ja-JP" altLang="en-US">
                <a:solidFill>
                  <a:srgbClr val="1E2761"/>
                </a:solidFill>
                <a:latin typeface="BIZ UDゴシック"/>
                <a:ea typeface="BIZ UDゴシック"/>
                <a:cs typeface="BIZ UDゴシック"/>
              </a:rPr>
              <a:t>カレンダー検索ツール</a:t>
            </a:r>
          </a:p>
        </p:txBody>
      </p:sp>
      <p:cxnSp>
        <p:nvCxnSpPr>
          <p:cNvPr id="16" name="Connector 15"/>
          <p:cNvCxnSpPr/>
          <p:nvPr/>
        </p:nvCxnSpPr>
        <p:spPr>
          <a:xfrm>
            <a:off x="3200400" y="2971800"/>
            <a:ext cx="731520" cy="0"/>
          </a:xfrm>
          <a:prstGeom prst="line">
            <a:avLst/>
          </a:prstGeom>
          <a:ln w="19050">
            <a:solidFill>
              <a:srgbClr val="8C97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931920" y="3410712"/>
            <a:ext cx="2880360" cy="548640"/>
          </a:xfrm>
          <a:prstGeom prst="roundRect">
            <a:avLst>
              <a:gd name="adj" fmla="val 16666"/>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ounded Rectangle 17"/>
          <p:cNvSpPr/>
          <p:nvPr/>
        </p:nvSpPr>
        <p:spPr>
          <a:xfrm>
            <a:off x="4041648" y="3547872"/>
            <a:ext cx="566928" cy="274320"/>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950" b="1" i="0" lang="ja-JP" altLang="en-US">
                <a:solidFill>
                  <a:srgbClr val="FFFFFF"/>
                </a:solidFill>
                <a:latin typeface="BIZ UDゴシック"/>
                <a:ea typeface="BIZ UDゴシック"/>
                <a:cs typeface="BIZ UDゴシック"/>
              </a:rPr>
              <a:t>MCP</a:t>
            </a:r>
          </a:p>
        </p:txBody>
      </p:sp>
      <p:sp>
        <p:nvSpPr>
          <p:cNvPr id="19" name="TextBox 18"/>
          <p:cNvSpPr txBox="1"/>
          <p:nvPr/>
        </p:nvSpPr>
        <p:spPr>
          <a:xfrm>
            <a:off x="4709160" y="3410712"/>
            <a:ext cx="2057400" cy="548640"/>
          </a:xfrm>
          <a:prstGeom prst="rect">
            <a:avLst/>
          </a:prstGeom>
          <a:noFill/>
        </p:spPr>
        <p:txBody>
          <a:bodyPr wrap="square" lIns="0" rIns="0" tIns="0" bIns="0" anchor="ctr"/>
          <a:lstStyle/>
          <a:p>
            <a:pPr algn="l"/>
            <a:r>
              <a:rPr sz="1150" b="1" i="0" lang="ja-JP" altLang="en-US">
                <a:solidFill>
                  <a:srgbClr val="1E2761"/>
                </a:solidFill>
                <a:latin typeface="BIZ UDゴシック"/>
                <a:ea typeface="BIZ UDゴシック"/>
                <a:cs typeface="BIZ UDゴシック"/>
              </a:rPr>
              <a:t>メール検索ツール</a:t>
            </a:r>
          </a:p>
        </p:txBody>
      </p:sp>
      <p:cxnSp>
        <p:nvCxnSpPr>
          <p:cNvPr id="20" name="Connector 19"/>
          <p:cNvCxnSpPr/>
          <p:nvPr/>
        </p:nvCxnSpPr>
        <p:spPr>
          <a:xfrm>
            <a:off x="3200400" y="3685032"/>
            <a:ext cx="731520" cy="0"/>
          </a:xfrm>
          <a:prstGeom prst="line">
            <a:avLst/>
          </a:prstGeom>
          <a:ln w="19050">
            <a:solidFill>
              <a:srgbClr val="8C97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931920" y="4123944"/>
            <a:ext cx="2880360" cy="548640"/>
          </a:xfrm>
          <a:prstGeom prst="roundRect">
            <a:avLst>
              <a:gd name="adj" fmla="val 16666"/>
            </a:avLst>
          </a:prstGeom>
          <a:solidFill>
            <a:srgbClr val="FFFFFF"/>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Rounded Rectangle 21"/>
          <p:cNvSpPr/>
          <p:nvPr/>
        </p:nvSpPr>
        <p:spPr>
          <a:xfrm>
            <a:off x="4041648" y="4261104"/>
            <a:ext cx="566928" cy="274320"/>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950" b="1" i="0" lang="ja-JP" altLang="en-US">
                <a:solidFill>
                  <a:srgbClr val="FFFFFF"/>
                </a:solidFill>
                <a:latin typeface="BIZ UDゴシック"/>
                <a:ea typeface="BIZ UDゴシック"/>
                <a:cs typeface="BIZ UDゴシック"/>
              </a:rPr>
              <a:t>MCP</a:t>
            </a:r>
          </a:p>
        </p:txBody>
      </p:sp>
      <p:sp>
        <p:nvSpPr>
          <p:cNvPr id="23" name="TextBox 22"/>
          <p:cNvSpPr txBox="1"/>
          <p:nvPr/>
        </p:nvSpPr>
        <p:spPr>
          <a:xfrm>
            <a:off x="4709160" y="4123944"/>
            <a:ext cx="2057400" cy="548640"/>
          </a:xfrm>
          <a:prstGeom prst="rect">
            <a:avLst/>
          </a:prstGeom>
          <a:noFill/>
        </p:spPr>
        <p:txBody>
          <a:bodyPr wrap="square" lIns="0" rIns="0" tIns="0" bIns="0" anchor="ctr"/>
          <a:lstStyle/>
          <a:p>
            <a:pPr algn="l"/>
            <a:r>
              <a:rPr sz="1150" b="1" i="0" lang="ja-JP" altLang="en-US">
                <a:solidFill>
                  <a:srgbClr val="1E2761"/>
                </a:solidFill>
                <a:latin typeface="BIZ UDゴシック"/>
                <a:ea typeface="BIZ UDゴシック"/>
                <a:cs typeface="BIZ UDゴシック"/>
              </a:rPr>
              <a:t>ドキュメント取得ツール</a:t>
            </a:r>
          </a:p>
        </p:txBody>
      </p:sp>
      <p:cxnSp>
        <p:nvCxnSpPr>
          <p:cNvPr id="24" name="Connector 23"/>
          <p:cNvCxnSpPr/>
          <p:nvPr/>
        </p:nvCxnSpPr>
        <p:spPr>
          <a:xfrm>
            <a:off x="3200400" y="4398264"/>
            <a:ext cx="731520" cy="0"/>
          </a:xfrm>
          <a:prstGeom prst="line">
            <a:avLst/>
          </a:prstGeom>
          <a:ln w="19050">
            <a:solidFill>
              <a:srgbClr val="8C97A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Down Arrow 24"/>
          <p:cNvSpPr/>
          <p:nvPr/>
        </p:nvSpPr>
        <p:spPr>
          <a:xfrm>
            <a:off x="3456432" y="4818888"/>
            <a:ext cx="365760" cy="274320"/>
          </a:xfrm>
          <a:prstGeom prst="downArrow">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ounded Rectangle 25"/>
          <p:cNvSpPr/>
          <p:nvPr/>
        </p:nvSpPr>
        <p:spPr>
          <a:xfrm>
            <a:off x="457200" y="5166360"/>
            <a:ext cx="6355080" cy="685800"/>
          </a:xfrm>
          <a:prstGeom prst="roundRect">
            <a:avLst>
              <a:gd name="adj" fmla="val 13333"/>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lang="ja-JP" altLang="en-US">
                <a:solidFill>
                  <a:srgbClr val="1E2761"/>
                </a:solidFill>
                <a:latin typeface="BIZ UDゴシック"/>
                <a:ea typeface="BIZ UDゴシック"/>
                <a:cs typeface="BIZ UDゴシック"/>
              </a:rPr>
              <a:t>会議準備の回答</a:t>
            </a:r>
          </a:p>
          <a:p>
            <a:pPr algn="ctr"/>
            <a:r>
              <a:rPr sz="1100" b="0" i="0" lang="ja-JP" altLang="en-US">
                <a:solidFill>
                  <a:srgbClr val="5A6B87"/>
                </a:solidFill>
                <a:latin typeface="BIZ UDゴシック"/>
                <a:ea typeface="BIZ UDゴシック"/>
                <a:cs typeface="BIZ UDゴシック"/>
              </a:rPr>
              <a:t>構成や調査範囲は、会話ごとに変わる可能性がある</a:t>
            </a:r>
          </a:p>
        </p:txBody>
      </p:sp>
      <p:sp>
        <p:nvSpPr>
          <p:cNvPr id="27" name="Rounded Rectangle 26"/>
          <p:cNvSpPr/>
          <p:nvPr/>
        </p:nvSpPr>
        <p:spPr>
          <a:xfrm>
            <a:off x="7132320" y="1783080"/>
            <a:ext cx="4599432" cy="4069080"/>
          </a:xfrm>
          <a:prstGeom prst="roundRect">
            <a:avLst>
              <a:gd name="adj" fmla="val 2247"/>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7406640" y="1938528"/>
            <a:ext cx="4114800" cy="320040"/>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この構成の特徴</a:t>
            </a:r>
          </a:p>
        </p:txBody>
      </p:sp>
      <p:sp>
        <p:nvSpPr>
          <p:cNvPr id="29" name="TextBox 28"/>
          <p:cNvSpPr txBox="1"/>
          <p:nvPr/>
        </p:nvSpPr>
        <p:spPr>
          <a:xfrm>
            <a:off x="7406640" y="2423160"/>
            <a:ext cx="4069080" cy="2011680"/>
          </a:xfrm>
          <a:prstGeom prst="rect">
            <a:avLst/>
          </a:prstGeom>
          <a:noFill/>
        </p:spPr>
        <p:txBody>
          <a:bodyPr wrap="square" lIns="0" rIns="0" tIns="0" bIns="0" anchor="t"/>
          <a:lstStyle/>
          <a:p>
            <a:pPr algn="l" marL="201168" indent="-201168">
              <a:spcAft>
                <a:spcPts val="1200"/>
              </a:spcAft>
              <a:buClr>
                <a:srgbClr val="1E2761"/>
              </a:buClr>
              <a:buFont typeface="BIZ UDゴシック"/>
              <a:buChar char="•"/>
            </a:pPr>
            <a:r>
              <a:rPr sz="1250" b="0" i="0" lang="ja-JP" altLang="en-US">
                <a:solidFill>
                  <a:srgbClr val="1E2761"/>
                </a:solidFill>
                <a:latin typeface="BIZ UDゴシック"/>
                <a:ea typeface="BIZ UDゴシック"/>
                <a:cs typeface="BIZ UDゴシック"/>
              </a:rPr>
              <a:t>ツールは使えるが、「どの順番・どの条件で確認するか」は、別途の指示やAIの推論に依存しやすい</a:t>
            </a:r>
          </a:p>
          <a:p>
            <a:pPr algn="l" marL="201168" indent="-201168">
              <a:spcAft>
                <a:spcPts val="1200"/>
              </a:spcAft>
              <a:buClr>
                <a:srgbClr val="1E2761"/>
              </a:buClr>
              <a:buFont typeface="BIZ UDゴシック"/>
              <a:buChar char="•"/>
            </a:pPr>
            <a:r>
              <a:rPr sz="1250" b="0" i="0" lang="ja-JP" altLang="en-US">
                <a:solidFill>
                  <a:srgbClr val="1E2761"/>
                </a:solidFill>
                <a:latin typeface="BIZ UDゴシック"/>
                <a:ea typeface="BIZ UDゴシック"/>
                <a:cs typeface="BIZ UDゴシック"/>
              </a:rPr>
              <a:t>回答の構成や調査範囲が、会話ごとに変わる可能性がある</a:t>
            </a:r>
          </a:p>
        </p:txBody>
      </p:sp>
      <p:sp>
        <p:nvSpPr>
          <p:cNvPr id="30" name="Rounded Rectangle 29"/>
          <p:cNvSpPr/>
          <p:nvPr/>
        </p:nvSpPr>
        <p:spPr>
          <a:xfrm>
            <a:off x="7406640" y="4526280"/>
            <a:ext cx="4069080" cy="1097280"/>
          </a:xfrm>
          <a:prstGeom prst="roundRect">
            <a:avLst>
              <a:gd name="adj" fmla="val 6666"/>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tIns="0" bIns="0" wrap="square"/>
          <a:lstStyle/>
          <a:p>
            <a:pPr algn="l">
              <a:spcAft>
                <a:spcPts val="200"/>
              </a:spcAft>
            </a:pPr>
            <a:r>
              <a:rPr sz="1150" b="1" i="0" lang="ja-JP" altLang="en-US">
                <a:solidFill>
                  <a:srgbClr val="B87A1E"/>
                </a:solidFill>
                <a:latin typeface="BIZ UDゴシック"/>
                <a:ea typeface="BIZ UDゴシック"/>
                <a:cs typeface="BIZ UDゴシック"/>
              </a:rPr>
              <a:t>ただし</a:t>
            </a:r>
          </a:p>
          <a:p>
            <a:pPr algn="l">
              <a:spcAft>
                <a:spcPts val="200"/>
              </a:spcAft>
            </a:pPr>
            <a:r>
              <a:rPr sz="1150" b="0" i="0" lang="ja-JP" altLang="en-US">
                <a:solidFill>
                  <a:srgbClr val="222222"/>
                </a:solidFill>
                <a:latin typeface="BIZ UDゴシック"/>
                <a:ea typeface="BIZ UDゴシック"/>
                <a:cs typeface="BIZ UDゴシック"/>
              </a:rPr>
              <a:t>固定プロンプトやオーケストレーションコードによる標準化は、従来から可能だった。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新方式：Skills + MCPの構成</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仕事の段取りを、再利用できるSkillとして渡す。</a:t>
            </a:r>
          </a:p>
        </p:txBody>
      </p:sp>
      <p:sp>
        <p:nvSpPr>
          <p:cNvPr id="7" name="Rounded Rectangle 6"/>
          <p:cNvSpPr/>
          <p:nvPr/>
        </p:nvSpPr>
        <p:spPr>
          <a:xfrm>
            <a:off x="457200" y="1783080"/>
            <a:ext cx="7406640" cy="411480"/>
          </a:xfrm>
          <a:prstGeom prst="roundRect">
            <a:avLst>
              <a:gd name="adj" fmla="val 48888"/>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50" b="1" i="0" lang="ja-JP" altLang="en-US">
                <a:solidFill>
                  <a:srgbClr val="1E2761"/>
                </a:solidFill>
                <a:latin typeface="BIZ UDゴシック"/>
                <a:ea typeface="BIZ UDゴシック"/>
                <a:cs typeface="BIZ UDゴシック"/>
              </a:rPr>
              <a:t>ユーザー「会議の準備をして」</a:t>
            </a:r>
            <a:r>
              <a:rPr sz="1250" b="0" i="0" lang="ja-JP" altLang="en-US">
                <a:solidFill>
                  <a:srgbClr val="B87A1E"/>
                </a:solidFill>
                <a:latin typeface="BIZ UDゴシック"/>
                <a:ea typeface="BIZ UDゴシック"/>
                <a:cs typeface="BIZ UDゴシック"/>
              </a:rPr>
              <a:t>　→　</a:t>
            </a:r>
            <a:r>
              <a:rPr sz="1250" b="1" i="0" lang="ja-JP" altLang="en-US">
                <a:solidFill>
                  <a:srgbClr val="B87A1E"/>
                </a:solidFill>
                <a:latin typeface="BIZ UDゴシック"/>
                <a:ea typeface="BIZ UDゴシック"/>
                <a:cs typeface="BIZ UDゴシック"/>
              </a:rPr>
              <a:t>会議準備Skillを選択</a:t>
            </a:r>
          </a:p>
        </p:txBody>
      </p:sp>
      <p:sp>
        <p:nvSpPr>
          <p:cNvPr id="8" name="Down Arrow 7"/>
          <p:cNvSpPr/>
          <p:nvPr/>
        </p:nvSpPr>
        <p:spPr>
          <a:xfrm>
            <a:off x="3977639" y="2240280"/>
            <a:ext cx="365760" cy="228600"/>
          </a:xfrm>
          <a:prstGeom prst="downArrow">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ounded Rectangle 8"/>
          <p:cNvSpPr/>
          <p:nvPr/>
        </p:nvSpPr>
        <p:spPr>
          <a:xfrm>
            <a:off x="457200" y="2514600"/>
            <a:ext cx="7406640" cy="1554480"/>
          </a:xfrm>
          <a:prstGeom prst="roundRect">
            <a:avLst>
              <a:gd name="adj" fmla="val 5882"/>
            </a:avLst>
          </a:prstGeom>
          <a:solidFill>
            <a:srgbClr val="FFF3DE"/>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640080" y="2560320"/>
            <a:ext cx="7040880" cy="320040"/>
          </a:xfrm>
          <a:prstGeom prst="rect">
            <a:avLst/>
          </a:prstGeom>
          <a:noFill/>
        </p:spPr>
        <p:txBody>
          <a:bodyPr wrap="square" lIns="0" rIns="0" tIns="0" bIns="0" anchor="ctr"/>
          <a:lstStyle/>
          <a:p>
            <a:pPr algn="l"/>
            <a:r>
              <a:rPr sz="1200" b="1" i="0" lang="ja-JP" altLang="en-US">
                <a:solidFill>
                  <a:srgbClr val="B87A1E"/>
                </a:solidFill>
                <a:latin typeface="BIZ UDゴシック"/>
                <a:ea typeface="BIZ UDゴシック"/>
                <a:cs typeface="BIZ UDゴシック"/>
              </a:rPr>
              <a:t>会議準備Skill ｜ 業務手順レイヤー</a:t>
            </a:r>
          </a:p>
        </p:txBody>
      </p:sp>
      <p:sp>
        <p:nvSpPr>
          <p:cNvPr id="11" name="Rounded Rectangle 10"/>
          <p:cNvSpPr/>
          <p:nvPr/>
        </p:nvSpPr>
        <p:spPr>
          <a:xfrm>
            <a:off x="594360" y="2907792"/>
            <a:ext cx="1338681" cy="1051560"/>
          </a:xfrm>
          <a:prstGeom prst="roundRect">
            <a:avLst>
              <a:gd name="adj" fmla="val 8695"/>
            </a:avLst>
          </a:prstGeom>
          <a:solidFill>
            <a:srgbClr val="FFFFFF"/>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val 11"/>
          <p:cNvSpPr/>
          <p:nvPr/>
        </p:nvSpPr>
        <p:spPr>
          <a:xfrm>
            <a:off x="1126540" y="2980944"/>
            <a:ext cx="274320" cy="274320"/>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lang="ja-JP" altLang="en-US">
                <a:solidFill>
                  <a:srgbClr val="FFFFFF"/>
                </a:solidFill>
                <a:latin typeface="BIZ UDゴシック"/>
                <a:ea typeface="BIZ UDゴシック"/>
                <a:cs typeface="BIZ UDゴシック"/>
              </a:rPr>
              <a:t>1</a:t>
            </a:r>
          </a:p>
        </p:txBody>
      </p:sp>
      <p:sp>
        <p:nvSpPr>
          <p:cNvPr id="13" name="TextBox 12"/>
          <p:cNvSpPr txBox="1"/>
          <p:nvPr/>
        </p:nvSpPr>
        <p:spPr>
          <a:xfrm>
            <a:off x="658368" y="3291840"/>
            <a:ext cx="1210665" cy="640080"/>
          </a:xfrm>
          <a:prstGeom prst="rect">
            <a:avLst/>
          </a:prstGeom>
          <a:noFill/>
        </p:spPr>
        <p:txBody>
          <a:bodyPr wrap="square" lIns="0" rIns="0" tIns="0" bIns="0" anchor="t"/>
          <a:lstStyle/>
          <a:p>
            <a:pPr algn="ctr"/>
            <a:r>
              <a:rPr sz="1050" b="1" i="0" lang="ja-JP" altLang="en-US">
                <a:solidFill>
                  <a:srgbClr val="1E2761"/>
                </a:solidFill>
                <a:latin typeface="BIZ UDゴシック"/>
                <a:ea typeface="BIZ UDゴシック"/>
                <a:cs typeface="BIZ UDゴシック"/>
              </a:rPr>
              <a:t>会議目的・参加者を確認</a:t>
            </a:r>
          </a:p>
        </p:txBody>
      </p:sp>
      <p:sp>
        <p:nvSpPr>
          <p:cNvPr id="14" name="Rounded Rectangle 13"/>
          <p:cNvSpPr/>
          <p:nvPr/>
        </p:nvSpPr>
        <p:spPr>
          <a:xfrm>
            <a:off x="2042769" y="2907792"/>
            <a:ext cx="1338681" cy="1051560"/>
          </a:xfrm>
          <a:prstGeom prst="roundRect">
            <a:avLst>
              <a:gd name="adj" fmla="val 8695"/>
            </a:avLst>
          </a:prstGeom>
          <a:solidFill>
            <a:srgbClr val="FFFFFF"/>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val 14"/>
          <p:cNvSpPr/>
          <p:nvPr/>
        </p:nvSpPr>
        <p:spPr>
          <a:xfrm>
            <a:off x="2574950" y="2980944"/>
            <a:ext cx="274320" cy="274320"/>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lang="ja-JP" altLang="en-US">
                <a:solidFill>
                  <a:srgbClr val="FFFFFF"/>
                </a:solidFill>
                <a:latin typeface="BIZ UDゴシック"/>
                <a:ea typeface="BIZ UDゴシック"/>
                <a:cs typeface="BIZ UDゴシック"/>
              </a:rPr>
              <a:t>2</a:t>
            </a:r>
          </a:p>
        </p:txBody>
      </p:sp>
      <p:sp>
        <p:nvSpPr>
          <p:cNvPr id="16" name="TextBox 15"/>
          <p:cNvSpPr txBox="1"/>
          <p:nvPr/>
        </p:nvSpPr>
        <p:spPr>
          <a:xfrm>
            <a:off x="2106777" y="3291840"/>
            <a:ext cx="1210665" cy="640080"/>
          </a:xfrm>
          <a:prstGeom prst="rect">
            <a:avLst/>
          </a:prstGeom>
          <a:noFill/>
        </p:spPr>
        <p:txBody>
          <a:bodyPr wrap="square" lIns="0" rIns="0" tIns="0" bIns="0" anchor="t"/>
          <a:lstStyle/>
          <a:p>
            <a:pPr algn="ctr"/>
            <a:r>
              <a:rPr sz="1050" b="1" i="0" lang="ja-JP" altLang="en-US">
                <a:solidFill>
                  <a:srgbClr val="1E2761"/>
                </a:solidFill>
                <a:latin typeface="BIZ UDゴシック"/>
                <a:ea typeface="BIZ UDゴシック"/>
                <a:cs typeface="BIZ UDゴシック"/>
              </a:rPr>
              <a:t>過去の議事録・やり取りを取得</a:t>
            </a:r>
          </a:p>
        </p:txBody>
      </p:sp>
      <p:sp>
        <p:nvSpPr>
          <p:cNvPr id="17" name="Rounded Rectangle 16"/>
          <p:cNvSpPr/>
          <p:nvPr/>
        </p:nvSpPr>
        <p:spPr>
          <a:xfrm>
            <a:off x="3491179" y="2907792"/>
            <a:ext cx="1338681" cy="1051560"/>
          </a:xfrm>
          <a:prstGeom prst="roundRect">
            <a:avLst>
              <a:gd name="adj" fmla="val 8695"/>
            </a:avLst>
          </a:prstGeom>
          <a:solidFill>
            <a:srgbClr val="FFFFFF"/>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val 17"/>
          <p:cNvSpPr/>
          <p:nvPr/>
        </p:nvSpPr>
        <p:spPr>
          <a:xfrm>
            <a:off x="4023359" y="2980944"/>
            <a:ext cx="274320" cy="274320"/>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lang="ja-JP" altLang="en-US">
                <a:solidFill>
                  <a:srgbClr val="FFFFFF"/>
                </a:solidFill>
                <a:latin typeface="BIZ UDゴシック"/>
                <a:ea typeface="BIZ UDゴシック"/>
                <a:cs typeface="BIZ UDゴシック"/>
              </a:rPr>
              <a:t>3</a:t>
            </a:r>
          </a:p>
        </p:txBody>
      </p:sp>
      <p:sp>
        <p:nvSpPr>
          <p:cNvPr id="19" name="TextBox 18"/>
          <p:cNvSpPr txBox="1"/>
          <p:nvPr/>
        </p:nvSpPr>
        <p:spPr>
          <a:xfrm>
            <a:off x="3555187" y="3291840"/>
            <a:ext cx="1210665" cy="640080"/>
          </a:xfrm>
          <a:prstGeom prst="rect">
            <a:avLst/>
          </a:prstGeom>
          <a:noFill/>
        </p:spPr>
        <p:txBody>
          <a:bodyPr wrap="square" lIns="0" rIns="0" tIns="0" bIns="0" anchor="t"/>
          <a:lstStyle/>
          <a:p>
            <a:pPr algn="ctr"/>
            <a:r>
              <a:rPr sz="1050" b="1" i="0" lang="ja-JP" altLang="en-US">
                <a:solidFill>
                  <a:srgbClr val="1E2761"/>
                </a:solidFill>
                <a:latin typeface="BIZ UDゴシック"/>
                <a:ea typeface="BIZ UDゴシック"/>
                <a:cs typeface="BIZ UDゴシック"/>
              </a:rPr>
              <a:t>決定済み／未決／要確認を分類</a:t>
            </a:r>
          </a:p>
        </p:txBody>
      </p:sp>
      <p:sp>
        <p:nvSpPr>
          <p:cNvPr id="20" name="Rounded Rectangle 19"/>
          <p:cNvSpPr/>
          <p:nvPr/>
        </p:nvSpPr>
        <p:spPr>
          <a:xfrm>
            <a:off x="4939588" y="2907792"/>
            <a:ext cx="1338681" cy="1051560"/>
          </a:xfrm>
          <a:prstGeom prst="roundRect">
            <a:avLst>
              <a:gd name="adj" fmla="val 8695"/>
            </a:avLst>
          </a:prstGeom>
          <a:solidFill>
            <a:srgbClr val="FFFFFF"/>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val 20"/>
          <p:cNvSpPr/>
          <p:nvPr/>
        </p:nvSpPr>
        <p:spPr>
          <a:xfrm>
            <a:off x="5471769" y="2980944"/>
            <a:ext cx="274320" cy="274320"/>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lang="ja-JP" altLang="en-US">
                <a:solidFill>
                  <a:srgbClr val="FFFFFF"/>
                </a:solidFill>
                <a:latin typeface="BIZ UDゴシック"/>
                <a:ea typeface="BIZ UDゴシック"/>
                <a:cs typeface="BIZ UDゴシック"/>
              </a:rPr>
              <a:t>4</a:t>
            </a:r>
          </a:p>
        </p:txBody>
      </p:sp>
      <p:sp>
        <p:nvSpPr>
          <p:cNvPr id="22" name="TextBox 21"/>
          <p:cNvSpPr txBox="1"/>
          <p:nvPr/>
        </p:nvSpPr>
        <p:spPr>
          <a:xfrm>
            <a:off x="5003596" y="3291840"/>
            <a:ext cx="1210665" cy="640080"/>
          </a:xfrm>
          <a:prstGeom prst="rect">
            <a:avLst/>
          </a:prstGeom>
          <a:noFill/>
        </p:spPr>
        <p:txBody>
          <a:bodyPr wrap="square" lIns="0" rIns="0" tIns="0" bIns="0" anchor="t"/>
          <a:lstStyle/>
          <a:p>
            <a:pPr algn="ctr"/>
            <a:r>
              <a:rPr sz="1050" b="1" i="0" lang="ja-JP" altLang="en-US">
                <a:solidFill>
                  <a:srgbClr val="1E2761"/>
                </a:solidFill>
                <a:latin typeface="BIZ UDゴシック"/>
                <a:ea typeface="BIZ UDゴシック"/>
                <a:cs typeface="BIZ UDゴシック"/>
              </a:rPr>
              <a:t>アジェンダと論点を作成</a:t>
            </a:r>
          </a:p>
        </p:txBody>
      </p:sp>
      <p:sp>
        <p:nvSpPr>
          <p:cNvPr id="23" name="Rounded Rectangle 22"/>
          <p:cNvSpPr/>
          <p:nvPr/>
        </p:nvSpPr>
        <p:spPr>
          <a:xfrm>
            <a:off x="6387998" y="2907792"/>
            <a:ext cx="1338681" cy="1051560"/>
          </a:xfrm>
          <a:prstGeom prst="roundRect">
            <a:avLst>
              <a:gd name="adj" fmla="val 8695"/>
            </a:avLst>
          </a:prstGeom>
          <a:solidFill>
            <a:srgbClr val="FFFFFF"/>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Oval 23"/>
          <p:cNvSpPr/>
          <p:nvPr/>
        </p:nvSpPr>
        <p:spPr>
          <a:xfrm>
            <a:off x="6920179" y="2980944"/>
            <a:ext cx="274320" cy="274320"/>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lang="ja-JP" altLang="en-US">
                <a:solidFill>
                  <a:srgbClr val="FFFFFF"/>
                </a:solidFill>
                <a:latin typeface="BIZ UDゴシック"/>
                <a:ea typeface="BIZ UDゴシック"/>
                <a:cs typeface="BIZ UDゴシック"/>
              </a:rPr>
              <a:t>5</a:t>
            </a:r>
          </a:p>
        </p:txBody>
      </p:sp>
      <p:sp>
        <p:nvSpPr>
          <p:cNvPr id="25" name="TextBox 24"/>
          <p:cNvSpPr txBox="1"/>
          <p:nvPr/>
        </p:nvSpPr>
        <p:spPr>
          <a:xfrm>
            <a:off x="6452006" y="3291840"/>
            <a:ext cx="1210665" cy="640080"/>
          </a:xfrm>
          <a:prstGeom prst="rect">
            <a:avLst/>
          </a:prstGeom>
          <a:noFill/>
        </p:spPr>
        <p:txBody>
          <a:bodyPr wrap="square" lIns="0" rIns="0" tIns="0" bIns="0" anchor="t"/>
          <a:lstStyle/>
          <a:p>
            <a:pPr algn="ctr"/>
            <a:r>
              <a:rPr sz="1050" b="1" i="0" lang="ja-JP" altLang="en-US">
                <a:solidFill>
                  <a:srgbClr val="1E2761"/>
                </a:solidFill>
                <a:latin typeface="BIZ UDゴシック"/>
                <a:ea typeface="BIZ UDゴシック"/>
                <a:cs typeface="BIZ UDゴシック"/>
              </a:rPr>
              <a:t>情報源・不足情報・承認事項を明示</a:t>
            </a:r>
          </a:p>
        </p:txBody>
      </p:sp>
      <p:sp>
        <p:nvSpPr>
          <p:cNvPr id="26" name="Down Arrow 25"/>
          <p:cNvSpPr/>
          <p:nvPr/>
        </p:nvSpPr>
        <p:spPr>
          <a:xfrm>
            <a:off x="3977639" y="4114800"/>
            <a:ext cx="365760" cy="228600"/>
          </a:xfrm>
          <a:prstGeom prst="downArrow">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ounded Rectangle 26"/>
          <p:cNvSpPr/>
          <p:nvPr/>
        </p:nvSpPr>
        <p:spPr>
          <a:xfrm>
            <a:off x="457200" y="4389120"/>
            <a:ext cx="7406640" cy="777240"/>
          </a:xfrm>
          <a:prstGeom prst="roundRect">
            <a:avLst>
              <a:gd name="adj" fmla="val 11764"/>
            </a:avLst>
          </a:prstGeom>
          <a:solidFill>
            <a:srgbClr val="EEF3FD"/>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640080" y="4389120"/>
            <a:ext cx="3108960" cy="777240"/>
          </a:xfrm>
          <a:prstGeom prst="rect">
            <a:avLst/>
          </a:prstGeom>
          <a:noFill/>
        </p:spPr>
        <p:txBody>
          <a:bodyPr wrap="square" lIns="0" rIns="0" tIns="0" bIns="0" anchor="ctr"/>
          <a:lstStyle/>
          <a:p>
            <a:pPr algn="l"/>
            <a:r>
              <a:rPr sz="1250" b="1" i="0" lang="ja-JP" altLang="en-US">
                <a:solidFill>
                  <a:srgbClr val="1E2761"/>
                </a:solidFill>
                <a:latin typeface="BIZ UDゴシック"/>
                <a:ea typeface="BIZ UDゴシック"/>
                <a:cs typeface="BIZ UDゴシック"/>
              </a:rPr>
              <a:t>MCP経由で利用</a:t>
            </a:r>
          </a:p>
          <a:p>
            <a:pPr algn="l"/>
            <a:r>
              <a:rPr sz="1050" b="0" i="0" lang="ja-JP" altLang="en-US">
                <a:solidFill>
                  <a:srgbClr val="5A6B87"/>
                </a:solidFill>
                <a:latin typeface="BIZ UDゴシック"/>
                <a:ea typeface="BIZ UDゴシック"/>
                <a:cs typeface="BIZ UDゴシック"/>
              </a:rPr>
              <a:t>データアクセス・操作権限</a:t>
            </a:r>
          </a:p>
        </p:txBody>
      </p:sp>
      <p:sp>
        <p:nvSpPr>
          <p:cNvPr id="29" name="Rounded Rectangle 28"/>
          <p:cNvSpPr/>
          <p:nvPr/>
        </p:nvSpPr>
        <p:spPr>
          <a:xfrm>
            <a:off x="3657600" y="4626864"/>
            <a:ext cx="1234440" cy="329184"/>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FFFFFF"/>
                </a:solidFill>
                <a:latin typeface="BIZ UDゴシック"/>
                <a:ea typeface="BIZ UDゴシック"/>
                <a:cs typeface="BIZ UDゴシック"/>
              </a:rPr>
              <a:t>カレンダー</a:t>
            </a:r>
          </a:p>
        </p:txBody>
      </p:sp>
      <p:sp>
        <p:nvSpPr>
          <p:cNvPr id="30" name="Rounded Rectangle 29"/>
          <p:cNvSpPr/>
          <p:nvPr/>
        </p:nvSpPr>
        <p:spPr>
          <a:xfrm>
            <a:off x="5029200" y="4626864"/>
            <a:ext cx="1234440" cy="329184"/>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FFFFFF"/>
                </a:solidFill>
                <a:latin typeface="BIZ UDゴシック"/>
                <a:ea typeface="BIZ UDゴシック"/>
                <a:cs typeface="BIZ UDゴシック"/>
              </a:rPr>
              <a:t>メール</a:t>
            </a:r>
          </a:p>
        </p:txBody>
      </p:sp>
      <p:sp>
        <p:nvSpPr>
          <p:cNvPr id="31" name="Rounded Rectangle 30"/>
          <p:cNvSpPr/>
          <p:nvPr/>
        </p:nvSpPr>
        <p:spPr>
          <a:xfrm>
            <a:off x="6400800" y="4626864"/>
            <a:ext cx="1234440" cy="329184"/>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FFFFFF"/>
                </a:solidFill>
                <a:latin typeface="BIZ UDゴシック"/>
                <a:ea typeface="BIZ UDゴシック"/>
                <a:cs typeface="BIZ UDゴシック"/>
              </a:rPr>
              <a:t>資料</a:t>
            </a:r>
          </a:p>
        </p:txBody>
      </p:sp>
      <p:sp>
        <p:nvSpPr>
          <p:cNvPr id="32" name="Down Arrow 31"/>
          <p:cNvSpPr/>
          <p:nvPr/>
        </p:nvSpPr>
        <p:spPr>
          <a:xfrm>
            <a:off x="3977639" y="5230368"/>
            <a:ext cx="365760" cy="228600"/>
          </a:xfrm>
          <a:prstGeom prst="downArrow">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Rounded Rectangle 32"/>
          <p:cNvSpPr/>
          <p:nvPr/>
        </p:nvSpPr>
        <p:spPr>
          <a:xfrm>
            <a:off x="457200" y="5504688"/>
            <a:ext cx="7406640" cy="548640"/>
          </a:xfrm>
          <a:prstGeom prst="roundRect">
            <a:avLst>
              <a:gd name="adj" fmla="val 16666"/>
            </a:avLst>
          </a:prstGeom>
          <a:solidFill>
            <a:srgbClr val="141A4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400" b="1" i="0" lang="ja-JP" altLang="en-US">
                <a:solidFill>
                  <a:srgbClr val="FFFFFF"/>
                </a:solidFill>
                <a:latin typeface="BIZ UDゴシック"/>
                <a:ea typeface="BIZ UDゴシック"/>
                <a:cs typeface="BIZ UDゴシック"/>
              </a:rPr>
              <a:t>標準形式の会議準備パック</a:t>
            </a:r>
          </a:p>
        </p:txBody>
      </p:sp>
      <p:sp>
        <p:nvSpPr>
          <p:cNvPr id="34" name="Rounded Rectangle 33"/>
          <p:cNvSpPr/>
          <p:nvPr/>
        </p:nvSpPr>
        <p:spPr>
          <a:xfrm>
            <a:off x="8138160" y="1783080"/>
            <a:ext cx="3593592" cy="4270248"/>
          </a:xfrm>
          <a:prstGeom prst="roundRect">
            <a:avLst>
              <a:gd name="adj" fmla="val 2544"/>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xtBox 34"/>
          <p:cNvSpPr txBox="1"/>
          <p:nvPr/>
        </p:nvSpPr>
        <p:spPr>
          <a:xfrm>
            <a:off x="8366760" y="1938528"/>
            <a:ext cx="3200400" cy="320040"/>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Skillが担うこと</a:t>
            </a:r>
          </a:p>
        </p:txBody>
      </p:sp>
      <p:sp>
        <p:nvSpPr>
          <p:cNvPr id="36" name="TextBox 35"/>
          <p:cNvSpPr txBox="1"/>
          <p:nvPr/>
        </p:nvSpPr>
        <p:spPr>
          <a:xfrm>
            <a:off x="8366760" y="2377440"/>
            <a:ext cx="3200400" cy="2377440"/>
          </a:xfrm>
          <a:prstGeom prst="rect">
            <a:avLst/>
          </a:prstGeom>
          <a:noFill/>
        </p:spPr>
        <p:txBody>
          <a:bodyPr wrap="square" lIns="0" rIns="0" tIns="0" bIns="0" anchor="t"/>
          <a:lstStyle/>
          <a:p>
            <a:pPr algn="l" marL="201168" indent="-201168">
              <a:spcAft>
                <a:spcPts val="1000"/>
              </a:spcAft>
              <a:buClr>
                <a:srgbClr val="E8A33D"/>
              </a:buClr>
              <a:buFont typeface="BIZ UDゴシック"/>
              <a:buChar char="•"/>
            </a:pPr>
            <a:r>
              <a:rPr sz="1200" b="1" i="0" lang="ja-JP" altLang="en-US">
                <a:solidFill>
                  <a:srgbClr val="1E2761"/>
                </a:solidFill>
                <a:latin typeface="BIZ UDゴシック"/>
                <a:ea typeface="BIZ UDゴシック"/>
                <a:cs typeface="BIZ UDゴシック"/>
              </a:rPr>
              <a:t>いつ、どのツールを、どの順序で</a:t>
            </a:r>
            <a:r>
              <a:rPr sz="1200" b="0" i="0" lang="ja-JP" altLang="en-US">
                <a:solidFill>
                  <a:srgbClr val="1E2761"/>
                </a:solidFill>
                <a:latin typeface="BIZ UDゴシック"/>
                <a:ea typeface="BIZ UDゴシック"/>
                <a:cs typeface="BIZ UDゴシック"/>
              </a:rPr>
              <a:t>使うかのガイドを持つ</a:t>
            </a:r>
          </a:p>
          <a:p>
            <a:pPr algn="l" marL="201168" indent="-201168">
              <a:spcAft>
                <a:spcPts val="1000"/>
              </a:spcAft>
              <a:buClr>
                <a:srgbClr val="E8A33D"/>
              </a:buClr>
              <a:buFont typeface="BIZ UDゴシック"/>
              <a:buChar char="•"/>
            </a:pPr>
            <a:r>
              <a:rPr sz="1200" b="0" i="0" lang="ja-JP" altLang="en-US">
                <a:solidFill>
                  <a:srgbClr val="1E2761"/>
                </a:solidFill>
                <a:latin typeface="BIZ UDゴシック"/>
                <a:ea typeface="BIZ UDゴシック"/>
                <a:cs typeface="BIZ UDゴシック"/>
              </a:rPr>
              <a:t>不明情報がある場合の扱いや、最終成果物に必要な要素を定義できる</a:t>
            </a:r>
          </a:p>
          <a:p>
            <a:pPr algn="l" marL="201168" indent="-201168">
              <a:spcAft>
                <a:spcPts val="1000"/>
              </a:spcAft>
              <a:buClr>
                <a:srgbClr val="1E2761"/>
              </a:buClr>
              <a:buFont typeface="BIZ UDゴシック"/>
              <a:buChar char="•"/>
            </a:pPr>
            <a:r>
              <a:rPr sz="1200" b="0" i="0" lang="ja-JP" altLang="en-US">
                <a:solidFill>
                  <a:srgbClr val="1E2761"/>
                </a:solidFill>
                <a:latin typeface="BIZ UDゴシック"/>
                <a:ea typeface="BIZ UDゴシック"/>
                <a:cs typeface="BIZ UDゴシック"/>
              </a:rPr>
              <a:t>実際のデータへのアクセスと操作権限は、MCP側で扱う</a:t>
            </a:r>
          </a:p>
        </p:txBody>
      </p:sp>
      <p:sp>
        <p:nvSpPr>
          <p:cNvPr id="37" name="Rounded Rectangle 36"/>
          <p:cNvSpPr/>
          <p:nvPr/>
        </p:nvSpPr>
        <p:spPr>
          <a:xfrm>
            <a:off x="8366760" y="4846320"/>
            <a:ext cx="3154680" cy="1005840"/>
          </a:xfrm>
          <a:prstGeom prst="roundRect">
            <a:avLst>
              <a:gd name="adj" fmla="val 7272"/>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137160" rIns="137160" tIns="0" bIns="0" wrap="square"/>
          <a:lstStyle/>
          <a:p>
            <a:pPr algn="l"/>
            <a:r>
              <a:rPr sz="1050" b="0" i="0" lang="ja-JP" altLang="en-US">
                <a:solidFill>
                  <a:srgbClr val="222222"/>
                </a:solidFill>
                <a:latin typeface="BIZ UDゴシック"/>
                <a:ea typeface="BIZ UDゴシック"/>
                <a:cs typeface="BIZ UDゴシック"/>
              </a:rPr>
              <a:t>Skillは手順を案内するもの。指定した手順の厳密な実行を保証するプログラムではない。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同一シナリオの結果を比較</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差が出るのは「回答できるか」ではなく「安定して何を揃えるか」。</a:t>
            </a:r>
          </a:p>
        </p:txBody>
      </p:sp>
      <p:graphicFrame>
        <p:nvGraphicFramePr>
          <p:cNvPr id="7" name="Table 6"/>
          <p:cNvGraphicFramePr>
            <a:graphicFrameLocks noGrp="1"/>
          </p:cNvGraphicFramePr>
          <p:nvPr/>
        </p:nvGraphicFramePr>
        <p:xfrm>
          <a:off x="457200" y="1783080"/>
          <a:ext cx="11274552" cy="3154680"/>
        </p:xfrm>
        <a:graphic>
          <a:graphicData uri="http://schemas.openxmlformats.org/drawingml/2006/table">
            <a:tbl>
              <a:tblPr firstRow="0" bandRow="0"/>
              <a:tblGrid>
                <a:gridCol w="2103120"/>
                <a:gridCol w="4297680"/>
                <a:gridCol w="4873752"/>
              </a:tblGrid>
              <a:tr h="411480">
                <a:tc>
                  <a:txBody>
                    <a:bodyPr wrap="square"/>
                    <a:lstStyle/>
                    <a:p>
                      <a:pPr algn="l"/>
                      <a:r>
                        <a:rPr sz="1200" b="1" i="0" lang="ja-JP" altLang="en-US">
                          <a:solidFill>
                            <a:srgbClr val="FFFFFF"/>
                          </a:solidFill>
                          <a:latin typeface="BIZ UDゴシック"/>
                          <a:ea typeface="BIZ UDゴシック"/>
                          <a:cs typeface="BIZ UDゴシック"/>
                        </a:rPr>
                        <a:t>観点</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41A45"/>
                    </a:solidFill>
                  </a:tcPr>
                </a:tc>
                <a:tc>
                  <a:txBody>
                    <a:bodyPr wrap="square"/>
                    <a:lstStyle/>
                    <a:p>
                      <a:pPr algn="l"/>
                      <a:r>
                        <a:rPr sz="1200" b="1" i="0" lang="ja-JP" altLang="en-US">
                          <a:solidFill>
                            <a:srgbClr val="FFFFFF"/>
                          </a:solidFill>
                          <a:latin typeface="BIZ UDゴシック"/>
                          <a:ea typeface="BIZ UDゴシック"/>
                          <a:cs typeface="BIZ UDゴシック"/>
                        </a:rPr>
                        <a:t>MCPツール中心（Skillなし）</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E2761"/>
                    </a:solidFill>
                  </a:tcPr>
                </a:tc>
                <a:tc>
                  <a:txBody>
                    <a:bodyPr wrap="square"/>
                    <a:lstStyle/>
                    <a:p>
                      <a:pPr algn="l"/>
                      <a:r>
                        <a:rPr sz="1200" b="1" i="0" lang="ja-JP" altLang="en-US">
                          <a:solidFill>
                            <a:srgbClr val="FFFFFF"/>
                          </a:solidFill>
                          <a:latin typeface="BIZ UDゴシック"/>
                          <a:ea typeface="BIZ UDゴシック"/>
                          <a:cs typeface="BIZ UDゴシック"/>
                        </a:rPr>
                        <a:t>Skills + MCP</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8A33D"/>
                    </a:solidFill>
                  </a:tcPr>
                </a:tc>
              </a:tr>
              <a:tr h="457200">
                <a:tc>
                  <a:txBody>
                    <a:bodyPr wrap="square"/>
                    <a:lstStyle/>
                    <a:p>
                      <a:pPr algn="l"/>
                      <a:r>
                        <a:rPr sz="1200" b="1" i="0" lang="ja-JP" altLang="en-US">
                          <a:solidFill>
                            <a:srgbClr val="1E2761"/>
                          </a:solidFill>
                          <a:latin typeface="BIZ UDゴシック"/>
                          <a:ea typeface="BIZ UDゴシック"/>
                          <a:cs typeface="BIZ UDゴシック"/>
                        </a:rPr>
                        <a:t>会議を特定</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AIが検索・判断</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Skillが確認項目を定義</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7EC"/>
                    </a:solidFill>
                  </a:tcPr>
                </a:tc>
              </a:tr>
              <a:tr h="457200">
                <a:tc>
                  <a:txBody>
                    <a:bodyPr wrap="square"/>
                    <a:lstStyle/>
                    <a:p>
                      <a:pPr algn="l"/>
                      <a:r>
                        <a:rPr sz="1200" b="1" i="0" lang="ja-JP" altLang="en-US">
                          <a:solidFill>
                            <a:srgbClr val="1E2761"/>
                          </a:solidFill>
                          <a:latin typeface="BIZ UDゴシック"/>
                          <a:ea typeface="BIZ UDゴシック"/>
                          <a:cs typeface="BIZ UDゴシック"/>
                        </a:rPr>
                        <a:t>参照範囲</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AIが検索対象を推定</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対象・期間・優先順位を指定</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7EC"/>
                    </a:solidFill>
                  </a:tcPr>
                </a:tc>
              </a:tr>
              <a:tr h="457200">
                <a:tc>
                  <a:txBody>
                    <a:bodyPr wrap="square"/>
                    <a:lstStyle/>
                    <a:p>
                      <a:pPr algn="l"/>
                      <a:r>
                        <a:rPr sz="1200" b="1" i="0" lang="ja-JP" altLang="en-US">
                          <a:solidFill>
                            <a:srgbClr val="1E2761"/>
                          </a:solidFill>
                          <a:latin typeface="BIZ UDゴシック"/>
                          <a:ea typeface="BIZ UDゴシック"/>
                          <a:cs typeface="BIZ UDゴシック"/>
                        </a:rPr>
                        <a:t>未決事項</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抽出するかは依頼・判断次第</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抽出するよう明示できる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7EC"/>
                    </a:solidFill>
                  </a:tcPr>
                </a:tc>
              </a:tr>
              <a:tr h="457200">
                <a:tc>
                  <a:txBody>
                    <a:bodyPr wrap="square"/>
                    <a:lstStyle/>
                    <a:p>
                      <a:pPr algn="l"/>
                      <a:r>
                        <a:rPr sz="1200" b="1" i="0" lang="ja-JP" altLang="en-US">
                          <a:solidFill>
                            <a:srgbClr val="1E2761"/>
                          </a:solidFill>
                          <a:latin typeface="BIZ UDゴシック"/>
                          <a:ea typeface="BIZ UDゴシック"/>
                          <a:cs typeface="BIZ UDゴシック"/>
                        </a:rPr>
                        <a:t>情報不足</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AIの応答に依存</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不足時の質問／未確認表示を指定</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7EC"/>
                    </a:solidFill>
                  </a:tcPr>
                </a:tc>
              </a:tr>
              <a:tr h="457200">
                <a:tc>
                  <a:txBody>
                    <a:bodyPr wrap="square"/>
                    <a:lstStyle/>
                    <a:p>
                      <a:pPr algn="l"/>
                      <a:r>
                        <a:rPr sz="1200" b="1" i="0" lang="ja-JP" altLang="en-US">
                          <a:solidFill>
                            <a:srgbClr val="1E2761"/>
                          </a:solidFill>
                          <a:latin typeface="BIZ UDゴシック"/>
                          <a:ea typeface="BIZ UDゴシック"/>
                          <a:cs typeface="BIZ UDゴシック"/>
                        </a:rPr>
                        <a:t>アジェンダ</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任意の形式になり得る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共通テンプレートを使用</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7EC"/>
                    </a:solidFill>
                  </a:tcPr>
                </a:tc>
              </a:tr>
              <a:tr h="457200">
                <a:tc>
                  <a:txBody>
                    <a:bodyPr wrap="square"/>
                    <a:lstStyle/>
                    <a:p>
                      <a:pPr algn="l"/>
                      <a:r>
                        <a:rPr sz="1200" b="1" i="0" lang="ja-JP" altLang="en-US">
                          <a:solidFill>
                            <a:srgbClr val="1E2761"/>
                          </a:solidFill>
                          <a:latin typeface="BIZ UDゴシック"/>
                          <a:ea typeface="BIZ UDゴシック"/>
                          <a:cs typeface="BIZ UDゴシック"/>
                        </a:rPr>
                        <a:t>外部送信</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ツール権限・承認設計次第</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00" b="0" i="0" lang="ja-JP" altLang="en-US">
                          <a:solidFill>
                            <a:srgbClr val="222222"/>
                          </a:solidFill>
                          <a:latin typeface="BIZ UDゴシック"/>
                          <a:ea typeface="BIZ UDゴシック"/>
                          <a:cs typeface="BIZ UDゴシック"/>
                        </a:rPr>
                        <a:t>Skillでも事前確認を要求できる。</a:t>
                      </a:r>
                      <a:r>
                        <a:rPr sz="1200" b="1" i="0" lang="ja-JP" altLang="en-US">
                          <a:solidFill>
                            <a:srgbClr val="B87A1E"/>
                          </a:solidFill>
                          <a:latin typeface="BIZ UDゴシック"/>
                          <a:ea typeface="BIZ UDゴシック"/>
                          <a:cs typeface="BIZ UDゴシック"/>
                        </a:rPr>
                        <a:t>ただし強制はMCP側</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7EC"/>
                    </a:solidFill>
                  </a:tcPr>
                </a:tc>
              </a:tr>
            </a:tbl>
          </a:graphicData>
        </a:graphic>
      </p:graphicFrame>
      <p:sp>
        <p:nvSpPr>
          <p:cNvPr id="8" name="Rounded Rectangle 7"/>
          <p:cNvSpPr/>
          <p:nvPr/>
        </p:nvSpPr>
        <p:spPr>
          <a:xfrm>
            <a:off x="457200" y="5120640"/>
            <a:ext cx="11274552" cy="731520"/>
          </a:xfrm>
          <a:prstGeom prst="roundRect">
            <a:avLst>
              <a:gd name="adj" fmla="val 125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900" b="1" i="0" lang="ja-JP" altLang="en-US">
                <a:solidFill>
                  <a:srgbClr val="FFFFFF"/>
                </a:solidFill>
                <a:latin typeface="BIZ UDゴシック"/>
                <a:ea typeface="BIZ UDゴシック"/>
                <a:cs typeface="BIZ UDゴシック"/>
              </a:rPr>
              <a:t>「対応可能」</a:t>
            </a:r>
            <a:r>
              <a:rPr sz="1400" b="0" i="0" lang="ja-JP" altLang="en-US">
                <a:solidFill>
                  <a:srgbClr val="CADCFC"/>
                </a:solidFill>
                <a:latin typeface="BIZ UDゴシック"/>
                <a:ea typeface="BIZ UDゴシック"/>
                <a:cs typeface="BIZ UDゴシック"/>
              </a:rPr>
              <a:t>　から　</a:t>
            </a:r>
            <a:r>
              <a:rPr sz="1900" b="1" i="0" lang="ja-JP" altLang="en-US">
                <a:solidFill>
                  <a:srgbClr val="E8A33D"/>
                </a:solidFill>
                <a:latin typeface="BIZ UDゴシック"/>
                <a:ea typeface="BIZ UDゴシック"/>
                <a:cs typeface="BIZ UDゴシック"/>
              </a:rPr>
              <a:t>「定義した手順と成果物に寄せやすい」</a:t>
            </a:r>
            <a:r>
              <a:rPr sz="1400" b="0" i="0" lang="ja-JP" altLang="en-US">
                <a:solidFill>
                  <a:srgbClr val="CADCFC"/>
                </a:solidFill>
                <a:latin typeface="BIZ UDゴシック"/>
                <a:ea typeface="BIZ UDゴシック"/>
                <a:cs typeface="BIZ UDゴシック"/>
              </a:rPr>
              <a:t>　へ</a:t>
            </a:r>
          </a:p>
        </p:txBody>
      </p:sp>
      <p:sp>
        <p:nvSpPr>
          <p:cNvPr id="9" name="TextBox 8"/>
          <p:cNvSpPr txBox="1"/>
          <p:nvPr/>
        </p:nvSpPr>
        <p:spPr>
          <a:xfrm>
            <a:off x="457200" y="5989320"/>
            <a:ext cx="11274552" cy="274320"/>
          </a:xfrm>
          <a:prstGeom prst="rect">
            <a:avLst/>
          </a:prstGeom>
          <a:noFill/>
        </p:spPr>
        <p:txBody>
          <a:bodyPr wrap="square" lIns="0" rIns="0" tIns="0" bIns="0" anchor="t"/>
          <a:lstStyle/>
          <a:p>
            <a:pPr algn="l"/>
            <a:r>
              <a:rPr sz="1050" b="0" i="0" lang="ja-JP" altLang="en-US">
                <a:solidFill>
                  <a:srgbClr val="5A6B87"/>
                </a:solidFill>
                <a:latin typeface="BIZ UDゴシック"/>
                <a:ea typeface="BIZ UDゴシック"/>
                <a:cs typeface="BIZ UDゴシック"/>
              </a:rPr>
              <a:t>※潜在的な傾向の比較であり、Skillの有無で成否が決まるという性能保証ではない。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Before / After：出力イメージ</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「準備できました」の中身が変わる。</a:t>
            </a:r>
          </a:p>
        </p:txBody>
      </p:sp>
      <p:sp>
        <p:nvSpPr>
          <p:cNvPr id="7" name="Rounded Rectangle 6"/>
          <p:cNvSpPr/>
          <p:nvPr/>
        </p:nvSpPr>
        <p:spPr>
          <a:xfrm>
            <a:off x="457200" y="1783080"/>
            <a:ext cx="4754880" cy="4160520"/>
          </a:xfrm>
          <a:prstGeom prst="roundRect">
            <a:avLst>
              <a:gd name="adj" fmla="val 2197"/>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ounded Rectangle 7"/>
          <p:cNvSpPr/>
          <p:nvPr/>
        </p:nvSpPr>
        <p:spPr>
          <a:xfrm>
            <a:off x="731520" y="1965960"/>
            <a:ext cx="1005840" cy="310896"/>
          </a:xfrm>
          <a:prstGeom prst="roundRect">
            <a:avLst>
              <a:gd name="adj" fmla="val 50000"/>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FFFFFF"/>
                </a:solidFill>
                <a:latin typeface="BIZ UDゴシック"/>
                <a:ea typeface="BIZ UDゴシック"/>
                <a:cs typeface="BIZ UDゴシック"/>
              </a:rPr>
              <a:t>Before</a:t>
            </a:r>
          </a:p>
        </p:txBody>
      </p:sp>
      <p:sp>
        <p:nvSpPr>
          <p:cNvPr id="9" name="TextBox 8"/>
          <p:cNvSpPr txBox="1"/>
          <p:nvPr/>
        </p:nvSpPr>
        <p:spPr>
          <a:xfrm>
            <a:off x="1828800" y="1965960"/>
            <a:ext cx="3200400" cy="310896"/>
          </a:xfrm>
          <a:prstGeom prst="rect">
            <a:avLst/>
          </a:prstGeom>
          <a:noFill/>
        </p:spPr>
        <p:txBody>
          <a:bodyPr wrap="square" lIns="0" rIns="0" tIns="0" bIns="0" anchor="ctr"/>
          <a:lstStyle/>
          <a:p>
            <a:pPr algn="l"/>
            <a:r>
              <a:rPr sz="1100" b="0" i="0" lang="ja-JP" altLang="en-US">
                <a:solidFill>
                  <a:srgbClr val="5A6B87"/>
                </a:solidFill>
                <a:latin typeface="BIZ UDゴシック"/>
                <a:ea typeface="BIZ UDゴシック"/>
                <a:cs typeface="BIZ UDゴシック"/>
              </a:rPr>
              <a:t>標準手順がない場合の一例</a:t>
            </a:r>
          </a:p>
        </p:txBody>
      </p:sp>
      <p:sp>
        <p:nvSpPr>
          <p:cNvPr id="10" name="Rounded Rectangle 9"/>
          <p:cNvSpPr/>
          <p:nvPr/>
        </p:nvSpPr>
        <p:spPr>
          <a:xfrm>
            <a:off x="731520" y="2468880"/>
            <a:ext cx="4206240" cy="1737360"/>
          </a:xfrm>
          <a:prstGeom prst="roundRect">
            <a:avLst>
              <a:gd name="adj" fmla="val 6315"/>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228600" rIns="228600" tIns="0" bIns="0" wrap="square"/>
          <a:lstStyle/>
          <a:p>
            <a:pPr algn="l">
              <a:lnSpc>
                <a:spcPct val="125000"/>
              </a:lnSpc>
            </a:pPr>
            <a:r>
              <a:rPr sz="1250" b="0" i="0" lang="ja-JP" altLang="en-US">
                <a:solidFill>
                  <a:srgbClr val="222222"/>
                </a:solidFill>
                <a:latin typeface="BIZ UDゴシック"/>
                <a:ea typeface="BIZ UDゴシック"/>
                <a:cs typeface="BIZ UDゴシック"/>
              </a:rPr>
              <a:t>来週火曜の会議は14時開始です。前回議事録を確認しました。テーマは進捗共有です。必要ならアジェンダを作成します。</a:t>
            </a:r>
          </a:p>
        </p:txBody>
      </p:sp>
      <p:sp>
        <p:nvSpPr>
          <p:cNvPr id="11" name="TextBox 10"/>
          <p:cNvSpPr txBox="1"/>
          <p:nvPr/>
        </p:nvSpPr>
        <p:spPr>
          <a:xfrm>
            <a:off x="731520" y="4389120"/>
            <a:ext cx="4206240" cy="274320"/>
          </a:xfrm>
          <a:prstGeom prst="rect">
            <a:avLst/>
          </a:prstGeom>
          <a:noFill/>
        </p:spPr>
        <p:txBody>
          <a:bodyPr wrap="square" lIns="0" rIns="0" tIns="0" bIns="0" anchor="t"/>
          <a:lstStyle/>
          <a:p>
            <a:pPr algn="l"/>
            <a:r>
              <a:rPr sz="1100" b="1" i="0" lang="ja-JP" altLang="en-US">
                <a:solidFill>
                  <a:srgbClr val="5A6B87"/>
                </a:solidFill>
                <a:latin typeface="BIZ UDゴシック"/>
                <a:ea typeface="BIZ UDゴシック"/>
                <a:cs typeface="BIZ UDゴシック"/>
              </a:rPr>
              <a:t>この回答から読み取りにくいこと</a:t>
            </a:r>
          </a:p>
        </p:txBody>
      </p:sp>
      <p:sp>
        <p:nvSpPr>
          <p:cNvPr id="12" name="Rounded Rectangle 11"/>
          <p:cNvSpPr/>
          <p:nvPr/>
        </p:nvSpPr>
        <p:spPr>
          <a:xfrm>
            <a:off x="731520" y="4800600"/>
            <a:ext cx="1325880" cy="329184"/>
          </a:xfrm>
          <a:prstGeom prst="roundRect">
            <a:avLst>
              <a:gd name="adj" fmla="val 50000"/>
            </a:avLst>
          </a:prstGeom>
          <a:solidFill>
            <a:srgbClr val="FBEAEA"/>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B03A3A"/>
                </a:solidFill>
                <a:latin typeface="BIZ UDゴシック"/>
                <a:ea typeface="BIZ UDゴシック"/>
                <a:cs typeface="BIZ UDゴシック"/>
              </a:rPr>
              <a:t>未決の論点</a:t>
            </a:r>
          </a:p>
        </p:txBody>
      </p:sp>
      <p:sp>
        <p:nvSpPr>
          <p:cNvPr id="13" name="Rounded Rectangle 12"/>
          <p:cNvSpPr/>
          <p:nvPr/>
        </p:nvSpPr>
        <p:spPr>
          <a:xfrm>
            <a:off x="2148840" y="4800600"/>
            <a:ext cx="1325880" cy="329184"/>
          </a:xfrm>
          <a:prstGeom prst="roundRect">
            <a:avLst>
              <a:gd name="adj" fmla="val 50000"/>
            </a:avLst>
          </a:prstGeom>
          <a:solidFill>
            <a:srgbClr val="FBEAEA"/>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B03A3A"/>
                </a:solidFill>
                <a:latin typeface="BIZ UDゴシック"/>
                <a:ea typeface="BIZ UDゴシック"/>
                <a:cs typeface="BIZ UDゴシック"/>
              </a:rPr>
              <a:t>情報源</a:t>
            </a:r>
          </a:p>
        </p:txBody>
      </p:sp>
      <p:sp>
        <p:nvSpPr>
          <p:cNvPr id="14" name="Rounded Rectangle 13"/>
          <p:cNvSpPr/>
          <p:nvPr/>
        </p:nvSpPr>
        <p:spPr>
          <a:xfrm>
            <a:off x="3566160" y="4800600"/>
            <a:ext cx="1325880" cy="329184"/>
          </a:xfrm>
          <a:prstGeom prst="roundRect">
            <a:avLst>
              <a:gd name="adj" fmla="val 50000"/>
            </a:avLst>
          </a:prstGeom>
          <a:solidFill>
            <a:srgbClr val="FBEAEA"/>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B03A3A"/>
                </a:solidFill>
                <a:latin typeface="BIZ UDゴシック"/>
                <a:ea typeface="BIZ UDゴシック"/>
                <a:cs typeface="BIZ UDゴシック"/>
              </a:rPr>
              <a:t>次のアクション</a:t>
            </a:r>
          </a:p>
        </p:txBody>
      </p:sp>
      <p:sp>
        <p:nvSpPr>
          <p:cNvPr id="15" name="TextBox 14"/>
          <p:cNvSpPr txBox="1"/>
          <p:nvPr/>
        </p:nvSpPr>
        <p:spPr>
          <a:xfrm>
            <a:off x="731520" y="5257800"/>
            <a:ext cx="4206240" cy="502920"/>
          </a:xfrm>
          <a:prstGeom prst="rect">
            <a:avLst/>
          </a:prstGeom>
          <a:noFill/>
        </p:spPr>
        <p:txBody>
          <a:bodyPr wrap="square" lIns="0" rIns="0" tIns="0" bIns="0" anchor="t"/>
          <a:lstStyle/>
          <a:p>
            <a:pPr algn="l"/>
            <a:r>
              <a:rPr sz="1050" b="0" i="0" lang="ja-JP" altLang="en-US">
                <a:solidFill>
                  <a:srgbClr val="5A6B87"/>
                </a:solidFill>
                <a:latin typeface="BIZ UDゴシック"/>
                <a:ea typeface="BIZ UDゴシック"/>
                <a:cs typeface="BIZ UDゴシック"/>
              </a:rPr>
              <a:t>内容は誤りではないが、何を確認し、何が残っているかが見えない。</a:t>
            </a:r>
          </a:p>
        </p:txBody>
      </p:sp>
      <p:sp>
        <p:nvSpPr>
          <p:cNvPr id="16" name="Right Arrow 15"/>
          <p:cNvSpPr/>
          <p:nvPr/>
        </p:nvSpPr>
        <p:spPr>
          <a:xfrm>
            <a:off x="5349240" y="3611880"/>
            <a:ext cx="457200" cy="457200"/>
          </a:xfrm>
          <a:prstGeom prst="rightArrow">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ounded Rectangle 16"/>
          <p:cNvSpPr/>
          <p:nvPr/>
        </p:nvSpPr>
        <p:spPr>
          <a:xfrm>
            <a:off x="5943600" y="1783080"/>
            <a:ext cx="5788152" cy="4160520"/>
          </a:xfrm>
          <a:prstGeom prst="roundRect">
            <a:avLst>
              <a:gd name="adj" fmla="val 2197"/>
            </a:avLst>
          </a:prstGeom>
          <a:solidFill>
            <a:srgbClr val="FFFFFF"/>
          </a:solidFill>
          <a:ln w="12700">
            <a:solidFill>
              <a:srgbClr val="E8A33D"/>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ounded Rectangle 17"/>
          <p:cNvSpPr/>
          <p:nvPr/>
        </p:nvSpPr>
        <p:spPr>
          <a:xfrm>
            <a:off x="6217920" y="1965960"/>
            <a:ext cx="1005840" cy="310896"/>
          </a:xfrm>
          <a:prstGeom prst="roundRect">
            <a:avLst>
              <a:gd name="adj" fmla="val 5000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FFFFFF"/>
                </a:solidFill>
                <a:latin typeface="BIZ UDゴシック"/>
                <a:ea typeface="BIZ UDゴシック"/>
                <a:cs typeface="BIZ UDゴシック"/>
              </a:rPr>
              <a:t>After</a:t>
            </a:r>
          </a:p>
        </p:txBody>
      </p:sp>
      <p:sp>
        <p:nvSpPr>
          <p:cNvPr id="19" name="TextBox 18"/>
          <p:cNvSpPr txBox="1"/>
          <p:nvPr/>
        </p:nvSpPr>
        <p:spPr>
          <a:xfrm>
            <a:off x="7315200" y="1965960"/>
            <a:ext cx="4206240" cy="310896"/>
          </a:xfrm>
          <a:prstGeom prst="rect">
            <a:avLst/>
          </a:prstGeom>
          <a:noFill/>
        </p:spPr>
        <p:txBody>
          <a:bodyPr wrap="square" lIns="0" rIns="0" tIns="0" bIns="0" anchor="ctr"/>
          <a:lstStyle/>
          <a:p>
            <a:pPr algn="l"/>
            <a:r>
              <a:rPr sz="1100" b="0" i="0" lang="ja-JP" altLang="en-US">
                <a:solidFill>
                  <a:srgbClr val="5A6B87"/>
                </a:solidFill>
                <a:latin typeface="BIZ UDゴシック"/>
                <a:ea typeface="BIZ UDゴシック"/>
                <a:cs typeface="BIZ UDゴシック"/>
              </a:rPr>
              <a:t>会議準備Skillで指定した成果物の一例</a:t>
            </a:r>
          </a:p>
        </p:txBody>
      </p:sp>
      <p:sp>
        <p:nvSpPr>
          <p:cNvPr id="20" name="TextBox 19"/>
          <p:cNvSpPr txBox="1"/>
          <p:nvPr/>
        </p:nvSpPr>
        <p:spPr>
          <a:xfrm>
            <a:off x="6217920" y="2377440"/>
            <a:ext cx="5303520" cy="365760"/>
          </a:xfrm>
          <a:prstGeom prst="rect">
            <a:avLst/>
          </a:prstGeom>
          <a:noFill/>
        </p:spPr>
        <p:txBody>
          <a:bodyPr wrap="square" lIns="0" rIns="0" tIns="0" bIns="0" anchor="ctr"/>
          <a:lstStyle/>
          <a:p>
            <a:pPr algn="l"/>
            <a:r>
              <a:rPr sz="1500" b="1" i="0" lang="ja-JP" altLang="en-US">
                <a:solidFill>
                  <a:srgbClr val="1E2761"/>
                </a:solidFill>
                <a:latin typeface="BIZ UDゴシック"/>
                <a:ea typeface="BIZ UDゴシック"/>
                <a:cs typeface="BIZ UDゴシック"/>
              </a:rPr>
              <a:t>会議準備パック</a:t>
            </a:r>
          </a:p>
        </p:txBody>
      </p:sp>
      <p:sp>
        <p:nvSpPr>
          <p:cNvPr id="21" name="Rounded Rectangle 20"/>
          <p:cNvSpPr/>
          <p:nvPr/>
        </p:nvSpPr>
        <p:spPr>
          <a:xfrm>
            <a:off x="6217920" y="2852928"/>
            <a:ext cx="1371600" cy="301752"/>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00" b="1" i="0" lang="ja-JP" altLang="en-US">
                <a:solidFill>
                  <a:srgbClr val="FFFFFF"/>
                </a:solidFill>
                <a:latin typeface="BIZ UDゴシック"/>
                <a:ea typeface="BIZ UDゴシック"/>
                <a:cs typeface="BIZ UDゴシック"/>
              </a:rPr>
              <a:t>目的</a:t>
            </a:r>
          </a:p>
        </p:txBody>
      </p:sp>
      <p:sp>
        <p:nvSpPr>
          <p:cNvPr id="22" name="TextBox 21"/>
          <p:cNvSpPr txBox="1"/>
          <p:nvPr/>
        </p:nvSpPr>
        <p:spPr>
          <a:xfrm>
            <a:off x="7726679" y="2816352"/>
            <a:ext cx="3840480" cy="374904"/>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開発方針の決定</a:t>
            </a:r>
          </a:p>
        </p:txBody>
      </p:sp>
      <p:sp>
        <p:nvSpPr>
          <p:cNvPr id="23" name="Rounded Rectangle 22"/>
          <p:cNvSpPr/>
          <p:nvPr/>
        </p:nvSpPr>
        <p:spPr>
          <a:xfrm>
            <a:off x="6217920" y="3282696"/>
            <a:ext cx="1371600" cy="301752"/>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00" b="1" i="0" lang="ja-JP" altLang="en-US">
                <a:solidFill>
                  <a:srgbClr val="FFFFFF"/>
                </a:solidFill>
                <a:latin typeface="BIZ UDゴシック"/>
                <a:ea typeface="BIZ UDゴシック"/>
                <a:cs typeface="BIZ UDゴシック"/>
              </a:rPr>
              <a:t>決定済み</a:t>
            </a:r>
          </a:p>
        </p:txBody>
      </p:sp>
      <p:sp>
        <p:nvSpPr>
          <p:cNvPr id="24" name="TextBox 23"/>
          <p:cNvSpPr txBox="1"/>
          <p:nvPr/>
        </p:nvSpPr>
        <p:spPr>
          <a:xfrm>
            <a:off x="7726679" y="3246120"/>
            <a:ext cx="3840480" cy="374904"/>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A案の費用試算完了</a:t>
            </a:r>
          </a:p>
        </p:txBody>
      </p:sp>
      <p:sp>
        <p:nvSpPr>
          <p:cNvPr id="25" name="Rounded Rectangle 24"/>
          <p:cNvSpPr/>
          <p:nvPr/>
        </p:nvSpPr>
        <p:spPr>
          <a:xfrm>
            <a:off x="6217920" y="3712463"/>
            <a:ext cx="1371600" cy="301752"/>
          </a:xfrm>
          <a:prstGeom prst="roundRect">
            <a:avLst>
              <a:gd name="adj" fmla="val 5000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00" b="1" i="0" lang="ja-JP" altLang="en-US">
                <a:solidFill>
                  <a:srgbClr val="FFFFFF"/>
                </a:solidFill>
                <a:latin typeface="BIZ UDゴシック"/>
                <a:ea typeface="BIZ UDゴシック"/>
                <a:cs typeface="BIZ UDゴシック"/>
              </a:rPr>
              <a:t>未決事項</a:t>
            </a:r>
          </a:p>
        </p:txBody>
      </p:sp>
      <p:sp>
        <p:nvSpPr>
          <p:cNvPr id="26" name="TextBox 25"/>
          <p:cNvSpPr txBox="1"/>
          <p:nvPr/>
        </p:nvSpPr>
        <p:spPr>
          <a:xfrm>
            <a:off x="7726679" y="3675887"/>
            <a:ext cx="3840480" cy="374904"/>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B案のセキュリティ評価</a:t>
            </a:r>
          </a:p>
        </p:txBody>
      </p:sp>
      <p:sp>
        <p:nvSpPr>
          <p:cNvPr id="27" name="Rounded Rectangle 26"/>
          <p:cNvSpPr/>
          <p:nvPr/>
        </p:nvSpPr>
        <p:spPr>
          <a:xfrm>
            <a:off x="6217920" y="4142232"/>
            <a:ext cx="1371600" cy="301752"/>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00" b="1" i="0" lang="ja-JP" altLang="en-US">
                <a:solidFill>
                  <a:srgbClr val="FFFFFF"/>
                </a:solidFill>
                <a:latin typeface="BIZ UDゴシック"/>
                <a:ea typeface="BIZ UDゴシック"/>
                <a:cs typeface="BIZ UDゴシック"/>
              </a:rPr>
              <a:t>推奨アジェンダ</a:t>
            </a:r>
          </a:p>
        </p:txBody>
      </p:sp>
      <p:sp>
        <p:nvSpPr>
          <p:cNvPr id="28" name="TextBox 27"/>
          <p:cNvSpPr txBox="1"/>
          <p:nvPr/>
        </p:nvSpPr>
        <p:spPr>
          <a:xfrm>
            <a:off x="7726679" y="4105656"/>
            <a:ext cx="3840480" cy="374904"/>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①前回決定事項　②未決論点　③担当・期限</a:t>
            </a:r>
          </a:p>
        </p:txBody>
      </p:sp>
      <p:sp>
        <p:nvSpPr>
          <p:cNvPr id="29" name="Rounded Rectangle 28"/>
          <p:cNvSpPr/>
          <p:nvPr/>
        </p:nvSpPr>
        <p:spPr>
          <a:xfrm>
            <a:off x="6217920" y="4572000"/>
            <a:ext cx="1371600" cy="301752"/>
          </a:xfrm>
          <a:prstGeom prst="roundRect">
            <a:avLst>
              <a:gd name="adj" fmla="val 5000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00" b="1" i="0" lang="ja-JP" altLang="en-US">
                <a:solidFill>
                  <a:srgbClr val="FFFFFF"/>
                </a:solidFill>
                <a:latin typeface="BIZ UDゴシック"/>
                <a:ea typeface="BIZ UDゴシック"/>
                <a:cs typeface="BIZ UDゴシック"/>
              </a:rPr>
              <a:t>要確認</a:t>
            </a:r>
          </a:p>
        </p:txBody>
      </p:sp>
      <p:sp>
        <p:nvSpPr>
          <p:cNvPr id="30" name="TextBox 29"/>
          <p:cNvSpPr txBox="1"/>
          <p:nvPr/>
        </p:nvSpPr>
        <p:spPr>
          <a:xfrm>
            <a:off x="7726679" y="4535424"/>
            <a:ext cx="3840480" cy="374904"/>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担当者Xの最新見解は未取得</a:t>
            </a:r>
          </a:p>
        </p:txBody>
      </p:sp>
      <p:sp>
        <p:nvSpPr>
          <p:cNvPr id="31" name="Rounded Rectangle 30"/>
          <p:cNvSpPr/>
          <p:nvPr/>
        </p:nvSpPr>
        <p:spPr>
          <a:xfrm>
            <a:off x="6217920" y="5001768"/>
            <a:ext cx="1371600" cy="301752"/>
          </a:xfrm>
          <a:prstGeom prst="roundRect">
            <a:avLst>
              <a:gd name="adj" fmla="val 50000"/>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00" b="1" i="0" lang="ja-JP" altLang="en-US">
                <a:solidFill>
                  <a:srgbClr val="FFFFFF"/>
                </a:solidFill>
                <a:latin typeface="BIZ UDゴシック"/>
                <a:ea typeface="BIZ UDゴシック"/>
                <a:cs typeface="BIZ UDゴシック"/>
              </a:rPr>
              <a:t>参照</a:t>
            </a:r>
          </a:p>
        </p:txBody>
      </p:sp>
      <p:sp>
        <p:nvSpPr>
          <p:cNvPr id="32" name="TextBox 31"/>
          <p:cNvSpPr txBox="1"/>
          <p:nvPr/>
        </p:nvSpPr>
        <p:spPr>
          <a:xfrm>
            <a:off x="7726679" y="4965192"/>
            <a:ext cx="3840480" cy="374904"/>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議事録・関連メール・予定表</a:t>
            </a:r>
          </a:p>
        </p:txBody>
      </p:sp>
      <p:sp>
        <p:nvSpPr>
          <p:cNvPr id="33" name="Rounded Rectangle 32"/>
          <p:cNvSpPr/>
          <p:nvPr/>
        </p:nvSpPr>
        <p:spPr>
          <a:xfrm>
            <a:off x="6217920" y="5431536"/>
            <a:ext cx="1371600" cy="301752"/>
          </a:xfrm>
          <a:prstGeom prst="roundRect">
            <a:avLst>
              <a:gd name="adj" fmla="val 50000"/>
            </a:avLst>
          </a:prstGeom>
          <a:solidFill>
            <a:srgbClr val="B03A3A"/>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00" b="1" i="0" lang="ja-JP" altLang="en-US">
                <a:solidFill>
                  <a:srgbClr val="FFFFFF"/>
                </a:solidFill>
                <a:latin typeface="BIZ UDゴシック"/>
                <a:ea typeface="BIZ UDゴシック"/>
                <a:cs typeface="BIZ UDゴシック"/>
              </a:rPr>
              <a:t>承認待ち</a:t>
            </a:r>
          </a:p>
        </p:txBody>
      </p:sp>
      <p:sp>
        <p:nvSpPr>
          <p:cNvPr id="34" name="TextBox 33"/>
          <p:cNvSpPr txBox="1"/>
          <p:nvPr/>
        </p:nvSpPr>
        <p:spPr>
          <a:xfrm>
            <a:off x="7726679" y="5394960"/>
            <a:ext cx="3840480" cy="374904"/>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参加者への事前送信</a:t>
            </a:r>
          </a:p>
        </p:txBody>
      </p:sp>
      <p:sp>
        <p:nvSpPr>
          <p:cNvPr id="35" name="TextBox 34"/>
          <p:cNvSpPr txBox="1"/>
          <p:nvPr/>
        </p:nvSpPr>
        <p:spPr>
          <a:xfrm>
            <a:off x="457200" y="6053328"/>
            <a:ext cx="11274552" cy="274320"/>
          </a:xfrm>
          <a:prstGeom prst="rect">
            <a:avLst/>
          </a:prstGeom>
          <a:noFill/>
        </p:spPr>
        <p:txBody>
          <a:bodyPr wrap="square" lIns="0" rIns="0" tIns="0" bIns="0" anchor="t"/>
          <a:lstStyle/>
          <a:p>
            <a:pPr algn="l"/>
            <a:r>
              <a:rPr sz="1050" b="0" i="0" lang="ja-JP" altLang="en-US">
                <a:solidFill>
                  <a:srgbClr val="5A6B87"/>
                </a:solidFill>
                <a:latin typeface="BIZ UDゴシック"/>
                <a:ea typeface="BIZ UDゴシック"/>
                <a:cs typeface="BIZ UDゴシック"/>
              </a:rPr>
              <a:t>※いずれも説明用の架空例。Skillが常に優れた結果を返すことを示す実証データではない。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革新性①：接続能力と業務知識の分離</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「ツールを実装する人」と「仕事の進め方を設計する人」を分けられる。</a:t>
            </a:r>
          </a:p>
        </p:txBody>
      </p:sp>
      <p:sp>
        <p:nvSpPr>
          <p:cNvPr id="7" name="Rounded Rectangle 6"/>
          <p:cNvSpPr/>
          <p:nvPr/>
        </p:nvSpPr>
        <p:spPr>
          <a:xfrm>
            <a:off x="457200" y="1783080"/>
            <a:ext cx="3657600" cy="3429000"/>
          </a:xfrm>
          <a:prstGeom prst="roundRect">
            <a:avLst>
              <a:gd name="adj" fmla="val 2666"/>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ounded Rectangle 7"/>
          <p:cNvSpPr/>
          <p:nvPr/>
        </p:nvSpPr>
        <p:spPr>
          <a:xfrm>
            <a:off x="731520" y="1965960"/>
            <a:ext cx="1737360" cy="310896"/>
          </a:xfrm>
          <a:prstGeom prst="roundRect">
            <a:avLst>
              <a:gd name="adj" fmla="val 50000"/>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FFFFFF"/>
                </a:solidFill>
                <a:latin typeface="BIZ UDゴシック"/>
                <a:ea typeface="BIZ UDゴシック"/>
                <a:cs typeface="BIZ UDゴシック"/>
              </a:rPr>
              <a:t>従来よくある構造</a:t>
            </a:r>
          </a:p>
        </p:txBody>
      </p:sp>
      <p:sp>
        <p:nvSpPr>
          <p:cNvPr id="9" name="Rounded Rectangle 8"/>
          <p:cNvSpPr/>
          <p:nvPr/>
        </p:nvSpPr>
        <p:spPr>
          <a:xfrm>
            <a:off x="731520" y="2468880"/>
            <a:ext cx="3108960" cy="1783080"/>
          </a:xfrm>
          <a:prstGeom prst="roundRect">
            <a:avLst>
              <a:gd name="adj" fmla="val 5128"/>
            </a:avLst>
          </a:prstGeom>
          <a:solidFill>
            <a:srgbClr val="EEF3FD"/>
          </a:solidFill>
          <a:ln w="12700">
            <a:solidFill>
              <a:srgbClr val="8C97AE"/>
            </a:solidFill>
            <a:prstDash val="dash"/>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ounded Rectangle 9"/>
          <p:cNvSpPr/>
          <p:nvPr/>
        </p:nvSpPr>
        <p:spPr>
          <a:xfrm>
            <a:off x="914400" y="2697480"/>
            <a:ext cx="1325880" cy="384048"/>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1E2761"/>
                </a:solidFill>
                <a:latin typeface="BIZ UDゴシック"/>
                <a:ea typeface="BIZ UDゴシック"/>
                <a:cs typeface="BIZ UDゴシック"/>
              </a:rPr>
              <a:t>API仕様</a:t>
            </a:r>
          </a:p>
        </p:txBody>
      </p:sp>
      <p:sp>
        <p:nvSpPr>
          <p:cNvPr id="11" name="Rounded Rectangle 10"/>
          <p:cNvSpPr/>
          <p:nvPr/>
        </p:nvSpPr>
        <p:spPr>
          <a:xfrm>
            <a:off x="2331720" y="2697480"/>
            <a:ext cx="1325880" cy="384048"/>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1E2761"/>
                </a:solidFill>
                <a:latin typeface="BIZ UDゴシック"/>
                <a:ea typeface="BIZ UDゴシック"/>
                <a:cs typeface="BIZ UDゴシック"/>
              </a:rPr>
              <a:t>プロンプト</a:t>
            </a:r>
          </a:p>
        </p:txBody>
      </p:sp>
      <p:sp>
        <p:nvSpPr>
          <p:cNvPr id="12" name="Rounded Rectangle 11"/>
          <p:cNvSpPr/>
          <p:nvPr/>
        </p:nvSpPr>
        <p:spPr>
          <a:xfrm>
            <a:off x="914400" y="3264408"/>
            <a:ext cx="1325880" cy="384048"/>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1E2761"/>
                </a:solidFill>
                <a:latin typeface="BIZ UDゴシック"/>
                <a:ea typeface="BIZ UDゴシック"/>
                <a:cs typeface="BIZ UDゴシック"/>
              </a:rPr>
              <a:t>業務判断</a:t>
            </a:r>
          </a:p>
        </p:txBody>
      </p:sp>
      <p:sp>
        <p:nvSpPr>
          <p:cNvPr id="13" name="Rounded Rectangle 12"/>
          <p:cNvSpPr/>
          <p:nvPr/>
        </p:nvSpPr>
        <p:spPr>
          <a:xfrm>
            <a:off x="2331720" y="3264408"/>
            <a:ext cx="1325880" cy="384048"/>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1E2761"/>
                </a:solidFill>
                <a:latin typeface="BIZ UDゴシック"/>
                <a:ea typeface="BIZ UDゴシック"/>
                <a:cs typeface="BIZ UDゴシック"/>
              </a:rPr>
              <a:t>出力形式</a:t>
            </a:r>
          </a:p>
        </p:txBody>
      </p:sp>
      <p:sp>
        <p:nvSpPr>
          <p:cNvPr id="14" name="TextBox 13"/>
          <p:cNvSpPr txBox="1"/>
          <p:nvPr/>
        </p:nvSpPr>
        <p:spPr>
          <a:xfrm>
            <a:off x="731520" y="3840480"/>
            <a:ext cx="3108960" cy="320040"/>
          </a:xfrm>
          <a:prstGeom prst="rect">
            <a:avLst/>
          </a:prstGeom>
          <a:noFill/>
        </p:spPr>
        <p:txBody>
          <a:bodyPr wrap="square" lIns="0" rIns="0" tIns="0" bIns="0" anchor="t"/>
          <a:lstStyle/>
          <a:p>
            <a:pPr algn="ctr"/>
            <a:r>
              <a:rPr sz="1100" b="1" i="0" lang="ja-JP" altLang="en-US">
                <a:solidFill>
                  <a:srgbClr val="5A6B87"/>
                </a:solidFill>
                <a:latin typeface="BIZ UDゴシック"/>
                <a:ea typeface="BIZ UDゴシック"/>
                <a:cs typeface="BIZ UDゴシック"/>
              </a:rPr>
              <a:t>すべてが混在</a:t>
            </a:r>
          </a:p>
        </p:txBody>
      </p:sp>
      <p:sp>
        <p:nvSpPr>
          <p:cNvPr id="15" name="TextBox 14"/>
          <p:cNvSpPr txBox="1"/>
          <p:nvPr/>
        </p:nvSpPr>
        <p:spPr>
          <a:xfrm>
            <a:off x="731520" y="4389120"/>
            <a:ext cx="3108960" cy="685800"/>
          </a:xfrm>
          <a:prstGeom prst="rect">
            <a:avLst/>
          </a:prstGeom>
          <a:noFill/>
        </p:spPr>
        <p:txBody>
          <a:bodyPr wrap="square" lIns="0" rIns="0" tIns="0" bIns="0" anchor="t"/>
          <a:lstStyle/>
          <a:p>
            <a:pPr algn="l"/>
            <a:r>
              <a:rPr sz="1100" b="0" i="0" lang="ja-JP" altLang="en-US">
                <a:solidFill>
                  <a:srgbClr val="222222"/>
                </a:solidFill>
                <a:latin typeface="BIZ UDゴシック"/>
                <a:ea typeface="BIZ UDゴシック"/>
                <a:cs typeface="BIZ UDゴシック"/>
              </a:rPr>
              <a:t>一つのアプリや長い指示文の中に、仕様・判断・形式が入り混じる。</a:t>
            </a:r>
          </a:p>
        </p:txBody>
      </p:sp>
      <p:sp>
        <p:nvSpPr>
          <p:cNvPr id="16" name="Right Arrow 15"/>
          <p:cNvSpPr/>
          <p:nvPr/>
        </p:nvSpPr>
        <p:spPr>
          <a:xfrm>
            <a:off x="4224528" y="3246120"/>
            <a:ext cx="457200" cy="457200"/>
          </a:xfrm>
          <a:prstGeom prst="rightArrow">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ounded Rectangle 16"/>
          <p:cNvSpPr/>
          <p:nvPr/>
        </p:nvSpPr>
        <p:spPr>
          <a:xfrm>
            <a:off x="4800600" y="1783080"/>
            <a:ext cx="6931152" cy="960120"/>
          </a:xfrm>
          <a:prstGeom prst="roundRect">
            <a:avLst>
              <a:gd name="adj" fmla="val 9523"/>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ounded Rectangle 17"/>
          <p:cNvSpPr/>
          <p:nvPr/>
        </p:nvSpPr>
        <p:spPr>
          <a:xfrm>
            <a:off x="4983480" y="2011680"/>
            <a:ext cx="1463040" cy="502920"/>
          </a:xfrm>
          <a:prstGeom prst="roundRect">
            <a:avLst>
              <a:gd name="adj" fmla="val 18181"/>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400" b="1" i="0" lang="ja-JP" altLang="en-US">
                <a:solidFill>
                  <a:srgbClr val="FFFFFF"/>
                </a:solidFill>
                <a:latin typeface="BIZ UDゴシック"/>
                <a:ea typeface="BIZ UDゴシック"/>
                <a:cs typeface="BIZ UDゴシック"/>
              </a:rPr>
              <a:t>AI層</a:t>
            </a:r>
          </a:p>
        </p:txBody>
      </p:sp>
      <p:sp>
        <p:nvSpPr>
          <p:cNvPr id="19" name="TextBox 18"/>
          <p:cNvSpPr txBox="1"/>
          <p:nvPr/>
        </p:nvSpPr>
        <p:spPr>
          <a:xfrm>
            <a:off x="6675120" y="1783080"/>
            <a:ext cx="4937760" cy="960120"/>
          </a:xfrm>
          <a:prstGeom prst="rect">
            <a:avLst/>
          </a:prstGeom>
          <a:noFill/>
        </p:spPr>
        <p:txBody>
          <a:bodyPr wrap="square" lIns="0" rIns="0" tIns="0" bIns="0" anchor="ctr"/>
          <a:lstStyle/>
          <a:p>
            <a:pPr algn="l"/>
            <a:r>
              <a:rPr sz="1200" b="0" i="0" lang="ja-JP" altLang="en-US">
                <a:solidFill>
                  <a:srgbClr val="1E2761"/>
                </a:solidFill>
                <a:latin typeface="BIZ UDゴシック"/>
                <a:ea typeface="BIZ UDゴシック"/>
                <a:cs typeface="BIZ UDゴシック"/>
              </a:rPr>
              <a:t>文脈理解、選択、推論、生成、必要に応じた確認</a:t>
            </a:r>
          </a:p>
        </p:txBody>
      </p:sp>
      <p:sp>
        <p:nvSpPr>
          <p:cNvPr id="20" name="Rounded Rectangle 19"/>
          <p:cNvSpPr/>
          <p:nvPr/>
        </p:nvSpPr>
        <p:spPr>
          <a:xfrm>
            <a:off x="4800600" y="2971800"/>
            <a:ext cx="6931152" cy="960120"/>
          </a:xfrm>
          <a:prstGeom prst="roundRect">
            <a:avLst>
              <a:gd name="adj" fmla="val 9523"/>
            </a:avLst>
          </a:prstGeom>
          <a:solidFill>
            <a:srgbClr val="FFF3DE"/>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ounded Rectangle 20"/>
          <p:cNvSpPr/>
          <p:nvPr/>
        </p:nvSpPr>
        <p:spPr>
          <a:xfrm>
            <a:off x="4983480" y="3200400"/>
            <a:ext cx="1463040" cy="502920"/>
          </a:xfrm>
          <a:prstGeom prst="roundRect">
            <a:avLst>
              <a:gd name="adj" fmla="val 18181"/>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400" b="1" i="0" lang="ja-JP" altLang="en-US">
                <a:solidFill>
                  <a:srgbClr val="FFFFFF"/>
                </a:solidFill>
                <a:latin typeface="BIZ UDゴシック"/>
                <a:ea typeface="BIZ UDゴシック"/>
                <a:cs typeface="BIZ UDゴシック"/>
              </a:rPr>
              <a:t>Skill層</a:t>
            </a:r>
          </a:p>
        </p:txBody>
      </p:sp>
      <p:sp>
        <p:nvSpPr>
          <p:cNvPr id="22" name="TextBox 21"/>
          <p:cNvSpPr txBox="1"/>
          <p:nvPr/>
        </p:nvSpPr>
        <p:spPr>
          <a:xfrm>
            <a:off x="6675120" y="2971800"/>
            <a:ext cx="4937760" cy="960120"/>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業務フロー、判断基準、例外対応、参照ルール、成果物テンプレート</a:t>
            </a:r>
          </a:p>
        </p:txBody>
      </p:sp>
      <p:sp>
        <p:nvSpPr>
          <p:cNvPr id="23" name="Rounded Rectangle 22"/>
          <p:cNvSpPr/>
          <p:nvPr/>
        </p:nvSpPr>
        <p:spPr>
          <a:xfrm>
            <a:off x="4800600" y="4160520"/>
            <a:ext cx="6931152" cy="960120"/>
          </a:xfrm>
          <a:prstGeom prst="roundRect">
            <a:avLst>
              <a:gd name="adj" fmla="val 9523"/>
            </a:avLst>
          </a:prstGeom>
          <a:solidFill>
            <a:srgbClr val="1E2761"/>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ounded Rectangle 23"/>
          <p:cNvSpPr/>
          <p:nvPr/>
        </p:nvSpPr>
        <p:spPr>
          <a:xfrm>
            <a:off x="4983480" y="4389120"/>
            <a:ext cx="1463040" cy="502920"/>
          </a:xfrm>
          <a:prstGeom prst="roundRect">
            <a:avLst>
              <a:gd name="adj" fmla="val 18181"/>
            </a:avLst>
          </a:prstGeom>
          <a:solidFill>
            <a:srgbClr val="141A45"/>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400" b="1" i="0" lang="ja-JP" altLang="en-US">
                <a:solidFill>
                  <a:srgbClr val="FFFFFF"/>
                </a:solidFill>
                <a:latin typeface="BIZ UDゴシック"/>
                <a:ea typeface="BIZ UDゴシック"/>
                <a:cs typeface="BIZ UDゴシック"/>
              </a:rPr>
              <a:t>MCP層</a:t>
            </a:r>
          </a:p>
        </p:txBody>
      </p:sp>
      <p:sp>
        <p:nvSpPr>
          <p:cNvPr id="25" name="TextBox 24"/>
          <p:cNvSpPr txBox="1"/>
          <p:nvPr/>
        </p:nvSpPr>
        <p:spPr>
          <a:xfrm>
            <a:off x="6675120" y="4160520"/>
            <a:ext cx="4937760" cy="960120"/>
          </a:xfrm>
          <a:prstGeom prst="rect">
            <a:avLst/>
          </a:prstGeom>
          <a:noFill/>
        </p:spPr>
        <p:txBody>
          <a:bodyPr wrap="square" lIns="0" rIns="0" tIns="0" bIns="0" anchor="ctr"/>
          <a:lstStyle/>
          <a:p>
            <a:pPr algn="l"/>
            <a:r>
              <a:rPr sz="1200" b="0" i="0" lang="ja-JP" altLang="en-US">
                <a:solidFill>
                  <a:srgbClr val="FFFFFF"/>
                </a:solidFill>
                <a:latin typeface="BIZ UDゴシック"/>
                <a:ea typeface="BIZ UDゴシック"/>
                <a:cs typeface="BIZ UDゴシック"/>
              </a:rPr>
              <a:t>データ取得、アクション、認証・認可、実行制約</a:t>
            </a:r>
          </a:p>
        </p:txBody>
      </p:sp>
      <p:sp>
        <p:nvSpPr>
          <p:cNvPr id="26" name="Rounded Rectangle 25"/>
          <p:cNvSpPr/>
          <p:nvPr/>
        </p:nvSpPr>
        <p:spPr>
          <a:xfrm>
            <a:off x="457200" y="5440680"/>
            <a:ext cx="11274552" cy="777240"/>
          </a:xfrm>
          <a:prstGeom prst="roundRect">
            <a:avLst>
              <a:gd name="adj" fmla="val 11764"/>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320040" rIns="320040" tIns="0" bIns="0" wrap="square"/>
          <a:lstStyle/>
          <a:p>
            <a:pPr algn="l"/>
            <a:r>
              <a:rPr sz="1300" b="1" i="0" lang="ja-JP" altLang="en-US">
                <a:solidFill>
                  <a:srgbClr val="E8A33D"/>
                </a:solidFill>
                <a:latin typeface="BIZ UDゴシック"/>
                <a:ea typeface="BIZ UDゴシック"/>
                <a:cs typeface="BIZ UDゴシック"/>
              </a:rPr>
              <a:t>真の価値　</a:t>
            </a:r>
            <a:r>
              <a:rPr sz="1300" b="0" i="0" lang="ja-JP" altLang="en-US">
                <a:solidFill>
                  <a:srgbClr val="FFFFFF"/>
                </a:solidFill>
                <a:latin typeface="BIZ UDゴシック"/>
                <a:ea typeface="BIZ UDゴシック"/>
                <a:cs typeface="BIZ UDゴシック"/>
              </a:rPr>
              <a:t>MCPツールを変えずに複数の業務手順を使い分けたり、業務手順を更新しても既存APIを再開発せずに済む場合がある。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革新性②：専門ノウハウをAIが使う資産にできる</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個人の暗黙知から、レビュー可能な作業手順へ。</a:t>
            </a:r>
          </a:p>
        </p:txBody>
      </p:sp>
      <p:sp>
        <p:nvSpPr>
          <p:cNvPr id="7" name="Rounded Rectangle 6"/>
          <p:cNvSpPr/>
          <p:nvPr/>
        </p:nvSpPr>
        <p:spPr>
          <a:xfrm>
            <a:off x="457200" y="1783080"/>
            <a:ext cx="3566160" cy="3429000"/>
          </a:xfrm>
          <a:prstGeom prst="roundRect">
            <a:avLst>
              <a:gd name="adj" fmla="val 2666"/>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ounded Rectangle 7"/>
          <p:cNvSpPr/>
          <p:nvPr/>
        </p:nvSpPr>
        <p:spPr>
          <a:xfrm>
            <a:off x="731520" y="1965960"/>
            <a:ext cx="914400" cy="310896"/>
          </a:xfrm>
          <a:prstGeom prst="roundRect">
            <a:avLst>
              <a:gd name="adj" fmla="val 50000"/>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FFFFFF"/>
                </a:solidFill>
                <a:latin typeface="BIZ UDゴシック"/>
                <a:ea typeface="BIZ UDゴシック"/>
                <a:cs typeface="BIZ UDゴシック"/>
              </a:rPr>
              <a:t>以前</a:t>
            </a:r>
          </a:p>
        </p:txBody>
      </p:sp>
      <p:sp>
        <p:nvSpPr>
          <p:cNvPr id="9" name="TextBox 8"/>
          <p:cNvSpPr txBox="1"/>
          <p:nvPr/>
        </p:nvSpPr>
        <p:spPr>
          <a:xfrm>
            <a:off x="731520" y="2468880"/>
            <a:ext cx="3017520" cy="411480"/>
          </a:xfrm>
          <a:prstGeom prst="rect">
            <a:avLst/>
          </a:prstGeom>
          <a:noFill/>
        </p:spPr>
        <p:txBody>
          <a:bodyPr wrap="square" lIns="0" rIns="0" tIns="0" bIns="0" anchor="ctr"/>
          <a:lstStyle/>
          <a:p>
            <a:pPr algn="l"/>
            <a:r>
              <a:rPr sz="1700" b="1" i="0" lang="ja-JP" altLang="en-US">
                <a:solidFill>
                  <a:srgbClr val="1E2761"/>
                </a:solidFill>
                <a:latin typeface="BIZ UDゴシック"/>
                <a:ea typeface="BIZ UDゴシック"/>
                <a:cs typeface="BIZ UDゴシック"/>
              </a:rPr>
              <a:t>個人の暗黙知</a:t>
            </a:r>
          </a:p>
        </p:txBody>
      </p:sp>
      <p:sp>
        <p:nvSpPr>
          <p:cNvPr id="10" name="TextBox 9"/>
          <p:cNvSpPr txBox="1"/>
          <p:nvPr/>
        </p:nvSpPr>
        <p:spPr>
          <a:xfrm>
            <a:off x="731520" y="3017520"/>
            <a:ext cx="3017520" cy="1371600"/>
          </a:xfrm>
          <a:prstGeom prst="rect">
            <a:avLst/>
          </a:prstGeom>
          <a:noFill/>
        </p:spPr>
        <p:txBody>
          <a:bodyPr wrap="square" lIns="0" rIns="0" tIns="0" bIns="0" anchor="t"/>
          <a:lstStyle/>
          <a:p>
            <a:pPr algn="l">
              <a:lnSpc>
                <a:spcPct val="120000"/>
              </a:lnSpc>
            </a:pPr>
            <a:r>
              <a:rPr sz="1250" b="0" i="0" lang="ja-JP" altLang="en-US">
                <a:solidFill>
                  <a:srgbClr val="222222"/>
                </a:solidFill>
                <a:latin typeface="BIZ UDゴシック"/>
                <a:ea typeface="BIZ UDゴシック"/>
                <a:cs typeface="BIZ UDゴシック"/>
              </a:rPr>
              <a:t>優秀な担当者が暗黙的に実施していた確認順序や判断基準を、他の人が再現しにくい。</a:t>
            </a:r>
          </a:p>
        </p:txBody>
      </p:sp>
      <p:sp>
        <p:nvSpPr>
          <p:cNvPr id="11" name="Rounded Rectangle 10"/>
          <p:cNvSpPr/>
          <p:nvPr/>
        </p:nvSpPr>
        <p:spPr>
          <a:xfrm>
            <a:off x="731520" y="4480560"/>
            <a:ext cx="3017520" cy="502920"/>
          </a:xfrm>
          <a:prstGeom prst="roundRect">
            <a:avLst>
              <a:gd name="adj" fmla="val 14545"/>
            </a:avLst>
          </a:prstGeom>
          <a:solidFill>
            <a:srgbClr val="FBEAE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50" b="0" i="0" lang="ja-JP" altLang="en-US">
                <a:solidFill>
                  <a:srgbClr val="B03A3A"/>
                </a:solidFill>
                <a:latin typeface="BIZ UDゴシック"/>
                <a:ea typeface="BIZ UDゴシック"/>
                <a:cs typeface="BIZ UDゴシック"/>
              </a:rPr>
              <a:t>本人の頭の中にあり、共有もレビューも難しい</a:t>
            </a:r>
          </a:p>
        </p:txBody>
      </p:sp>
      <p:sp>
        <p:nvSpPr>
          <p:cNvPr id="12" name="Right Arrow 11"/>
          <p:cNvSpPr/>
          <p:nvPr/>
        </p:nvSpPr>
        <p:spPr>
          <a:xfrm>
            <a:off x="4133087" y="3246120"/>
            <a:ext cx="457200" cy="457200"/>
          </a:xfrm>
          <a:prstGeom prst="rightArrow">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ounded Rectangle 12"/>
          <p:cNvSpPr/>
          <p:nvPr/>
        </p:nvSpPr>
        <p:spPr>
          <a:xfrm>
            <a:off x="4709160" y="1783080"/>
            <a:ext cx="7022592" cy="3429000"/>
          </a:xfrm>
          <a:prstGeom prst="roundRect">
            <a:avLst>
              <a:gd name="adj" fmla="val 2666"/>
            </a:avLst>
          </a:prstGeom>
          <a:solidFill>
            <a:srgbClr val="FFFFFF"/>
          </a:solidFill>
          <a:ln w="12700">
            <a:solidFill>
              <a:srgbClr val="E8A33D"/>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ounded Rectangle 13"/>
          <p:cNvSpPr/>
          <p:nvPr/>
        </p:nvSpPr>
        <p:spPr>
          <a:xfrm>
            <a:off x="4983480" y="1965960"/>
            <a:ext cx="1554480" cy="310896"/>
          </a:xfrm>
          <a:prstGeom prst="roundRect">
            <a:avLst>
              <a:gd name="adj" fmla="val 5000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FFFFFF"/>
                </a:solidFill>
                <a:latin typeface="BIZ UDゴシック"/>
                <a:ea typeface="BIZ UDゴシック"/>
                <a:cs typeface="BIZ UDゴシック"/>
              </a:rPr>
              <a:t>Skillsを活用</a:t>
            </a:r>
          </a:p>
        </p:txBody>
      </p:sp>
      <p:sp>
        <p:nvSpPr>
          <p:cNvPr id="15" name="TextBox 14"/>
          <p:cNvSpPr txBox="1"/>
          <p:nvPr/>
        </p:nvSpPr>
        <p:spPr>
          <a:xfrm>
            <a:off x="6675120" y="1965960"/>
            <a:ext cx="4846320" cy="310896"/>
          </a:xfrm>
          <a:prstGeom prst="rect">
            <a:avLst/>
          </a:prstGeom>
          <a:noFill/>
        </p:spPr>
        <p:txBody>
          <a:bodyPr wrap="square" lIns="0" rIns="0" tIns="0" bIns="0" anchor="ctr"/>
          <a:lstStyle/>
          <a:p>
            <a:pPr algn="l"/>
            <a:r>
              <a:rPr sz="1150" b="0" i="0" lang="ja-JP" altLang="en-US">
                <a:solidFill>
                  <a:srgbClr val="5A6B87"/>
                </a:solidFill>
                <a:latin typeface="BIZ UDゴシック"/>
                <a:ea typeface="BIZ UDゴシック"/>
                <a:cs typeface="BIZ UDゴシック"/>
              </a:rPr>
              <a:t>担当者が経験から得た手順を、次の形に記述する</a:t>
            </a:r>
          </a:p>
        </p:txBody>
      </p:sp>
      <p:sp>
        <p:nvSpPr>
          <p:cNvPr id="16" name="Oval 15"/>
          <p:cNvSpPr/>
          <p:nvPr/>
        </p:nvSpPr>
        <p:spPr>
          <a:xfrm>
            <a:off x="4983480" y="2514600"/>
            <a:ext cx="347472" cy="347472"/>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1</a:t>
            </a:r>
          </a:p>
        </p:txBody>
      </p:sp>
      <p:sp>
        <p:nvSpPr>
          <p:cNvPr id="17" name="TextBox 16"/>
          <p:cNvSpPr txBox="1"/>
          <p:nvPr/>
        </p:nvSpPr>
        <p:spPr>
          <a:xfrm>
            <a:off x="5486400" y="2468880"/>
            <a:ext cx="5943600" cy="438912"/>
          </a:xfrm>
          <a:prstGeom prst="rect">
            <a:avLst/>
          </a:prstGeom>
          <a:noFill/>
        </p:spPr>
        <p:txBody>
          <a:bodyPr wrap="square" lIns="0" rIns="0" tIns="0" bIns="0" anchor="ctr"/>
          <a:lstStyle/>
          <a:p>
            <a:pPr algn="l"/>
            <a:r>
              <a:rPr sz="1350" b="1" i="0" lang="ja-JP" altLang="en-US">
                <a:solidFill>
                  <a:srgbClr val="1E2761"/>
                </a:solidFill>
                <a:latin typeface="BIZ UDゴシック"/>
                <a:ea typeface="BIZ UDゴシック"/>
                <a:cs typeface="BIZ UDゴシック"/>
              </a:rPr>
              <a:t>まず確認すべき情報</a:t>
            </a:r>
          </a:p>
        </p:txBody>
      </p:sp>
      <p:sp>
        <p:nvSpPr>
          <p:cNvPr id="18" name="Oval 17"/>
          <p:cNvSpPr/>
          <p:nvPr/>
        </p:nvSpPr>
        <p:spPr>
          <a:xfrm>
            <a:off x="4983480" y="3044952"/>
            <a:ext cx="347472" cy="347472"/>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2</a:t>
            </a:r>
          </a:p>
        </p:txBody>
      </p:sp>
      <p:sp>
        <p:nvSpPr>
          <p:cNvPr id="19" name="TextBox 18"/>
          <p:cNvSpPr txBox="1"/>
          <p:nvPr/>
        </p:nvSpPr>
        <p:spPr>
          <a:xfrm>
            <a:off x="5486400" y="2999232"/>
            <a:ext cx="5943600" cy="438912"/>
          </a:xfrm>
          <a:prstGeom prst="rect">
            <a:avLst/>
          </a:prstGeom>
          <a:noFill/>
        </p:spPr>
        <p:txBody>
          <a:bodyPr wrap="square" lIns="0" rIns="0" tIns="0" bIns="0" anchor="ctr"/>
          <a:lstStyle/>
          <a:p>
            <a:pPr algn="l"/>
            <a:r>
              <a:rPr sz="1350" b="1" i="0" lang="ja-JP" altLang="en-US">
                <a:solidFill>
                  <a:srgbClr val="1E2761"/>
                </a:solidFill>
                <a:latin typeface="BIZ UDゴシック"/>
                <a:ea typeface="BIZ UDゴシック"/>
                <a:cs typeface="BIZ UDゴシック"/>
              </a:rPr>
              <a:t>条件分岐・判断基準</a:t>
            </a:r>
          </a:p>
        </p:txBody>
      </p:sp>
      <p:sp>
        <p:nvSpPr>
          <p:cNvPr id="20" name="Oval 19"/>
          <p:cNvSpPr/>
          <p:nvPr/>
        </p:nvSpPr>
        <p:spPr>
          <a:xfrm>
            <a:off x="4983480" y="3575304"/>
            <a:ext cx="347472" cy="347472"/>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3</a:t>
            </a:r>
          </a:p>
        </p:txBody>
      </p:sp>
      <p:sp>
        <p:nvSpPr>
          <p:cNvPr id="21" name="TextBox 20"/>
          <p:cNvSpPr txBox="1"/>
          <p:nvPr/>
        </p:nvSpPr>
        <p:spPr>
          <a:xfrm>
            <a:off x="5486400" y="3529584"/>
            <a:ext cx="5943600" cy="438912"/>
          </a:xfrm>
          <a:prstGeom prst="rect">
            <a:avLst/>
          </a:prstGeom>
          <a:noFill/>
        </p:spPr>
        <p:txBody>
          <a:bodyPr wrap="square" lIns="0" rIns="0" tIns="0" bIns="0" anchor="ctr"/>
          <a:lstStyle/>
          <a:p>
            <a:pPr algn="l"/>
            <a:r>
              <a:rPr sz="1350" b="1" i="0" lang="ja-JP" altLang="en-US">
                <a:solidFill>
                  <a:srgbClr val="1E2761"/>
                </a:solidFill>
                <a:latin typeface="BIZ UDゴシック"/>
                <a:ea typeface="BIZ UDゴシック"/>
                <a:cs typeface="BIZ UDゴシック"/>
              </a:rPr>
              <a:t>見落としてはいけない例外</a:t>
            </a:r>
          </a:p>
        </p:txBody>
      </p:sp>
      <p:sp>
        <p:nvSpPr>
          <p:cNvPr id="22" name="Oval 21"/>
          <p:cNvSpPr/>
          <p:nvPr/>
        </p:nvSpPr>
        <p:spPr>
          <a:xfrm>
            <a:off x="4983480" y="4105655"/>
            <a:ext cx="347472" cy="347472"/>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4</a:t>
            </a:r>
          </a:p>
        </p:txBody>
      </p:sp>
      <p:sp>
        <p:nvSpPr>
          <p:cNvPr id="23" name="TextBox 22"/>
          <p:cNvSpPr txBox="1"/>
          <p:nvPr/>
        </p:nvSpPr>
        <p:spPr>
          <a:xfrm>
            <a:off x="5486400" y="4059935"/>
            <a:ext cx="5943600" cy="438912"/>
          </a:xfrm>
          <a:prstGeom prst="rect">
            <a:avLst/>
          </a:prstGeom>
          <a:noFill/>
        </p:spPr>
        <p:txBody>
          <a:bodyPr wrap="square" lIns="0" rIns="0" tIns="0" bIns="0" anchor="ctr"/>
          <a:lstStyle/>
          <a:p>
            <a:pPr algn="l"/>
            <a:r>
              <a:rPr sz="1350" b="1" i="0" lang="ja-JP" altLang="en-US">
                <a:solidFill>
                  <a:srgbClr val="1E2761"/>
                </a:solidFill>
                <a:latin typeface="BIZ UDゴシック"/>
                <a:ea typeface="BIZ UDゴシック"/>
                <a:cs typeface="BIZ UDゴシック"/>
              </a:rPr>
              <a:t>使うべき資料やテンプレート</a:t>
            </a:r>
          </a:p>
        </p:txBody>
      </p:sp>
      <p:sp>
        <p:nvSpPr>
          <p:cNvPr id="24" name="Oval 23"/>
          <p:cNvSpPr/>
          <p:nvPr/>
        </p:nvSpPr>
        <p:spPr>
          <a:xfrm>
            <a:off x="4983480" y="4636007"/>
            <a:ext cx="347472" cy="347472"/>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5</a:t>
            </a:r>
          </a:p>
        </p:txBody>
      </p:sp>
      <p:sp>
        <p:nvSpPr>
          <p:cNvPr id="25" name="TextBox 24"/>
          <p:cNvSpPr txBox="1"/>
          <p:nvPr/>
        </p:nvSpPr>
        <p:spPr>
          <a:xfrm>
            <a:off x="5486400" y="4590288"/>
            <a:ext cx="5943600" cy="438912"/>
          </a:xfrm>
          <a:prstGeom prst="rect">
            <a:avLst/>
          </a:prstGeom>
          <a:noFill/>
        </p:spPr>
        <p:txBody>
          <a:bodyPr wrap="square" lIns="0" rIns="0" tIns="0" bIns="0" anchor="ctr"/>
          <a:lstStyle/>
          <a:p>
            <a:pPr algn="l"/>
            <a:r>
              <a:rPr sz="1350" b="1" i="0" lang="ja-JP" altLang="en-US">
                <a:solidFill>
                  <a:srgbClr val="1E2761"/>
                </a:solidFill>
                <a:latin typeface="BIZ UDゴシック"/>
                <a:ea typeface="BIZ UDゴシック"/>
                <a:cs typeface="BIZ UDゴシック"/>
              </a:rPr>
              <a:t>最終出力とレビュー観点</a:t>
            </a:r>
          </a:p>
        </p:txBody>
      </p:sp>
      <p:sp>
        <p:nvSpPr>
          <p:cNvPr id="26" name="Rounded Rectangle 25"/>
          <p:cNvSpPr/>
          <p:nvPr/>
        </p:nvSpPr>
        <p:spPr>
          <a:xfrm>
            <a:off x="457200" y="5440680"/>
            <a:ext cx="11274552" cy="777240"/>
          </a:xfrm>
          <a:prstGeom prst="roundRect">
            <a:avLst>
              <a:gd name="adj" fmla="val 11764"/>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320040" rIns="320040" tIns="0" bIns="0" wrap="square"/>
          <a:lstStyle/>
          <a:p>
            <a:pPr algn="l"/>
            <a:r>
              <a:rPr sz="1300" b="1" i="0" lang="ja-JP" altLang="en-US">
                <a:solidFill>
                  <a:srgbClr val="E8A33D"/>
                </a:solidFill>
                <a:latin typeface="BIZ UDゴシック"/>
                <a:ea typeface="BIZ UDゴシック"/>
                <a:cs typeface="BIZ UDゴシック"/>
              </a:rPr>
              <a:t>真の価値　</a:t>
            </a:r>
            <a:r>
              <a:rPr sz="1300" b="0" i="0" lang="ja-JP" altLang="en-US">
                <a:solidFill>
                  <a:srgbClr val="FFFFFF"/>
                </a:solidFill>
                <a:latin typeface="BIZ UDゴシック"/>
                <a:ea typeface="BIZ UDゴシック"/>
                <a:cs typeface="BIZ UDゴシック"/>
              </a:rPr>
              <a:t>業務ノウハウが「人に伝える説明文」だけでなく、</a:t>
            </a:r>
            <a:r>
              <a:rPr sz="1300" b="1" i="0" lang="ja-JP" altLang="en-US">
                <a:solidFill>
                  <a:srgbClr val="FFFFFF"/>
                </a:solidFill>
                <a:latin typeface="BIZ UDゴシック"/>
                <a:ea typeface="BIZ UDゴシック"/>
                <a:cs typeface="BIZ UDゴシック"/>
              </a:rPr>
              <a:t>AIが参照し、実行時に使える形式</a:t>
            </a:r>
            <a:r>
              <a:rPr sz="1300" b="0" i="0" lang="ja-JP" altLang="en-US">
                <a:solidFill>
                  <a:srgbClr val="FFFFFF"/>
                </a:solidFill>
                <a:latin typeface="BIZ UDゴシック"/>
                <a:ea typeface="BIZ UDゴシック"/>
                <a:cs typeface="BIZ UDゴシック"/>
              </a:rPr>
              <a:t>になる。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革新性③：一度作った手順を配布・組み合わせられる</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「一人の上手いプロンプト」から「複数人が使える業務パッケージ」へ。</a:t>
            </a:r>
          </a:p>
        </p:txBody>
      </p:sp>
      <p:sp>
        <p:nvSpPr>
          <p:cNvPr id="7" name="Rounded Rectangle 6"/>
          <p:cNvSpPr/>
          <p:nvPr/>
        </p:nvSpPr>
        <p:spPr>
          <a:xfrm>
            <a:off x="457200" y="1783080"/>
            <a:ext cx="6858000" cy="777240"/>
          </a:xfrm>
          <a:prstGeom prst="roundRect">
            <a:avLst>
              <a:gd name="adj" fmla="val 11764"/>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400" b="1" i="0" lang="ja-JP" altLang="en-US">
                <a:solidFill>
                  <a:srgbClr val="FFFFFF"/>
                </a:solidFill>
                <a:latin typeface="BIZ UDゴシック"/>
                <a:ea typeface="BIZ UDゴシック"/>
                <a:cs typeface="BIZ UDゴシック"/>
              </a:rPr>
              <a:t>共通MCPツール群</a:t>
            </a:r>
          </a:p>
          <a:p>
            <a:pPr algn="ctr"/>
            <a:r>
              <a:rPr sz="1100" b="0" i="0" lang="ja-JP" altLang="en-US">
                <a:solidFill>
                  <a:srgbClr val="CADCFC"/>
                </a:solidFill>
                <a:latin typeface="BIZ UDゴシック"/>
                <a:ea typeface="BIZ UDゴシック"/>
                <a:cs typeface="BIZ UDゴシック"/>
              </a:rPr>
              <a:t>検索・取得・登録・更新</a:t>
            </a:r>
          </a:p>
        </p:txBody>
      </p:sp>
      <p:sp>
        <p:nvSpPr>
          <p:cNvPr id="8" name="Rounded Rectangle 7"/>
          <p:cNvSpPr/>
          <p:nvPr/>
        </p:nvSpPr>
        <p:spPr>
          <a:xfrm>
            <a:off x="457200" y="3017520"/>
            <a:ext cx="6858000" cy="2148840"/>
          </a:xfrm>
          <a:prstGeom prst="roundRect">
            <a:avLst>
              <a:gd name="adj" fmla="val 5106"/>
            </a:avLst>
          </a:prstGeom>
          <a:solidFill>
            <a:srgbClr val="FFF7EC"/>
          </a:solidFill>
          <a:ln w="12700">
            <a:solidFill>
              <a:srgbClr val="E8A33D"/>
            </a:solidFill>
            <a:prstDash val="dash"/>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Up Arrow 8"/>
          <p:cNvSpPr/>
          <p:nvPr/>
        </p:nvSpPr>
        <p:spPr>
          <a:xfrm>
            <a:off x="1200150" y="2615184"/>
            <a:ext cx="365760" cy="384048"/>
          </a:xfrm>
          <a:prstGeom prst="upArrow">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ounded Rectangle 9"/>
          <p:cNvSpPr/>
          <p:nvPr/>
        </p:nvSpPr>
        <p:spPr>
          <a:xfrm>
            <a:off x="640080" y="3200400"/>
            <a:ext cx="1485900" cy="1051560"/>
          </a:xfrm>
          <a:prstGeom prst="roundRect">
            <a:avLst>
              <a:gd name="adj" fmla="val 8695"/>
            </a:avLst>
          </a:prstGeom>
          <a:solidFill>
            <a:srgbClr val="FFFFFF"/>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3200400"/>
            <a:ext cx="1485900" cy="1051560"/>
          </a:xfrm>
          <a:prstGeom prst="rect">
            <a:avLst/>
          </a:prstGeom>
          <a:noFill/>
        </p:spPr>
        <p:txBody>
          <a:bodyPr wrap="square" lIns="0" rIns="0" tIns="0" bIns="0" anchor="ctr"/>
          <a:lstStyle/>
          <a:p>
            <a:pPr algn="ctr"/>
            <a:r>
              <a:rPr sz="1400" b="1" i="0" lang="ja-JP" altLang="en-US">
                <a:solidFill>
                  <a:srgbClr val="1E2761"/>
                </a:solidFill>
                <a:latin typeface="BIZ UDゴシック"/>
                <a:ea typeface="BIZ UDゴシック"/>
                <a:cs typeface="BIZ UDゴシック"/>
              </a:rPr>
              <a:t>会議準備</a:t>
            </a:r>
          </a:p>
          <a:p>
            <a:pPr algn="ctr"/>
            <a:r>
              <a:rPr sz="1100" b="1" i="0" lang="ja-JP" altLang="en-US">
                <a:solidFill>
                  <a:srgbClr val="B87A1E"/>
                </a:solidFill>
                <a:latin typeface="BIZ UDゴシック"/>
                <a:ea typeface="BIZ UDゴシック"/>
                <a:cs typeface="BIZ UDゴシック"/>
              </a:rPr>
              <a:t>Skill</a:t>
            </a:r>
          </a:p>
        </p:txBody>
      </p:sp>
      <p:sp>
        <p:nvSpPr>
          <p:cNvPr id="12" name="Up Arrow 11"/>
          <p:cNvSpPr/>
          <p:nvPr/>
        </p:nvSpPr>
        <p:spPr>
          <a:xfrm>
            <a:off x="2868929" y="2615184"/>
            <a:ext cx="365760" cy="384048"/>
          </a:xfrm>
          <a:prstGeom prst="upArrow">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ounded Rectangle 12"/>
          <p:cNvSpPr/>
          <p:nvPr/>
        </p:nvSpPr>
        <p:spPr>
          <a:xfrm>
            <a:off x="2308860" y="3200400"/>
            <a:ext cx="1485900" cy="1051560"/>
          </a:xfrm>
          <a:prstGeom prst="roundRect">
            <a:avLst>
              <a:gd name="adj" fmla="val 8695"/>
            </a:avLst>
          </a:prstGeom>
          <a:solidFill>
            <a:srgbClr val="FFFFFF"/>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2308860" y="3200400"/>
            <a:ext cx="1485900" cy="1051560"/>
          </a:xfrm>
          <a:prstGeom prst="rect">
            <a:avLst/>
          </a:prstGeom>
          <a:noFill/>
        </p:spPr>
        <p:txBody>
          <a:bodyPr wrap="square" lIns="0" rIns="0" tIns="0" bIns="0" anchor="ctr"/>
          <a:lstStyle/>
          <a:p>
            <a:pPr algn="ctr"/>
            <a:r>
              <a:rPr sz="1400" b="1" i="0" lang="ja-JP" altLang="en-US">
                <a:solidFill>
                  <a:srgbClr val="1E2761"/>
                </a:solidFill>
                <a:latin typeface="BIZ UDゴシック"/>
                <a:ea typeface="BIZ UDゴシック"/>
                <a:cs typeface="BIZ UDゴシック"/>
              </a:rPr>
              <a:t>議事録化</a:t>
            </a:r>
          </a:p>
          <a:p>
            <a:pPr algn="ctr"/>
            <a:r>
              <a:rPr sz="1100" b="1" i="0" lang="ja-JP" altLang="en-US">
                <a:solidFill>
                  <a:srgbClr val="B87A1E"/>
                </a:solidFill>
                <a:latin typeface="BIZ UDゴシック"/>
                <a:ea typeface="BIZ UDゴシック"/>
                <a:cs typeface="BIZ UDゴシック"/>
              </a:rPr>
              <a:t>Skill</a:t>
            </a:r>
          </a:p>
        </p:txBody>
      </p:sp>
      <p:sp>
        <p:nvSpPr>
          <p:cNvPr id="15" name="Up Arrow 14"/>
          <p:cNvSpPr/>
          <p:nvPr/>
        </p:nvSpPr>
        <p:spPr>
          <a:xfrm>
            <a:off x="4537709" y="2615184"/>
            <a:ext cx="365760" cy="384048"/>
          </a:xfrm>
          <a:prstGeom prst="upArrow">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ounded Rectangle 15"/>
          <p:cNvSpPr/>
          <p:nvPr/>
        </p:nvSpPr>
        <p:spPr>
          <a:xfrm>
            <a:off x="3977639" y="3200400"/>
            <a:ext cx="1485900" cy="1051560"/>
          </a:xfrm>
          <a:prstGeom prst="roundRect">
            <a:avLst>
              <a:gd name="adj" fmla="val 8695"/>
            </a:avLst>
          </a:prstGeom>
          <a:solidFill>
            <a:srgbClr val="FFFFFF"/>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3977639" y="3200400"/>
            <a:ext cx="1485900" cy="1051560"/>
          </a:xfrm>
          <a:prstGeom prst="rect">
            <a:avLst/>
          </a:prstGeom>
          <a:noFill/>
        </p:spPr>
        <p:txBody>
          <a:bodyPr wrap="square" lIns="0" rIns="0" tIns="0" bIns="0" anchor="ctr"/>
          <a:lstStyle/>
          <a:p>
            <a:pPr algn="ctr"/>
            <a:r>
              <a:rPr sz="1400" b="1" i="0" lang="ja-JP" altLang="en-US">
                <a:solidFill>
                  <a:srgbClr val="1E2761"/>
                </a:solidFill>
                <a:latin typeface="BIZ UDゴシック"/>
                <a:ea typeface="BIZ UDゴシック"/>
                <a:cs typeface="BIZ UDゴシック"/>
              </a:rPr>
              <a:t>稟議準備</a:t>
            </a:r>
          </a:p>
          <a:p>
            <a:pPr algn="ctr"/>
            <a:r>
              <a:rPr sz="1100" b="1" i="0" lang="ja-JP" altLang="en-US">
                <a:solidFill>
                  <a:srgbClr val="B87A1E"/>
                </a:solidFill>
                <a:latin typeface="BIZ UDゴシック"/>
                <a:ea typeface="BIZ UDゴシック"/>
                <a:cs typeface="BIZ UDゴシック"/>
              </a:rPr>
              <a:t>Skill</a:t>
            </a:r>
          </a:p>
        </p:txBody>
      </p:sp>
      <p:sp>
        <p:nvSpPr>
          <p:cNvPr id="18" name="Up Arrow 17"/>
          <p:cNvSpPr/>
          <p:nvPr/>
        </p:nvSpPr>
        <p:spPr>
          <a:xfrm>
            <a:off x="6206490" y="2615184"/>
            <a:ext cx="365760" cy="384048"/>
          </a:xfrm>
          <a:prstGeom prst="upArrow">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Rounded Rectangle 18"/>
          <p:cNvSpPr/>
          <p:nvPr/>
        </p:nvSpPr>
        <p:spPr>
          <a:xfrm>
            <a:off x="5646420" y="3200400"/>
            <a:ext cx="1485900" cy="1051560"/>
          </a:xfrm>
          <a:prstGeom prst="roundRect">
            <a:avLst>
              <a:gd name="adj" fmla="val 8695"/>
            </a:avLst>
          </a:prstGeom>
          <a:solidFill>
            <a:srgbClr val="FFFFFF"/>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5646420" y="3200400"/>
            <a:ext cx="1485900" cy="1051560"/>
          </a:xfrm>
          <a:prstGeom prst="rect">
            <a:avLst/>
          </a:prstGeom>
          <a:noFill/>
        </p:spPr>
        <p:txBody>
          <a:bodyPr wrap="square" lIns="0" rIns="0" tIns="0" bIns="0" anchor="ctr"/>
          <a:lstStyle/>
          <a:p>
            <a:pPr algn="ctr"/>
            <a:r>
              <a:rPr sz="1400" b="1" i="0" lang="ja-JP" altLang="en-US">
                <a:solidFill>
                  <a:srgbClr val="1E2761"/>
                </a:solidFill>
                <a:latin typeface="BIZ UDゴシック"/>
                <a:ea typeface="BIZ UDゴシック"/>
                <a:cs typeface="BIZ UDゴシック"/>
              </a:rPr>
              <a:t>障害報告</a:t>
            </a:r>
          </a:p>
          <a:p>
            <a:pPr algn="ctr"/>
            <a:r>
              <a:rPr sz="1100" b="1" i="0" lang="ja-JP" altLang="en-US">
                <a:solidFill>
                  <a:srgbClr val="B87A1E"/>
                </a:solidFill>
                <a:latin typeface="BIZ UDゴシック"/>
                <a:ea typeface="BIZ UDゴシック"/>
                <a:cs typeface="BIZ UDゴシック"/>
              </a:rPr>
              <a:t>Skill</a:t>
            </a:r>
          </a:p>
        </p:txBody>
      </p:sp>
      <p:sp>
        <p:nvSpPr>
          <p:cNvPr id="21" name="TextBox 20"/>
          <p:cNvSpPr txBox="1"/>
          <p:nvPr/>
        </p:nvSpPr>
        <p:spPr>
          <a:xfrm>
            <a:off x="457200" y="4434840"/>
            <a:ext cx="6858000" cy="548640"/>
          </a:xfrm>
          <a:prstGeom prst="rect">
            <a:avLst/>
          </a:prstGeom>
          <a:noFill/>
        </p:spPr>
        <p:txBody>
          <a:bodyPr wrap="square" lIns="0" rIns="0" tIns="0" bIns="0" anchor="ctr"/>
          <a:lstStyle/>
          <a:p>
            <a:pPr algn="ctr"/>
            <a:r>
              <a:rPr sz="1350" b="1" i="0" lang="ja-JP" altLang="en-US">
                <a:solidFill>
                  <a:srgbClr val="B87A1E"/>
                </a:solidFill>
                <a:latin typeface="BIZ UDゴシック"/>
                <a:ea typeface="BIZ UDゴシック"/>
                <a:cs typeface="BIZ UDゴシック"/>
              </a:rPr>
              <a:t>Pluginとして配布</a:t>
            </a:r>
            <a:r>
              <a:rPr sz="1100" b="0" i="0" lang="ja-JP" altLang="en-US">
                <a:solidFill>
                  <a:srgbClr val="5A6B87"/>
                </a:solidFill>
                <a:latin typeface="BIZ UDゴシック"/>
                <a:ea typeface="BIZ UDゴシック"/>
                <a:cs typeface="BIZ UDゴシック"/>
              </a:rPr>
              <a:t>　Skills + MCPをまとめて提供</a:t>
            </a:r>
          </a:p>
        </p:txBody>
      </p:sp>
      <p:sp>
        <p:nvSpPr>
          <p:cNvPr id="22" name="Rounded Rectangle 21"/>
          <p:cNvSpPr/>
          <p:nvPr/>
        </p:nvSpPr>
        <p:spPr>
          <a:xfrm>
            <a:off x="7589520" y="1783080"/>
            <a:ext cx="4142232" cy="3383280"/>
          </a:xfrm>
          <a:prstGeom prst="roundRect">
            <a:avLst>
              <a:gd name="adj" fmla="val 2702"/>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7818120" y="1938528"/>
            <a:ext cx="3657600" cy="320040"/>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組織上の効果（期待）</a:t>
            </a:r>
          </a:p>
        </p:txBody>
      </p:sp>
      <p:sp>
        <p:nvSpPr>
          <p:cNvPr id="24" name="Oval 23"/>
          <p:cNvSpPr/>
          <p:nvPr/>
        </p:nvSpPr>
        <p:spPr>
          <a:xfrm>
            <a:off x="7818120" y="2496312"/>
            <a:ext cx="329184" cy="329184"/>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a:t>
            </a:r>
          </a:p>
        </p:txBody>
      </p:sp>
      <p:sp>
        <p:nvSpPr>
          <p:cNvPr id="25" name="TextBox 24"/>
          <p:cNvSpPr txBox="1"/>
          <p:nvPr/>
        </p:nvSpPr>
        <p:spPr>
          <a:xfrm>
            <a:off x="8275320" y="2423160"/>
            <a:ext cx="3291840" cy="502920"/>
          </a:xfrm>
          <a:prstGeom prst="rect">
            <a:avLst/>
          </a:prstGeom>
          <a:noFill/>
        </p:spPr>
        <p:txBody>
          <a:bodyPr wrap="square" lIns="0" rIns="0" tIns="0" bIns="0" anchor="ctr"/>
          <a:lstStyle/>
          <a:p>
            <a:pPr algn="l"/>
            <a:r>
              <a:rPr sz="1200" b="0" i="0" lang="ja-JP" altLang="en-US">
                <a:solidFill>
                  <a:srgbClr val="1E2761"/>
                </a:solidFill>
                <a:latin typeface="BIZ UDゴシック"/>
                <a:ea typeface="BIZ UDゴシック"/>
                <a:cs typeface="BIZ UDゴシック"/>
              </a:rPr>
              <a:t>チーム間で同じ手順・フォーマットを共有</a:t>
            </a:r>
          </a:p>
        </p:txBody>
      </p:sp>
      <p:sp>
        <p:nvSpPr>
          <p:cNvPr id="26" name="Oval 25"/>
          <p:cNvSpPr/>
          <p:nvPr/>
        </p:nvSpPr>
        <p:spPr>
          <a:xfrm>
            <a:off x="7818120" y="3154680"/>
            <a:ext cx="329184" cy="329184"/>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a:t>
            </a:r>
          </a:p>
        </p:txBody>
      </p:sp>
      <p:sp>
        <p:nvSpPr>
          <p:cNvPr id="27" name="TextBox 26"/>
          <p:cNvSpPr txBox="1"/>
          <p:nvPr/>
        </p:nvSpPr>
        <p:spPr>
          <a:xfrm>
            <a:off x="8275320" y="3081528"/>
            <a:ext cx="3291840" cy="502920"/>
          </a:xfrm>
          <a:prstGeom prst="rect">
            <a:avLst/>
          </a:prstGeom>
          <a:noFill/>
        </p:spPr>
        <p:txBody>
          <a:bodyPr wrap="square" lIns="0" rIns="0" tIns="0" bIns="0" anchor="ctr"/>
          <a:lstStyle/>
          <a:p>
            <a:pPr algn="l"/>
            <a:r>
              <a:rPr sz="1200" b="0" i="0" lang="ja-JP" altLang="en-US">
                <a:solidFill>
                  <a:srgbClr val="1E2761"/>
                </a:solidFill>
                <a:latin typeface="BIZ UDゴシック"/>
                <a:ea typeface="BIZ UDゴシック"/>
                <a:cs typeface="BIZ UDゴシック"/>
              </a:rPr>
              <a:t>新メンバーが習熟しやすい</a:t>
            </a:r>
          </a:p>
        </p:txBody>
      </p:sp>
      <p:sp>
        <p:nvSpPr>
          <p:cNvPr id="28" name="Oval 27"/>
          <p:cNvSpPr/>
          <p:nvPr/>
        </p:nvSpPr>
        <p:spPr>
          <a:xfrm>
            <a:off x="7818120" y="3813048"/>
            <a:ext cx="329184" cy="329184"/>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a:t>
            </a:r>
          </a:p>
        </p:txBody>
      </p:sp>
      <p:sp>
        <p:nvSpPr>
          <p:cNvPr id="29" name="TextBox 28"/>
          <p:cNvSpPr txBox="1"/>
          <p:nvPr/>
        </p:nvSpPr>
        <p:spPr>
          <a:xfrm>
            <a:off x="8275320" y="3739896"/>
            <a:ext cx="3291840" cy="502920"/>
          </a:xfrm>
          <a:prstGeom prst="rect">
            <a:avLst/>
          </a:prstGeom>
          <a:noFill/>
        </p:spPr>
        <p:txBody>
          <a:bodyPr wrap="square" lIns="0" rIns="0" tIns="0" bIns="0" anchor="ctr"/>
          <a:lstStyle/>
          <a:p>
            <a:pPr algn="l"/>
            <a:r>
              <a:rPr sz="1200" b="0" i="0" lang="ja-JP" altLang="en-US">
                <a:solidFill>
                  <a:srgbClr val="1E2761"/>
                </a:solidFill>
                <a:latin typeface="BIZ UDゴシック"/>
                <a:ea typeface="BIZ UDゴシック"/>
                <a:cs typeface="BIZ UDゴシック"/>
              </a:rPr>
              <a:t>手順修正をパッケージとして展開</a:t>
            </a:r>
          </a:p>
        </p:txBody>
      </p:sp>
      <p:sp>
        <p:nvSpPr>
          <p:cNvPr id="30" name="Oval 29"/>
          <p:cNvSpPr/>
          <p:nvPr/>
        </p:nvSpPr>
        <p:spPr>
          <a:xfrm>
            <a:off x="7818120" y="4471416"/>
            <a:ext cx="329184" cy="329184"/>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a:t>
            </a:r>
          </a:p>
        </p:txBody>
      </p:sp>
      <p:sp>
        <p:nvSpPr>
          <p:cNvPr id="31" name="TextBox 30"/>
          <p:cNvSpPr txBox="1"/>
          <p:nvPr/>
        </p:nvSpPr>
        <p:spPr>
          <a:xfrm>
            <a:off x="8275320" y="4398264"/>
            <a:ext cx="3291840" cy="502920"/>
          </a:xfrm>
          <a:prstGeom prst="rect">
            <a:avLst/>
          </a:prstGeom>
          <a:noFill/>
        </p:spPr>
        <p:txBody>
          <a:bodyPr wrap="square" lIns="0" rIns="0" tIns="0" bIns="0" anchor="ctr"/>
          <a:lstStyle/>
          <a:p>
            <a:pPr algn="l"/>
            <a:r>
              <a:rPr sz="1200" b="0" i="0" lang="ja-JP" altLang="en-US">
                <a:solidFill>
                  <a:srgbClr val="1E2761"/>
                </a:solidFill>
                <a:latin typeface="BIZ UDゴシック"/>
                <a:ea typeface="BIZ UDゴシック"/>
                <a:cs typeface="BIZ UDゴシック"/>
              </a:rPr>
              <a:t>スキルごとに担当者・レビュー責任者を置ける</a:t>
            </a:r>
          </a:p>
        </p:txBody>
      </p:sp>
      <p:sp>
        <p:nvSpPr>
          <p:cNvPr id="32" name="Rounded Rectangle 31"/>
          <p:cNvSpPr/>
          <p:nvPr/>
        </p:nvSpPr>
        <p:spPr>
          <a:xfrm>
            <a:off x="457200" y="5394960"/>
            <a:ext cx="11274552" cy="822960"/>
          </a:xfrm>
          <a:prstGeom prst="roundRect">
            <a:avLst>
              <a:gd name="adj" fmla="val 11111"/>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274320" rIns="274320" tIns="0" bIns="0" wrap="square"/>
          <a:lstStyle/>
          <a:p>
            <a:pPr algn="l"/>
            <a:r>
              <a:rPr sz="1200" b="1" i="0" lang="ja-JP" altLang="en-US">
                <a:solidFill>
                  <a:srgbClr val="1E2761"/>
                </a:solidFill>
                <a:latin typeface="BIZ UDゴシック"/>
                <a:ea typeface="BIZ UDゴシック"/>
                <a:cs typeface="BIZ UDゴシック"/>
              </a:rPr>
              <a:t>前提条件　</a:t>
            </a:r>
            <a:r>
              <a:rPr sz="1200" b="0" i="0" lang="ja-JP" altLang="en-US">
                <a:solidFill>
                  <a:srgbClr val="222222"/>
                </a:solidFill>
                <a:latin typeface="BIZ UDゴシック"/>
                <a:ea typeface="BIZ UDゴシック"/>
                <a:cs typeface="BIZ UDゴシック"/>
              </a:rPr>
              <a:t>Skillの説明が適切に選択されること／接続権限があること／出力の評価基準が設計されていること。配布と自動導入・統制は同じではない。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革新性④：AI業務を改善サイクルに載せやすい</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業務手順がファイルになると、検証・差分管理・レビューができる。</a:t>
            </a:r>
          </a:p>
        </p:txBody>
      </p:sp>
      <p:sp>
        <p:nvSpPr>
          <p:cNvPr id="7" name="Rounded Rectangle 6"/>
          <p:cNvSpPr/>
          <p:nvPr/>
        </p:nvSpPr>
        <p:spPr>
          <a:xfrm>
            <a:off x="457200" y="1783080"/>
            <a:ext cx="1874519" cy="1005840"/>
          </a:xfrm>
          <a:prstGeom prst="roundRect">
            <a:avLst>
              <a:gd name="adj" fmla="val 9090"/>
            </a:avLst>
          </a:prstGeom>
          <a:solidFill>
            <a:srgbClr val="1E2761"/>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566928" y="1783080"/>
            <a:ext cx="1655063" cy="1005840"/>
          </a:xfrm>
          <a:prstGeom prst="rect">
            <a:avLst/>
          </a:prstGeom>
          <a:noFill/>
        </p:spPr>
        <p:txBody>
          <a:bodyPr wrap="square" lIns="0" rIns="0" tIns="0" bIns="0" anchor="ctr"/>
          <a:lstStyle/>
          <a:p>
            <a:pPr algn="ctr">
              <a:spcAft>
                <a:spcPts val="200"/>
              </a:spcAft>
            </a:pPr>
            <a:r>
              <a:rPr sz="950" b="1" i="0" lang="ja-JP" altLang="en-US">
                <a:solidFill>
                  <a:srgbClr val="E8A33D"/>
                </a:solidFill>
                <a:latin typeface="BIZ UDゴシック"/>
                <a:ea typeface="BIZ UDゴシック"/>
                <a:cs typeface="BIZ UDゴシック"/>
              </a:rPr>
              <a:t>STEP 1</a:t>
            </a:r>
          </a:p>
          <a:p>
            <a:pPr algn="ctr">
              <a:spcAft>
                <a:spcPts val="200"/>
              </a:spcAft>
            </a:pPr>
            <a:r>
              <a:rPr sz="1100" b="1" i="0" lang="ja-JP" altLang="en-US">
                <a:solidFill>
                  <a:srgbClr val="FFFFFF"/>
                </a:solidFill>
                <a:latin typeface="BIZ UDゴシック"/>
                <a:ea typeface="BIZ UDゴシック"/>
                <a:cs typeface="BIZ UDゴシック"/>
              </a:rPr>
              <a:t>Skill v1を作る</a:t>
            </a:r>
          </a:p>
        </p:txBody>
      </p:sp>
      <p:sp>
        <p:nvSpPr>
          <p:cNvPr id="9" name="Right Arrow 8"/>
          <p:cNvSpPr/>
          <p:nvPr/>
        </p:nvSpPr>
        <p:spPr>
          <a:xfrm>
            <a:off x="2404872" y="2121408"/>
            <a:ext cx="329184" cy="329184"/>
          </a:xfrm>
          <a:prstGeom prst="rightArrow">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ounded Rectangle 9"/>
          <p:cNvSpPr/>
          <p:nvPr/>
        </p:nvSpPr>
        <p:spPr>
          <a:xfrm>
            <a:off x="2807208" y="1783080"/>
            <a:ext cx="1874519" cy="1005840"/>
          </a:xfrm>
          <a:prstGeom prst="roundRect">
            <a:avLst>
              <a:gd name="adj" fmla="val 9090"/>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2916936" y="1783080"/>
            <a:ext cx="1655063" cy="1005840"/>
          </a:xfrm>
          <a:prstGeom prst="rect">
            <a:avLst/>
          </a:prstGeom>
          <a:noFill/>
        </p:spPr>
        <p:txBody>
          <a:bodyPr wrap="square" lIns="0" rIns="0" tIns="0" bIns="0" anchor="ctr"/>
          <a:lstStyle/>
          <a:p>
            <a:pPr algn="ctr">
              <a:spcAft>
                <a:spcPts val="200"/>
              </a:spcAft>
            </a:pPr>
            <a:r>
              <a:rPr sz="950" b="1" i="0" lang="ja-JP" altLang="en-US">
                <a:solidFill>
                  <a:srgbClr val="B87A1E"/>
                </a:solidFill>
                <a:latin typeface="BIZ UDゴシック"/>
                <a:ea typeface="BIZ UDゴシック"/>
                <a:cs typeface="BIZ UDゴシック"/>
              </a:rPr>
              <a:t>STEP 2</a:t>
            </a:r>
          </a:p>
          <a:p>
            <a:pPr algn="ctr">
              <a:spcAft>
                <a:spcPts val="200"/>
              </a:spcAft>
            </a:pPr>
            <a:r>
              <a:rPr sz="1100" b="1" i="0" lang="ja-JP" altLang="en-US">
                <a:solidFill>
                  <a:srgbClr val="1E2761"/>
                </a:solidFill>
                <a:latin typeface="BIZ UDゴシック"/>
                <a:ea typeface="BIZ UDゴシック"/>
                <a:cs typeface="BIZ UDゴシック"/>
              </a:rPr>
              <a:t>代表タスクで試す</a:t>
            </a:r>
          </a:p>
        </p:txBody>
      </p:sp>
      <p:sp>
        <p:nvSpPr>
          <p:cNvPr id="12" name="Right Arrow 11"/>
          <p:cNvSpPr/>
          <p:nvPr/>
        </p:nvSpPr>
        <p:spPr>
          <a:xfrm>
            <a:off x="4754879" y="2121408"/>
            <a:ext cx="329184" cy="329184"/>
          </a:xfrm>
          <a:prstGeom prst="rightArrow">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ounded Rectangle 12"/>
          <p:cNvSpPr/>
          <p:nvPr/>
        </p:nvSpPr>
        <p:spPr>
          <a:xfrm>
            <a:off x="5157216" y="1783080"/>
            <a:ext cx="1874519" cy="1005840"/>
          </a:xfrm>
          <a:prstGeom prst="roundRect">
            <a:avLst>
              <a:gd name="adj" fmla="val 9090"/>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266944" y="1783080"/>
            <a:ext cx="1655063" cy="1005840"/>
          </a:xfrm>
          <a:prstGeom prst="rect">
            <a:avLst/>
          </a:prstGeom>
          <a:noFill/>
        </p:spPr>
        <p:txBody>
          <a:bodyPr wrap="square" lIns="0" rIns="0" tIns="0" bIns="0" anchor="ctr"/>
          <a:lstStyle/>
          <a:p>
            <a:pPr algn="ctr">
              <a:spcAft>
                <a:spcPts val="200"/>
              </a:spcAft>
            </a:pPr>
            <a:r>
              <a:rPr sz="950" b="1" i="0" lang="ja-JP" altLang="en-US">
                <a:solidFill>
                  <a:srgbClr val="B87A1E"/>
                </a:solidFill>
                <a:latin typeface="BIZ UDゴシック"/>
                <a:ea typeface="BIZ UDゴシック"/>
                <a:cs typeface="BIZ UDゴシック"/>
              </a:rPr>
              <a:t>STEP 3</a:t>
            </a:r>
          </a:p>
          <a:p>
            <a:pPr algn="ctr">
              <a:spcAft>
                <a:spcPts val="200"/>
              </a:spcAft>
            </a:pPr>
            <a:r>
              <a:rPr sz="1100" b="1" i="0" lang="ja-JP" altLang="en-US">
                <a:solidFill>
                  <a:srgbClr val="1E2761"/>
                </a:solidFill>
                <a:latin typeface="BIZ UDゴシック"/>
                <a:ea typeface="BIZ UDゴシック"/>
                <a:cs typeface="BIZ UDゴシック"/>
              </a:rPr>
              <a:t>欠落・誤判定・失敗ケースを記録</a:t>
            </a:r>
          </a:p>
        </p:txBody>
      </p:sp>
      <p:sp>
        <p:nvSpPr>
          <p:cNvPr id="15" name="Right Arrow 14"/>
          <p:cNvSpPr/>
          <p:nvPr/>
        </p:nvSpPr>
        <p:spPr>
          <a:xfrm>
            <a:off x="7104888" y="2121408"/>
            <a:ext cx="329184" cy="329184"/>
          </a:xfrm>
          <a:prstGeom prst="rightArrow">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ounded Rectangle 15"/>
          <p:cNvSpPr/>
          <p:nvPr/>
        </p:nvSpPr>
        <p:spPr>
          <a:xfrm>
            <a:off x="7507223" y="1783080"/>
            <a:ext cx="1874519" cy="1005840"/>
          </a:xfrm>
          <a:prstGeom prst="roundRect">
            <a:avLst>
              <a:gd name="adj" fmla="val 9090"/>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7616951" y="1783080"/>
            <a:ext cx="1655063" cy="1005840"/>
          </a:xfrm>
          <a:prstGeom prst="rect">
            <a:avLst/>
          </a:prstGeom>
          <a:noFill/>
        </p:spPr>
        <p:txBody>
          <a:bodyPr wrap="square" lIns="0" rIns="0" tIns="0" bIns="0" anchor="ctr"/>
          <a:lstStyle/>
          <a:p>
            <a:pPr algn="ctr">
              <a:spcAft>
                <a:spcPts val="200"/>
              </a:spcAft>
            </a:pPr>
            <a:r>
              <a:rPr sz="950" b="1" i="0" lang="ja-JP" altLang="en-US">
                <a:solidFill>
                  <a:srgbClr val="B87A1E"/>
                </a:solidFill>
                <a:latin typeface="BIZ UDゴシック"/>
                <a:ea typeface="BIZ UDゴシック"/>
                <a:cs typeface="BIZ UDゴシック"/>
              </a:rPr>
              <a:t>STEP 4</a:t>
            </a:r>
          </a:p>
          <a:p>
            <a:pPr algn="ctr">
              <a:spcAft>
                <a:spcPts val="200"/>
              </a:spcAft>
            </a:pPr>
            <a:r>
              <a:rPr sz="1100" b="1" i="0" lang="ja-JP" altLang="en-US">
                <a:solidFill>
                  <a:srgbClr val="1E2761"/>
                </a:solidFill>
                <a:latin typeface="BIZ UDゴシック"/>
                <a:ea typeface="BIZ UDゴシック"/>
                <a:cs typeface="BIZ UDゴシック"/>
              </a:rPr>
              <a:t>手順・条件・テンプレートを改訂</a:t>
            </a:r>
          </a:p>
        </p:txBody>
      </p:sp>
      <p:sp>
        <p:nvSpPr>
          <p:cNvPr id="18" name="Right Arrow 17"/>
          <p:cNvSpPr/>
          <p:nvPr/>
        </p:nvSpPr>
        <p:spPr>
          <a:xfrm>
            <a:off x="9454895" y="2121408"/>
            <a:ext cx="329184" cy="329184"/>
          </a:xfrm>
          <a:prstGeom prst="rightArrow">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Rounded Rectangle 18"/>
          <p:cNvSpPr/>
          <p:nvPr/>
        </p:nvSpPr>
        <p:spPr>
          <a:xfrm>
            <a:off x="9857232" y="1783080"/>
            <a:ext cx="1874519" cy="1005840"/>
          </a:xfrm>
          <a:prstGeom prst="roundRect">
            <a:avLst>
              <a:gd name="adj" fmla="val 9090"/>
            </a:avLst>
          </a:prstGeom>
          <a:solidFill>
            <a:srgbClr val="1E2761"/>
          </a:solidFill>
          <a:ln w="1270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9966959" y="1783080"/>
            <a:ext cx="1655063" cy="1005840"/>
          </a:xfrm>
          <a:prstGeom prst="rect">
            <a:avLst/>
          </a:prstGeom>
          <a:noFill/>
        </p:spPr>
        <p:txBody>
          <a:bodyPr wrap="square" lIns="0" rIns="0" tIns="0" bIns="0" anchor="ctr"/>
          <a:lstStyle/>
          <a:p>
            <a:pPr algn="ctr">
              <a:spcAft>
                <a:spcPts val="200"/>
              </a:spcAft>
            </a:pPr>
            <a:r>
              <a:rPr sz="950" b="1" i="0" lang="ja-JP" altLang="en-US">
                <a:solidFill>
                  <a:srgbClr val="E8A33D"/>
                </a:solidFill>
                <a:latin typeface="BIZ UDゴシック"/>
                <a:ea typeface="BIZ UDゴシック"/>
                <a:cs typeface="BIZ UDゴシック"/>
              </a:rPr>
              <a:t>STEP 5</a:t>
            </a:r>
          </a:p>
          <a:p>
            <a:pPr algn="ctr">
              <a:spcAft>
                <a:spcPts val="200"/>
              </a:spcAft>
            </a:pPr>
            <a:r>
              <a:rPr sz="1100" b="1" i="0" lang="ja-JP" altLang="en-US">
                <a:solidFill>
                  <a:srgbClr val="FFFFFF"/>
                </a:solidFill>
                <a:latin typeface="BIZ UDゴシック"/>
                <a:ea typeface="BIZ UDゴシック"/>
                <a:cs typeface="BIZ UDゴシック"/>
              </a:rPr>
              <a:t>Skill v2を再評価・配布</a:t>
            </a:r>
          </a:p>
        </p:txBody>
      </p:sp>
      <p:cxnSp>
        <p:nvCxnSpPr>
          <p:cNvPr id="21" name="Connector 20"/>
          <p:cNvCxnSpPr/>
          <p:nvPr/>
        </p:nvCxnSpPr>
        <p:spPr>
          <a:xfrm>
            <a:off x="10794492" y="2788920"/>
            <a:ext cx="0" cy="274320"/>
          </a:xfrm>
          <a:prstGeom prst="line">
            <a:avLst/>
          </a:prstGeom>
          <a:ln w="25400">
            <a:solidFill>
              <a:srgbClr val="E8A33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394460" y="3063240"/>
            <a:ext cx="9400032" cy="0"/>
          </a:xfrm>
          <a:prstGeom prst="line">
            <a:avLst/>
          </a:prstGeom>
          <a:ln w="25400">
            <a:solidFill>
              <a:srgbClr val="E8A33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394460" y="2807208"/>
            <a:ext cx="0" cy="256032"/>
          </a:xfrm>
          <a:prstGeom prst="line">
            <a:avLst/>
          </a:prstGeom>
          <a:ln w="25400">
            <a:solidFill>
              <a:srgbClr val="E8A3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4727448" y="2907792"/>
            <a:ext cx="2743200" cy="310896"/>
          </a:xfrm>
          <a:prstGeom prst="roundRect">
            <a:avLst>
              <a:gd name="adj" fmla="val 50000"/>
            </a:avLst>
          </a:prstGeom>
          <a:solidFill>
            <a:srgbClr val="FFF3DE"/>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B87A1E"/>
                </a:solidFill>
                <a:latin typeface="BIZ UDゴシック"/>
                <a:ea typeface="BIZ UDゴシック"/>
                <a:cs typeface="BIZ UDゴシック"/>
              </a:rPr>
              <a:t>改善のループを回す</a:t>
            </a:r>
          </a:p>
        </p:txBody>
      </p:sp>
      <p:sp>
        <p:nvSpPr>
          <p:cNvPr id="25" name="Rounded Rectangle 24"/>
          <p:cNvSpPr/>
          <p:nvPr/>
        </p:nvSpPr>
        <p:spPr>
          <a:xfrm>
            <a:off x="457200" y="3474720"/>
            <a:ext cx="2654046" cy="1188720"/>
          </a:xfrm>
          <a:prstGeom prst="roundRect">
            <a:avLst>
              <a:gd name="adj" fmla="val 7692"/>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Oval 25"/>
          <p:cNvSpPr/>
          <p:nvPr/>
        </p:nvSpPr>
        <p:spPr>
          <a:xfrm>
            <a:off x="640080" y="3639312"/>
            <a:ext cx="310896" cy="310896"/>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50" b="1" i="0" lang="ja-JP" altLang="en-US">
                <a:solidFill>
                  <a:srgbClr val="FFFFFF"/>
                </a:solidFill>
                <a:latin typeface="BIZ UDゴシック"/>
                <a:ea typeface="BIZ UDゴシック"/>
                <a:cs typeface="BIZ UDゴシック"/>
              </a:rPr>
              <a:t>✓</a:t>
            </a:r>
          </a:p>
        </p:txBody>
      </p:sp>
      <p:sp>
        <p:nvSpPr>
          <p:cNvPr id="27" name="TextBox 26"/>
          <p:cNvSpPr txBox="1"/>
          <p:nvPr/>
        </p:nvSpPr>
        <p:spPr>
          <a:xfrm>
            <a:off x="640080" y="4041648"/>
            <a:ext cx="2288286" cy="548640"/>
          </a:xfrm>
          <a:prstGeom prst="rect">
            <a:avLst/>
          </a:prstGeom>
          <a:noFill/>
        </p:spPr>
        <p:txBody>
          <a:bodyPr wrap="square" lIns="0" rIns="0" tIns="0" bIns="0" anchor="t"/>
          <a:lstStyle/>
          <a:p>
            <a:pPr algn="l"/>
            <a:r>
              <a:rPr sz="1200" b="1" i="0" lang="ja-JP" altLang="en-US">
                <a:solidFill>
                  <a:srgbClr val="1E2761"/>
                </a:solidFill>
                <a:latin typeface="BIZ UDゴシック"/>
                <a:ea typeface="BIZ UDゴシック"/>
                <a:cs typeface="BIZ UDゴシック"/>
              </a:rPr>
              <a:t>手順の変更履歴を残せる</a:t>
            </a:r>
          </a:p>
        </p:txBody>
      </p:sp>
      <p:sp>
        <p:nvSpPr>
          <p:cNvPr id="28" name="Rounded Rectangle 27"/>
          <p:cNvSpPr/>
          <p:nvPr/>
        </p:nvSpPr>
        <p:spPr>
          <a:xfrm>
            <a:off x="3330702" y="3474720"/>
            <a:ext cx="2654046" cy="1188720"/>
          </a:xfrm>
          <a:prstGeom prst="roundRect">
            <a:avLst>
              <a:gd name="adj" fmla="val 7692"/>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Oval 28"/>
          <p:cNvSpPr/>
          <p:nvPr/>
        </p:nvSpPr>
        <p:spPr>
          <a:xfrm>
            <a:off x="3513582" y="3639312"/>
            <a:ext cx="310896" cy="310896"/>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50" b="1" i="0" lang="ja-JP" altLang="en-US">
                <a:solidFill>
                  <a:srgbClr val="FFFFFF"/>
                </a:solidFill>
                <a:latin typeface="BIZ UDゴシック"/>
                <a:ea typeface="BIZ UDゴシック"/>
                <a:cs typeface="BIZ UDゴシック"/>
              </a:rPr>
              <a:t>✓</a:t>
            </a:r>
          </a:p>
        </p:txBody>
      </p:sp>
      <p:sp>
        <p:nvSpPr>
          <p:cNvPr id="30" name="TextBox 29"/>
          <p:cNvSpPr txBox="1"/>
          <p:nvPr/>
        </p:nvSpPr>
        <p:spPr>
          <a:xfrm>
            <a:off x="3513582" y="4041648"/>
            <a:ext cx="2288286" cy="548640"/>
          </a:xfrm>
          <a:prstGeom prst="rect">
            <a:avLst/>
          </a:prstGeom>
          <a:noFill/>
        </p:spPr>
        <p:txBody>
          <a:bodyPr wrap="square" lIns="0" rIns="0" tIns="0" bIns="0" anchor="t"/>
          <a:lstStyle/>
          <a:p>
            <a:pPr algn="l"/>
            <a:r>
              <a:rPr sz="1200" b="1" i="0" lang="ja-JP" altLang="en-US">
                <a:solidFill>
                  <a:srgbClr val="1E2761"/>
                </a:solidFill>
                <a:latin typeface="BIZ UDゴシック"/>
                <a:ea typeface="BIZ UDゴシック"/>
                <a:cs typeface="BIZ UDゴシック"/>
              </a:rPr>
              <a:t>良い出力と悪い出力の条件を比較できる</a:t>
            </a:r>
          </a:p>
        </p:txBody>
      </p:sp>
      <p:sp>
        <p:nvSpPr>
          <p:cNvPr id="31" name="Rounded Rectangle 30"/>
          <p:cNvSpPr/>
          <p:nvPr/>
        </p:nvSpPr>
        <p:spPr>
          <a:xfrm>
            <a:off x="6204204" y="3474720"/>
            <a:ext cx="2654046" cy="1188720"/>
          </a:xfrm>
          <a:prstGeom prst="roundRect">
            <a:avLst>
              <a:gd name="adj" fmla="val 7692"/>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Oval 31"/>
          <p:cNvSpPr/>
          <p:nvPr/>
        </p:nvSpPr>
        <p:spPr>
          <a:xfrm>
            <a:off x="6387084" y="3639312"/>
            <a:ext cx="310896" cy="310896"/>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50" b="1" i="0" lang="ja-JP" altLang="en-US">
                <a:solidFill>
                  <a:srgbClr val="FFFFFF"/>
                </a:solidFill>
                <a:latin typeface="BIZ UDゴシック"/>
                <a:ea typeface="BIZ UDゴシック"/>
                <a:cs typeface="BIZ UDゴシック"/>
              </a:rPr>
              <a:t>✓</a:t>
            </a:r>
          </a:p>
        </p:txBody>
      </p:sp>
      <p:sp>
        <p:nvSpPr>
          <p:cNvPr id="33" name="TextBox 32"/>
          <p:cNvSpPr txBox="1"/>
          <p:nvPr/>
        </p:nvSpPr>
        <p:spPr>
          <a:xfrm>
            <a:off x="6387084" y="4041648"/>
            <a:ext cx="2288286" cy="548640"/>
          </a:xfrm>
          <a:prstGeom prst="rect">
            <a:avLst/>
          </a:prstGeom>
          <a:noFill/>
        </p:spPr>
        <p:txBody>
          <a:bodyPr wrap="square" lIns="0" rIns="0" tIns="0" bIns="0" anchor="t"/>
          <a:lstStyle/>
          <a:p>
            <a:pPr algn="l"/>
            <a:r>
              <a:rPr sz="1200" b="1" i="0" lang="ja-JP" altLang="en-US">
                <a:solidFill>
                  <a:srgbClr val="1E2761"/>
                </a:solidFill>
                <a:latin typeface="BIZ UDゴシック"/>
                <a:ea typeface="BIZ UDゴシック"/>
                <a:cs typeface="BIZ UDゴシック"/>
              </a:rPr>
              <a:t>業務ルールと外部ツールの変更を分けて検討できる</a:t>
            </a:r>
          </a:p>
        </p:txBody>
      </p:sp>
      <p:sp>
        <p:nvSpPr>
          <p:cNvPr id="34" name="Rounded Rectangle 33"/>
          <p:cNvSpPr/>
          <p:nvPr/>
        </p:nvSpPr>
        <p:spPr>
          <a:xfrm>
            <a:off x="9077706" y="3474720"/>
            <a:ext cx="2654046" cy="1188720"/>
          </a:xfrm>
          <a:prstGeom prst="roundRect">
            <a:avLst>
              <a:gd name="adj" fmla="val 7692"/>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Oval 34"/>
          <p:cNvSpPr/>
          <p:nvPr/>
        </p:nvSpPr>
        <p:spPr>
          <a:xfrm>
            <a:off x="9260586" y="3639312"/>
            <a:ext cx="310896" cy="310896"/>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50" b="1" i="0" lang="ja-JP" altLang="en-US">
                <a:solidFill>
                  <a:srgbClr val="FFFFFF"/>
                </a:solidFill>
                <a:latin typeface="BIZ UDゴシック"/>
                <a:ea typeface="BIZ UDゴシック"/>
                <a:cs typeface="BIZ UDゴシック"/>
              </a:rPr>
              <a:t>✓</a:t>
            </a:r>
          </a:p>
        </p:txBody>
      </p:sp>
      <p:sp>
        <p:nvSpPr>
          <p:cNvPr id="36" name="TextBox 35"/>
          <p:cNvSpPr txBox="1"/>
          <p:nvPr/>
        </p:nvSpPr>
        <p:spPr>
          <a:xfrm>
            <a:off x="9260586" y="4041648"/>
            <a:ext cx="2288286" cy="548640"/>
          </a:xfrm>
          <a:prstGeom prst="rect">
            <a:avLst/>
          </a:prstGeom>
          <a:noFill/>
        </p:spPr>
        <p:txBody>
          <a:bodyPr wrap="square" lIns="0" rIns="0" tIns="0" bIns="0" anchor="t"/>
          <a:lstStyle/>
          <a:p>
            <a:pPr algn="l"/>
            <a:r>
              <a:rPr sz="1200" b="1" i="0" lang="ja-JP" altLang="en-US">
                <a:solidFill>
                  <a:srgbClr val="1E2761"/>
                </a:solidFill>
                <a:latin typeface="BIZ UDゴシック"/>
                <a:ea typeface="BIZ UDゴシック"/>
                <a:cs typeface="BIZ UDゴシック"/>
              </a:rPr>
              <a:t>導入前に業務部門によるレビューを実施しやすい</a:t>
            </a:r>
          </a:p>
        </p:txBody>
      </p:sp>
      <p:sp>
        <p:nvSpPr>
          <p:cNvPr id="37" name="Rounded Rectangle 36"/>
          <p:cNvSpPr/>
          <p:nvPr/>
        </p:nvSpPr>
        <p:spPr>
          <a:xfrm>
            <a:off x="457200" y="4892040"/>
            <a:ext cx="11274552" cy="1371600"/>
          </a:xfrm>
          <a:prstGeom prst="roundRect">
            <a:avLst>
              <a:gd name="adj" fmla="val 6666"/>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685800" y="4983480"/>
            <a:ext cx="3657600" cy="320040"/>
          </a:xfrm>
          <a:prstGeom prst="rect">
            <a:avLst/>
          </a:prstGeom>
          <a:noFill/>
        </p:spPr>
        <p:txBody>
          <a:bodyPr wrap="square" lIns="0" rIns="0" tIns="0" bIns="0" anchor="ctr"/>
          <a:lstStyle/>
          <a:p>
            <a:pPr algn="l"/>
            <a:r>
              <a:rPr sz="1250" b="1" i="0" lang="ja-JP" altLang="en-US">
                <a:solidFill>
                  <a:srgbClr val="1E2761"/>
                </a:solidFill>
                <a:latin typeface="BIZ UDゴシック"/>
                <a:ea typeface="BIZ UDゴシック"/>
                <a:cs typeface="BIZ UDゴシック"/>
              </a:rPr>
              <a:t>測定対象（例）</a:t>
            </a:r>
          </a:p>
        </p:txBody>
      </p:sp>
      <p:sp>
        <p:nvSpPr>
          <p:cNvPr id="39" name="TextBox 38"/>
          <p:cNvSpPr txBox="1"/>
          <p:nvPr/>
        </p:nvSpPr>
        <p:spPr>
          <a:xfrm>
            <a:off x="5943600" y="4983480"/>
            <a:ext cx="5577840" cy="320040"/>
          </a:xfrm>
          <a:prstGeom prst="rect">
            <a:avLst/>
          </a:prstGeom>
          <a:noFill/>
        </p:spPr>
        <p:txBody>
          <a:bodyPr wrap="square" lIns="0" rIns="0" tIns="0" bIns="0" anchor="ctr"/>
          <a:lstStyle/>
          <a:p>
            <a:pPr algn="r"/>
            <a:r>
              <a:rPr sz="1100" b="1" i="0" lang="ja-JP" altLang="en-US">
                <a:solidFill>
                  <a:srgbClr val="B87A1E"/>
                </a:solidFill>
                <a:latin typeface="BIZ UDゴシック"/>
                <a:ea typeface="BIZ UDゴシック"/>
                <a:cs typeface="BIZ UDゴシック"/>
              </a:rPr>
              <a:t>改善は仮説であり、実測が必要</a:t>
            </a:r>
          </a:p>
        </p:txBody>
      </p:sp>
      <p:sp>
        <p:nvSpPr>
          <p:cNvPr id="40" name="Rounded Rectangle 39"/>
          <p:cNvSpPr/>
          <p:nvPr/>
        </p:nvSpPr>
        <p:spPr>
          <a:xfrm>
            <a:off x="685800" y="5394960"/>
            <a:ext cx="3483864" cy="329184"/>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l"/>
            <a:r>
              <a:rPr sz="1100" b="1" i="0" lang="ja-JP" altLang="en-US">
                <a:solidFill>
                  <a:srgbClr val="1E2761"/>
                </a:solidFill>
                <a:latin typeface="BIZ UDゴシック"/>
                <a:ea typeface="BIZ UDゴシック"/>
                <a:cs typeface="BIZ UDゴシック"/>
              </a:rPr>
              <a:t>① 必要情報の網羅率</a:t>
            </a:r>
          </a:p>
        </p:txBody>
      </p:sp>
      <p:sp>
        <p:nvSpPr>
          <p:cNvPr id="41" name="Rounded Rectangle 40"/>
          <p:cNvSpPr/>
          <p:nvPr/>
        </p:nvSpPr>
        <p:spPr>
          <a:xfrm>
            <a:off x="4352544" y="5394960"/>
            <a:ext cx="3483864" cy="329184"/>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l"/>
            <a:r>
              <a:rPr sz="1100" b="1" i="0" lang="ja-JP" altLang="en-US">
                <a:solidFill>
                  <a:srgbClr val="1E2761"/>
                </a:solidFill>
                <a:latin typeface="BIZ UDゴシック"/>
                <a:ea typeface="BIZ UDゴシック"/>
                <a:cs typeface="BIZ UDゴシック"/>
              </a:rPr>
              <a:t>② 出典の正確性</a:t>
            </a:r>
          </a:p>
        </p:txBody>
      </p:sp>
      <p:sp>
        <p:nvSpPr>
          <p:cNvPr id="42" name="Rounded Rectangle 41"/>
          <p:cNvSpPr/>
          <p:nvPr/>
        </p:nvSpPr>
        <p:spPr>
          <a:xfrm>
            <a:off x="8019288" y="5394960"/>
            <a:ext cx="3483864" cy="329184"/>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l"/>
            <a:r>
              <a:rPr sz="1100" b="1" i="0" lang="ja-JP" altLang="en-US">
                <a:solidFill>
                  <a:srgbClr val="1E2761"/>
                </a:solidFill>
                <a:latin typeface="BIZ UDゴシック"/>
                <a:ea typeface="BIZ UDゴシック"/>
                <a:cs typeface="BIZ UDゴシック"/>
              </a:rPr>
              <a:t>③ 未確認事項の明示率</a:t>
            </a:r>
          </a:p>
        </p:txBody>
      </p:sp>
      <p:sp>
        <p:nvSpPr>
          <p:cNvPr id="43" name="Rounded Rectangle 42"/>
          <p:cNvSpPr/>
          <p:nvPr/>
        </p:nvSpPr>
        <p:spPr>
          <a:xfrm>
            <a:off x="685800" y="5806440"/>
            <a:ext cx="3483864" cy="329184"/>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l"/>
            <a:r>
              <a:rPr sz="1100" b="1" i="0" lang="ja-JP" altLang="en-US">
                <a:solidFill>
                  <a:srgbClr val="1E2761"/>
                </a:solidFill>
                <a:latin typeface="BIZ UDゴシック"/>
                <a:ea typeface="BIZ UDゴシック"/>
                <a:cs typeface="BIZ UDゴシック"/>
              </a:rPr>
              <a:t>④ 承認ルール遵守率</a:t>
            </a:r>
          </a:p>
        </p:txBody>
      </p:sp>
      <p:sp>
        <p:nvSpPr>
          <p:cNvPr id="44" name="Rounded Rectangle 43"/>
          <p:cNvSpPr/>
          <p:nvPr/>
        </p:nvSpPr>
        <p:spPr>
          <a:xfrm>
            <a:off x="4352544" y="5806440"/>
            <a:ext cx="3483864" cy="329184"/>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l"/>
            <a:r>
              <a:rPr sz="1100" b="1" i="0" lang="ja-JP" altLang="en-US">
                <a:solidFill>
                  <a:srgbClr val="1E2761"/>
                </a:solidFill>
                <a:latin typeface="BIZ UDゴシック"/>
                <a:ea typeface="BIZ UDゴシック"/>
                <a:cs typeface="BIZ UDゴシック"/>
              </a:rPr>
              <a:t>⑤ 利用者の修正量</a:t>
            </a:r>
          </a:p>
        </p:txBody>
      </p:sp>
      <p:sp>
        <p:nvSpPr>
          <p:cNvPr id="45" name="Rounded Rectangle 44"/>
          <p:cNvSpPr/>
          <p:nvPr/>
        </p:nvSpPr>
        <p:spPr>
          <a:xfrm>
            <a:off x="8019288" y="5806440"/>
            <a:ext cx="3483864" cy="329184"/>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l"/>
            <a:r>
              <a:rPr sz="1100" b="1" i="0" lang="ja-JP" altLang="en-US">
                <a:solidFill>
                  <a:srgbClr val="1E2761"/>
                </a:solidFill>
                <a:latin typeface="BIZ UDゴシック"/>
                <a:ea typeface="BIZ UDゴシック"/>
                <a:cs typeface="BIZ UDゴシック"/>
              </a:rPr>
              <a:t>⑥ 完了までの時間</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革新性⑤：業務能力を製品・サービスとして提供しやすい</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APIを売るだけでなく「成果物までの進め方」を提供できる。</a:t>
            </a:r>
          </a:p>
        </p:txBody>
      </p:sp>
      <p:sp>
        <p:nvSpPr>
          <p:cNvPr id="7" name="TextBox 6"/>
          <p:cNvSpPr txBox="1"/>
          <p:nvPr/>
        </p:nvSpPr>
        <p:spPr>
          <a:xfrm>
            <a:off x="457200" y="1783080"/>
            <a:ext cx="2194560" cy="274320"/>
          </a:xfrm>
          <a:prstGeom prst="rect">
            <a:avLst/>
          </a:prstGeom>
          <a:noFill/>
        </p:spPr>
        <p:txBody>
          <a:bodyPr wrap="square" lIns="0" rIns="0" tIns="0" bIns="0" anchor="t"/>
          <a:lstStyle/>
          <a:p>
            <a:pPr algn="ctr"/>
            <a:r>
              <a:rPr sz="1100" b="1" i="0" lang="ja-JP" altLang="en-US">
                <a:solidFill>
                  <a:srgbClr val="5A6B87"/>
                </a:solidFill>
                <a:latin typeface="BIZ UDゴシック"/>
                <a:ea typeface="BIZ UDゴシック"/>
                <a:cs typeface="BIZ UDゴシック"/>
              </a:rPr>
              <a:t>提供対象</a:t>
            </a:r>
          </a:p>
        </p:txBody>
      </p:sp>
      <p:sp>
        <p:nvSpPr>
          <p:cNvPr id="8" name="TextBox 7"/>
          <p:cNvSpPr txBox="1"/>
          <p:nvPr/>
        </p:nvSpPr>
        <p:spPr>
          <a:xfrm>
            <a:off x="2834640" y="1783080"/>
            <a:ext cx="4206240" cy="274320"/>
          </a:xfrm>
          <a:prstGeom prst="rect">
            <a:avLst/>
          </a:prstGeom>
          <a:noFill/>
        </p:spPr>
        <p:txBody>
          <a:bodyPr wrap="square" lIns="0" rIns="0" tIns="0" bIns="0" anchor="t"/>
          <a:lstStyle/>
          <a:p>
            <a:pPr algn="l"/>
            <a:r>
              <a:rPr sz="1100" b="1" i="0" lang="ja-JP" altLang="en-US">
                <a:solidFill>
                  <a:srgbClr val="5A6B87"/>
                </a:solidFill>
                <a:latin typeface="BIZ UDゴシック"/>
                <a:ea typeface="BIZ UDゴシック"/>
                <a:cs typeface="BIZ UDゴシック"/>
              </a:rPr>
              <a:t>典型的な価値</a:t>
            </a:r>
          </a:p>
        </p:txBody>
      </p:sp>
      <p:sp>
        <p:nvSpPr>
          <p:cNvPr id="9" name="Rounded Rectangle 8"/>
          <p:cNvSpPr/>
          <p:nvPr/>
        </p:nvSpPr>
        <p:spPr>
          <a:xfrm>
            <a:off x="457200" y="2148840"/>
            <a:ext cx="6766560" cy="777240"/>
          </a:xfrm>
          <a:prstGeom prst="roundRect">
            <a:avLst>
              <a:gd name="adj" fmla="val 11764"/>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ounded Rectangle 9"/>
          <p:cNvSpPr/>
          <p:nvPr/>
        </p:nvSpPr>
        <p:spPr>
          <a:xfrm>
            <a:off x="566928" y="2240280"/>
            <a:ext cx="2103120" cy="594360"/>
          </a:xfrm>
          <a:prstGeom prst="roundRect">
            <a:avLst>
              <a:gd name="adj" fmla="val 12307"/>
            </a:avLst>
          </a:prstGeom>
          <a:solidFill>
            <a:srgbClr val="EEF3F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250" b="1" i="0" lang="ja-JP" altLang="en-US">
                <a:solidFill>
                  <a:srgbClr val="1E2761"/>
                </a:solidFill>
                <a:latin typeface="BIZ UDゴシック"/>
                <a:ea typeface="BIZ UDゴシック"/>
                <a:cs typeface="BIZ UDゴシック"/>
              </a:rPr>
              <a:t>データ／API</a:t>
            </a:r>
          </a:p>
        </p:txBody>
      </p:sp>
      <p:sp>
        <p:nvSpPr>
          <p:cNvPr id="11" name="TextBox 10"/>
          <p:cNvSpPr txBox="1"/>
          <p:nvPr/>
        </p:nvSpPr>
        <p:spPr>
          <a:xfrm>
            <a:off x="2834640" y="2148840"/>
            <a:ext cx="4251960" cy="777240"/>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情報への接続と操作</a:t>
            </a:r>
          </a:p>
        </p:txBody>
      </p:sp>
      <p:sp>
        <p:nvSpPr>
          <p:cNvPr id="12" name="Rounded Rectangle 11"/>
          <p:cNvSpPr/>
          <p:nvPr/>
        </p:nvSpPr>
        <p:spPr>
          <a:xfrm>
            <a:off x="457200" y="3035808"/>
            <a:ext cx="6766560" cy="777240"/>
          </a:xfrm>
          <a:prstGeom prst="roundRect">
            <a:avLst>
              <a:gd name="adj" fmla="val 11764"/>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ounded Rectangle 12"/>
          <p:cNvSpPr/>
          <p:nvPr/>
        </p:nvSpPr>
        <p:spPr>
          <a:xfrm>
            <a:off x="566928" y="3127248"/>
            <a:ext cx="2103120" cy="594360"/>
          </a:xfrm>
          <a:prstGeom prst="roundRect">
            <a:avLst>
              <a:gd name="adj" fmla="val 12307"/>
            </a:avLst>
          </a:prstGeom>
          <a:solidFill>
            <a:srgbClr val="CADCFC"/>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250" b="1" i="0" lang="ja-JP" altLang="en-US">
                <a:solidFill>
                  <a:srgbClr val="1E2761"/>
                </a:solidFill>
                <a:latin typeface="BIZ UDゴシック"/>
                <a:ea typeface="BIZ UDゴシック"/>
                <a:cs typeface="BIZ UDゴシック"/>
              </a:rPr>
              <a:t>MCPサーバー</a:t>
            </a:r>
          </a:p>
        </p:txBody>
      </p:sp>
      <p:sp>
        <p:nvSpPr>
          <p:cNvPr id="14" name="TextBox 13"/>
          <p:cNvSpPr txBox="1"/>
          <p:nvPr/>
        </p:nvSpPr>
        <p:spPr>
          <a:xfrm>
            <a:off x="2834640" y="3035808"/>
            <a:ext cx="4251960" cy="777240"/>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AIが安全なツールインターフェースで利用できること</a:t>
            </a:r>
          </a:p>
        </p:txBody>
      </p:sp>
      <p:sp>
        <p:nvSpPr>
          <p:cNvPr id="15" name="Rounded Rectangle 14"/>
          <p:cNvSpPr/>
          <p:nvPr/>
        </p:nvSpPr>
        <p:spPr>
          <a:xfrm>
            <a:off x="457200" y="3922776"/>
            <a:ext cx="6766560" cy="777240"/>
          </a:xfrm>
          <a:prstGeom prst="roundRect">
            <a:avLst>
              <a:gd name="adj" fmla="val 11764"/>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Rounded Rectangle 15"/>
          <p:cNvSpPr/>
          <p:nvPr/>
        </p:nvSpPr>
        <p:spPr>
          <a:xfrm>
            <a:off x="566928" y="4014215"/>
            <a:ext cx="2103120" cy="594360"/>
          </a:xfrm>
          <a:prstGeom prst="roundRect">
            <a:avLst>
              <a:gd name="adj" fmla="val 12307"/>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250" b="1" i="0" lang="ja-JP" altLang="en-US">
                <a:solidFill>
                  <a:srgbClr val="FFFFFF"/>
                </a:solidFill>
                <a:latin typeface="BIZ UDゴシック"/>
                <a:ea typeface="BIZ UDゴシック"/>
                <a:cs typeface="BIZ UDゴシック"/>
              </a:rPr>
              <a:t>Skill</a:t>
            </a:r>
          </a:p>
        </p:txBody>
      </p:sp>
      <p:sp>
        <p:nvSpPr>
          <p:cNvPr id="17" name="TextBox 16"/>
          <p:cNvSpPr txBox="1"/>
          <p:nvPr/>
        </p:nvSpPr>
        <p:spPr>
          <a:xfrm>
            <a:off x="2834640" y="3922776"/>
            <a:ext cx="4251960" cy="777240"/>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業務別の手順・品質基準・成果物形式</a:t>
            </a:r>
          </a:p>
        </p:txBody>
      </p:sp>
      <p:sp>
        <p:nvSpPr>
          <p:cNvPr id="18" name="Rounded Rectangle 17"/>
          <p:cNvSpPr/>
          <p:nvPr/>
        </p:nvSpPr>
        <p:spPr>
          <a:xfrm>
            <a:off x="457200" y="4809744"/>
            <a:ext cx="6766560" cy="777240"/>
          </a:xfrm>
          <a:prstGeom prst="roundRect">
            <a:avLst>
              <a:gd name="adj" fmla="val 11764"/>
            </a:avLst>
          </a:prstGeom>
          <a:solidFill>
            <a:srgbClr val="FFFFFF"/>
          </a:solidFill>
          <a:ln w="12700">
            <a:solidFill>
              <a:srgbClr val="1E2761"/>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Rounded Rectangle 18"/>
          <p:cNvSpPr/>
          <p:nvPr/>
        </p:nvSpPr>
        <p:spPr>
          <a:xfrm>
            <a:off x="566928" y="4901183"/>
            <a:ext cx="2103120" cy="594360"/>
          </a:xfrm>
          <a:prstGeom prst="roundRect">
            <a:avLst>
              <a:gd name="adj" fmla="val 12307"/>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0" bIns="0" wrap="square"/>
          <a:lstStyle/>
          <a:p>
            <a:pPr algn="ctr"/>
            <a:r>
              <a:rPr sz="1150" b="1" i="0" lang="ja-JP" altLang="en-US">
                <a:solidFill>
                  <a:srgbClr val="FFFFFF"/>
                </a:solidFill>
                <a:latin typeface="BIZ UDゴシック"/>
                <a:ea typeface="BIZ UDゴシック"/>
                <a:cs typeface="BIZ UDゴシック"/>
              </a:rPr>
              <a:t>Plugin（Skills + MCP）</a:t>
            </a:r>
          </a:p>
        </p:txBody>
      </p:sp>
      <p:sp>
        <p:nvSpPr>
          <p:cNvPr id="20" name="TextBox 19"/>
          <p:cNvSpPr txBox="1"/>
          <p:nvPr/>
        </p:nvSpPr>
        <p:spPr>
          <a:xfrm>
            <a:off x="2834640" y="4809744"/>
            <a:ext cx="4251960" cy="777240"/>
          </a:xfrm>
          <a:prstGeom prst="rect">
            <a:avLst/>
          </a:prstGeom>
          <a:noFill/>
        </p:spPr>
        <p:txBody>
          <a:bodyPr wrap="square" lIns="0" rIns="0" tIns="0" bIns="0" anchor="ctr"/>
          <a:lstStyle/>
          <a:p>
            <a:pPr algn="l"/>
            <a:r>
              <a:rPr sz="1250" b="1" i="0" lang="ja-JP" altLang="en-US">
                <a:solidFill>
                  <a:srgbClr val="1E2761"/>
                </a:solidFill>
                <a:latin typeface="BIZ UDゴシック"/>
                <a:ea typeface="BIZ UDゴシック"/>
                <a:cs typeface="BIZ UDゴシック"/>
              </a:rPr>
              <a:t>ユーザーが見つけて導入できる業務体験</a:t>
            </a:r>
          </a:p>
        </p:txBody>
      </p:sp>
      <p:sp>
        <p:nvSpPr>
          <p:cNvPr id="21" name="TextBox 20"/>
          <p:cNvSpPr txBox="1"/>
          <p:nvPr/>
        </p:nvSpPr>
        <p:spPr>
          <a:xfrm>
            <a:off x="5989320" y="1783080"/>
            <a:ext cx="1234440" cy="274320"/>
          </a:xfrm>
          <a:prstGeom prst="rect">
            <a:avLst/>
          </a:prstGeom>
          <a:noFill/>
        </p:spPr>
        <p:txBody>
          <a:bodyPr wrap="square" lIns="0" rIns="0" tIns="0" bIns="0" anchor="t"/>
          <a:lstStyle/>
          <a:p>
            <a:pPr algn="r"/>
            <a:r>
              <a:rPr sz="950" b="1" i="0" lang="ja-JP" altLang="en-US">
                <a:solidFill>
                  <a:srgbClr val="B87A1E"/>
                </a:solidFill>
                <a:latin typeface="BIZ UDゴシック"/>
                <a:ea typeface="BIZ UDゴシック"/>
                <a:cs typeface="BIZ UDゴシック"/>
              </a:rPr>
              <a:t>業務成果に近い ↓</a:t>
            </a:r>
          </a:p>
        </p:txBody>
      </p:sp>
      <p:sp>
        <p:nvSpPr>
          <p:cNvPr id="22" name="Rounded Rectangle 21"/>
          <p:cNvSpPr/>
          <p:nvPr/>
        </p:nvSpPr>
        <p:spPr>
          <a:xfrm>
            <a:off x="7498079" y="1783080"/>
            <a:ext cx="4233672" cy="3895344"/>
          </a:xfrm>
          <a:prstGeom prst="roundRect">
            <a:avLst>
              <a:gd name="adj" fmla="val 2347"/>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7726679" y="1938528"/>
            <a:ext cx="3749039" cy="320040"/>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事業上の可能性</a:t>
            </a:r>
          </a:p>
        </p:txBody>
      </p:sp>
      <p:sp>
        <p:nvSpPr>
          <p:cNvPr id="24" name="Oval 23"/>
          <p:cNvSpPr/>
          <p:nvPr/>
        </p:nvSpPr>
        <p:spPr>
          <a:xfrm>
            <a:off x="7726679" y="2560320"/>
            <a:ext cx="347472" cy="347472"/>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1</a:t>
            </a:r>
          </a:p>
        </p:txBody>
      </p:sp>
      <p:sp>
        <p:nvSpPr>
          <p:cNvPr id="25" name="TextBox 24"/>
          <p:cNvSpPr txBox="1"/>
          <p:nvPr/>
        </p:nvSpPr>
        <p:spPr>
          <a:xfrm>
            <a:off x="8229600" y="2468880"/>
            <a:ext cx="3291840" cy="777240"/>
          </a:xfrm>
          <a:prstGeom prst="rect">
            <a:avLst/>
          </a:prstGeom>
          <a:noFill/>
        </p:spPr>
        <p:txBody>
          <a:bodyPr wrap="square" lIns="0" rIns="0" tIns="0" bIns="0" anchor="t"/>
          <a:lstStyle/>
          <a:p>
            <a:pPr algn="l"/>
            <a:r>
              <a:rPr sz="1250" b="0" i="0" lang="ja-JP" altLang="en-US">
                <a:solidFill>
                  <a:srgbClr val="1E2761"/>
                </a:solidFill>
                <a:latin typeface="BIZ UDゴシック"/>
                <a:ea typeface="BIZ UDゴシック"/>
                <a:cs typeface="BIZ UDゴシック"/>
              </a:rPr>
              <a:t>業界・職種に特化した「業務パッケージ」を設計できる</a:t>
            </a:r>
          </a:p>
        </p:txBody>
      </p:sp>
      <p:sp>
        <p:nvSpPr>
          <p:cNvPr id="26" name="Oval 25"/>
          <p:cNvSpPr/>
          <p:nvPr/>
        </p:nvSpPr>
        <p:spPr>
          <a:xfrm>
            <a:off x="7726679" y="3584448"/>
            <a:ext cx="347472" cy="347472"/>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2</a:t>
            </a:r>
          </a:p>
        </p:txBody>
      </p:sp>
      <p:sp>
        <p:nvSpPr>
          <p:cNvPr id="27" name="TextBox 26"/>
          <p:cNvSpPr txBox="1"/>
          <p:nvPr/>
        </p:nvSpPr>
        <p:spPr>
          <a:xfrm>
            <a:off x="8229600" y="3493008"/>
            <a:ext cx="3291840" cy="777240"/>
          </a:xfrm>
          <a:prstGeom prst="rect">
            <a:avLst/>
          </a:prstGeom>
          <a:noFill/>
        </p:spPr>
        <p:txBody>
          <a:bodyPr wrap="square" lIns="0" rIns="0" tIns="0" bIns="0" anchor="t"/>
          <a:lstStyle/>
          <a:p>
            <a:pPr algn="l"/>
            <a:r>
              <a:rPr sz="1250" b="0" i="0" lang="ja-JP" altLang="en-US">
                <a:solidFill>
                  <a:srgbClr val="1E2761"/>
                </a:solidFill>
                <a:latin typeface="BIZ UDゴシック"/>
                <a:ea typeface="BIZ UDゴシック"/>
                <a:cs typeface="BIZ UDゴシック"/>
              </a:rPr>
              <a:t>専門知識、テンプレート、ツール連携をセットで提供できる</a:t>
            </a:r>
          </a:p>
        </p:txBody>
      </p:sp>
      <p:sp>
        <p:nvSpPr>
          <p:cNvPr id="28" name="Oval 27"/>
          <p:cNvSpPr/>
          <p:nvPr/>
        </p:nvSpPr>
        <p:spPr>
          <a:xfrm>
            <a:off x="7726679" y="4608576"/>
            <a:ext cx="347472" cy="347472"/>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3</a:t>
            </a:r>
          </a:p>
        </p:txBody>
      </p:sp>
      <p:sp>
        <p:nvSpPr>
          <p:cNvPr id="29" name="TextBox 28"/>
          <p:cNvSpPr txBox="1"/>
          <p:nvPr/>
        </p:nvSpPr>
        <p:spPr>
          <a:xfrm>
            <a:off x="8229600" y="4517136"/>
            <a:ext cx="3291840" cy="777240"/>
          </a:xfrm>
          <a:prstGeom prst="rect">
            <a:avLst/>
          </a:prstGeom>
          <a:noFill/>
        </p:spPr>
        <p:txBody>
          <a:bodyPr wrap="square" lIns="0" rIns="0" tIns="0" bIns="0" anchor="t"/>
          <a:lstStyle/>
          <a:p>
            <a:pPr algn="l"/>
            <a:r>
              <a:rPr sz="1250" b="0" i="0" lang="ja-JP" altLang="en-US">
                <a:solidFill>
                  <a:srgbClr val="1E2761"/>
                </a:solidFill>
                <a:latin typeface="BIZ UDゴシック"/>
                <a:ea typeface="BIZ UDゴシック"/>
                <a:cs typeface="BIZ UDゴシック"/>
              </a:rPr>
              <a:t>利用者は、個別の長いプロンプトを習得せずに始めやすい</a:t>
            </a:r>
          </a:p>
        </p:txBody>
      </p:sp>
      <p:sp>
        <p:nvSpPr>
          <p:cNvPr id="30" name="Rounded Rectangle 29"/>
          <p:cNvSpPr/>
          <p:nvPr/>
        </p:nvSpPr>
        <p:spPr>
          <a:xfrm>
            <a:off x="457200" y="5852160"/>
            <a:ext cx="11274552" cy="457200"/>
          </a:xfrm>
          <a:prstGeom prst="roundRect">
            <a:avLst>
              <a:gd name="adj" fmla="val 16000"/>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228600" rIns="228600" tIns="0" bIns="0" wrap="square"/>
          <a:lstStyle/>
          <a:p>
            <a:pPr algn="l"/>
            <a:r>
              <a:rPr sz="1100" b="1" i="0" lang="ja-JP" altLang="en-US">
                <a:solidFill>
                  <a:srgbClr val="B87A1E"/>
                </a:solidFill>
                <a:latin typeface="BIZ UDゴシック"/>
                <a:ea typeface="BIZ UDゴシック"/>
                <a:cs typeface="BIZ UDゴシック"/>
              </a:rPr>
              <a:t>注意　</a:t>
            </a:r>
            <a:r>
              <a:rPr sz="1100" b="0" i="0" lang="ja-JP" altLang="en-US">
                <a:solidFill>
                  <a:srgbClr val="222222"/>
                </a:solidFill>
                <a:latin typeface="BIZ UDゴシック"/>
                <a:ea typeface="BIZ UDゴシック"/>
                <a:cs typeface="BIZ UDゴシック"/>
              </a:rPr>
              <a:t>Plugin化しただけで製品価値が生じるわけではない。ユーザー課題・導入率・実行環境・継続改善・セキュリティ・サポートコストに依存する。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「革命」と言い切る前に：何が本当に新しいのか？</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技術的には連続的な進化。製品化・流通の観点では大きな前進。</a:t>
            </a:r>
          </a:p>
        </p:txBody>
      </p:sp>
      <p:sp>
        <p:nvSpPr>
          <p:cNvPr id="7" name="Rounded Rectangle 6"/>
          <p:cNvSpPr/>
          <p:nvPr/>
        </p:nvSpPr>
        <p:spPr>
          <a:xfrm>
            <a:off x="457200" y="1783080"/>
            <a:ext cx="5486400" cy="3611880"/>
          </a:xfrm>
          <a:prstGeom prst="roundRect">
            <a:avLst>
              <a:gd name="adj" fmla="val 2531"/>
            </a:avLst>
          </a:prstGeom>
          <a:solidFill>
            <a:srgbClr val="FFFFFF"/>
          </a:solidFill>
          <a:ln w="12700">
            <a:solidFill>
              <a:srgbClr val="E8A33D"/>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ounded Rectangle 7"/>
          <p:cNvSpPr/>
          <p:nvPr/>
        </p:nvSpPr>
        <p:spPr>
          <a:xfrm>
            <a:off x="731520" y="1965960"/>
            <a:ext cx="2377440" cy="329184"/>
          </a:xfrm>
          <a:prstGeom prst="roundRect">
            <a:avLst>
              <a:gd name="adj" fmla="val 5000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50" b="1" i="0" lang="ja-JP" altLang="en-US">
                <a:solidFill>
                  <a:srgbClr val="FFFFFF"/>
                </a:solidFill>
                <a:latin typeface="BIZ UDゴシック"/>
                <a:ea typeface="BIZ UDゴシック"/>
                <a:cs typeface="BIZ UDゴシック"/>
              </a:rPr>
              <a:t>新しい価値が大きい点</a:t>
            </a:r>
          </a:p>
        </p:txBody>
      </p:sp>
      <p:sp>
        <p:nvSpPr>
          <p:cNvPr id="9" name="Oval 8"/>
          <p:cNvSpPr/>
          <p:nvPr/>
        </p:nvSpPr>
        <p:spPr>
          <a:xfrm>
            <a:off x="731520" y="2569464"/>
            <a:ext cx="310896" cy="310896"/>
          </a:xfrm>
          <a:prstGeom prst="ellipse">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lang="ja-JP" altLang="en-US">
                <a:solidFill>
                  <a:srgbClr val="B87A1E"/>
                </a:solidFill>
                <a:latin typeface="BIZ UDゴシック"/>
                <a:ea typeface="BIZ UDゴシック"/>
                <a:cs typeface="BIZ UDゴシック"/>
              </a:rPr>
              <a:t>★</a:t>
            </a:r>
          </a:p>
        </p:txBody>
      </p:sp>
      <p:sp>
        <p:nvSpPr>
          <p:cNvPr id="10" name="TextBox 9"/>
          <p:cNvSpPr txBox="1"/>
          <p:nvPr/>
        </p:nvSpPr>
        <p:spPr>
          <a:xfrm>
            <a:off x="1188720" y="2514600"/>
            <a:ext cx="4572000" cy="566928"/>
          </a:xfrm>
          <a:prstGeom prst="rect">
            <a:avLst/>
          </a:prstGeom>
          <a:noFill/>
        </p:spPr>
        <p:txBody>
          <a:bodyPr wrap="square" lIns="0" rIns="0" tIns="0" bIns="0" anchor="ctr"/>
          <a:lstStyle/>
          <a:p>
            <a:pPr algn="l"/>
            <a:r>
              <a:rPr sz="1200" b="0" i="0" lang="ja-JP" altLang="en-US">
                <a:solidFill>
                  <a:srgbClr val="1E2761"/>
                </a:solidFill>
                <a:latin typeface="BIZ UDゴシック"/>
                <a:ea typeface="BIZ UDゴシック"/>
                <a:cs typeface="BIZ UDゴシック"/>
              </a:rPr>
              <a:t>ワークフローの知識を、専用のSkillファイル群として標準化しやすい</a:t>
            </a:r>
          </a:p>
        </p:txBody>
      </p:sp>
      <p:sp>
        <p:nvSpPr>
          <p:cNvPr id="11" name="Oval 10"/>
          <p:cNvSpPr/>
          <p:nvPr/>
        </p:nvSpPr>
        <p:spPr>
          <a:xfrm>
            <a:off x="731520" y="3255264"/>
            <a:ext cx="310896" cy="310896"/>
          </a:xfrm>
          <a:prstGeom prst="ellipse">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lang="ja-JP" altLang="en-US">
                <a:solidFill>
                  <a:srgbClr val="B87A1E"/>
                </a:solidFill>
                <a:latin typeface="BIZ UDゴシック"/>
                <a:ea typeface="BIZ UDゴシック"/>
                <a:cs typeface="BIZ UDゴシック"/>
              </a:rPr>
              <a:t>★</a:t>
            </a:r>
          </a:p>
        </p:txBody>
      </p:sp>
      <p:sp>
        <p:nvSpPr>
          <p:cNvPr id="12" name="TextBox 11"/>
          <p:cNvSpPr txBox="1"/>
          <p:nvPr/>
        </p:nvSpPr>
        <p:spPr>
          <a:xfrm>
            <a:off x="1188720" y="3200400"/>
            <a:ext cx="4572000" cy="566928"/>
          </a:xfrm>
          <a:prstGeom prst="rect">
            <a:avLst/>
          </a:prstGeom>
          <a:noFill/>
        </p:spPr>
        <p:txBody>
          <a:bodyPr wrap="square" lIns="0" rIns="0" tIns="0" bIns="0" anchor="ctr"/>
          <a:lstStyle/>
          <a:p>
            <a:pPr algn="l"/>
            <a:r>
              <a:rPr sz="1200" b="0" i="0" lang="ja-JP" altLang="en-US">
                <a:solidFill>
                  <a:srgbClr val="1E2761"/>
                </a:solidFill>
                <a:latin typeface="BIZ UDゴシック"/>
                <a:ea typeface="BIZ UDゴシック"/>
                <a:cs typeface="BIZ UDゴシック"/>
              </a:rPr>
              <a:t>SkillとMCPを用途に応じて組み合わせ、Plugin単位で提供できる</a:t>
            </a:r>
          </a:p>
        </p:txBody>
      </p:sp>
      <p:sp>
        <p:nvSpPr>
          <p:cNvPr id="13" name="Oval 12"/>
          <p:cNvSpPr/>
          <p:nvPr/>
        </p:nvSpPr>
        <p:spPr>
          <a:xfrm>
            <a:off x="731520" y="3941063"/>
            <a:ext cx="310896" cy="310896"/>
          </a:xfrm>
          <a:prstGeom prst="ellipse">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lang="ja-JP" altLang="en-US">
                <a:solidFill>
                  <a:srgbClr val="B87A1E"/>
                </a:solidFill>
                <a:latin typeface="BIZ UDゴシック"/>
                <a:ea typeface="BIZ UDゴシック"/>
                <a:cs typeface="BIZ UDゴシック"/>
              </a:rPr>
              <a:t>★</a:t>
            </a:r>
          </a:p>
        </p:txBody>
      </p:sp>
      <p:sp>
        <p:nvSpPr>
          <p:cNvPr id="14" name="TextBox 13"/>
          <p:cNvSpPr txBox="1"/>
          <p:nvPr/>
        </p:nvSpPr>
        <p:spPr>
          <a:xfrm>
            <a:off x="1188720" y="3886200"/>
            <a:ext cx="4572000" cy="566928"/>
          </a:xfrm>
          <a:prstGeom prst="rect">
            <a:avLst/>
          </a:prstGeom>
          <a:noFill/>
        </p:spPr>
        <p:txBody>
          <a:bodyPr wrap="square" lIns="0" rIns="0" tIns="0" bIns="0" anchor="ctr"/>
          <a:lstStyle/>
          <a:p>
            <a:pPr algn="l"/>
            <a:r>
              <a:rPr sz="1200" b="0" i="0" lang="ja-JP" altLang="en-US">
                <a:solidFill>
                  <a:srgbClr val="1E2761"/>
                </a:solidFill>
                <a:latin typeface="BIZ UDゴシック"/>
                <a:ea typeface="BIZ UDゴシック"/>
                <a:cs typeface="BIZ UDゴシック"/>
              </a:rPr>
              <a:t>必要なSkillの詳細だけを読み込む設計を取りやすい</a:t>
            </a:r>
          </a:p>
        </p:txBody>
      </p:sp>
      <p:sp>
        <p:nvSpPr>
          <p:cNvPr id="15" name="Oval 14"/>
          <p:cNvSpPr/>
          <p:nvPr/>
        </p:nvSpPr>
        <p:spPr>
          <a:xfrm>
            <a:off x="731520" y="4626864"/>
            <a:ext cx="310896" cy="310896"/>
          </a:xfrm>
          <a:prstGeom prst="ellipse">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i="0" lang="ja-JP" altLang="en-US">
                <a:solidFill>
                  <a:srgbClr val="B87A1E"/>
                </a:solidFill>
                <a:latin typeface="BIZ UDゴシック"/>
                <a:ea typeface="BIZ UDゴシック"/>
                <a:cs typeface="BIZ UDゴシック"/>
              </a:rPr>
              <a:t>★</a:t>
            </a:r>
          </a:p>
        </p:txBody>
      </p:sp>
      <p:sp>
        <p:nvSpPr>
          <p:cNvPr id="16" name="TextBox 15"/>
          <p:cNvSpPr txBox="1"/>
          <p:nvPr/>
        </p:nvSpPr>
        <p:spPr>
          <a:xfrm>
            <a:off x="1188720" y="4572000"/>
            <a:ext cx="4572000" cy="566928"/>
          </a:xfrm>
          <a:prstGeom prst="rect">
            <a:avLst/>
          </a:prstGeom>
          <a:noFill/>
        </p:spPr>
        <p:txBody>
          <a:bodyPr wrap="square" lIns="0" rIns="0" tIns="0" bIns="0" anchor="ctr"/>
          <a:lstStyle/>
          <a:p>
            <a:pPr algn="l"/>
            <a:r>
              <a:rPr sz="1200" b="0" i="0" lang="ja-JP" altLang="en-US">
                <a:solidFill>
                  <a:srgbClr val="1E2761"/>
                </a:solidFill>
                <a:latin typeface="BIZ UDゴシック"/>
                <a:ea typeface="BIZ UDゴシック"/>
                <a:cs typeface="BIZ UDゴシック"/>
              </a:rPr>
              <a:t>仕事ごとの説明・テンプレート・参照資料を再利用できる</a:t>
            </a:r>
          </a:p>
        </p:txBody>
      </p:sp>
      <p:sp>
        <p:nvSpPr>
          <p:cNvPr id="17" name="Rounded Rectangle 16"/>
          <p:cNvSpPr/>
          <p:nvPr/>
        </p:nvSpPr>
        <p:spPr>
          <a:xfrm>
            <a:off x="6245352" y="1783080"/>
            <a:ext cx="5486400" cy="3611880"/>
          </a:xfrm>
          <a:prstGeom prst="roundRect">
            <a:avLst>
              <a:gd name="adj" fmla="val 2531"/>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ounded Rectangle 17"/>
          <p:cNvSpPr/>
          <p:nvPr/>
        </p:nvSpPr>
        <p:spPr>
          <a:xfrm>
            <a:off x="6519672" y="1965960"/>
            <a:ext cx="2743200" cy="329184"/>
          </a:xfrm>
          <a:prstGeom prst="roundRect">
            <a:avLst>
              <a:gd name="adj" fmla="val 50000"/>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50" b="1" i="0" lang="ja-JP" altLang="en-US">
                <a:solidFill>
                  <a:srgbClr val="FFFFFF"/>
                </a:solidFill>
                <a:latin typeface="BIZ UDゴシック"/>
                <a:ea typeface="BIZ UDゴシック"/>
                <a:cs typeface="BIZ UDゴシック"/>
              </a:rPr>
              <a:t>以前から実現可能だったこと</a:t>
            </a:r>
          </a:p>
        </p:txBody>
      </p:sp>
      <p:sp>
        <p:nvSpPr>
          <p:cNvPr id="19" name="Oval 18"/>
          <p:cNvSpPr/>
          <p:nvPr/>
        </p:nvSpPr>
        <p:spPr>
          <a:xfrm>
            <a:off x="6519672" y="2587752"/>
            <a:ext cx="274320" cy="274320"/>
          </a:xfrm>
          <a:prstGeom prst="ellipse">
            <a:avLst/>
          </a:prstGeom>
          <a:solidFill>
            <a:srgbClr val="EEF3F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lang="ja-JP" altLang="en-US">
                <a:solidFill>
                  <a:srgbClr val="5A6B87"/>
                </a:solidFill>
                <a:latin typeface="BIZ UDゴシック"/>
                <a:ea typeface="BIZ UDゴシック"/>
                <a:cs typeface="BIZ UDゴシック"/>
              </a:rPr>
              <a:t>✓</a:t>
            </a:r>
          </a:p>
        </p:txBody>
      </p:sp>
      <p:sp>
        <p:nvSpPr>
          <p:cNvPr id="20" name="TextBox 19"/>
          <p:cNvSpPr txBox="1"/>
          <p:nvPr/>
        </p:nvSpPr>
        <p:spPr>
          <a:xfrm>
            <a:off x="6949440" y="2514600"/>
            <a:ext cx="4572000" cy="438912"/>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複数APIを順番に呼ぶ</a:t>
            </a:r>
          </a:p>
        </p:txBody>
      </p:sp>
      <p:sp>
        <p:nvSpPr>
          <p:cNvPr id="21" name="Oval 20"/>
          <p:cNvSpPr/>
          <p:nvPr/>
        </p:nvSpPr>
        <p:spPr>
          <a:xfrm>
            <a:off x="6519672" y="3136392"/>
            <a:ext cx="274320" cy="274320"/>
          </a:xfrm>
          <a:prstGeom prst="ellipse">
            <a:avLst/>
          </a:prstGeom>
          <a:solidFill>
            <a:srgbClr val="EEF3F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lang="ja-JP" altLang="en-US">
                <a:solidFill>
                  <a:srgbClr val="5A6B87"/>
                </a:solidFill>
                <a:latin typeface="BIZ UDゴシック"/>
                <a:ea typeface="BIZ UDゴシック"/>
                <a:cs typeface="BIZ UDゴシック"/>
              </a:rPr>
              <a:t>✓</a:t>
            </a:r>
          </a:p>
        </p:txBody>
      </p:sp>
      <p:sp>
        <p:nvSpPr>
          <p:cNvPr id="22" name="TextBox 21"/>
          <p:cNvSpPr txBox="1"/>
          <p:nvPr/>
        </p:nvSpPr>
        <p:spPr>
          <a:xfrm>
            <a:off x="6949440" y="3063240"/>
            <a:ext cx="4572000" cy="438912"/>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条件分岐・承認フローを作る</a:t>
            </a:r>
          </a:p>
        </p:txBody>
      </p:sp>
      <p:sp>
        <p:nvSpPr>
          <p:cNvPr id="23" name="Oval 22"/>
          <p:cNvSpPr/>
          <p:nvPr/>
        </p:nvSpPr>
        <p:spPr>
          <a:xfrm>
            <a:off x="6519672" y="3685032"/>
            <a:ext cx="274320" cy="274320"/>
          </a:xfrm>
          <a:prstGeom prst="ellipse">
            <a:avLst/>
          </a:prstGeom>
          <a:solidFill>
            <a:srgbClr val="EEF3F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lang="ja-JP" altLang="en-US">
                <a:solidFill>
                  <a:srgbClr val="5A6B87"/>
                </a:solidFill>
                <a:latin typeface="BIZ UDゴシック"/>
                <a:ea typeface="BIZ UDゴシック"/>
                <a:cs typeface="BIZ UDゴシック"/>
              </a:rPr>
              <a:t>✓</a:t>
            </a:r>
          </a:p>
        </p:txBody>
      </p:sp>
      <p:sp>
        <p:nvSpPr>
          <p:cNvPr id="24" name="TextBox 23"/>
          <p:cNvSpPr txBox="1"/>
          <p:nvPr/>
        </p:nvSpPr>
        <p:spPr>
          <a:xfrm>
            <a:off x="6949440" y="3611880"/>
            <a:ext cx="4572000" cy="438912"/>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システムプロンプトで作業手順を指定する</a:t>
            </a:r>
          </a:p>
        </p:txBody>
      </p:sp>
      <p:sp>
        <p:nvSpPr>
          <p:cNvPr id="25" name="Oval 24"/>
          <p:cNvSpPr/>
          <p:nvPr/>
        </p:nvSpPr>
        <p:spPr>
          <a:xfrm>
            <a:off x="6519672" y="4233672"/>
            <a:ext cx="274320" cy="274320"/>
          </a:xfrm>
          <a:prstGeom prst="ellipse">
            <a:avLst/>
          </a:prstGeom>
          <a:solidFill>
            <a:srgbClr val="EEF3F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lang="ja-JP" altLang="en-US">
                <a:solidFill>
                  <a:srgbClr val="5A6B87"/>
                </a:solidFill>
                <a:latin typeface="BIZ UDゴシック"/>
                <a:ea typeface="BIZ UDゴシック"/>
                <a:cs typeface="BIZ UDゴシック"/>
              </a:rPr>
              <a:t>✓</a:t>
            </a:r>
          </a:p>
        </p:txBody>
      </p:sp>
      <p:sp>
        <p:nvSpPr>
          <p:cNvPr id="26" name="TextBox 25"/>
          <p:cNvSpPr txBox="1"/>
          <p:nvPr/>
        </p:nvSpPr>
        <p:spPr>
          <a:xfrm>
            <a:off x="6949440" y="4160520"/>
            <a:ext cx="4572000" cy="438912"/>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コードとワークフローエンジンで厳密な処理を実行する</a:t>
            </a:r>
          </a:p>
        </p:txBody>
      </p:sp>
      <p:sp>
        <p:nvSpPr>
          <p:cNvPr id="27" name="Oval 26"/>
          <p:cNvSpPr/>
          <p:nvPr/>
        </p:nvSpPr>
        <p:spPr>
          <a:xfrm>
            <a:off x="6519672" y="4782312"/>
            <a:ext cx="274320" cy="274320"/>
          </a:xfrm>
          <a:prstGeom prst="ellipse">
            <a:avLst/>
          </a:prstGeom>
          <a:solidFill>
            <a:srgbClr val="EEF3F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950" b="1" i="0" lang="ja-JP" altLang="en-US">
                <a:solidFill>
                  <a:srgbClr val="5A6B87"/>
                </a:solidFill>
                <a:latin typeface="BIZ UDゴシック"/>
                <a:ea typeface="BIZ UDゴシック"/>
                <a:cs typeface="BIZ UDゴシック"/>
              </a:rPr>
              <a:t>✓</a:t>
            </a:r>
          </a:p>
        </p:txBody>
      </p:sp>
      <p:sp>
        <p:nvSpPr>
          <p:cNvPr id="28" name="TextBox 27"/>
          <p:cNvSpPr txBox="1"/>
          <p:nvPr/>
        </p:nvSpPr>
        <p:spPr>
          <a:xfrm>
            <a:off x="6949440" y="4709160"/>
            <a:ext cx="4572000" cy="438912"/>
          </a:xfrm>
          <a:prstGeom prst="rect">
            <a:avLst/>
          </a:prstGeom>
          <a:noFill/>
        </p:spPr>
        <p:txBody>
          <a:bodyPr wrap="square" lIns="0" rIns="0" tIns="0" bIns="0" anchor="ctr"/>
          <a:lstStyle/>
          <a:p>
            <a:pPr algn="l"/>
            <a:r>
              <a:rPr sz="1200" b="0" i="0" lang="ja-JP" altLang="en-US">
                <a:solidFill>
                  <a:srgbClr val="222222"/>
                </a:solidFill>
                <a:latin typeface="BIZ UDゴシック"/>
                <a:ea typeface="BIZ UDゴシック"/>
                <a:cs typeface="BIZ UDゴシック"/>
              </a:rPr>
              <a:t>MCPのリソースやプロンプトを利用する</a:t>
            </a:r>
          </a:p>
        </p:txBody>
      </p:sp>
      <p:sp>
        <p:nvSpPr>
          <p:cNvPr id="29" name="Rounded Rectangle 28"/>
          <p:cNvSpPr/>
          <p:nvPr/>
        </p:nvSpPr>
        <p:spPr>
          <a:xfrm>
            <a:off x="457200" y="5577840"/>
            <a:ext cx="11274552" cy="685800"/>
          </a:xfrm>
          <a:prstGeom prst="roundRect">
            <a:avLst>
              <a:gd name="adj" fmla="val 13333"/>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800" b="1" i="0" lang="ja-JP" altLang="en-US">
                <a:solidFill>
                  <a:srgbClr val="FFFFFF"/>
                </a:solidFill>
                <a:latin typeface="BIZ UDゴシック"/>
                <a:ea typeface="BIZ UDゴシック"/>
                <a:cs typeface="BIZ UDゴシック"/>
              </a:rPr>
              <a:t>「できること」の発明というより、</a:t>
            </a:r>
            <a:r>
              <a:rPr sz="1800" b="1" i="0" lang="ja-JP" altLang="en-US">
                <a:solidFill>
                  <a:srgbClr val="E8A33D"/>
                </a:solidFill>
                <a:latin typeface="BIZ UDゴシック"/>
                <a:ea typeface="BIZ UDゴシック"/>
                <a:cs typeface="BIZ UDゴシック"/>
              </a:rPr>
              <a:t>「作り方・届け方・育て方」の標準化</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重要な限界：Skillはワークフローエンジンではない</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指示・実行・強制を混同しない。</a:t>
            </a:r>
          </a:p>
        </p:txBody>
      </p:sp>
      <p:graphicFrame>
        <p:nvGraphicFramePr>
          <p:cNvPr id="7" name="Table 6"/>
          <p:cNvGraphicFramePr>
            <a:graphicFrameLocks noGrp="1"/>
          </p:cNvGraphicFramePr>
          <p:nvPr/>
        </p:nvGraphicFramePr>
        <p:xfrm>
          <a:off x="457200" y="1783080"/>
          <a:ext cx="11274552" cy="2926080"/>
        </p:xfrm>
        <a:graphic>
          <a:graphicData uri="http://schemas.openxmlformats.org/drawingml/2006/table">
            <a:tbl>
              <a:tblPr firstRow="0" bandRow="0"/>
              <a:tblGrid>
                <a:gridCol w="2743200"/>
                <a:gridCol w="3931920"/>
                <a:gridCol w="4599432"/>
              </a:tblGrid>
              <a:tr h="411480">
                <a:tc>
                  <a:txBody>
                    <a:bodyPr wrap="square"/>
                    <a:lstStyle/>
                    <a:p>
                      <a:pPr algn="l"/>
                      <a:r>
                        <a:rPr sz="1250" b="1" i="0" lang="ja-JP" altLang="en-US">
                          <a:solidFill>
                            <a:srgbClr val="FFFFFF"/>
                          </a:solidFill>
                          <a:latin typeface="BIZ UDゴシック"/>
                          <a:ea typeface="BIZ UDゴシック"/>
                          <a:cs typeface="BIZ UDゴシック"/>
                        </a:rPr>
                        <a:t>期待</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41A45"/>
                    </a:solidFill>
                  </a:tcPr>
                </a:tc>
                <a:tc>
                  <a:txBody>
                    <a:bodyPr wrap="square"/>
                    <a:lstStyle/>
                    <a:p>
                      <a:pPr algn="l"/>
                      <a:r>
                        <a:rPr sz="1250" b="1" i="0" lang="ja-JP" altLang="en-US">
                          <a:solidFill>
                            <a:srgbClr val="FFFFFF"/>
                          </a:solidFill>
                          <a:latin typeface="BIZ UDゴシック"/>
                          <a:ea typeface="BIZ UDゴシック"/>
                          <a:cs typeface="BIZ UDゴシック"/>
                        </a:rPr>
                        <a:t>Skillができること</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8A33D"/>
                    </a:solidFill>
                  </a:tcPr>
                </a:tc>
                <a:tc>
                  <a:txBody>
                    <a:bodyPr wrap="square"/>
                    <a:lstStyle/>
                    <a:p>
                      <a:pPr algn="l"/>
                      <a:r>
                        <a:rPr sz="1250" b="1" i="0" lang="ja-JP" altLang="en-US">
                          <a:solidFill>
                            <a:srgbClr val="FFFFFF"/>
                          </a:solidFill>
                          <a:latin typeface="BIZ UDゴシック"/>
                          <a:ea typeface="BIZ UDゴシック"/>
                          <a:cs typeface="BIZ UDゴシック"/>
                        </a:rPr>
                        <a:t>別途必要なもの</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E2761"/>
                    </a:solidFill>
                  </a:tcPr>
                </a:tc>
              </a:tr>
              <a:tr h="502920">
                <a:tc>
                  <a:txBody>
                    <a:bodyPr wrap="square"/>
                    <a:lstStyle/>
                    <a:p>
                      <a:pPr algn="l"/>
                      <a:r>
                        <a:rPr sz="1250" b="1" i="0" lang="ja-JP" altLang="en-US">
                          <a:solidFill>
                            <a:srgbClr val="1E2761"/>
                          </a:solidFill>
                          <a:latin typeface="BIZ UDゴシック"/>
                          <a:ea typeface="BIZ UDゴシック"/>
                          <a:cs typeface="BIZ UDゴシック"/>
                        </a:rPr>
                        <a:t>必ず指定順に動く</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50" b="0" i="0" lang="ja-JP" altLang="en-US">
                          <a:solidFill>
                            <a:srgbClr val="222222"/>
                          </a:solidFill>
                          <a:latin typeface="BIZ UDゴシック"/>
                          <a:ea typeface="BIZ UDゴシック"/>
                          <a:cs typeface="BIZ UDゴシック"/>
                        </a:rPr>
                        <a:t>順番と基準を指示する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50" b="0" i="0" lang="ja-JP" altLang="en-US">
                          <a:solidFill>
                            <a:srgbClr val="222222"/>
                          </a:solidFill>
                          <a:latin typeface="BIZ UDゴシック"/>
                          <a:ea typeface="BIZ UDゴシック"/>
                          <a:cs typeface="BIZ UDゴシック"/>
                        </a:rPr>
                        <a:t>必要ならコード側の強制・状態機械</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r h="502920">
                <a:tc>
                  <a:txBody>
                    <a:bodyPr wrap="square"/>
                    <a:lstStyle/>
                    <a:p>
                      <a:pPr algn="l"/>
                      <a:r>
                        <a:rPr sz="1250" b="1" i="0" lang="ja-JP" altLang="en-US">
                          <a:solidFill>
                            <a:srgbClr val="1E2761"/>
                          </a:solidFill>
                          <a:latin typeface="BIZ UDゴシック"/>
                          <a:ea typeface="BIZ UDゴシック"/>
                          <a:cs typeface="BIZ UDゴシック"/>
                        </a:rPr>
                        <a:t>誤操作を防ぐ</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250" b="0" i="0" lang="ja-JP" altLang="en-US">
                          <a:solidFill>
                            <a:srgbClr val="222222"/>
                          </a:solidFill>
                          <a:latin typeface="BIZ UDゴシック"/>
                          <a:ea typeface="BIZ UDゴシック"/>
                          <a:cs typeface="BIZ UDゴシック"/>
                        </a:rPr>
                        <a:t>注意や承認条件を記述する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250" b="0" i="0" lang="ja-JP" altLang="en-US">
                          <a:solidFill>
                            <a:srgbClr val="222222"/>
                          </a:solidFill>
                          <a:latin typeface="BIZ UDゴシック"/>
                          <a:ea typeface="BIZ UDゴシック"/>
                          <a:cs typeface="BIZ UDゴシック"/>
                        </a:rPr>
                        <a:t>MCP側の認可・権限・確認UI</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r>
              <a:tr h="502920">
                <a:tc>
                  <a:txBody>
                    <a:bodyPr wrap="square"/>
                    <a:lstStyle/>
                    <a:p>
                      <a:pPr algn="l"/>
                      <a:r>
                        <a:rPr sz="1250" b="1" i="0" lang="ja-JP" altLang="en-US">
                          <a:solidFill>
                            <a:srgbClr val="1E2761"/>
                          </a:solidFill>
                          <a:latin typeface="BIZ UDゴシック"/>
                          <a:ea typeface="BIZ UDゴシック"/>
                          <a:cs typeface="BIZ UDゴシック"/>
                        </a:rPr>
                        <a:t>定刻実行する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50" b="0" i="0" lang="ja-JP" altLang="en-US">
                          <a:solidFill>
                            <a:srgbClr val="222222"/>
                          </a:solidFill>
                          <a:latin typeface="BIZ UDゴシック"/>
                          <a:ea typeface="BIZ UDゴシック"/>
                          <a:cs typeface="BIZ UDゴシック"/>
                        </a:rPr>
                        <a:t>手順を定義する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50" b="0" i="0" lang="ja-JP" altLang="en-US">
                          <a:solidFill>
                            <a:srgbClr val="222222"/>
                          </a:solidFill>
                          <a:latin typeface="BIZ UDゴシック"/>
                          <a:ea typeface="BIZ UDゴシック"/>
                          <a:cs typeface="BIZ UDゴシック"/>
                        </a:rPr>
                        <a:t>スケジューラー・ジョブ基盤</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r h="502920">
                <a:tc>
                  <a:txBody>
                    <a:bodyPr wrap="square"/>
                    <a:lstStyle/>
                    <a:p>
                      <a:pPr algn="l"/>
                      <a:r>
                        <a:rPr sz="1250" b="1" i="0" lang="ja-JP" altLang="en-US">
                          <a:solidFill>
                            <a:srgbClr val="1E2761"/>
                          </a:solidFill>
                          <a:latin typeface="BIZ UDゴシック"/>
                          <a:ea typeface="BIZ UDゴシック"/>
                          <a:cs typeface="BIZ UDゴシック"/>
                        </a:rPr>
                        <a:t>障害から確実に復旧</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250" b="0" i="0" lang="ja-JP" altLang="en-US">
                          <a:solidFill>
                            <a:srgbClr val="222222"/>
                          </a:solidFill>
                          <a:latin typeface="BIZ UDゴシック"/>
                          <a:ea typeface="BIZ UDゴシック"/>
                          <a:cs typeface="BIZ UDゴシック"/>
                        </a:rPr>
                        <a:t>復旧手順を記述する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250" b="0" i="0" lang="ja-JP" altLang="en-US">
                          <a:solidFill>
                            <a:srgbClr val="222222"/>
                          </a:solidFill>
                          <a:latin typeface="BIZ UDゴシック"/>
                          <a:ea typeface="BIZ UDゴシック"/>
                          <a:cs typeface="BIZ UDゴシック"/>
                        </a:rPr>
                        <a:t>リトライ・冪等性・監視・キュー</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r>
              <a:tr h="502920">
                <a:tc>
                  <a:txBody>
                    <a:bodyPr wrap="square"/>
                    <a:lstStyle/>
                    <a:p>
                      <a:pPr algn="l"/>
                      <a:r>
                        <a:rPr sz="1250" b="1" i="0" lang="ja-JP" altLang="en-US">
                          <a:solidFill>
                            <a:srgbClr val="1E2761"/>
                          </a:solidFill>
                          <a:latin typeface="BIZ UDゴシック"/>
                          <a:ea typeface="BIZ UDゴシック"/>
                          <a:cs typeface="BIZ UDゴシック"/>
                        </a:rPr>
                        <a:t>出力品質を保証</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50" b="0" i="0" lang="ja-JP" altLang="en-US">
                          <a:solidFill>
                            <a:srgbClr val="222222"/>
                          </a:solidFill>
                          <a:latin typeface="BIZ UDゴシック"/>
                          <a:ea typeface="BIZ UDゴシック"/>
                          <a:cs typeface="BIZ UDゴシック"/>
                        </a:rPr>
                        <a:t>チェックリストを提示する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250" b="0" i="0" lang="ja-JP" altLang="en-US">
                          <a:solidFill>
                            <a:srgbClr val="222222"/>
                          </a:solidFill>
                          <a:latin typeface="BIZ UDゴシック"/>
                          <a:ea typeface="BIZ UDゴシック"/>
                          <a:cs typeface="BIZ UDゴシック"/>
                        </a:rPr>
                        <a:t>自動テスト・人手レビュー・評価指標</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bl>
          </a:graphicData>
        </a:graphic>
      </p:graphicFrame>
      <p:sp>
        <p:nvSpPr>
          <p:cNvPr id="8" name="Rounded Rectangle 7"/>
          <p:cNvSpPr/>
          <p:nvPr/>
        </p:nvSpPr>
        <p:spPr>
          <a:xfrm>
            <a:off x="457200" y="4892040"/>
            <a:ext cx="11274552" cy="1005840"/>
          </a:xfrm>
          <a:prstGeom prst="roundRect">
            <a:avLst>
              <a:gd name="adj" fmla="val 909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731520" y="4892040"/>
            <a:ext cx="5029200" cy="1005840"/>
          </a:xfrm>
          <a:prstGeom prst="rect">
            <a:avLst/>
          </a:prstGeom>
          <a:noFill/>
        </p:spPr>
        <p:txBody>
          <a:bodyPr wrap="square" lIns="0" rIns="0" tIns="0" bIns="0" anchor="ctr"/>
          <a:lstStyle/>
          <a:p>
            <a:pPr algn="ctr"/>
            <a:r>
              <a:rPr sz="1300" b="0" i="0" lang="ja-JP" altLang="en-US">
                <a:solidFill>
                  <a:srgbClr val="CADCFC"/>
                </a:solidFill>
                <a:latin typeface="BIZ UDゴシック"/>
                <a:ea typeface="BIZ UDゴシック"/>
                <a:cs typeface="BIZ UDゴシック"/>
              </a:rPr>
              <a:t>Skillは行動を</a:t>
            </a:r>
          </a:p>
          <a:p>
            <a:pPr algn="ctr"/>
            <a:r>
              <a:rPr sz="2200" b="1" i="0" lang="ja-JP" altLang="en-US">
                <a:solidFill>
                  <a:srgbClr val="E8A33D"/>
                </a:solidFill>
                <a:latin typeface="BIZ UDゴシック"/>
                <a:ea typeface="BIZ UDゴシック"/>
                <a:cs typeface="BIZ UDゴシック"/>
              </a:rPr>
              <a:t>「導く」</a:t>
            </a:r>
          </a:p>
        </p:txBody>
      </p:sp>
      <p:sp>
        <p:nvSpPr>
          <p:cNvPr id="10" name="Rectangle 9"/>
          <p:cNvSpPr/>
          <p:nvPr/>
        </p:nvSpPr>
        <p:spPr>
          <a:xfrm>
            <a:off x="6035040" y="5074920"/>
            <a:ext cx="18288" cy="640080"/>
          </a:xfrm>
          <a:prstGeom prst="rect">
            <a:avLst/>
          </a:prstGeom>
          <a:solidFill>
            <a:srgbClr val="3A468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309360" y="4892040"/>
            <a:ext cx="5120640" cy="1005840"/>
          </a:xfrm>
          <a:prstGeom prst="rect">
            <a:avLst/>
          </a:prstGeom>
          <a:noFill/>
        </p:spPr>
        <p:txBody>
          <a:bodyPr wrap="square" lIns="0" rIns="0" tIns="0" bIns="0" anchor="ctr"/>
          <a:lstStyle/>
          <a:p>
            <a:pPr algn="ctr"/>
            <a:r>
              <a:rPr sz="1300" b="0" i="0" lang="ja-JP" altLang="en-US">
                <a:solidFill>
                  <a:srgbClr val="CADCFC"/>
                </a:solidFill>
                <a:latin typeface="BIZ UDゴシック"/>
                <a:ea typeface="BIZ UDゴシック"/>
                <a:cs typeface="BIZ UDゴシック"/>
              </a:rPr>
              <a:t>システムの安全性や確実性は、実行基盤で</a:t>
            </a:r>
          </a:p>
          <a:p>
            <a:pPr algn="ctr"/>
            <a:r>
              <a:rPr sz="2200" b="1" i="0" lang="ja-JP" altLang="en-US">
                <a:solidFill>
                  <a:srgbClr val="FFFFFF"/>
                </a:solidFill>
                <a:latin typeface="BIZ UDゴシック"/>
                <a:ea typeface="BIZ UDゴシック"/>
                <a:cs typeface="BIZ UDゴシック"/>
              </a:rPr>
              <a:t>「担保する」</a:t>
            </a:r>
          </a:p>
        </p:txBody>
      </p:sp>
      <p:sp>
        <p:nvSpPr>
          <p:cNvPr id="12" name="TextBox 11"/>
          <p:cNvSpPr txBox="1"/>
          <p:nvPr/>
        </p:nvSpPr>
        <p:spPr>
          <a:xfrm>
            <a:off x="457200" y="6035040"/>
            <a:ext cx="11274552" cy="274320"/>
          </a:xfrm>
          <a:prstGeom prst="rect">
            <a:avLst/>
          </a:prstGeom>
          <a:noFill/>
        </p:spPr>
        <p:txBody>
          <a:bodyPr wrap="square" lIns="0" rIns="0" tIns="0" bIns="0" anchor="t"/>
          <a:lstStyle/>
          <a:p>
            <a:pPr algn="l"/>
            <a:r>
              <a:rPr sz="1050" b="0" i="0" lang="ja-JP" altLang="en-US">
                <a:solidFill>
                  <a:srgbClr val="5A6B87"/>
                </a:solidFill>
                <a:latin typeface="BIZ UDゴシック"/>
                <a:ea typeface="BIZ UDゴシック"/>
                <a:cs typeface="BIZ UDゴシック"/>
              </a:rPr>
              <a:t>※個人情報、顧客データ、外部送信、支払い、削除などを扱う場合は特に重要。</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どんな用途なら最も効果が高いか</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有効性は「繰り返し × 判断の複雑さ × 品質基準の明確さ」で考える。</a:t>
            </a:r>
          </a:p>
        </p:txBody>
      </p:sp>
      <p:sp>
        <p:nvSpPr>
          <p:cNvPr id="7" name="Rectangle 6"/>
          <p:cNvSpPr/>
          <p:nvPr/>
        </p:nvSpPr>
        <p:spPr>
          <a:xfrm>
            <a:off x="914400" y="1783080"/>
            <a:ext cx="1965960" cy="1965960"/>
          </a:xfrm>
          <a:prstGeom prst="rect">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1005840" y="1856231"/>
            <a:ext cx="1783080" cy="274320"/>
          </a:xfrm>
          <a:prstGeom prst="rect">
            <a:avLst/>
          </a:prstGeom>
          <a:noFill/>
        </p:spPr>
        <p:txBody>
          <a:bodyPr wrap="square" lIns="0" rIns="0" tIns="0" bIns="0" anchor="t"/>
          <a:lstStyle/>
          <a:p>
            <a:pPr algn="l"/>
            <a:r>
              <a:rPr sz="1050" b="1" i="0" lang="ja-JP" altLang="en-US">
                <a:solidFill>
                  <a:srgbClr val="5A6B87"/>
                </a:solidFill>
                <a:latin typeface="BIZ UDゴシック"/>
                <a:ea typeface="BIZ UDゴシック"/>
                <a:cs typeface="BIZ UDゴシック"/>
              </a:rPr>
              <a:t>単発・高度な判断</a:t>
            </a:r>
          </a:p>
        </p:txBody>
      </p:sp>
      <p:sp>
        <p:nvSpPr>
          <p:cNvPr id="9" name="Rectangle 8"/>
          <p:cNvSpPr/>
          <p:nvPr/>
        </p:nvSpPr>
        <p:spPr>
          <a:xfrm>
            <a:off x="2880360" y="1783080"/>
            <a:ext cx="1965960" cy="1965960"/>
          </a:xfrm>
          <a:prstGeom prst="rect">
            <a:avLst/>
          </a:prstGeom>
          <a:solidFill>
            <a:srgbClr val="FFF3DE"/>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2971800" y="1856231"/>
            <a:ext cx="1783080" cy="274320"/>
          </a:xfrm>
          <a:prstGeom prst="rect">
            <a:avLst/>
          </a:prstGeom>
          <a:noFill/>
        </p:spPr>
        <p:txBody>
          <a:bodyPr wrap="square" lIns="0" rIns="0" tIns="0" bIns="0" anchor="t"/>
          <a:lstStyle/>
          <a:p>
            <a:pPr algn="l"/>
            <a:r>
              <a:rPr sz="1200" b="1" i="0" lang="ja-JP" altLang="en-US">
                <a:solidFill>
                  <a:srgbClr val="B87A1E"/>
                </a:solidFill>
                <a:latin typeface="BIZ UDゴシック"/>
                <a:ea typeface="BIZ UDゴシック"/>
                <a:cs typeface="BIZ UDゴシック"/>
              </a:rPr>
              <a:t>Skill最適領域</a:t>
            </a:r>
          </a:p>
        </p:txBody>
      </p:sp>
      <p:sp>
        <p:nvSpPr>
          <p:cNvPr id="11" name="Rectangle 10"/>
          <p:cNvSpPr/>
          <p:nvPr/>
        </p:nvSpPr>
        <p:spPr>
          <a:xfrm>
            <a:off x="914400" y="3749039"/>
            <a:ext cx="1965960" cy="1965960"/>
          </a:xfrm>
          <a:prstGeom prst="rect">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1005840" y="3822191"/>
            <a:ext cx="1783080" cy="274320"/>
          </a:xfrm>
          <a:prstGeom prst="rect">
            <a:avLst/>
          </a:prstGeom>
          <a:noFill/>
        </p:spPr>
        <p:txBody>
          <a:bodyPr wrap="square" lIns="0" rIns="0" tIns="0" bIns="0" anchor="t"/>
          <a:lstStyle/>
          <a:p>
            <a:pPr algn="l"/>
            <a:r>
              <a:rPr sz="1050" b="1" i="0" lang="ja-JP" altLang="en-US">
                <a:solidFill>
                  <a:srgbClr val="5A6B87"/>
                </a:solidFill>
                <a:latin typeface="BIZ UDゴシック"/>
                <a:ea typeface="BIZ UDゴシック"/>
                <a:cs typeface="BIZ UDゴシック"/>
              </a:rPr>
              <a:t>単発・単純</a:t>
            </a:r>
          </a:p>
        </p:txBody>
      </p:sp>
      <p:sp>
        <p:nvSpPr>
          <p:cNvPr id="13" name="Rectangle 12"/>
          <p:cNvSpPr/>
          <p:nvPr/>
        </p:nvSpPr>
        <p:spPr>
          <a:xfrm>
            <a:off x="2880360" y="3749039"/>
            <a:ext cx="1965960" cy="1965960"/>
          </a:xfrm>
          <a:prstGeom prst="rect">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2971800" y="3822191"/>
            <a:ext cx="1783080" cy="274320"/>
          </a:xfrm>
          <a:prstGeom prst="rect">
            <a:avLst/>
          </a:prstGeom>
          <a:noFill/>
        </p:spPr>
        <p:txBody>
          <a:bodyPr wrap="square" lIns="0" rIns="0" tIns="0" bIns="0" anchor="t"/>
          <a:lstStyle/>
          <a:p>
            <a:pPr algn="l"/>
            <a:r>
              <a:rPr sz="1050" b="1" i="0" lang="ja-JP" altLang="en-US">
                <a:solidFill>
                  <a:srgbClr val="5A6B87"/>
                </a:solidFill>
                <a:latin typeface="BIZ UDゴシック"/>
                <a:ea typeface="BIZ UDゴシック"/>
                <a:cs typeface="BIZ UDゴシック"/>
              </a:rPr>
              <a:t>定型・大量処理</a:t>
            </a:r>
          </a:p>
        </p:txBody>
      </p:sp>
      <p:sp>
        <p:nvSpPr>
          <p:cNvPr id="15" name="Rounded Rectangle 14"/>
          <p:cNvSpPr/>
          <p:nvPr/>
        </p:nvSpPr>
        <p:spPr>
          <a:xfrm>
            <a:off x="3108960" y="2286000"/>
            <a:ext cx="1508760" cy="329184"/>
          </a:xfrm>
          <a:prstGeom prst="roundRect">
            <a:avLst>
              <a:gd name="adj" fmla="val 5000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FFFFFF"/>
                </a:solidFill>
                <a:latin typeface="BIZ UDゴシック"/>
                <a:ea typeface="BIZ UDゴシック"/>
                <a:cs typeface="BIZ UDゴシック"/>
              </a:rPr>
              <a:t>会議準備</a:t>
            </a:r>
          </a:p>
        </p:txBody>
      </p:sp>
      <p:sp>
        <p:nvSpPr>
          <p:cNvPr id="16" name="Rounded Rectangle 15"/>
          <p:cNvSpPr/>
          <p:nvPr/>
        </p:nvSpPr>
        <p:spPr>
          <a:xfrm>
            <a:off x="3108960" y="2715768"/>
            <a:ext cx="1508760" cy="329184"/>
          </a:xfrm>
          <a:prstGeom prst="roundRect">
            <a:avLst>
              <a:gd name="adj" fmla="val 5000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FFFFFF"/>
                </a:solidFill>
                <a:latin typeface="BIZ UDゴシック"/>
                <a:ea typeface="BIZ UDゴシック"/>
                <a:cs typeface="BIZ UDゴシック"/>
              </a:rPr>
              <a:t>文書レビュー</a:t>
            </a:r>
          </a:p>
        </p:txBody>
      </p:sp>
      <p:sp>
        <p:nvSpPr>
          <p:cNvPr id="17" name="Rounded Rectangle 16"/>
          <p:cNvSpPr/>
          <p:nvPr/>
        </p:nvSpPr>
        <p:spPr>
          <a:xfrm>
            <a:off x="3108960" y="3145536"/>
            <a:ext cx="1508760" cy="329184"/>
          </a:xfrm>
          <a:prstGeom prst="roundRect">
            <a:avLst>
              <a:gd name="adj" fmla="val 50000"/>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FFFFFF"/>
                </a:solidFill>
                <a:latin typeface="BIZ UDゴシック"/>
                <a:ea typeface="BIZ UDゴシック"/>
                <a:cs typeface="BIZ UDゴシック"/>
              </a:rPr>
              <a:t>障害一次調査</a:t>
            </a:r>
          </a:p>
        </p:txBody>
      </p:sp>
      <p:sp>
        <p:nvSpPr>
          <p:cNvPr id="18" name="Rounded Rectangle 17"/>
          <p:cNvSpPr/>
          <p:nvPr/>
        </p:nvSpPr>
        <p:spPr>
          <a:xfrm>
            <a:off x="1097280" y="4572000"/>
            <a:ext cx="1600200" cy="329184"/>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5A6B87"/>
                </a:solidFill>
                <a:latin typeface="BIZ UDゴシック"/>
                <a:ea typeface="BIZ UDゴシック"/>
                <a:cs typeface="BIZ UDゴシック"/>
              </a:rPr>
              <a:t>一度きりの雑談</a:t>
            </a:r>
          </a:p>
        </p:txBody>
      </p:sp>
      <p:sp>
        <p:nvSpPr>
          <p:cNvPr id="19" name="Rounded Rectangle 18"/>
          <p:cNvSpPr/>
          <p:nvPr/>
        </p:nvSpPr>
        <p:spPr>
          <a:xfrm>
            <a:off x="3017520" y="4389120"/>
            <a:ext cx="1691639" cy="329184"/>
          </a:xfrm>
          <a:prstGeom prst="roundRect">
            <a:avLst>
              <a:gd name="adj" fmla="val 50000"/>
            </a:avLst>
          </a:prstGeom>
          <a:solidFill>
            <a:srgbClr val="FFFFFF"/>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050" b="1" i="0" lang="ja-JP" altLang="en-US">
                <a:solidFill>
                  <a:srgbClr val="5A6B87"/>
                </a:solidFill>
                <a:latin typeface="BIZ UDゴシック"/>
                <a:ea typeface="BIZ UDゴシック"/>
                <a:cs typeface="BIZ UDゴシック"/>
              </a:rPr>
              <a:t>大量の決定論的処理</a:t>
            </a:r>
          </a:p>
        </p:txBody>
      </p:sp>
      <p:sp>
        <p:nvSpPr>
          <p:cNvPr id="20" name="TextBox 19"/>
          <p:cNvSpPr txBox="1"/>
          <p:nvPr/>
        </p:nvSpPr>
        <p:spPr>
          <a:xfrm>
            <a:off x="3017520" y="4773168"/>
            <a:ext cx="1691639" cy="274320"/>
          </a:xfrm>
          <a:prstGeom prst="rect">
            <a:avLst/>
          </a:prstGeom>
          <a:noFill/>
        </p:spPr>
        <p:txBody>
          <a:bodyPr wrap="square" lIns="0" rIns="0" tIns="0" bIns="0" anchor="t"/>
          <a:lstStyle/>
          <a:p>
            <a:pPr algn="ctr"/>
            <a:r>
              <a:rPr sz="1000" b="0" i="0" lang="ja-JP" altLang="en-US">
                <a:solidFill>
                  <a:srgbClr val="5A6B87"/>
                </a:solidFill>
                <a:latin typeface="BIZ UDゴシック"/>
                <a:ea typeface="BIZ UDゴシック"/>
                <a:cs typeface="BIZ UDゴシック"/>
              </a:rPr>
              <a:t>→ 通常のコード向き</a:t>
            </a:r>
          </a:p>
        </p:txBody>
      </p:sp>
      <p:sp>
        <p:nvSpPr>
          <p:cNvPr id="21" name="TextBox 20"/>
          <p:cNvSpPr txBox="1"/>
          <p:nvPr/>
        </p:nvSpPr>
        <p:spPr>
          <a:xfrm>
            <a:off x="411480" y="1783080"/>
            <a:ext cx="411480" cy="3931920"/>
          </a:xfrm>
          <a:prstGeom prst="rect">
            <a:avLst/>
          </a:prstGeom>
          <a:noFill/>
        </p:spPr>
        <p:txBody>
          <a:bodyPr wrap="square" lIns="0" rIns="0" tIns="0" bIns="0" anchor="ctr" vert="vert270"/>
          <a:lstStyle/>
          <a:p>
            <a:pPr algn="ctr"/>
            <a:r>
              <a:rPr sz="1100" b="1" i="0" lang="ja-JP" altLang="en-US">
                <a:solidFill>
                  <a:srgbClr val="1E2761"/>
                </a:solidFill>
                <a:latin typeface="BIZ UDゴシック"/>
                <a:ea typeface="BIZ UDゴシック"/>
                <a:cs typeface="BIZ UDゴシック"/>
              </a:rPr>
              <a:t>判断の複雑さ →</a:t>
            </a:r>
          </a:p>
        </p:txBody>
      </p:sp>
      <p:sp>
        <p:nvSpPr>
          <p:cNvPr id="22" name="TextBox 21"/>
          <p:cNvSpPr txBox="1"/>
          <p:nvPr/>
        </p:nvSpPr>
        <p:spPr>
          <a:xfrm>
            <a:off x="914400" y="5788152"/>
            <a:ext cx="3931920" cy="274320"/>
          </a:xfrm>
          <a:prstGeom prst="rect">
            <a:avLst/>
          </a:prstGeom>
          <a:noFill/>
        </p:spPr>
        <p:txBody>
          <a:bodyPr wrap="square" lIns="0" rIns="0" tIns="0" bIns="0" anchor="t"/>
          <a:lstStyle/>
          <a:p>
            <a:pPr algn="ctr"/>
            <a:r>
              <a:rPr sz="1100" b="1" i="0" lang="ja-JP" altLang="en-US">
                <a:solidFill>
                  <a:srgbClr val="1E2761"/>
                </a:solidFill>
                <a:latin typeface="BIZ UDゴシック"/>
                <a:ea typeface="BIZ UDゴシック"/>
                <a:cs typeface="BIZ UDゴシック"/>
              </a:rPr>
              <a:t>繰り返し頻度 →</a:t>
            </a:r>
          </a:p>
        </p:txBody>
      </p:sp>
      <p:graphicFrame>
        <p:nvGraphicFramePr>
          <p:cNvPr id="23" name="Table 22"/>
          <p:cNvGraphicFramePr>
            <a:graphicFrameLocks noGrp="1"/>
          </p:cNvGraphicFramePr>
          <p:nvPr/>
        </p:nvGraphicFramePr>
        <p:xfrm>
          <a:off x="5257800" y="1783080"/>
          <a:ext cx="6473952" cy="3785616"/>
        </p:xfrm>
        <a:graphic>
          <a:graphicData uri="http://schemas.openxmlformats.org/drawingml/2006/table">
            <a:tbl>
              <a:tblPr firstRow="0" bandRow="0"/>
              <a:tblGrid>
                <a:gridCol w="2514600"/>
                <a:gridCol w="1143000"/>
                <a:gridCol w="2816352"/>
              </a:tblGrid>
              <a:tr h="384048">
                <a:tc>
                  <a:txBody>
                    <a:bodyPr wrap="square"/>
                    <a:lstStyle/>
                    <a:p>
                      <a:pPr algn="l"/>
                      <a:r>
                        <a:rPr sz="1100" b="1" i="0" lang="ja-JP" altLang="en-US">
                          <a:solidFill>
                            <a:srgbClr val="FFFFFF"/>
                          </a:solidFill>
                          <a:latin typeface="BIZ UDゴシック"/>
                          <a:ea typeface="BIZ UDゴシック"/>
                          <a:cs typeface="BIZ UDゴシック"/>
                        </a:rPr>
                        <a:t>用途</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41A45"/>
                    </a:solidFill>
                  </a:tcPr>
                </a:tc>
                <a:tc>
                  <a:txBody>
                    <a:bodyPr wrap="square"/>
                    <a:lstStyle/>
                    <a:p>
                      <a:pPr algn="ctr"/>
                      <a:r>
                        <a:rPr sz="1100" b="1" i="0" lang="ja-JP" altLang="en-US">
                          <a:solidFill>
                            <a:srgbClr val="FFFFFF"/>
                          </a:solidFill>
                          <a:latin typeface="BIZ UDゴシック"/>
                          <a:ea typeface="BIZ UDゴシック"/>
                          <a:cs typeface="BIZ UDゴシック"/>
                        </a:rPr>
                        <a:t>Skill適性</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41A45"/>
                    </a:solidFill>
                  </a:tcPr>
                </a:tc>
                <a:tc>
                  <a:txBody>
                    <a:bodyPr wrap="square"/>
                    <a:lstStyle/>
                    <a:p>
                      <a:pPr algn="l"/>
                      <a:r>
                        <a:rPr sz="1100" b="1" i="0" lang="ja-JP" altLang="en-US">
                          <a:solidFill>
                            <a:srgbClr val="FFFFFF"/>
                          </a:solidFill>
                          <a:latin typeface="BIZ UDゴシック"/>
                          <a:ea typeface="BIZ UDゴシック"/>
                          <a:cs typeface="BIZ UDゴシック"/>
                        </a:rPr>
                        <a:t>理由</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41A45"/>
                    </a:solidFill>
                  </a:tcPr>
                </a:tc>
              </a:tr>
              <a:tr h="566928">
                <a:tc>
                  <a:txBody>
                    <a:bodyPr wrap="square"/>
                    <a:lstStyle/>
                    <a:p>
                      <a:pPr algn="l"/>
                      <a:r>
                        <a:rPr sz="1100" b="1" i="0" lang="ja-JP" altLang="en-US">
                          <a:solidFill>
                            <a:srgbClr val="1E2761"/>
                          </a:solidFill>
                          <a:latin typeface="BIZ UDゴシック"/>
                          <a:ea typeface="BIZ UDゴシック"/>
                          <a:cs typeface="BIZ UDゴシック"/>
                        </a:rPr>
                        <a:t>定型＋判断がある会議準備</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ctr"/>
                      <a:r>
                        <a:rPr sz="1100" b="1" i="0" lang="ja-JP" altLang="en-US">
                          <a:solidFill>
                            <a:srgbClr val="FFFFFF"/>
                          </a:solidFill>
                          <a:latin typeface="BIZ UDゴシック"/>
                          <a:ea typeface="BIZ UDゴシック"/>
                          <a:cs typeface="BIZ UDゴシック"/>
                        </a:rPr>
                        <a:t>高</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8A33D"/>
                    </a:solidFill>
                  </a:tcPr>
                </a:tc>
                <a:tc>
                  <a:txBody>
                    <a:bodyPr wrap="square"/>
                    <a:lstStyle/>
                    <a:p>
                      <a:pPr algn="l"/>
                      <a:r>
                        <a:rPr sz="1100" b="0" i="0" lang="ja-JP" altLang="en-US">
                          <a:solidFill>
                            <a:srgbClr val="222222"/>
                          </a:solidFill>
                          <a:latin typeface="BIZ UDゴシック"/>
                          <a:ea typeface="BIZ UDゴシック"/>
                          <a:cs typeface="BIZ UDゴシック"/>
                        </a:rPr>
                        <a:t>確認観点と成果物を固定しやすい</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r h="566928">
                <a:tc>
                  <a:txBody>
                    <a:bodyPr wrap="square"/>
                    <a:lstStyle/>
                    <a:p>
                      <a:pPr algn="l"/>
                      <a:r>
                        <a:rPr sz="1100" b="1" i="0" lang="ja-JP" altLang="en-US">
                          <a:solidFill>
                            <a:srgbClr val="1E2761"/>
                          </a:solidFill>
                          <a:latin typeface="BIZ UDゴシック"/>
                          <a:ea typeface="BIZ UDゴシック"/>
                          <a:cs typeface="BIZ UDゴシック"/>
                        </a:rPr>
                        <a:t>文書レビュー</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ctr"/>
                      <a:r>
                        <a:rPr sz="1100" b="1" i="0" lang="ja-JP" altLang="en-US">
                          <a:solidFill>
                            <a:srgbClr val="FFFFFF"/>
                          </a:solidFill>
                          <a:latin typeface="BIZ UDゴシック"/>
                          <a:ea typeface="BIZ UDゴシック"/>
                          <a:cs typeface="BIZ UDゴシック"/>
                        </a:rPr>
                        <a:t>高</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8A33D"/>
                    </a:solidFill>
                  </a:tcPr>
                </a:tc>
                <a:tc>
                  <a:txBody>
                    <a:bodyPr wrap="square"/>
                    <a:lstStyle/>
                    <a:p>
                      <a:pPr algn="l"/>
                      <a:r>
                        <a:rPr sz="1100" b="0" i="0" lang="ja-JP" altLang="en-US">
                          <a:solidFill>
                            <a:srgbClr val="222222"/>
                          </a:solidFill>
                          <a:latin typeface="BIZ UDゴシック"/>
                          <a:ea typeface="BIZ UDゴシック"/>
                          <a:cs typeface="BIZ UDゴシック"/>
                        </a:rPr>
                        <a:t>レビュー観点・例外基準を共有できる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r h="566928">
                <a:tc>
                  <a:txBody>
                    <a:bodyPr wrap="square"/>
                    <a:lstStyle/>
                    <a:p>
                      <a:pPr algn="l"/>
                      <a:r>
                        <a:rPr sz="1100" b="1" i="0" lang="ja-JP" altLang="en-US">
                          <a:solidFill>
                            <a:srgbClr val="1E2761"/>
                          </a:solidFill>
                          <a:latin typeface="BIZ UDゴシック"/>
                          <a:ea typeface="BIZ UDゴシック"/>
                          <a:cs typeface="BIZ UDゴシック"/>
                        </a:rPr>
                        <a:t>障害一次調査</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ctr"/>
                      <a:r>
                        <a:rPr sz="1100" b="1" i="0" lang="ja-JP" altLang="en-US">
                          <a:solidFill>
                            <a:srgbClr val="FFFFFF"/>
                          </a:solidFill>
                          <a:latin typeface="BIZ UDゴシック"/>
                          <a:ea typeface="BIZ UDゴシック"/>
                          <a:cs typeface="BIZ UDゴシック"/>
                        </a:rPr>
                        <a:t>高</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8A33D"/>
                    </a:solidFill>
                  </a:tcPr>
                </a:tc>
                <a:tc>
                  <a:txBody>
                    <a:bodyPr wrap="square"/>
                    <a:lstStyle/>
                    <a:p>
                      <a:pPr algn="l"/>
                      <a:r>
                        <a:rPr sz="1100" b="0" i="0" lang="ja-JP" altLang="en-US">
                          <a:solidFill>
                            <a:srgbClr val="222222"/>
                          </a:solidFill>
                          <a:latin typeface="BIZ UDゴシック"/>
                          <a:ea typeface="BIZ UDゴシック"/>
                          <a:cs typeface="BIZ UDゴシック"/>
                        </a:rPr>
                        <a:t>調査順序・切り分け条件を定義できる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r h="566928">
                <a:tc>
                  <a:txBody>
                    <a:bodyPr wrap="square"/>
                    <a:lstStyle/>
                    <a:p>
                      <a:pPr algn="l"/>
                      <a:r>
                        <a:rPr sz="1100" b="1" i="0" lang="ja-JP" altLang="en-US">
                          <a:solidFill>
                            <a:srgbClr val="1E2761"/>
                          </a:solidFill>
                          <a:latin typeface="BIZ UDゴシック"/>
                          <a:ea typeface="BIZ UDゴシック"/>
                          <a:cs typeface="BIZ UDゴシック"/>
                        </a:rPr>
                        <a:t>一度きりの雑談</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ctr"/>
                      <a:r>
                        <a:rPr sz="1100" b="1" i="0" lang="ja-JP" altLang="en-US">
                          <a:solidFill>
                            <a:srgbClr val="5A6B87"/>
                          </a:solidFill>
                          <a:latin typeface="BIZ UDゴシック"/>
                          <a:ea typeface="BIZ UDゴシック"/>
                          <a:cs typeface="BIZ UDゴシック"/>
                        </a:rPr>
                        <a:t>低</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100" b="0" i="0" lang="ja-JP" altLang="en-US">
                          <a:solidFill>
                            <a:srgbClr val="222222"/>
                          </a:solidFill>
                          <a:latin typeface="BIZ UDゴシック"/>
                          <a:ea typeface="BIZ UDゴシック"/>
                          <a:cs typeface="BIZ UDゴシック"/>
                        </a:rPr>
                        <a:t>手順の再利用価値が低い</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r h="566928">
                <a:tc>
                  <a:txBody>
                    <a:bodyPr wrap="square"/>
                    <a:lstStyle/>
                    <a:p>
                      <a:pPr algn="l"/>
                      <a:r>
                        <a:rPr sz="1100" b="1" i="0" lang="ja-JP" altLang="en-US">
                          <a:solidFill>
                            <a:srgbClr val="1E2761"/>
                          </a:solidFill>
                          <a:latin typeface="BIZ UDゴシック"/>
                          <a:ea typeface="BIZ UDゴシック"/>
                          <a:cs typeface="BIZ UDゴシック"/>
                        </a:rPr>
                        <a:t>1秒未満の大量決定論的処理</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ctr"/>
                      <a:r>
                        <a:rPr sz="1100" b="1" i="0" lang="ja-JP" altLang="en-US">
                          <a:solidFill>
                            <a:srgbClr val="5A6B87"/>
                          </a:solidFill>
                          <a:latin typeface="BIZ UDゴシック"/>
                          <a:ea typeface="BIZ UDゴシック"/>
                          <a:cs typeface="BIZ UDゴシック"/>
                        </a:rPr>
                        <a:t>低〜中</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100" b="0" i="0" lang="ja-JP" altLang="en-US">
                          <a:solidFill>
                            <a:srgbClr val="222222"/>
                          </a:solidFill>
                          <a:latin typeface="BIZ UDゴシック"/>
                          <a:ea typeface="BIZ UDゴシック"/>
                          <a:cs typeface="BIZ UDゴシック"/>
                        </a:rPr>
                        <a:t>普通のコードの方が適することが多い</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r h="566928">
                <a:tc>
                  <a:txBody>
                    <a:bodyPr wrap="square"/>
                    <a:lstStyle/>
                    <a:p>
                      <a:pPr algn="l"/>
                      <a:r>
                        <a:rPr sz="1100" b="1" i="0" lang="ja-JP" altLang="en-US">
                          <a:solidFill>
                            <a:srgbClr val="1E2761"/>
                          </a:solidFill>
                          <a:latin typeface="BIZ UDゴシック"/>
                          <a:ea typeface="BIZ UDゴシック"/>
                          <a:cs typeface="BIZ UDゴシック"/>
                        </a:rPr>
                        <a:t>高リスクな自動送金・削除</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ctr"/>
                      <a:r>
                        <a:rPr sz="1100" b="1" i="0" lang="ja-JP" altLang="en-US">
                          <a:solidFill>
                            <a:srgbClr val="B03A3A"/>
                          </a:solidFill>
                          <a:latin typeface="BIZ UDゴシック"/>
                          <a:ea typeface="BIZ UDゴシック"/>
                          <a:cs typeface="BIZ UDゴシック"/>
                        </a:rPr>
                        <a:t>補助に限定</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BEAEA"/>
                    </a:solidFill>
                  </a:tcPr>
                </a:tc>
                <a:tc>
                  <a:txBody>
                    <a:bodyPr wrap="square"/>
                    <a:lstStyle/>
                    <a:p>
                      <a:pPr algn="l"/>
                      <a:r>
                        <a:rPr sz="1100" b="0" i="0" lang="ja-JP" altLang="en-US">
                          <a:solidFill>
                            <a:srgbClr val="222222"/>
                          </a:solidFill>
                          <a:latin typeface="BIZ UDゴシック"/>
                          <a:ea typeface="BIZ UDゴシック"/>
                          <a:cs typeface="BIZ UDゴシック"/>
                        </a:rPr>
                        <a:t>強い認可・人間承認・監査が必要</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bl>
          </a:graphicData>
        </a:graphic>
      </p:graphicFrame>
      <p:sp>
        <p:nvSpPr>
          <p:cNvPr id="24" name="Rounded Rectangle 23"/>
          <p:cNvSpPr/>
          <p:nvPr/>
        </p:nvSpPr>
        <p:spPr>
          <a:xfrm>
            <a:off x="5257800" y="5760720"/>
            <a:ext cx="6473952" cy="457200"/>
          </a:xfrm>
          <a:prstGeom prst="roundRect">
            <a:avLst>
              <a:gd name="adj" fmla="val 16000"/>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182880" rIns="182880" tIns="0" bIns="0" wrap="square"/>
          <a:lstStyle/>
          <a:p>
            <a:pPr algn="l"/>
            <a:r>
              <a:rPr sz="1100" b="0" i="0" lang="ja-JP" altLang="en-US">
                <a:solidFill>
                  <a:srgbClr val="222222"/>
                </a:solidFill>
                <a:latin typeface="BIZ UDゴシック"/>
                <a:ea typeface="BIZ UDゴシック"/>
                <a:cs typeface="BIZ UDゴシック"/>
              </a:rPr>
              <a:t>右上（繰り返しが多く、判断を伴う業務）ほど、手順と成果物を定義する価値が大きい。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導入効果の確かめ方：会議準備のA/B比較</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「便利そう」ではなく、同条件で測る。</a:t>
            </a:r>
          </a:p>
        </p:txBody>
      </p:sp>
      <p:sp>
        <p:nvSpPr>
          <p:cNvPr id="7" name="Rounded Rectangle 6"/>
          <p:cNvSpPr/>
          <p:nvPr/>
        </p:nvSpPr>
        <p:spPr>
          <a:xfrm>
            <a:off x="457200" y="1783080"/>
            <a:ext cx="4206240" cy="3657600"/>
          </a:xfrm>
          <a:prstGeom prst="roundRect">
            <a:avLst>
              <a:gd name="adj" fmla="val 2500"/>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731520" y="1938528"/>
            <a:ext cx="3657600" cy="320040"/>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比較条件</a:t>
            </a:r>
          </a:p>
        </p:txBody>
      </p:sp>
      <p:sp>
        <p:nvSpPr>
          <p:cNvPr id="9" name="TextBox 8"/>
          <p:cNvSpPr txBox="1"/>
          <p:nvPr/>
        </p:nvSpPr>
        <p:spPr>
          <a:xfrm>
            <a:off x="731520" y="2331720"/>
            <a:ext cx="3657600" cy="274320"/>
          </a:xfrm>
          <a:prstGeom prst="rect">
            <a:avLst/>
          </a:prstGeom>
          <a:noFill/>
        </p:spPr>
        <p:txBody>
          <a:bodyPr wrap="square" lIns="0" rIns="0" tIns="0" bIns="0" anchor="t"/>
          <a:lstStyle/>
          <a:p>
            <a:pPr algn="l"/>
            <a:r>
              <a:rPr sz="1050" b="1" i="0" lang="ja-JP" altLang="en-US">
                <a:solidFill>
                  <a:srgbClr val="5A6B87"/>
                </a:solidFill>
                <a:latin typeface="BIZ UDゴシック"/>
                <a:ea typeface="BIZ UDゴシック"/>
                <a:cs typeface="BIZ UDゴシック"/>
              </a:rPr>
              <a:t>共通にそろえる条件</a:t>
            </a:r>
          </a:p>
        </p:txBody>
      </p:sp>
      <p:sp>
        <p:nvSpPr>
          <p:cNvPr id="10" name="Rounded Rectangle 9"/>
          <p:cNvSpPr/>
          <p:nvPr/>
        </p:nvSpPr>
        <p:spPr>
          <a:xfrm>
            <a:off x="731520" y="2651760"/>
            <a:ext cx="3657600" cy="310896"/>
          </a:xfrm>
          <a:prstGeom prst="roundRect">
            <a:avLst>
              <a:gd name="adj" fmla="val 50000"/>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1E2761"/>
                </a:solidFill>
                <a:latin typeface="BIZ UDゴシック"/>
                <a:ea typeface="BIZ UDゴシック"/>
                <a:cs typeface="BIZ UDゴシック"/>
              </a:rPr>
              <a:t>同じAIモデル</a:t>
            </a:r>
          </a:p>
        </p:txBody>
      </p:sp>
      <p:sp>
        <p:nvSpPr>
          <p:cNvPr id="11" name="Rounded Rectangle 10"/>
          <p:cNvSpPr/>
          <p:nvPr/>
        </p:nvSpPr>
        <p:spPr>
          <a:xfrm>
            <a:off x="731520" y="3035808"/>
            <a:ext cx="3657600" cy="310896"/>
          </a:xfrm>
          <a:prstGeom prst="roundRect">
            <a:avLst>
              <a:gd name="adj" fmla="val 50000"/>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1E2761"/>
                </a:solidFill>
                <a:latin typeface="BIZ UDゴシック"/>
                <a:ea typeface="BIZ UDゴシック"/>
                <a:cs typeface="BIZ UDゴシック"/>
              </a:rPr>
              <a:t>同じ会議・資料</a:t>
            </a:r>
          </a:p>
        </p:txBody>
      </p:sp>
      <p:sp>
        <p:nvSpPr>
          <p:cNvPr id="12" name="Rounded Rectangle 11"/>
          <p:cNvSpPr/>
          <p:nvPr/>
        </p:nvSpPr>
        <p:spPr>
          <a:xfrm>
            <a:off x="731520" y="3419856"/>
            <a:ext cx="3657600" cy="310896"/>
          </a:xfrm>
          <a:prstGeom prst="roundRect">
            <a:avLst>
              <a:gd name="adj" fmla="val 50000"/>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00" b="1" i="0" lang="ja-JP" altLang="en-US">
                <a:solidFill>
                  <a:srgbClr val="1E2761"/>
                </a:solidFill>
                <a:latin typeface="BIZ UDゴシック"/>
                <a:ea typeface="BIZ UDゴシック"/>
                <a:cs typeface="BIZ UDゴシック"/>
              </a:rPr>
              <a:t>同じMCP接続権限</a:t>
            </a:r>
          </a:p>
        </p:txBody>
      </p:sp>
      <p:sp>
        <p:nvSpPr>
          <p:cNvPr id="13" name="Rounded Rectangle 12"/>
          <p:cNvSpPr/>
          <p:nvPr/>
        </p:nvSpPr>
        <p:spPr>
          <a:xfrm>
            <a:off x="731520" y="3886200"/>
            <a:ext cx="1691640" cy="640080"/>
          </a:xfrm>
          <a:prstGeom prst="roundRect">
            <a:avLst>
              <a:gd name="adj" fmla="val 14285"/>
            </a:avLst>
          </a:prstGeom>
          <a:solidFill>
            <a:srgbClr val="8C97A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lang="ja-JP" altLang="en-US">
                <a:solidFill>
                  <a:srgbClr val="FFFFFF"/>
                </a:solidFill>
                <a:latin typeface="BIZ UDゴシック"/>
                <a:ea typeface="BIZ UDゴシック"/>
                <a:cs typeface="BIZ UDゴシック"/>
              </a:rPr>
              <a:t>A</a:t>
            </a:r>
          </a:p>
          <a:p>
            <a:pPr algn="ctr"/>
            <a:r>
              <a:rPr sz="1100" b="0" i="0" lang="ja-JP" altLang="en-US">
                <a:solidFill>
                  <a:srgbClr val="FFFFFF"/>
                </a:solidFill>
                <a:latin typeface="BIZ UDゴシック"/>
                <a:ea typeface="BIZ UDゴシック"/>
                <a:cs typeface="BIZ UDゴシック"/>
              </a:rPr>
              <a:t>業務Skillなし</a:t>
            </a:r>
          </a:p>
        </p:txBody>
      </p:sp>
      <p:sp>
        <p:nvSpPr>
          <p:cNvPr id="14" name="TextBox 13"/>
          <p:cNvSpPr txBox="1"/>
          <p:nvPr/>
        </p:nvSpPr>
        <p:spPr>
          <a:xfrm>
            <a:off x="2606040" y="4041648"/>
            <a:ext cx="274320" cy="320040"/>
          </a:xfrm>
          <a:prstGeom prst="rect">
            <a:avLst/>
          </a:prstGeom>
          <a:noFill/>
        </p:spPr>
        <p:txBody>
          <a:bodyPr wrap="square" lIns="0" rIns="0" tIns="0" bIns="0" anchor="ctr"/>
          <a:lstStyle/>
          <a:p>
            <a:pPr algn="ctr"/>
            <a:r>
              <a:rPr sz="1100" b="1" i="0" lang="ja-JP" altLang="en-US">
                <a:solidFill>
                  <a:srgbClr val="5A6B87"/>
                </a:solidFill>
                <a:latin typeface="BIZ UDゴシック"/>
                <a:ea typeface="BIZ UDゴシック"/>
                <a:cs typeface="BIZ UDゴシック"/>
              </a:rPr>
              <a:t>vs</a:t>
            </a:r>
          </a:p>
        </p:txBody>
      </p:sp>
      <p:sp>
        <p:nvSpPr>
          <p:cNvPr id="15" name="Rounded Rectangle 14"/>
          <p:cNvSpPr/>
          <p:nvPr/>
        </p:nvSpPr>
        <p:spPr>
          <a:xfrm>
            <a:off x="2697480" y="3886200"/>
            <a:ext cx="1691640" cy="640080"/>
          </a:xfrm>
          <a:prstGeom prst="roundRect">
            <a:avLst>
              <a:gd name="adj" fmla="val 14285"/>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600" b="1" i="0" lang="ja-JP" altLang="en-US">
                <a:solidFill>
                  <a:srgbClr val="FFFFFF"/>
                </a:solidFill>
                <a:latin typeface="BIZ UDゴシック"/>
                <a:ea typeface="BIZ UDゴシック"/>
                <a:cs typeface="BIZ UDゴシック"/>
              </a:rPr>
              <a:t>B</a:t>
            </a:r>
          </a:p>
          <a:p>
            <a:pPr algn="ctr"/>
            <a:r>
              <a:rPr sz="1100" b="0" i="0" lang="ja-JP" altLang="en-US">
                <a:solidFill>
                  <a:srgbClr val="FFFFFF"/>
                </a:solidFill>
                <a:latin typeface="BIZ UDゴシック"/>
                <a:ea typeface="BIZ UDゴシック"/>
                <a:cs typeface="BIZ UDゴシック"/>
              </a:rPr>
              <a:t>会議準備Skillあり</a:t>
            </a:r>
          </a:p>
        </p:txBody>
      </p:sp>
      <p:sp>
        <p:nvSpPr>
          <p:cNvPr id="16" name="TextBox 15"/>
          <p:cNvSpPr txBox="1"/>
          <p:nvPr/>
        </p:nvSpPr>
        <p:spPr>
          <a:xfrm>
            <a:off x="731520" y="4663440"/>
            <a:ext cx="3657600" cy="594360"/>
          </a:xfrm>
          <a:prstGeom prst="rect">
            <a:avLst/>
          </a:prstGeom>
          <a:noFill/>
        </p:spPr>
        <p:txBody>
          <a:bodyPr wrap="square" lIns="0" rIns="0" tIns="0" bIns="0" anchor="t"/>
          <a:lstStyle/>
          <a:p>
            <a:pPr algn="l"/>
            <a:r>
              <a:rPr sz="1150" b="0" i="0" lang="ja-JP" altLang="en-US">
                <a:solidFill>
                  <a:srgbClr val="1E2761"/>
                </a:solidFill>
                <a:latin typeface="BIZ UDゴシック"/>
                <a:ea typeface="BIZ UDゴシック"/>
                <a:cs typeface="BIZ UDゴシック"/>
              </a:rPr>
              <a:t>難易度の異なる会議を複数用意し、独立に評価する。</a:t>
            </a:r>
          </a:p>
        </p:txBody>
      </p:sp>
      <p:sp>
        <p:nvSpPr>
          <p:cNvPr id="17" name="TextBox 16"/>
          <p:cNvSpPr txBox="1"/>
          <p:nvPr/>
        </p:nvSpPr>
        <p:spPr>
          <a:xfrm>
            <a:off x="4937760" y="1783080"/>
            <a:ext cx="6766560" cy="274320"/>
          </a:xfrm>
          <a:prstGeom prst="rect">
            <a:avLst/>
          </a:prstGeom>
          <a:noFill/>
        </p:spPr>
        <p:txBody>
          <a:bodyPr wrap="square" lIns="0" rIns="0" tIns="0" bIns="0" anchor="t"/>
          <a:lstStyle/>
          <a:p>
            <a:pPr algn="l"/>
            <a:r>
              <a:rPr sz="1200" b="1" i="0" lang="ja-JP" altLang="en-US">
                <a:solidFill>
                  <a:srgbClr val="1E2761"/>
                </a:solidFill>
                <a:latin typeface="BIZ UDゴシック"/>
                <a:ea typeface="BIZ UDゴシック"/>
                <a:cs typeface="BIZ UDゴシック"/>
              </a:rPr>
              <a:t>評価指標（提案）</a:t>
            </a:r>
          </a:p>
        </p:txBody>
      </p:sp>
      <p:sp>
        <p:nvSpPr>
          <p:cNvPr id="18" name="Rounded Rectangle 17"/>
          <p:cNvSpPr/>
          <p:nvPr/>
        </p:nvSpPr>
        <p:spPr>
          <a:xfrm>
            <a:off x="4937760" y="2148840"/>
            <a:ext cx="3282696" cy="960120"/>
          </a:xfrm>
          <a:prstGeom prst="roundRect">
            <a:avLst>
              <a:gd name="adj" fmla="val 9523"/>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Oval 18"/>
          <p:cNvSpPr/>
          <p:nvPr/>
        </p:nvSpPr>
        <p:spPr>
          <a:xfrm>
            <a:off x="5120640" y="2313432"/>
            <a:ext cx="329184" cy="329184"/>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1</a:t>
            </a:r>
          </a:p>
        </p:txBody>
      </p:sp>
      <p:sp>
        <p:nvSpPr>
          <p:cNvPr id="20" name="TextBox 19"/>
          <p:cNvSpPr txBox="1"/>
          <p:nvPr/>
        </p:nvSpPr>
        <p:spPr>
          <a:xfrm>
            <a:off x="5577840" y="2276856"/>
            <a:ext cx="2505456" cy="384048"/>
          </a:xfrm>
          <a:prstGeom prst="rect">
            <a:avLst/>
          </a:prstGeom>
          <a:noFill/>
        </p:spPr>
        <p:txBody>
          <a:bodyPr wrap="square" lIns="0" rIns="0" tIns="0" bIns="0" anchor="ctr"/>
          <a:lstStyle/>
          <a:p>
            <a:pPr algn="l"/>
            <a:r>
              <a:rPr sz="1300" b="1" i="0" lang="ja-JP" altLang="en-US">
                <a:solidFill>
                  <a:srgbClr val="1E2761"/>
                </a:solidFill>
                <a:latin typeface="BIZ UDゴシック"/>
                <a:ea typeface="BIZ UDゴシック"/>
                <a:cs typeface="BIZ UDゴシック"/>
              </a:rPr>
              <a:t>情報網羅率</a:t>
            </a:r>
          </a:p>
        </p:txBody>
      </p:sp>
      <p:sp>
        <p:nvSpPr>
          <p:cNvPr id="21" name="TextBox 20"/>
          <p:cNvSpPr txBox="1"/>
          <p:nvPr/>
        </p:nvSpPr>
        <p:spPr>
          <a:xfrm>
            <a:off x="5577840" y="2651760"/>
            <a:ext cx="2505456" cy="411480"/>
          </a:xfrm>
          <a:prstGeom prst="rect">
            <a:avLst/>
          </a:prstGeom>
          <a:noFill/>
        </p:spPr>
        <p:txBody>
          <a:bodyPr wrap="square" lIns="0" rIns="0" tIns="0" bIns="0" anchor="t"/>
          <a:lstStyle/>
          <a:p>
            <a:pPr algn="l"/>
            <a:r>
              <a:rPr sz="1050" b="0" i="0" lang="ja-JP" altLang="en-US">
                <a:solidFill>
                  <a:srgbClr val="222222"/>
                </a:solidFill>
                <a:latin typeface="BIZ UDゴシック"/>
                <a:ea typeface="BIZ UDゴシック"/>
                <a:cs typeface="BIZ UDゴシック"/>
              </a:rPr>
              <a:t>重要な決定・未決事項を何件拾えたか</a:t>
            </a:r>
          </a:p>
        </p:txBody>
      </p:sp>
      <p:sp>
        <p:nvSpPr>
          <p:cNvPr id="22" name="Rounded Rectangle 21"/>
          <p:cNvSpPr/>
          <p:nvPr/>
        </p:nvSpPr>
        <p:spPr>
          <a:xfrm>
            <a:off x="8449056" y="2148840"/>
            <a:ext cx="3282696" cy="960120"/>
          </a:xfrm>
          <a:prstGeom prst="roundRect">
            <a:avLst>
              <a:gd name="adj" fmla="val 9523"/>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Oval 22"/>
          <p:cNvSpPr/>
          <p:nvPr/>
        </p:nvSpPr>
        <p:spPr>
          <a:xfrm>
            <a:off x="8631936" y="2313432"/>
            <a:ext cx="329184" cy="329184"/>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2</a:t>
            </a:r>
          </a:p>
        </p:txBody>
      </p:sp>
      <p:sp>
        <p:nvSpPr>
          <p:cNvPr id="24" name="TextBox 23"/>
          <p:cNvSpPr txBox="1"/>
          <p:nvPr/>
        </p:nvSpPr>
        <p:spPr>
          <a:xfrm>
            <a:off x="9089136" y="2276856"/>
            <a:ext cx="2505456" cy="384048"/>
          </a:xfrm>
          <a:prstGeom prst="rect">
            <a:avLst/>
          </a:prstGeom>
          <a:noFill/>
        </p:spPr>
        <p:txBody>
          <a:bodyPr wrap="square" lIns="0" rIns="0" tIns="0" bIns="0" anchor="ctr"/>
          <a:lstStyle/>
          <a:p>
            <a:pPr algn="l"/>
            <a:r>
              <a:rPr sz="1300" b="1" i="0" lang="ja-JP" altLang="en-US">
                <a:solidFill>
                  <a:srgbClr val="1E2761"/>
                </a:solidFill>
                <a:latin typeface="BIZ UDゴシック"/>
                <a:ea typeface="BIZ UDゴシック"/>
                <a:cs typeface="BIZ UDゴシック"/>
              </a:rPr>
              <a:t>出典正確率</a:t>
            </a:r>
          </a:p>
        </p:txBody>
      </p:sp>
      <p:sp>
        <p:nvSpPr>
          <p:cNvPr id="25" name="TextBox 24"/>
          <p:cNvSpPr txBox="1"/>
          <p:nvPr/>
        </p:nvSpPr>
        <p:spPr>
          <a:xfrm>
            <a:off x="9089136" y="2651760"/>
            <a:ext cx="2505456" cy="411480"/>
          </a:xfrm>
          <a:prstGeom prst="rect">
            <a:avLst/>
          </a:prstGeom>
          <a:noFill/>
        </p:spPr>
        <p:txBody>
          <a:bodyPr wrap="square" lIns="0" rIns="0" tIns="0" bIns="0" anchor="t"/>
          <a:lstStyle/>
          <a:p>
            <a:pPr algn="l"/>
            <a:r>
              <a:rPr sz="1050" b="0" i="0" lang="ja-JP" altLang="en-US">
                <a:solidFill>
                  <a:srgbClr val="222222"/>
                </a:solidFill>
                <a:latin typeface="BIZ UDゴシック"/>
                <a:ea typeface="BIZ UDゴシック"/>
                <a:cs typeface="BIZ UDゴシック"/>
              </a:rPr>
              <a:t>根拠が実際の文書・メールに対応しているか</a:t>
            </a:r>
          </a:p>
        </p:txBody>
      </p:sp>
      <p:sp>
        <p:nvSpPr>
          <p:cNvPr id="26" name="Rounded Rectangle 25"/>
          <p:cNvSpPr/>
          <p:nvPr/>
        </p:nvSpPr>
        <p:spPr>
          <a:xfrm>
            <a:off x="4937760" y="3264408"/>
            <a:ext cx="3282696" cy="960120"/>
          </a:xfrm>
          <a:prstGeom prst="roundRect">
            <a:avLst>
              <a:gd name="adj" fmla="val 9523"/>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Oval 26"/>
          <p:cNvSpPr/>
          <p:nvPr/>
        </p:nvSpPr>
        <p:spPr>
          <a:xfrm>
            <a:off x="5120640" y="3429000"/>
            <a:ext cx="329184" cy="329184"/>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3</a:t>
            </a:r>
          </a:p>
        </p:txBody>
      </p:sp>
      <p:sp>
        <p:nvSpPr>
          <p:cNvPr id="28" name="TextBox 27"/>
          <p:cNvSpPr txBox="1"/>
          <p:nvPr/>
        </p:nvSpPr>
        <p:spPr>
          <a:xfrm>
            <a:off x="5577840" y="3392424"/>
            <a:ext cx="2505456" cy="384048"/>
          </a:xfrm>
          <a:prstGeom prst="rect">
            <a:avLst/>
          </a:prstGeom>
          <a:noFill/>
        </p:spPr>
        <p:txBody>
          <a:bodyPr wrap="square" lIns="0" rIns="0" tIns="0" bIns="0" anchor="ctr"/>
          <a:lstStyle/>
          <a:p>
            <a:pPr algn="l"/>
            <a:r>
              <a:rPr sz="1300" b="1" i="0" lang="ja-JP" altLang="en-US">
                <a:solidFill>
                  <a:srgbClr val="1E2761"/>
                </a:solidFill>
                <a:latin typeface="BIZ UDゴシック"/>
                <a:ea typeface="BIZ UDゴシック"/>
                <a:cs typeface="BIZ UDゴシック"/>
              </a:rPr>
              <a:t>欠落時の挙動</a:t>
            </a:r>
          </a:p>
        </p:txBody>
      </p:sp>
      <p:sp>
        <p:nvSpPr>
          <p:cNvPr id="29" name="TextBox 28"/>
          <p:cNvSpPr txBox="1"/>
          <p:nvPr/>
        </p:nvSpPr>
        <p:spPr>
          <a:xfrm>
            <a:off x="5577840" y="3767328"/>
            <a:ext cx="2505456" cy="411480"/>
          </a:xfrm>
          <a:prstGeom prst="rect">
            <a:avLst/>
          </a:prstGeom>
          <a:noFill/>
        </p:spPr>
        <p:txBody>
          <a:bodyPr wrap="square" lIns="0" rIns="0" tIns="0" bIns="0" anchor="t"/>
          <a:lstStyle/>
          <a:p>
            <a:pPr algn="l"/>
            <a:r>
              <a:rPr sz="1050" b="0" i="0" lang="ja-JP" altLang="en-US">
                <a:solidFill>
                  <a:srgbClr val="222222"/>
                </a:solidFill>
                <a:latin typeface="BIZ UDゴシック"/>
                <a:ea typeface="BIZ UDゴシック"/>
                <a:cs typeface="BIZ UDゴシック"/>
              </a:rPr>
              <a:t>取得不能な情報を勝手に補完していないか</a:t>
            </a:r>
          </a:p>
        </p:txBody>
      </p:sp>
      <p:sp>
        <p:nvSpPr>
          <p:cNvPr id="30" name="Rounded Rectangle 29"/>
          <p:cNvSpPr/>
          <p:nvPr/>
        </p:nvSpPr>
        <p:spPr>
          <a:xfrm>
            <a:off x="8449056" y="3264408"/>
            <a:ext cx="3282696" cy="960120"/>
          </a:xfrm>
          <a:prstGeom prst="roundRect">
            <a:avLst>
              <a:gd name="adj" fmla="val 9523"/>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Oval 30"/>
          <p:cNvSpPr/>
          <p:nvPr/>
        </p:nvSpPr>
        <p:spPr>
          <a:xfrm>
            <a:off x="8631936" y="3429000"/>
            <a:ext cx="329184" cy="329184"/>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4</a:t>
            </a:r>
          </a:p>
        </p:txBody>
      </p:sp>
      <p:sp>
        <p:nvSpPr>
          <p:cNvPr id="32" name="TextBox 31"/>
          <p:cNvSpPr txBox="1"/>
          <p:nvPr/>
        </p:nvSpPr>
        <p:spPr>
          <a:xfrm>
            <a:off x="9089136" y="3392424"/>
            <a:ext cx="2505456" cy="384048"/>
          </a:xfrm>
          <a:prstGeom prst="rect">
            <a:avLst/>
          </a:prstGeom>
          <a:noFill/>
        </p:spPr>
        <p:txBody>
          <a:bodyPr wrap="square" lIns="0" rIns="0" tIns="0" bIns="0" anchor="ctr"/>
          <a:lstStyle/>
          <a:p>
            <a:pPr algn="l"/>
            <a:r>
              <a:rPr sz="1300" b="1" i="0" lang="ja-JP" altLang="en-US">
                <a:solidFill>
                  <a:srgbClr val="1E2761"/>
                </a:solidFill>
                <a:latin typeface="BIZ UDゴシック"/>
                <a:ea typeface="BIZ UDゴシック"/>
                <a:cs typeface="BIZ UDゴシック"/>
              </a:rPr>
              <a:t>承認違反件数</a:t>
            </a:r>
          </a:p>
        </p:txBody>
      </p:sp>
      <p:sp>
        <p:nvSpPr>
          <p:cNvPr id="33" name="TextBox 32"/>
          <p:cNvSpPr txBox="1"/>
          <p:nvPr/>
        </p:nvSpPr>
        <p:spPr>
          <a:xfrm>
            <a:off x="9089136" y="3767328"/>
            <a:ext cx="2505456" cy="411480"/>
          </a:xfrm>
          <a:prstGeom prst="rect">
            <a:avLst/>
          </a:prstGeom>
          <a:noFill/>
        </p:spPr>
        <p:txBody>
          <a:bodyPr wrap="square" lIns="0" rIns="0" tIns="0" bIns="0" anchor="t"/>
          <a:lstStyle/>
          <a:p>
            <a:pPr algn="l"/>
            <a:r>
              <a:rPr sz="1050" b="0" i="0" lang="ja-JP" altLang="en-US">
                <a:solidFill>
                  <a:srgbClr val="222222"/>
                </a:solidFill>
                <a:latin typeface="BIZ UDゴシック"/>
                <a:ea typeface="BIZ UDゴシック"/>
                <a:cs typeface="BIZ UDゴシック"/>
              </a:rPr>
              <a:t>依頼なく外部送信や変更を行っていないか</a:t>
            </a:r>
          </a:p>
        </p:txBody>
      </p:sp>
      <p:sp>
        <p:nvSpPr>
          <p:cNvPr id="34" name="Rounded Rectangle 33"/>
          <p:cNvSpPr/>
          <p:nvPr/>
        </p:nvSpPr>
        <p:spPr>
          <a:xfrm>
            <a:off x="4937760" y="4379976"/>
            <a:ext cx="3282696" cy="960120"/>
          </a:xfrm>
          <a:prstGeom prst="roundRect">
            <a:avLst>
              <a:gd name="adj" fmla="val 9523"/>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Oval 34"/>
          <p:cNvSpPr/>
          <p:nvPr/>
        </p:nvSpPr>
        <p:spPr>
          <a:xfrm>
            <a:off x="5120640" y="4544568"/>
            <a:ext cx="329184" cy="329184"/>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5</a:t>
            </a:r>
          </a:p>
        </p:txBody>
      </p:sp>
      <p:sp>
        <p:nvSpPr>
          <p:cNvPr id="36" name="TextBox 35"/>
          <p:cNvSpPr txBox="1"/>
          <p:nvPr/>
        </p:nvSpPr>
        <p:spPr>
          <a:xfrm>
            <a:off x="5577840" y="4507992"/>
            <a:ext cx="2505456" cy="384048"/>
          </a:xfrm>
          <a:prstGeom prst="rect">
            <a:avLst/>
          </a:prstGeom>
          <a:noFill/>
        </p:spPr>
        <p:txBody>
          <a:bodyPr wrap="square" lIns="0" rIns="0" tIns="0" bIns="0" anchor="ctr"/>
          <a:lstStyle/>
          <a:p>
            <a:pPr algn="l"/>
            <a:r>
              <a:rPr sz="1300" b="1" i="0" lang="ja-JP" altLang="en-US">
                <a:solidFill>
                  <a:srgbClr val="1E2761"/>
                </a:solidFill>
                <a:latin typeface="BIZ UDゴシック"/>
                <a:ea typeface="BIZ UDゴシック"/>
                <a:cs typeface="BIZ UDゴシック"/>
              </a:rPr>
              <a:t>成果物の一致度</a:t>
            </a:r>
          </a:p>
        </p:txBody>
      </p:sp>
      <p:sp>
        <p:nvSpPr>
          <p:cNvPr id="37" name="TextBox 36"/>
          <p:cNvSpPr txBox="1"/>
          <p:nvPr/>
        </p:nvSpPr>
        <p:spPr>
          <a:xfrm>
            <a:off x="5577840" y="4882896"/>
            <a:ext cx="2505456" cy="411480"/>
          </a:xfrm>
          <a:prstGeom prst="rect">
            <a:avLst/>
          </a:prstGeom>
          <a:noFill/>
        </p:spPr>
        <p:txBody>
          <a:bodyPr wrap="square" lIns="0" rIns="0" tIns="0" bIns="0" anchor="t"/>
          <a:lstStyle/>
          <a:p>
            <a:pPr algn="l"/>
            <a:r>
              <a:rPr sz="1050" b="0" i="0" lang="ja-JP" altLang="en-US">
                <a:solidFill>
                  <a:srgbClr val="222222"/>
                </a:solidFill>
                <a:latin typeface="BIZ UDゴシック"/>
                <a:ea typeface="BIZ UDゴシック"/>
                <a:cs typeface="BIZ UDゴシック"/>
              </a:rPr>
              <a:t>指定テンプレートの必要項目が揃うか</a:t>
            </a:r>
          </a:p>
        </p:txBody>
      </p:sp>
      <p:sp>
        <p:nvSpPr>
          <p:cNvPr id="38" name="Rounded Rectangle 37"/>
          <p:cNvSpPr/>
          <p:nvPr/>
        </p:nvSpPr>
        <p:spPr>
          <a:xfrm>
            <a:off x="8449056" y="4379976"/>
            <a:ext cx="3282696" cy="960120"/>
          </a:xfrm>
          <a:prstGeom prst="roundRect">
            <a:avLst>
              <a:gd name="adj" fmla="val 9523"/>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Oval 38"/>
          <p:cNvSpPr/>
          <p:nvPr/>
        </p:nvSpPr>
        <p:spPr>
          <a:xfrm>
            <a:off x="8631936" y="4544568"/>
            <a:ext cx="329184" cy="329184"/>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6</a:t>
            </a:r>
          </a:p>
        </p:txBody>
      </p:sp>
      <p:sp>
        <p:nvSpPr>
          <p:cNvPr id="40" name="TextBox 39"/>
          <p:cNvSpPr txBox="1"/>
          <p:nvPr/>
        </p:nvSpPr>
        <p:spPr>
          <a:xfrm>
            <a:off x="9089136" y="4507992"/>
            <a:ext cx="2505456" cy="384048"/>
          </a:xfrm>
          <a:prstGeom prst="rect">
            <a:avLst/>
          </a:prstGeom>
          <a:noFill/>
        </p:spPr>
        <p:txBody>
          <a:bodyPr wrap="square" lIns="0" rIns="0" tIns="0" bIns="0" anchor="ctr"/>
          <a:lstStyle/>
          <a:p>
            <a:pPr algn="l"/>
            <a:r>
              <a:rPr sz="1300" b="1" i="0" lang="ja-JP" altLang="en-US">
                <a:solidFill>
                  <a:srgbClr val="1E2761"/>
                </a:solidFill>
                <a:latin typeface="BIZ UDゴシック"/>
                <a:ea typeface="BIZ UDゴシック"/>
                <a:cs typeface="BIZ UDゴシック"/>
              </a:rPr>
              <a:t>工数</a:t>
            </a:r>
          </a:p>
        </p:txBody>
      </p:sp>
      <p:sp>
        <p:nvSpPr>
          <p:cNvPr id="41" name="TextBox 40"/>
          <p:cNvSpPr txBox="1"/>
          <p:nvPr/>
        </p:nvSpPr>
        <p:spPr>
          <a:xfrm>
            <a:off x="9089136" y="4882896"/>
            <a:ext cx="2505456" cy="411480"/>
          </a:xfrm>
          <a:prstGeom prst="rect">
            <a:avLst/>
          </a:prstGeom>
          <a:noFill/>
        </p:spPr>
        <p:txBody>
          <a:bodyPr wrap="square" lIns="0" rIns="0" tIns="0" bIns="0" anchor="t"/>
          <a:lstStyle/>
          <a:p>
            <a:pPr algn="l"/>
            <a:r>
              <a:rPr sz="1050" b="0" i="0" lang="ja-JP" altLang="en-US">
                <a:solidFill>
                  <a:srgbClr val="222222"/>
                </a:solidFill>
                <a:latin typeface="BIZ UDゴシック"/>
                <a:ea typeface="BIZ UDゴシック"/>
                <a:cs typeface="BIZ UDゴシック"/>
              </a:rPr>
              <a:t>人が修正・確認するのに要した時間</a:t>
            </a:r>
          </a:p>
        </p:txBody>
      </p:sp>
      <p:sp>
        <p:nvSpPr>
          <p:cNvPr id="42" name="Rounded Rectangle 41"/>
          <p:cNvSpPr/>
          <p:nvPr/>
        </p:nvSpPr>
        <p:spPr>
          <a:xfrm>
            <a:off x="457200" y="5669280"/>
            <a:ext cx="11274552" cy="566928"/>
          </a:xfrm>
          <a:prstGeom prst="roundRect">
            <a:avLst>
              <a:gd name="adj" fmla="val 12903"/>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274320" rIns="274320" tIns="0" bIns="0" wrap="square"/>
          <a:lstStyle/>
          <a:p>
            <a:pPr algn="l"/>
            <a:r>
              <a:rPr sz="1250" b="1" i="0" lang="ja-JP" altLang="en-US">
                <a:solidFill>
                  <a:srgbClr val="B87A1E"/>
                </a:solidFill>
                <a:latin typeface="BIZ UDゴシック"/>
                <a:ea typeface="BIZ UDゴシック"/>
                <a:cs typeface="BIZ UDゴシック"/>
              </a:rPr>
              <a:t>判定原則　</a:t>
            </a:r>
            <a:r>
              <a:rPr sz="1250" b="0" i="0" lang="ja-JP" altLang="en-US">
                <a:solidFill>
                  <a:srgbClr val="222222"/>
                </a:solidFill>
                <a:latin typeface="BIZ UDゴシック"/>
                <a:ea typeface="BIZ UDゴシック"/>
                <a:cs typeface="BIZ UDゴシック"/>
              </a:rPr>
              <a:t>Skills導入による改善は仮説。結果が出るまでは、向上率・削減率を数値で断言しない。</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実装イメージ：会議準備Skillの最小構成</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難しい仕組みではなく、まずは業務マニュアルの再利用から。</a:t>
            </a:r>
          </a:p>
        </p:txBody>
      </p:sp>
      <p:sp>
        <p:nvSpPr>
          <p:cNvPr id="7" name="TextBox 6"/>
          <p:cNvSpPr txBox="1"/>
          <p:nvPr/>
        </p:nvSpPr>
        <p:spPr>
          <a:xfrm>
            <a:off x="457200" y="1783080"/>
            <a:ext cx="4206240" cy="274320"/>
          </a:xfrm>
          <a:prstGeom prst="rect">
            <a:avLst/>
          </a:prstGeom>
          <a:noFill/>
        </p:spPr>
        <p:txBody>
          <a:bodyPr wrap="square" lIns="0" rIns="0" tIns="0" bIns="0" anchor="t"/>
          <a:lstStyle/>
          <a:p>
            <a:pPr algn="l"/>
            <a:r>
              <a:rPr sz="1200" b="1" i="0" lang="ja-JP" altLang="en-US">
                <a:solidFill>
                  <a:srgbClr val="1E2761"/>
                </a:solidFill>
                <a:latin typeface="BIZ UDゴシック"/>
                <a:ea typeface="BIZ UDゴシック"/>
                <a:cs typeface="BIZ UDゴシック"/>
              </a:rPr>
              <a:t>フォルダ構成</a:t>
            </a:r>
          </a:p>
        </p:txBody>
      </p:sp>
      <p:sp>
        <p:nvSpPr>
          <p:cNvPr id="8" name="Rounded Rectangle 7"/>
          <p:cNvSpPr/>
          <p:nvPr/>
        </p:nvSpPr>
        <p:spPr>
          <a:xfrm>
            <a:off x="457200" y="2103120"/>
            <a:ext cx="4206240" cy="1600200"/>
          </a:xfrm>
          <a:prstGeom prst="roundRect">
            <a:avLst>
              <a:gd name="adj" fmla="val 5714"/>
            </a:avLst>
          </a:prstGeom>
          <a:solidFill>
            <a:srgbClr val="141A45"/>
          </a:solidFill>
          <a:ln>
            <a:noFill/>
          </a:ln>
        </p:spPr>
        <p:style>
          <a:lnRef idx="1">
            <a:schemeClr val="accent1"/>
          </a:lnRef>
          <a:fillRef idx="3">
            <a:schemeClr val="accent1"/>
          </a:fillRef>
          <a:effectRef idx="2">
            <a:schemeClr val="accent1"/>
          </a:effectRef>
          <a:fontRef idx="minor">
            <a:schemeClr val="lt1"/>
          </a:fontRef>
        </p:style>
        <p:txBody>
          <a:bodyPr rtlCol="0" anchor="ctr" lIns="274320" rIns="274320" tIns="137160" bIns="137160" wrap="square"/>
          <a:lstStyle/>
          <a:p>
            <a:pPr algn="l">
              <a:lnSpc>
                <a:spcPct val="115000"/>
              </a:lnSpc>
            </a:pPr>
            <a:r>
              <a:rPr sz="1150" b="1" i="0" lang="ja-JP" altLang="en-US">
                <a:solidFill>
                  <a:srgbClr val="E8A33D"/>
                </a:solidFill>
                <a:latin typeface="BIZ UDゴシック"/>
                <a:ea typeface="BIZ UDゴシック"/>
                <a:cs typeface="BIZ UDゴシック"/>
              </a:rPr>
              <a:t>meeting-prep/</a:t>
            </a:r>
          </a:p>
          <a:p>
            <a:pPr algn="l">
              <a:lnSpc>
                <a:spcPct val="115000"/>
              </a:lnSpc>
            </a:pPr>
            <a:r>
              <a:rPr sz="1150" b="0" i="0" lang="ja-JP" altLang="en-US">
                <a:solidFill>
                  <a:srgbClr val="CADCFC"/>
                </a:solidFill>
                <a:latin typeface="BIZ UDゴシック"/>
                <a:ea typeface="BIZ UDゴシック"/>
                <a:cs typeface="BIZ UDゴシック"/>
              </a:rPr>
              <a:t>　SKILL.md</a:t>
            </a:r>
          </a:p>
          <a:p>
            <a:pPr algn="l">
              <a:lnSpc>
                <a:spcPct val="115000"/>
              </a:lnSpc>
            </a:pPr>
            <a:r>
              <a:rPr sz="1150" b="0" i="0" lang="ja-JP" altLang="en-US">
                <a:solidFill>
                  <a:srgbClr val="E8A33D"/>
                </a:solidFill>
                <a:latin typeface="BIZ UDゴシック"/>
                <a:ea typeface="BIZ UDゴシック"/>
                <a:cs typeface="BIZ UDゴシック"/>
              </a:rPr>
              <a:t>　references/</a:t>
            </a:r>
          </a:p>
          <a:p>
            <a:pPr algn="l">
              <a:lnSpc>
                <a:spcPct val="115000"/>
              </a:lnSpc>
            </a:pPr>
            <a:r>
              <a:rPr sz="1150" b="0" i="0" lang="ja-JP" altLang="en-US">
                <a:solidFill>
                  <a:srgbClr val="CADCFC"/>
                </a:solidFill>
                <a:latin typeface="BIZ UDゴシック"/>
                <a:ea typeface="BIZ UDゴシック"/>
                <a:cs typeface="BIZ UDゴシック"/>
              </a:rPr>
              <a:t>　　agenda-policy.md</a:t>
            </a:r>
          </a:p>
          <a:p>
            <a:pPr algn="l">
              <a:lnSpc>
                <a:spcPct val="115000"/>
              </a:lnSpc>
            </a:pPr>
            <a:r>
              <a:rPr sz="1150" b="0" i="0" lang="ja-JP" altLang="en-US">
                <a:solidFill>
                  <a:srgbClr val="E8A33D"/>
                </a:solidFill>
                <a:latin typeface="BIZ UDゴシック"/>
                <a:ea typeface="BIZ UDゴシック"/>
                <a:cs typeface="BIZ UDゴシック"/>
              </a:rPr>
              <a:t>　assets/</a:t>
            </a:r>
          </a:p>
          <a:p>
            <a:pPr algn="l">
              <a:lnSpc>
                <a:spcPct val="115000"/>
              </a:lnSpc>
            </a:pPr>
            <a:r>
              <a:rPr sz="1150" b="0" i="0" lang="ja-JP" altLang="en-US">
                <a:solidFill>
                  <a:srgbClr val="CADCFC"/>
                </a:solidFill>
                <a:latin typeface="BIZ UDゴシック"/>
                <a:ea typeface="BIZ UDゴシック"/>
                <a:cs typeface="BIZ UDゴシック"/>
              </a:rPr>
              <a:t>　　agenda-template.md</a:t>
            </a:r>
          </a:p>
        </p:txBody>
      </p:sp>
      <p:sp>
        <p:nvSpPr>
          <p:cNvPr id="9" name="TextBox 8"/>
          <p:cNvSpPr txBox="1"/>
          <p:nvPr/>
        </p:nvSpPr>
        <p:spPr>
          <a:xfrm>
            <a:off x="457200" y="3886200"/>
            <a:ext cx="4206240" cy="274320"/>
          </a:xfrm>
          <a:prstGeom prst="rect">
            <a:avLst/>
          </a:prstGeom>
          <a:noFill/>
        </p:spPr>
        <p:txBody>
          <a:bodyPr wrap="square" lIns="0" rIns="0" tIns="0" bIns="0" anchor="t"/>
          <a:lstStyle/>
          <a:p>
            <a:pPr algn="l"/>
            <a:r>
              <a:rPr sz="1200" b="1" i="0" lang="ja-JP" altLang="en-US">
                <a:solidFill>
                  <a:srgbClr val="1E2761"/>
                </a:solidFill>
                <a:latin typeface="BIZ UDゴシック"/>
                <a:ea typeface="BIZ UDゴシック"/>
                <a:cs typeface="BIZ UDゴシック"/>
              </a:rPr>
              <a:t>SKILL.md の冒頭（メタデータ）</a:t>
            </a:r>
          </a:p>
        </p:txBody>
      </p:sp>
      <p:sp>
        <p:nvSpPr>
          <p:cNvPr id="10" name="Rounded Rectangle 9"/>
          <p:cNvSpPr/>
          <p:nvPr/>
        </p:nvSpPr>
        <p:spPr>
          <a:xfrm>
            <a:off x="457200" y="4206240"/>
            <a:ext cx="4206240" cy="1280160"/>
          </a:xfrm>
          <a:prstGeom prst="roundRect">
            <a:avLst>
              <a:gd name="adj" fmla="val 7142"/>
            </a:avLst>
          </a:prstGeom>
          <a:solidFill>
            <a:srgbClr val="141A45"/>
          </a:solidFill>
          <a:ln>
            <a:noFill/>
          </a:ln>
        </p:spPr>
        <p:style>
          <a:lnRef idx="1">
            <a:schemeClr val="accent1"/>
          </a:lnRef>
          <a:fillRef idx="3">
            <a:schemeClr val="accent1"/>
          </a:fillRef>
          <a:effectRef idx="2">
            <a:schemeClr val="accent1"/>
          </a:effectRef>
          <a:fontRef idx="minor">
            <a:schemeClr val="lt1"/>
          </a:fontRef>
        </p:style>
        <p:txBody>
          <a:bodyPr rtlCol="0" anchor="ctr" lIns="274320" rIns="274320" tIns="109728" bIns="109728" wrap="square"/>
          <a:lstStyle/>
          <a:p>
            <a:pPr algn="l"/>
            <a:r>
              <a:rPr sz="1050" b="0" i="0" lang="ja-JP" altLang="en-US">
                <a:solidFill>
                  <a:srgbClr val="8C97AE"/>
                </a:solidFill>
                <a:latin typeface="BIZ UDゴシック"/>
                <a:ea typeface="BIZ UDゴシック"/>
                <a:cs typeface="BIZ UDゴシック"/>
              </a:rPr>
              <a:t>---</a:t>
            </a:r>
          </a:p>
          <a:p>
            <a:pPr algn="l"/>
            <a:r>
              <a:rPr sz="1050" b="0" i="0" lang="ja-JP" altLang="en-US">
                <a:solidFill>
                  <a:srgbClr val="E8A33D"/>
                </a:solidFill>
                <a:latin typeface="BIZ UDゴシック"/>
                <a:ea typeface="BIZ UDゴシック"/>
                <a:cs typeface="BIZ UDゴシック"/>
              </a:rPr>
              <a:t>name: </a:t>
            </a:r>
            <a:r>
              <a:rPr sz="1050" b="0" i="0" lang="ja-JP" altLang="en-US">
                <a:solidFill>
                  <a:srgbClr val="CADCFC"/>
                </a:solidFill>
                <a:latin typeface="BIZ UDゴシック"/>
                <a:ea typeface="BIZ UDゴシック"/>
                <a:cs typeface="BIZ UDゴシック"/>
              </a:rPr>
              <a:t>meeting-prep</a:t>
            </a:r>
          </a:p>
          <a:p>
            <a:pPr algn="l"/>
            <a:r>
              <a:rPr sz="1050" b="0" i="0" lang="ja-JP" altLang="en-US">
                <a:solidFill>
                  <a:srgbClr val="E8A33D"/>
                </a:solidFill>
                <a:latin typeface="BIZ UDゴシック"/>
                <a:ea typeface="BIZ UDゴシック"/>
                <a:cs typeface="BIZ UDゴシック"/>
              </a:rPr>
              <a:t>description: </a:t>
            </a:r>
            <a:r>
              <a:rPr sz="1050" b="0" i="0" lang="ja-JP" altLang="en-US">
                <a:solidFill>
                  <a:srgbClr val="CADCFC"/>
                </a:solidFill>
                <a:latin typeface="BIZ UDゴシック"/>
                <a:ea typeface="BIZ UDゴシック"/>
                <a:cs typeface="BIZ UDゴシック"/>
              </a:rPr>
              <a:t>会議の準備を依頼されたとき、議題・議事録・関連情報を確認し、事前準備資料を作る。</a:t>
            </a:r>
          </a:p>
          <a:p>
            <a:pPr algn="l"/>
            <a:r>
              <a:rPr sz="1050" b="0" i="0" lang="ja-JP" altLang="en-US">
                <a:solidFill>
                  <a:srgbClr val="8C97AE"/>
                </a:solidFill>
                <a:latin typeface="BIZ UDゴシック"/>
                <a:ea typeface="BIZ UDゴシック"/>
                <a:cs typeface="BIZ UDゴシック"/>
              </a:rPr>
              <a:t>---</a:t>
            </a:r>
          </a:p>
        </p:txBody>
      </p:sp>
      <p:sp>
        <p:nvSpPr>
          <p:cNvPr id="11" name="Rounded Rectangle 10"/>
          <p:cNvSpPr/>
          <p:nvPr/>
        </p:nvSpPr>
        <p:spPr>
          <a:xfrm>
            <a:off x="4937760" y="1783080"/>
            <a:ext cx="6793992" cy="3703320"/>
          </a:xfrm>
          <a:prstGeom prst="roundRect">
            <a:avLst>
              <a:gd name="adj" fmla="val 2469"/>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5212080" y="1938528"/>
            <a:ext cx="6309360" cy="320040"/>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SKILL.md 本文：手順（概念例）</a:t>
            </a:r>
          </a:p>
        </p:txBody>
      </p:sp>
      <p:sp>
        <p:nvSpPr>
          <p:cNvPr id="13" name="Oval 12"/>
          <p:cNvSpPr/>
          <p:nvPr/>
        </p:nvSpPr>
        <p:spPr>
          <a:xfrm>
            <a:off x="5212080" y="2450592"/>
            <a:ext cx="329184" cy="329184"/>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1</a:t>
            </a:r>
          </a:p>
        </p:txBody>
      </p:sp>
      <p:sp>
        <p:nvSpPr>
          <p:cNvPr id="14" name="TextBox 13"/>
          <p:cNvSpPr txBox="1"/>
          <p:nvPr/>
        </p:nvSpPr>
        <p:spPr>
          <a:xfrm>
            <a:off x="5715000" y="2395728"/>
            <a:ext cx="5852160" cy="438912"/>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対象の会議を特定し、曖昧なら確認する</a:t>
            </a:r>
          </a:p>
        </p:txBody>
      </p:sp>
      <p:sp>
        <p:nvSpPr>
          <p:cNvPr id="15" name="Oval 14"/>
          <p:cNvSpPr/>
          <p:nvPr/>
        </p:nvSpPr>
        <p:spPr>
          <a:xfrm>
            <a:off x="5212080" y="2953512"/>
            <a:ext cx="329184" cy="329184"/>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2</a:t>
            </a:r>
          </a:p>
        </p:txBody>
      </p:sp>
      <p:sp>
        <p:nvSpPr>
          <p:cNvPr id="16" name="TextBox 15"/>
          <p:cNvSpPr txBox="1"/>
          <p:nvPr/>
        </p:nvSpPr>
        <p:spPr>
          <a:xfrm>
            <a:off x="5715000" y="2898648"/>
            <a:ext cx="5852160" cy="438912"/>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予定・議事録・関連文書を権限内で取得する</a:t>
            </a:r>
          </a:p>
        </p:txBody>
      </p:sp>
      <p:sp>
        <p:nvSpPr>
          <p:cNvPr id="17" name="Oval 16"/>
          <p:cNvSpPr/>
          <p:nvPr/>
        </p:nvSpPr>
        <p:spPr>
          <a:xfrm>
            <a:off x="5212080" y="3456432"/>
            <a:ext cx="329184" cy="329184"/>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3</a:t>
            </a:r>
          </a:p>
        </p:txBody>
      </p:sp>
      <p:sp>
        <p:nvSpPr>
          <p:cNvPr id="18" name="TextBox 17"/>
          <p:cNvSpPr txBox="1"/>
          <p:nvPr/>
        </p:nvSpPr>
        <p:spPr>
          <a:xfrm>
            <a:off x="5715000" y="3401568"/>
            <a:ext cx="5852160" cy="438912"/>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決定済み、未決、要確認を分類する</a:t>
            </a:r>
          </a:p>
        </p:txBody>
      </p:sp>
      <p:sp>
        <p:nvSpPr>
          <p:cNvPr id="19" name="Oval 18"/>
          <p:cNvSpPr/>
          <p:nvPr/>
        </p:nvSpPr>
        <p:spPr>
          <a:xfrm>
            <a:off x="5212080" y="3959352"/>
            <a:ext cx="329184" cy="329184"/>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4</a:t>
            </a:r>
          </a:p>
        </p:txBody>
      </p:sp>
      <p:sp>
        <p:nvSpPr>
          <p:cNvPr id="20" name="TextBox 19"/>
          <p:cNvSpPr txBox="1"/>
          <p:nvPr/>
        </p:nvSpPr>
        <p:spPr>
          <a:xfrm>
            <a:off x="5715000" y="3904488"/>
            <a:ext cx="5852160" cy="438912"/>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アジェンダ案と事前確認事項を出す</a:t>
            </a:r>
          </a:p>
        </p:txBody>
      </p:sp>
      <p:sp>
        <p:nvSpPr>
          <p:cNvPr id="21" name="Oval 20"/>
          <p:cNvSpPr/>
          <p:nvPr/>
        </p:nvSpPr>
        <p:spPr>
          <a:xfrm>
            <a:off x="5212080" y="4462272"/>
            <a:ext cx="329184" cy="329184"/>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5</a:t>
            </a:r>
          </a:p>
        </p:txBody>
      </p:sp>
      <p:sp>
        <p:nvSpPr>
          <p:cNvPr id="22" name="TextBox 21"/>
          <p:cNvSpPr txBox="1"/>
          <p:nvPr/>
        </p:nvSpPr>
        <p:spPr>
          <a:xfrm>
            <a:off x="5715000" y="4407408"/>
            <a:ext cx="5852160" cy="438912"/>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出典と未取得情報を明示する</a:t>
            </a:r>
          </a:p>
        </p:txBody>
      </p:sp>
      <p:sp>
        <p:nvSpPr>
          <p:cNvPr id="23" name="Oval 22"/>
          <p:cNvSpPr/>
          <p:nvPr/>
        </p:nvSpPr>
        <p:spPr>
          <a:xfrm>
            <a:off x="5212080" y="4965192"/>
            <a:ext cx="329184" cy="329184"/>
          </a:xfrm>
          <a:prstGeom prst="ellipse">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100" b="1" i="0" lang="ja-JP" altLang="en-US">
                <a:solidFill>
                  <a:srgbClr val="FFFFFF"/>
                </a:solidFill>
                <a:latin typeface="BIZ UDゴシック"/>
                <a:ea typeface="BIZ UDゴシック"/>
                <a:cs typeface="BIZ UDゴシック"/>
              </a:rPr>
              <a:t>6</a:t>
            </a:r>
          </a:p>
        </p:txBody>
      </p:sp>
      <p:sp>
        <p:nvSpPr>
          <p:cNvPr id="24" name="TextBox 23"/>
          <p:cNvSpPr txBox="1"/>
          <p:nvPr/>
        </p:nvSpPr>
        <p:spPr>
          <a:xfrm>
            <a:off x="5715000" y="4910328"/>
            <a:ext cx="5852160" cy="438912"/>
          </a:xfrm>
          <a:prstGeom prst="rect">
            <a:avLst/>
          </a:prstGeom>
          <a:noFill/>
        </p:spPr>
        <p:txBody>
          <a:bodyPr wrap="square" lIns="0" rIns="0" tIns="0" bIns="0" anchor="ctr"/>
          <a:lstStyle/>
          <a:p>
            <a:pPr algn="l"/>
            <a:r>
              <a:rPr sz="1250" b="0" i="0" lang="ja-JP" altLang="en-US">
                <a:solidFill>
                  <a:srgbClr val="1E2761"/>
                </a:solidFill>
                <a:latin typeface="BIZ UDゴシック"/>
                <a:ea typeface="BIZ UDゴシック"/>
                <a:cs typeface="BIZ UDゴシック"/>
              </a:rPr>
              <a:t>外部送信・更新前にはユーザー承認を求める</a:t>
            </a:r>
          </a:p>
        </p:txBody>
      </p:sp>
      <p:sp>
        <p:nvSpPr>
          <p:cNvPr id="25" name="Rounded Rectangle 24"/>
          <p:cNvSpPr/>
          <p:nvPr/>
        </p:nvSpPr>
        <p:spPr>
          <a:xfrm>
            <a:off x="457200" y="5669280"/>
            <a:ext cx="11274552" cy="594360"/>
          </a:xfrm>
          <a:prstGeom prst="roundRect">
            <a:avLst>
              <a:gd name="adj" fmla="val 12307"/>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274320" rIns="274320" tIns="0" bIns="0" wrap="square"/>
          <a:lstStyle/>
          <a:p>
            <a:pPr algn="l"/>
            <a:r>
              <a:rPr sz="1100" b="0" i="0" lang="ja-JP" altLang="en-US">
                <a:solidFill>
                  <a:srgbClr val="222222"/>
                </a:solidFill>
                <a:latin typeface="BIZ UDゴシック"/>
                <a:ea typeface="BIZ UDゴシック"/>
                <a:cs typeface="BIZ UDゴシック"/>
              </a:rPr>
              <a:t>※説明のための簡略例。実運用では、適切なツール名・呼び出し条件・失敗時の手順・出力評価を追加し、認可はツール側で強制する。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最終まとめ：技術論だけでなく「仕事の資産化」の話</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Skills over MCPをどう捉えるべきか。</a:t>
            </a:r>
          </a:p>
        </p:txBody>
      </p:sp>
      <p:sp>
        <p:nvSpPr>
          <p:cNvPr id="7" name="Rounded Rectangle 6"/>
          <p:cNvSpPr/>
          <p:nvPr/>
        </p:nvSpPr>
        <p:spPr>
          <a:xfrm>
            <a:off x="457200" y="1783080"/>
            <a:ext cx="5303520" cy="822960"/>
          </a:xfrm>
          <a:prstGeom prst="roundRect">
            <a:avLst>
              <a:gd name="adj" fmla="val 11111"/>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274320" rIns="274320" tIns="0" bIns="0" wrap="square"/>
          <a:lstStyle/>
          <a:p>
            <a:pPr algn="l"/>
            <a:r>
              <a:rPr sz="1200" b="1" i="0" lang="ja-JP" altLang="en-US">
                <a:solidFill>
                  <a:srgbClr val="5A6B87"/>
                </a:solidFill>
                <a:latin typeface="BIZ UDゴシック"/>
                <a:ea typeface="BIZ UDゴシック"/>
                <a:cs typeface="BIZ UDゴシック"/>
              </a:rPr>
              <a:t>Before　</a:t>
            </a:r>
            <a:r>
              <a:rPr sz="1500" b="1" i="0" lang="ja-JP" altLang="en-US">
                <a:solidFill>
                  <a:srgbClr val="1E2761"/>
                </a:solidFill>
                <a:latin typeface="BIZ UDゴシック"/>
                <a:ea typeface="BIZ UDゴシック"/>
                <a:cs typeface="BIZ UDゴシック"/>
              </a:rPr>
              <a:t>AIに「使える道具」を渡す</a:t>
            </a:r>
          </a:p>
        </p:txBody>
      </p:sp>
      <p:sp>
        <p:nvSpPr>
          <p:cNvPr id="8" name="Right Arrow 7"/>
          <p:cNvSpPr/>
          <p:nvPr/>
        </p:nvSpPr>
        <p:spPr>
          <a:xfrm>
            <a:off x="5879592" y="1965960"/>
            <a:ext cx="457200" cy="457200"/>
          </a:xfrm>
          <a:prstGeom prst="rightArrow">
            <a:avLst/>
          </a:prstGeom>
          <a:solidFill>
            <a:srgbClr val="E8A33D"/>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ounded Rectangle 8"/>
          <p:cNvSpPr/>
          <p:nvPr/>
        </p:nvSpPr>
        <p:spPr>
          <a:xfrm>
            <a:off x="6428232" y="1783080"/>
            <a:ext cx="5303520" cy="822960"/>
          </a:xfrm>
          <a:prstGeom prst="roundRect">
            <a:avLst>
              <a:gd name="adj" fmla="val 11111"/>
            </a:avLst>
          </a:prstGeom>
          <a:solidFill>
            <a:srgbClr val="FFF3DE"/>
          </a:solidFill>
          <a:ln w="12700">
            <a:solidFill>
              <a:srgbClr val="E8A33D"/>
            </a:solidFill>
          </a:ln>
        </p:spPr>
        <p:style>
          <a:lnRef idx="1">
            <a:schemeClr val="accent1"/>
          </a:lnRef>
          <a:fillRef idx="3">
            <a:schemeClr val="accent1"/>
          </a:fillRef>
          <a:effectRef idx="2">
            <a:schemeClr val="accent1"/>
          </a:effectRef>
          <a:fontRef idx="minor">
            <a:schemeClr val="lt1"/>
          </a:fontRef>
        </p:style>
        <p:txBody>
          <a:bodyPr rtlCol="0" anchor="ctr" lIns="274320" rIns="274320" tIns="0" bIns="0" wrap="square"/>
          <a:lstStyle/>
          <a:p>
            <a:pPr algn="l"/>
            <a:r>
              <a:rPr sz="1200" b="1" i="0" lang="ja-JP" altLang="en-US">
                <a:solidFill>
                  <a:srgbClr val="B87A1E"/>
                </a:solidFill>
                <a:latin typeface="BIZ UDゴシック"/>
                <a:ea typeface="BIZ UDゴシック"/>
                <a:cs typeface="BIZ UDゴシック"/>
              </a:rPr>
              <a:t>After　</a:t>
            </a:r>
            <a:r>
              <a:rPr sz="1500" b="1" i="0" lang="ja-JP" altLang="en-US">
                <a:solidFill>
                  <a:srgbClr val="1E2761"/>
                </a:solidFill>
                <a:latin typeface="BIZ UDゴシック"/>
                <a:ea typeface="BIZ UDゴシック"/>
                <a:cs typeface="BIZ UDゴシック"/>
              </a:rPr>
              <a:t>AIに「使える道具」と</a:t>
            </a:r>
            <a:r>
              <a:rPr sz="1500" b="1" i="0" lang="ja-JP" altLang="en-US">
                <a:solidFill>
                  <a:srgbClr val="B87A1E"/>
                </a:solidFill>
                <a:latin typeface="BIZ UDゴシック"/>
                <a:ea typeface="BIZ UDゴシック"/>
                <a:cs typeface="BIZ UDゴシック"/>
              </a:rPr>
              <a:t>「仕事の進め方」</a:t>
            </a:r>
            <a:r>
              <a:rPr sz="1500" b="1" i="0" lang="ja-JP" altLang="en-US">
                <a:solidFill>
                  <a:srgbClr val="1E2761"/>
                </a:solidFill>
                <a:latin typeface="BIZ UDゴシック"/>
                <a:ea typeface="BIZ UDゴシック"/>
                <a:cs typeface="BIZ UDゴシック"/>
              </a:rPr>
              <a:t>を渡す</a:t>
            </a:r>
          </a:p>
        </p:txBody>
      </p:sp>
      <p:sp>
        <p:nvSpPr>
          <p:cNvPr id="10" name="TextBox 9"/>
          <p:cNvSpPr txBox="1"/>
          <p:nvPr/>
        </p:nvSpPr>
        <p:spPr>
          <a:xfrm>
            <a:off x="457200" y="2834640"/>
            <a:ext cx="5486400" cy="274320"/>
          </a:xfrm>
          <a:prstGeom prst="rect">
            <a:avLst/>
          </a:prstGeom>
          <a:noFill/>
        </p:spPr>
        <p:txBody>
          <a:bodyPr wrap="square" lIns="0" rIns="0" tIns="0" bIns="0" anchor="t"/>
          <a:lstStyle/>
          <a:p>
            <a:pPr algn="l"/>
            <a:r>
              <a:rPr sz="1200" b="1" i="0" lang="ja-JP" altLang="en-US">
                <a:solidFill>
                  <a:srgbClr val="1E2761"/>
                </a:solidFill>
                <a:latin typeface="BIZ UDゴシック"/>
                <a:ea typeface="BIZ UDゴシック"/>
                <a:cs typeface="BIZ UDゴシック"/>
              </a:rPr>
              <a:t>価値の中心</a:t>
            </a:r>
          </a:p>
        </p:txBody>
      </p:sp>
      <p:sp>
        <p:nvSpPr>
          <p:cNvPr id="11" name="Rounded Rectangle 10"/>
          <p:cNvSpPr/>
          <p:nvPr/>
        </p:nvSpPr>
        <p:spPr>
          <a:xfrm>
            <a:off x="457200" y="3154680"/>
            <a:ext cx="2108606" cy="1600200"/>
          </a:xfrm>
          <a:prstGeom prst="roundRect">
            <a:avLst>
              <a:gd name="adj" fmla="val 5714"/>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ounded Rectangle 11"/>
          <p:cNvSpPr/>
          <p:nvPr/>
        </p:nvSpPr>
        <p:spPr>
          <a:xfrm>
            <a:off x="640080" y="3310128"/>
            <a:ext cx="1742846" cy="329184"/>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50" b="1" i="0" lang="ja-JP" altLang="en-US">
                <a:solidFill>
                  <a:srgbClr val="FFFFFF"/>
                </a:solidFill>
                <a:latin typeface="BIZ UDゴシック"/>
                <a:ea typeface="BIZ UDゴシック"/>
                <a:cs typeface="BIZ UDゴシック"/>
              </a:rPr>
              <a:t>個人</a:t>
            </a:r>
          </a:p>
        </p:txBody>
      </p:sp>
      <p:sp>
        <p:nvSpPr>
          <p:cNvPr id="13" name="TextBox 12"/>
          <p:cNvSpPr txBox="1"/>
          <p:nvPr/>
        </p:nvSpPr>
        <p:spPr>
          <a:xfrm>
            <a:off x="640080" y="3767328"/>
            <a:ext cx="1742846" cy="868680"/>
          </a:xfrm>
          <a:prstGeom prst="rect">
            <a:avLst/>
          </a:prstGeom>
          <a:noFill/>
        </p:spPr>
        <p:txBody>
          <a:bodyPr wrap="square" lIns="0" rIns="0" tIns="0" bIns="0" anchor="t"/>
          <a:lstStyle/>
          <a:p>
            <a:pPr algn="l"/>
            <a:r>
              <a:rPr sz="1150" b="0" i="0" lang="ja-JP" altLang="en-US">
                <a:solidFill>
                  <a:srgbClr val="1E2761"/>
                </a:solidFill>
                <a:latin typeface="BIZ UDゴシック"/>
                <a:ea typeface="BIZ UDゴシック"/>
                <a:cs typeface="BIZ UDゴシック"/>
              </a:rPr>
              <a:t>依頼時に細かい手順を説明し直す負担を減らせる</a:t>
            </a:r>
          </a:p>
        </p:txBody>
      </p:sp>
      <p:sp>
        <p:nvSpPr>
          <p:cNvPr id="14" name="Rounded Rectangle 13"/>
          <p:cNvSpPr/>
          <p:nvPr/>
        </p:nvSpPr>
        <p:spPr>
          <a:xfrm>
            <a:off x="2748686" y="3154680"/>
            <a:ext cx="2108606" cy="1600200"/>
          </a:xfrm>
          <a:prstGeom prst="roundRect">
            <a:avLst>
              <a:gd name="adj" fmla="val 5714"/>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ounded Rectangle 14"/>
          <p:cNvSpPr/>
          <p:nvPr/>
        </p:nvSpPr>
        <p:spPr>
          <a:xfrm>
            <a:off x="2931566" y="3310128"/>
            <a:ext cx="1742846" cy="329184"/>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50" b="1" i="0" lang="ja-JP" altLang="en-US">
                <a:solidFill>
                  <a:srgbClr val="FFFFFF"/>
                </a:solidFill>
                <a:latin typeface="BIZ UDゴシック"/>
                <a:ea typeface="BIZ UDゴシック"/>
                <a:cs typeface="BIZ UDゴシック"/>
              </a:rPr>
              <a:t>チーム</a:t>
            </a:r>
          </a:p>
        </p:txBody>
      </p:sp>
      <p:sp>
        <p:nvSpPr>
          <p:cNvPr id="16" name="TextBox 15"/>
          <p:cNvSpPr txBox="1"/>
          <p:nvPr/>
        </p:nvSpPr>
        <p:spPr>
          <a:xfrm>
            <a:off x="2931566" y="3767328"/>
            <a:ext cx="1742846" cy="868680"/>
          </a:xfrm>
          <a:prstGeom prst="rect">
            <a:avLst/>
          </a:prstGeom>
          <a:noFill/>
        </p:spPr>
        <p:txBody>
          <a:bodyPr wrap="square" lIns="0" rIns="0" tIns="0" bIns="0" anchor="t"/>
          <a:lstStyle/>
          <a:p>
            <a:pPr algn="l"/>
            <a:r>
              <a:rPr sz="1150" b="0" i="0" lang="ja-JP" altLang="en-US">
                <a:solidFill>
                  <a:srgbClr val="1E2761"/>
                </a:solidFill>
                <a:latin typeface="BIZ UDゴシック"/>
                <a:ea typeface="BIZ UDゴシック"/>
                <a:cs typeface="BIZ UDゴシック"/>
              </a:rPr>
              <a:t>成果物や判断観点を揃えやすい</a:t>
            </a:r>
          </a:p>
        </p:txBody>
      </p:sp>
      <p:sp>
        <p:nvSpPr>
          <p:cNvPr id="17" name="Rounded Rectangle 16"/>
          <p:cNvSpPr/>
          <p:nvPr/>
        </p:nvSpPr>
        <p:spPr>
          <a:xfrm>
            <a:off x="5040172" y="3154680"/>
            <a:ext cx="2108606" cy="1600200"/>
          </a:xfrm>
          <a:prstGeom prst="roundRect">
            <a:avLst>
              <a:gd name="adj" fmla="val 5714"/>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Rounded Rectangle 17"/>
          <p:cNvSpPr/>
          <p:nvPr/>
        </p:nvSpPr>
        <p:spPr>
          <a:xfrm>
            <a:off x="5223052" y="3310128"/>
            <a:ext cx="1742846" cy="329184"/>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50" b="1" i="0" lang="ja-JP" altLang="en-US">
                <a:solidFill>
                  <a:srgbClr val="FFFFFF"/>
                </a:solidFill>
                <a:latin typeface="BIZ UDゴシック"/>
                <a:ea typeface="BIZ UDゴシック"/>
                <a:cs typeface="BIZ UDゴシック"/>
              </a:rPr>
              <a:t>開発者</a:t>
            </a:r>
          </a:p>
        </p:txBody>
      </p:sp>
      <p:sp>
        <p:nvSpPr>
          <p:cNvPr id="19" name="TextBox 18"/>
          <p:cNvSpPr txBox="1"/>
          <p:nvPr/>
        </p:nvSpPr>
        <p:spPr>
          <a:xfrm>
            <a:off x="5223052" y="3767328"/>
            <a:ext cx="1742846" cy="868680"/>
          </a:xfrm>
          <a:prstGeom prst="rect">
            <a:avLst/>
          </a:prstGeom>
          <a:noFill/>
        </p:spPr>
        <p:txBody>
          <a:bodyPr wrap="square" lIns="0" rIns="0" tIns="0" bIns="0" anchor="t"/>
          <a:lstStyle/>
          <a:p>
            <a:pPr algn="l"/>
            <a:r>
              <a:rPr sz="1150" b="0" i="0" lang="ja-JP" altLang="en-US">
                <a:solidFill>
                  <a:srgbClr val="1E2761"/>
                </a:solidFill>
                <a:latin typeface="BIZ UDゴシック"/>
                <a:ea typeface="BIZ UDゴシック"/>
                <a:cs typeface="BIZ UDゴシック"/>
              </a:rPr>
              <a:t>ツールと業務フローを分けて開発・改善しやすい</a:t>
            </a:r>
          </a:p>
        </p:txBody>
      </p:sp>
      <p:sp>
        <p:nvSpPr>
          <p:cNvPr id="20" name="Rounded Rectangle 19"/>
          <p:cNvSpPr/>
          <p:nvPr/>
        </p:nvSpPr>
        <p:spPr>
          <a:xfrm>
            <a:off x="7331659" y="3154680"/>
            <a:ext cx="2108606" cy="1600200"/>
          </a:xfrm>
          <a:prstGeom prst="roundRect">
            <a:avLst>
              <a:gd name="adj" fmla="val 5714"/>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Rounded Rectangle 20"/>
          <p:cNvSpPr/>
          <p:nvPr/>
        </p:nvSpPr>
        <p:spPr>
          <a:xfrm>
            <a:off x="7514539" y="3310128"/>
            <a:ext cx="1742846" cy="329184"/>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50" b="1" i="0" lang="ja-JP" altLang="en-US">
                <a:solidFill>
                  <a:srgbClr val="FFFFFF"/>
                </a:solidFill>
                <a:latin typeface="BIZ UDゴシック"/>
                <a:ea typeface="BIZ UDゴシック"/>
                <a:cs typeface="BIZ UDゴシック"/>
              </a:rPr>
              <a:t>企業</a:t>
            </a:r>
          </a:p>
        </p:txBody>
      </p:sp>
      <p:sp>
        <p:nvSpPr>
          <p:cNvPr id="22" name="TextBox 21"/>
          <p:cNvSpPr txBox="1"/>
          <p:nvPr/>
        </p:nvSpPr>
        <p:spPr>
          <a:xfrm>
            <a:off x="7514539" y="3767328"/>
            <a:ext cx="1742846" cy="868680"/>
          </a:xfrm>
          <a:prstGeom prst="rect">
            <a:avLst/>
          </a:prstGeom>
          <a:noFill/>
        </p:spPr>
        <p:txBody>
          <a:bodyPr wrap="square" lIns="0" rIns="0" tIns="0" bIns="0" anchor="t"/>
          <a:lstStyle/>
          <a:p>
            <a:pPr algn="l"/>
            <a:r>
              <a:rPr sz="1150" b="0" i="0" lang="ja-JP" altLang="en-US">
                <a:solidFill>
                  <a:srgbClr val="1E2761"/>
                </a:solidFill>
                <a:latin typeface="BIZ UDゴシック"/>
                <a:ea typeface="BIZ UDゴシック"/>
                <a:cs typeface="BIZ UDゴシック"/>
              </a:rPr>
              <a:t>業務ノウハウを管理可能なAI資産にできる</a:t>
            </a:r>
          </a:p>
        </p:txBody>
      </p:sp>
      <p:sp>
        <p:nvSpPr>
          <p:cNvPr id="23" name="Rounded Rectangle 22"/>
          <p:cNvSpPr/>
          <p:nvPr/>
        </p:nvSpPr>
        <p:spPr>
          <a:xfrm>
            <a:off x="9623145" y="3154680"/>
            <a:ext cx="2108606" cy="1600200"/>
          </a:xfrm>
          <a:prstGeom prst="roundRect">
            <a:avLst>
              <a:gd name="adj" fmla="val 5714"/>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ounded Rectangle 23"/>
          <p:cNvSpPr/>
          <p:nvPr/>
        </p:nvSpPr>
        <p:spPr>
          <a:xfrm>
            <a:off x="9806025" y="3310128"/>
            <a:ext cx="1742846" cy="329184"/>
          </a:xfrm>
          <a:prstGeom prst="roundRect">
            <a:avLst>
              <a:gd name="adj" fmla="val 50000"/>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tIns="0" bIns="0" wrap="square"/>
          <a:lstStyle/>
          <a:p>
            <a:pPr algn="ctr"/>
            <a:r>
              <a:rPr sz="1150" b="1" i="0" lang="ja-JP" altLang="en-US">
                <a:solidFill>
                  <a:srgbClr val="FFFFFF"/>
                </a:solidFill>
                <a:latin typeface="BIZ UDゴシック"/>
                <a:ea typeface="BIZ UDゴシック"/>
                <a:cs typeface="BIZ UDゴシック"/>
              </a:rPr>
              <a:t>提供事業者</a:t>
            </a:r>
          </a:p>
        </p:txBody>
      </p:sp>
      <p:sp>
        <p:nvSpPr>
          <p:cNvPr id="25" name="TextBox 24"/>
          <p:cNvSpPr txBox="1"/>
          <p:nvPr/>
        </p:nvSpPr>
        <p:spPr>
          <a:xfrm>
            <a:off x="9806025" y="3767328"/>
            <a:ext cx="1742846" cy="868680"/>
          </a:xfrm>
          <a:prstGeom prst="rect">
            <a:avLst/>
          </a:prstGeom>
          <a:noFill/>
        </p:spPr>
        <p:txBody>
          <a:bodyPr wrap="square" lIns="0" rIns="0" tIns="0" bIns="0" anchor="t"/>
          <a:lstStyle/>
          <a:p>
            <a:pPr algn="l"/>
            <a:r>
              <a:rPr sz="1150" b="0" i="0" lang="ja-JP" altLang="en-US">
                <a:solidFill>
                  <a:srgbClr val="1E2761"/>
                </a:solidFill>
                <a:latin typeface="BIZ UDゴシック"/>
                <a:ea typeface="BIZ UDゴシック"/>
                <a:cs typeface="BIZ UDゴシック"/>
              </a:rPr>
              <a:t>業務成果に近い形で機能を配布できる</a:t>
            </a:r>
          </a:p>
        </p:txBody>
      </p:sp>
      <p:sp>
        <p:nvSpPr>
          <p:cNvPr id="26" name="Rounded Rectangle 25"/>
          <p:cNvSpPr/>
          <p:nvPr/>
        </p:nvSpPr>
        <p:spPr>
          <a:xfrm>
            <a:off x="457200" y="4983480"/>
            <a:ext cx="11274552" cy="1280160"/>
          </a:xfrm>
          <a:prstGeom prst="roundRect">
            <a:avLst>
              <a:gd name="adj" fmla="val 8571"/>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365760" rIns="365760" tIns="0" bIns="0" wrap="square"/>
          <a:lstStyle/>
          <a:p>
            <a:pPr algn="ctr">
              <a:spcAft>
                <a:spcPts val="400"/>
              </a:spcAft>
            </a:pPr>
            <a:r>
              <a:rPr sz="1600" b="0" i="0" lang="ja-JP" altLang="en-US">
                <a:solidFill>
                  <a:srgbClr val="FFFFFF"/>
                </a:solidFill>
                <a:latin typeface="BIZ UDゴシック"/>
                <a:ea typeface="BIZ UDゴシック"/>
                <a:cs typeface="BIZ UDゴシック"/>
              </a:rPr>
              <a:t>Skills over MCPの本質は、AIが使えるツールを増やすことではなく、</a:t>
            </a:r>
          </a:p>
          <a:p>
            <a:pPr algn="ctr">
              <a:spcAft>
                <a:spcPts val="400"/>
              </a:spcAft>
            </a:pPr>
            <a:r>
              <a:rPr sz="1600" b="1" i="0" lang="ja-JP" altLang="en-US">
                <a:solidFill>
                  <a:srgbClr val="E8A33D"/>
                </a:solidFill>
                <a:latin typeface="BIZ UDゴシック"/>
                <a:ea typeface="BIZ UDゴシック"/>
                <a:cs typeface="BIZ UDゴシック"/>
              </a:rPr>
              <a:t>人間が培ってきた「仕事の進め方」を、AIが再利用できる形で届けること</a:t>
            </a:r>
            <a:r>
              <a:rPr sz="1600" b="0" i="0" lang="ja-JP" altLang="en-US">
                <a:solidFill>
                  <a:srgbClr val="FFFFFF"/>
                </a:solidFill>
                <a:latin typeface="BIZ UDゴシック"/>
                <a:ea typeface="BIZ UDゴシック"/>
                <a:cs typeface="BIZ UDゴシック"/>
              </a:rPr>
              <a:t>にある。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付録A｜想定質問と回答（1/2）</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質疑応答で想定される論点と、その回答。</a:t>
            </a:r>
          </a:p>
        </p:txBody>
      </p:sp>
      <p:sp>
        <p:nvSpPr>
          <p:cNvPr id="7" name="Rounded Rectangle 6"/>
          <p:cNvSpPr/>
          <p:nvPr/>
        </p:nvSpPr>
        <p:spPr>
          <a:xfrm>
            <a:off x="457200" y="1783080"/>
            <a:ext cx="11274552" cy="1325880"/>
          </a:xfrm>
          <a:prstGeom prst="roundRect">
            <a:avLst>
              <a:gd name="adj" fmla="val 6896"/>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Oval 7"/>
          <p:cNvSpPr/>
          <p:nvPr/>
        </p:nvSpPr>
        <p:spPr>
          <a:xfrm>
            <a:off x="685800" y="1965960"/>
            <a:ext cx="502920" cy="5029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lang="ja-JP" altLang="en-US">
                <a:solidFill>
                  <a:srgbClr val="FFFFFF"/>
                </a:solidFill>
                <a:latin typeface="BIZ UDゴシック"/>
                <a:ea typeface="BIZ UDゴシック"/>
                <a:cs typeface="BIZ UDゴシック"/>
              </a:rPr>
              <a:t>Q1</a:t>
            </a:r>
          </a:p>
        </p:txBody>
      </p:sp>
      <p:sp>
        <p:nvSpPr>
          <p:cNvPr id="9" name="TextBox 8"/>
          <p:cNvSpPr txBox="1"/>
          <p:nvPr/>
        </p:nvSpPr>
        <p:spPr>
          <a:xfrm>
            <a:off x="1417320" y="1947672"/>
            <a:ext cx="10058400" cy="384048"/>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従来のMCPにプロンプトを渡せば、同じことができたのでは？</a:t>
            </a:r>
          </a:p>
        </p:txBody>
      </p:sp>
      <p:sp>
        <p:nvSpPr>
          <p:cNvPr id="10" name="TextBox 9"/>
          <p:cNvSpPr txBox="1"/>
          <p:nvPr/>
        </p:nvSpPr>
        <p:spPr>
          <a:xfrm>
            <a:off x="1417320" y="2377440"/>
            <a:ext cx="10058400" cy="640080"/>
          </a:xfrm>
          <a:prstGeom prst="rect">
            <a:avLst/>
          </a:prstGeom>
          <a:noFill/>
        </p:spPr>
        <p:txBody>
          <a:bodyPr wrap="square" lIns="0" rIns="0" tIns="0" bIns="0" anchor="t"/>
          <a:lstStyle/>
          <a:p>
            <a:pPr algn="l"/>
            <a:r>
              <a:rPr sz="1150" b="1" i="0" lang="ja-JP" altLang="en-US">
                <a:solidFill>
                  <a:srgbClr val="222222"/>
                </a:solidFill>
                <a:latin typeface="BIZ UDゴシック"/>
                <a:ea typeface="BIZ UDゴシック"/>
                <a:cs typeface="BIZ UDゴシック"/>
              </a:rPr>
              <a:t>その通り。</a:t>
            </a:r>
            <a:r>
              <a:rPr sz="1150" b="0" i="0" lang="ja-JP" altLang="en-US">
                <a:solidFill>
                  <a:srgbClr val="222222"/>
                </a:solidFill>
                <a:latin typeface="BIZ UDゴシック"/>
                <a:ea typeface="BIZ UDゴシック"/>
                <a:cs typeface="BIZ UDゴシック"/>
              </a:rPr>
              <a:t>従来もMCPのプロンプト・リソース、AIへのシステム指示、オーケストレーションプログラムで同様の業務フローは実装可能。新しい意義は、Skillを独立した再利用可能な単位として管理し、MCPツールと組み合わせてPluginとして配布できる点にある。</a:t>
            </a:r>
          </a:p>
        </p:txBody>
      </p:sp>
      <p:sp>
        <p:nvSpPr>
          <p:cNvPr id="11" name="Rounded Rectangle 10"/>
          <p:cNvSpPr/>
          <p:nvPr/>
        </p:nvSpPr>
        <p:spPr>
          <a:xfrm>
            <a:off x="457200" y="3273552"/>
            <a:ext cx="11274552" cy="1325880"/>
          </a:xfrm>
          <a:prstGeom prst="roundRect">
            <a:avLst>
              <a:gd name="adj" fmla="val 6896"/>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val 11"/>
          <p:cNvSpPr/>
          <p:nvPr/>
        </p:nvSpPr>
        <p:spPr>
          <a:xfrm>
            <a:off x="685800" y="3456432"/>
            <a:ext cx="502920" cy="5029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lang="ja-JP" altLang="en-US">
                <a:solidFill>
                  <a:srgbClr val="FFFFFF"/>
                </a:solidFill>
                <a:latin typeface="BIZ UDゴシック"/>
                <a:ea typeface="BIZ UDゴシック"/>
                <a:cs typeface="BIZ UDゴシック"/>
              </a:rPr>
              <a:t>Q2</a:t>
            </a:r>
          </a:p>
        </p:txBody>
      </p:sp>
      <p:sp>
        <p:nvSpPr>
          <p:cNvPr id="13" name="TextBox 12"/>
          <p:cNvSpPr txBox="1"/>
          <p:nvPr/>
        </p:nvSpPr>
        <p:spPr>
          <a:xfrm>
            <a:off x="1417320" y="3438144"/>
            <a:ext cx="10058400" cy="384048"/>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Skillsがあれば、AIが業務手順を必ず守る？</a:t>
            </a:r>
          </a:p>
        </p:txBody>
      </p:sp>
      <p:sp>
        <p:nvSpPr>
          <p:cNvPr id="14" name="TextBox 13"/>
          <p:cNvSpPr txBox="1"/>
          <p:nvPr/>
        </p:nvSpPr>
        <p:spPr>
          <a:xfrm>
            <a:off x="1417320" y="3867912"/>
            <a:ext cx="10058400" cy="640080"/>
          </a:xfrm>
          <a:prstGeom prst="rect">
            <a:avLst/>
          </a:prstGeom>
          <a:noFill/>
        </p:spPr>
        <p:txBody>
          <a:bodyPr wrap="square" lIns="0" rIns="0" tIns="0" bIns="0" anchor="t"/>
          <a:lstStyle/>
          <a:p>
            <a:pPr algn="l"/>
            <a:r>
              <a:rPr sz="1150" b="1" i="0" lang="ja-JP" altLang="en-US">
                <a:solidFill>
                  <a:srgbClr val="222222"/>
                </a:solidFill>
                <a:latin typeface="BIZ UDゴシック"/>
                <a:ea typeface="BIZ UDゴシック"/>
                <a:cs typeface="BIZ UDゴシック"/>
              </a:rPr>
              <a:t>保証しない。</a:t>
            </a:r>
            <a:r>
              <a:rPr sz="1150" b="0" i="0" lang="ja-JP" altLang="en-US">
                <a:solidFill>
                  <a:srgbClr val="222222"/>
                </a:solidFill>
                <a:latin typeface="BIZ UDゴシック"/>
                <a:ea typeface="BIZ UDゴシック"/>
                <a:cs typeface="BIZ UDゴシック"/>
              </a:rPr>
              <a:t>Skillはモデルに対する指示であり、厳密な実行順序や不変条件は、コード・認可・承認・評価で補完する必要がある。</a:t>
            </a:r>
          </a:p>
        </p:txBody>
      </p:sp>
      <p:sp>
        <p:nvSpPr>
          <p:cNvPr id="15" name="Rounded Rectangle 14"/>
          <p:cNvSpPr/>
          <p:nvPr/>
        </p:nvSpPr>
        <p:spPr>
          <a:xfrm>
            <a:off x="457200" y="4764024"/>
            <a:ext cx="11274552" cy="1325880"/>
          </a:xfrm>
          <a:prstGeom prst="roundRect">
            <a:avLst>
              <a:gd name="adj" fmla="val 6896"/>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Oval 15"/>
          <p:cNvSpPr/>
          <p:nvPr/>
        </p:nvSpPr>
        <p:spPr>
          <a:xfrm>
            <a:off x="685800" y="4946904"/>
            <a:ext cx="502920" cy="5029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lang="ja-JP" altLang="en-US">
                <a:solidFill>
                  <a:srgbClr val="FFFFFF"/>
                </a:solidFill>
                <a:latin typeface="BIZ UDゴシック"/>
                <a:ea typeface="BIZ UDゴシック"/>
                <a:cs typeface="BIZ UDゴシック"/>
              </a:rPr>
              <a:t>Q3</a:t>
            </a:r>
          </a:p>
        </p:txBody>
      </p:sp>
      <p:sp>
        <p:nvSpPr>
          <p:cNvPr id="17" name="TextBox 16"/>
          <p:cNvSpPr txBox="1"/>
          <p:nvPr/>
        </p:nvSpPr>
        <p:spPr>
          <a:xfrm>
            <a:off x="1417320" y="4928616"/>
            <a:ext cx="10058400" cy="384048"/>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MCPサーバーを自社開発しなければ使えない？</a:t>
            </a:r>
          </a:p>
        </p:txBody>
      </p:sp>
      <p:sp>
        <p:nvSpPr>
          <p:cNvPr id="18" name="TextBox 17"/>
          <p:cNvSpPr txBox="1"/>
          <p:nvPr/>
        </p:nvSpPr>
        <p:spPr>
          <a:xfrm>
            <a:off x="1417320" y="5358384"/>
            <a:ext cx="10058400" cy="640080"/>
          </a:xfrm>
          <a:prstGeom prst="rect">
            <a:avLst/>
          </a:prstGeom>
          <a:noFill/>
        </p:spPr>
        <p:txBody>
          <a:bodyPr wrap="square" lIns="0" rIns="0" tIns="0" bIns="0" anchor="t"/>
          <a:lstStyle/>
          <a:p>
            <a:pPr algn="l"/>
            <a:r>
              <a:rPr sz="1150" b="1" i="0" lang="ja-JP" altLang="en-US">
                <a:solidFill>
                  <a:srgbClr val="222222"/>
                </a:solidFill>
                <a:latin typeface="BIZ UDゴシック"/>
                <a:ea typeface="BIZ UDゴシック"/>
                <a:cs typeface="BIZ UDゴシック"/>
              </a:rPr>
              <a:t>いいえ。</a:t>
            </a:r>
            <a:r>
              <a:rPr sz="1150" b="0" i="0" lang="ja-JP" altLang="en-US">
                <a:solidFill>
                  <a:srgbClr val="222222"/>
                </a:solidFill>
                <a:latin typeface="BIZ UDゴシック"/>
                <a:ea typeface="BIZ UDゴシック"/>
                <a:cs typeface="BIZ UDゴシック"/>
              </a:rPr>
              <a:t>指示・参照資料・既存ツールだけで成立する作業なら、Skills単独でも利用できる。外部サービスのライブデータや操作が必要な場合にMCPが有効。</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付録A｜想定質問と回答（2/2）</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質疑応答で想定される論点と、その回答。</a:t>
            </a:r>
          </a:p>
        </p:txBody>
      </p:sp>
      <p:sp>
        <p:nvSpPr>
          <p:cNvPr id="7" name="Rounded Rectangle 6"/>
          <p:cNvSpPr/>
          <p:nvPr/>
        </p:nvSpPr>
        <p:spPr>
          <a:xfrm>
            <a:off x="457200" y="1783080"/>
            <a:ext cx="11274552" cy="1325880"/>
          </a:xfrm>
          <a:prstGeom prst="roundRect">
            <a:avLst>
              <a:gd name="adj" fmla="val 6896"/>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Oval 7"/>
          <p:cNvSpPr/>
          <p:nvPr/>
        </p:nvSpPr>
        <p:spPr>
          <a:xfrm>
            <a:off x="685800" y="1965960"/>
            <a:ext cx="502920" cy="5029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lang="ja-JP" altLang="en-US">
                <a:solidFill>
                  <a:srgbClr val="FFFFFF"/>
                </a:solidFill>
                <a:latin typeface="BIZ UDゴシック"/>
                <a:ea typeface="BIZ UDゴシック"/>
                <a:cs typeface="BIZ UDゴシック"/>
              </a:rPr>
              <a:t>Q4</a:t>
            </a:r>
          </a:p>
        </p:txBody>
      </p:sp>
      <p:sp>
        <p:nvSpPr>
          <p:cNvPr id="9" name="TextBox 8"/>
          <p:cNvSpPr txBox="1"/>
          <p:nvPr/>
        </p:nvSpPr>
        <p:spPr>
          <a:xfrm>
            <a:off x="1417320" y="1947672"/>
            <a:ext cx="10058400" cy="384048"/>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従来のワークフローエンジンやRPAは不要？</a:t>
            </a:r>
          </a:p>
        </p:txBody>
      </p:sp>
      <p:sp>
        <p:nvSpPr>
          <p:cNvPr id="10" name="TextBox 9"/>
          <p:cNvSpPr txBox="1"/>
          <p:nvPr/>
        </p:nvSpPr>
        <p:spPr>
          <a:xfrm>
            <a:off x="1417320" y="2377440"/>
            <a:ext cx="10058400" cy="640080"/>
          </a:xfrm>
          <a:prstGeom prst="rect">
            <a:avLst/>
          </a:prstGeom>
          <a:noFill/>
        </p:spPr>
        <p:txBody>
          <a:bodyPr wrap="square" lIns="0" rIns="0" tIns="0" bIns="0" anchor="t"/>
          <a:lstStyle/>
          <a:p>
            <a:pPr algn="l"/>
            <a:r>
              <a:rPr sz="1150" b="1" i="0" lang="ja-JP" altLang="en-US">
                <a:solidFill>
                  <a:srgbClr val="222222"/>
                </a:solidFill>
                <a:latin typeface="BIZ UDゴシック"/>
                <a:ea typeface="BIZ UDゴシック"/>
                <a:cs typeface="BIZ UDゴシック"/>
              </a:rPr>
              <a:t>不要にはならない。</a:t>
            </a:r>
            <a:r>
              <a:rPr sz="1150" b="0" i="0" lang="ja-JP" altLang="en-US">
                <a:solidFill>
                  <a:srgbClr val="222222"/>
                </a:solidFill>
                <a:latin typeface="BIZ UDゴシック"/>
                <a:ea typeface="BIZ UDゴシック"/>
                <a:cs typeface="BIZ UDゴシック"/>
              </a:rPr>
              <a:t>反復性が高く、厳密な分岐・再試行・監査が必要な処理は、通常のプログラムやワークフローエンジンが適する。Skillは曖昧な依頼を扱う判断・調査・作成業務と相性がよい。</a:t>
            </a:r>
          </a:p>
        </p:txBody>
      </p:sp>
      <p:sp>
        <p:nvSpPr>
          <p:cNvPr id="11" name="Rounded Rectangle 10"/>
          <p:cNvSpPr/>
          <p:nvPr/>
        </p:nvSpPr>
        <p:spPr>
          <a:xfrm>
            <a:off x="457200" y="3273552"/>
            <a:ext cx="11274552" cy="1325880"/>
          </a:xfrm>
          <a:prstGeom prst="roundRect">
            <a:avLst>
              <a:gd name="adj" fmla="val 6896"/>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val 11"/>
          <p:cNvSpPr/>
          <p:nvPr/>
        </p:nvSpPr>
        <p:spPr>
          <a:xfrm>
            <a:off x="685800" y="3456432"/>
            <a:ext cx="502920" cy="5029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lang="ja-JP" altLang="en-US">
                <a:solidFill>
                  <a:srgbClr val="FFFFFF"/>
                </a:solidFill>
                <a:latin typeface="BIZ UDゴシック"/>
                <a:ea typeface="BIZ UDゴシック"/>
                <a:cs typeface="BIZ UDゴシック"/>
              </a:rPr>
              <a:t>Q5</a:t>
            </a:r>
          </a:p>
        </p:txBody>
      </p:sp>
      <p:sp>
        <p:nvSpPr>
          <p:cNvPr id="13" name="TextBox 12"/>
          <p:cNvSpPr txBox="1"/>
          <p:nvPr/>
        </p:nvSpPr>
        <p:spPr>
          <a:xfrm>
            <a:off x="1417320" y="3438144"/>
            <a:ext cx="10058400" cy="384048"/>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社内に広めたら、全員の品質が自動的に上がる？</a:t>
            </a:r>
          </a:p>
        </p:txBody>
      </p:sp>
      <p:sp>
        <p:nvSpPr>
          <p:cNvPr id="14" name="TextBox 13"/>
          <p:cNvSpPr txBox="1"/>
          <p:nvPr/>
        </p:nvSpPr>
        <p:spPr>
          <a:xfrm>
            <a:off x="1417320" y="3867912"/>
            <a:ext cx="10058400" cy="640080"/>
          </a:xfrm>
          <a:prstGeom prst="rect">
            <a:avLst/>
          </a:prstGeom>
          <a:noFill/>
        </p:spPr>
        <p:txBody>
          <a:bodyPr wrap="square" lIns="0" rIns="0" tIns="0" bIns="0" anchor="t"/>
          <a:lstStyle/>
          <a:p>
            <a:pPr algn="l"/>
            <a:r>
              <a:rPr sz="1150" b="1" i="0" lang="ja-JP" altLang="en-US">
                <a:solidFill>
                  <a:srgbClr val="222222"/>
                </a:solidFill>
                <a:latin typeface="BIZ UDゴシック"/>
                <a:ea typeface="BIZ UDゴシック"/>
                <a:cs typeface="BIZ UDゴシック"/>
              </a:rPr>
              <a:t>自動的には上がらない。</a:t>
            </a:r>
            <a:r>
              <a:rPr sz="1150" b="0" i="0" lang="ja-JP" altLang="en-US">
                <a:solidFill>
                  <a:srgbClr val="222222"/>
                </a:solidFill>
                <a:latin typeface="BIZ UDゴシック"/>
                <a:ea typeface="BIZ UDゴシック"/>
                <a:cs typeface="BIZ UDゴシック"/>
              </a:rPr>
              <a:t>ワークフローの質、更新・評価体制、権限設定、利用者レビュー、入力データの品質に依存する。比較試験で確認すべき。</a:t>
            </a:r>
          </a:p>
        </p:txBody>
      </p:sp>
      <p:sp>
        <p:nvSpPr>
          <p:cNvPr id="15" name="Rounded Rectangle 14"/>
          <p:cNvSpPr/>
          <p:nvPr/>
        </p:nvSpPr>
        <p:spPr>
          <a:xfrm>
            <a:off x="457200" y="4764024"/>
            <a:ext cx="11274552" cy="1325880"/>
          </a:xfrm>
          <a:prstGeom prst="roundRect">
            <a:avLst>
              <a:gd name="adj" fmla="val 6896"/>
            </a:avLst>
          </a:prstGeom>
          <a:solidFill>
            <a:srgbClr val="FFFFFF"/>
          </a:solidFill>
          <a:ln w="12700">
            <a:solidFill>
              <a:srgbClr val="D8E0F0"/>
            </a:solidFill>
          </a:ln>
          <a:effectLst>
            <a:outerShdw blurRad="76200" dist="25400" dir="5400000" algn="bl" rotWithShape="0">
              <a:srgbClr val="1E2761">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Oval 15"/>
          <p:cNvSpPr/>
          <p:nvPr/>
        </p:nvSpPr>
        <p:spPr>
          <a:xfrm>
            <a:off x="685800" y="4946904"/>
            <a:ext cx="502920" cy="5029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200" b="1" i="0" lang="ja-JP" altLang="en-US">
                <a:solidFill>
                  <a:srgbClr val="FFFFFF"/>
                </a:solidFill>
                <a:latin typeface="BIZ UDゴシック"/>
                <a:ea typeface="BIZ UDゴシック"/>
                <a:cs typeface="BIZ UDゴシック"/>
              </a:rPr>
              <a:t>Q6</a:t>
            </a:r>
          </a:p>
        </p:txBody>
      </p:sp>
      <p:sp>
        <p:nvSpPr>
          <p:cNvPr id="17" name="TextBox 16"/>
          <p:cNvSpPr txBox="1"/>
          <p:nvPr/>
        </p:nvSpPr>
        <p:spPr>
          <a:xfrm>
            <a:off x="1417320" y="4928616"/>
            <a:ext cx="10058400" cy="384048"/>
          </a:xfrm>
          <a:prstGeom prst="rect">
            <a:avLst/>
          </a:prstGeom>
          <a:noFill/>
        </p:spPr>
        <p:txBody>
          <a:bodyPr wrap="square" lIns="0" rIns="0" tIns="0" bIns="0" anchor="ctr"/>
          <a:lstStyle/>
          <a:p>
            <a:pPr algn="l"/>
            <a:r>
              <a:rPr sz="1400" b="1" i="0" lang="ja-JP" altLang="en-US">
                <a:solidFill>
                  <a:srgbClr val="1E2761"/>
                </a:solidFill>
                <a:latin typeface="BIZ UDゴシック"/>
                <a:ea typeface="BIZ UDゴシック"/>
                <a:cs typeface="BIZ UDゴシック"/>
              </a:rPr>
              <a:t>コスト削減も期待できる？</a:t>
            </a:r>
          </a:p>
        </p:txBody>
      </p:sp>
      <p:sp>
        <p:nvSpPr>
          <p:cNvPr id="18" name="TextBox 17"/>
          <p:cNvSpPr txBox="1"/>
          <p:nvPr/>
        </p:nvSpPr>
        <p:spPr>
          <a:xfrm>
            <a:off x="1417320" y="5358384"/>
            <a:ext cx="10058400" cy="640080"/>
          </a:xfrm>
          <a:prstGeom prst="rect">
            <a:avLst/>
          </a:prstGeom>
          <a:noFill/>
        </p:spPr>
        <p:txBody>
          <a:bodyPr wrap="square" lIns="0" rIns="0" tIns="0" bIns="0" anchor="t"/>
          <a:lstStyle/>
          <a:p>
            <a:pPr algn="l"/>
            <a:r>
              <a:rPr sz="1150" b="1" i="0" lang="ja-JP" altLang="en-US">
                <a:solidFill>
                  <a:srgbClr val="222222"/>
                </a:solidFill>
                <a:latin typeface="BIZ UDゴシック"/>
                <a:ea typeface="BIZ UDゴシック"/>
                <a:cs typeface="BIZ UDゴシック"/>
              </a:rPr>
              <a:t>期待できるが保証されない。</a:t>
            </a:r>
            <a:r>
              <a:rPr sz="1150" b="0" i="0" lang="ja-JP" altLang="en-US">
                <a:solidFill>
                  <a:srgbClr val="222222"/>
                </a:solidFill>
                <a:latin typeface="BIZ UDゴシック"/>
                <a:ea typeface="BIZ UDゴシック"/>
                <a:cs typeface="BIZ UDゴシック"/>
              </a:rPr>
              <a:t>プロンプト説明の繰り返しや人手の修正が減る可能性がある一方、Skill読み込みや追加のツール呼び出しでトークン数・処理時間が増える場合もある。実測が必要。</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ck Header"/>
          <p:cNvSpPr txBox="1"/>
          <p:nvPr/>
        </p:nvSpPr>
        <p:spPr>
          <a:xfrm>
            <a:off x="256032" y="155448"/>
            <a:ext cx="11036808" cy="521207"/>
          </a:xfrm>
          <a:prstGeom prst="rect">
            <a:avLst/>
          </a:prstGeom>
          <a:noFill/>
        </p:spPr>
        <p:txBody>
          <a:bodyPr wrap="square" tIns="0" bIns="0" anchor="ctr"/>
          <a:lstStyle/>
          <a:p>
            <a:pPr algn="l"/>
            <a:r>
              <a:rPr sz="2800" b="1" i="0" lang="ja-JP" altLang="en-US">
                <a:solidFill>
                  <a:srgbClr val="222222"/>
                </a:solidFill>
                <a:latin typeface="BIZ UDゴシック"/>
                <a:ea typeface="BIZ UDゴシック"/>
                <a:cs typeface="BIZ UDゴシック"/>
              </a:rPr>
              <a:t>Skills over MCP</a:t>
            </a:r>
          </a:p>
        </p:txBody>
      </p:sp>
      <p:cxnSp>
        <p:nvCxnSpPr>
          <p:cNvPr id="3" name="Connector 2"/>
          <p:cNvCxnSpPr/>
          <p:nvPr/>
        </p:nvCxnSpPr>
        <p:spPr>
          <a:xfrm>
            <a:off x="164592" y="726948"/>
            <a:ext cx="11841480" cy="0"/>
          </a:xfrm>
          <a:prstGeom prst="line">
            <a:avLst/>
          </a:prstGeom>
          <a:ln w="12700">
            <a:solidFill>
              <a:srgbClr val="B7B7B7"/>
            </a:solidFill>
          </a:ln>
        </p:spPr>
        <p:style>
          <a:lnRef idx="2">
            <a:schemeClr val="accent1"/>
          </a:lnRef>
          <a:fillRef idx="0">
            <a:schemeClr val="accent1"/>
          </a:fillRef>
          <a:effectRef idx="1">
            <a:schemeClr val="accent1"/>
          </a:effectRef>
          <a:fontRef idx="minor">
            <a:schemeClr val="tx1"/>
          </a:fontRef>
        </p:style>
      </p:cxnSp>
      <p:sp>
        <p:nvSpPr>
          <p:cNvPr id="4" name="Title Mark"/>
          <p:cNvSpPr/>
          <p:nvPr/>
        </p:nvSpPr>
        <p:spPr>
          <a:xfrm>
            <a:off x="457200" y="868680"/>
            <a:ext cx="68580" cy="292608"/>
          </a:xfrm>
          <a:prstGeom prst="rect">
            <a:avLst/>
          </a:prstGeom>
          <a:solidFill>
            <a:srgbClr val="002B62"/>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Slide Title"/>
          <p:cNvSpPr txBox="1"/>
          <p:nvPr/>
        </p:nvSpPr>
        <p:spPr>
          <a:xfrm>
            <a:off x="621792" y="795528"/>
            <a:ext cx="11109960" cy="438912"/>
          </a:xfrm>
          <a:prstGeom prst="rect">
            <a:avLst/>
          </a:prstGeom>
          <a:noFill/>
        </p:spPr>
        <p:txBody>
          <a:bodyPr wrap="square" lIns="0" rIns="0" tIns="0" bIns="0" anchor="ctr"/>
          <a:lstStyle/>
          <a:p>
            <a:pPr algn="l"/>
            <a:r>
              <a:rPr sz="2000" b="1" i="0" lang="ja-JP" altLang="en-US">
                <a:solidFill>
                  <a:srgbClr val="222222"/>
                </a:solidFill>
                <a:latin typeface="BIZ UDゴシック"/>
                <a:ea typeface="BIZ UDゴシック"/>
                <a:cs typeface="BIZ UDゴシック"/>
              </a:rPr>
              <a:t>付録C｜出典と確認範囲（2026-10-26確認）</a:t>
            </a:r>
          </a:p>
        </p:txBody>
      </p:sp>
      <p:sp>
        <p:nvSpPr>
          <p:cNvPr id="6" name="Subtitle"/>
          <p:cNvSpPr txBox="1"/>
          <p:nvPr/>
        </p:nvSpPr>
        <p:spPr>
          <a:xfrm>
            <a:off x="457200" y="1261872"/>
            <a:ext cx="11274552" cy="384048"/>
          </a:xfrm>
          <a:prstGeom prst="rect">
            <a:avLst/>
          </a:prstGeom>
          <a:noFill/>
        </p:spPr>
        <p:txBody>
          <a:bodyPr wrap="square" lIns="0" rIns="0" tIns="0" bIns="0" anchor="t"/>
          <a:lstStyle/>
          <a:p>
            <a:pPr algn="l"/>
            <a:r>
              <a:rPr sz="1250" b="0" i="1" lang="ja-JP" altLang="en-US">
                <a:solidFill>
                  <a:srgbClr val="5A6B87"/>
                </a:solidFill>
                <a:latin typeface="BIZ UDゴシック"/>
                <a:ea typeface="BIZ UDゴシック"/>
                <a:cs typeface="BIZ UDゴシック"/>
              </a:rPr>
              <a:t>MCP / Skills / Pluginの役割・構成・配布要件は、以下の公式資料に基づく。</a:t>
            </a:r>
          </a:p>
        </p:txBody>
      </p:sp>
      <p:graphicFrame>
        <p:nvGraphicFramePr>
          <p:cNvPr id="7" name="Table 6"/>
          <p:cNvGraphicFramePr>
            <a:graphicFrameLocks noGrp="1"/>
          </p:cNvGraphicFramePr>
          <p:nvPr/>
        </p:nvGraphicFramePr>
        <p:xfrm>
          <a:off x="457200" y="1783080"/>
          <a:ext cx="11274552" cy="3364992"/>
        </p:xfrm>
        <a:graphic>
          <a:graphicData uri="http://schemas.openxmlformats.org/drawingml/2006/table">
            <a:tbl>
              <a:tblPr firstRow="0" bandRow="0"/>
              <a:tblGrid>
                <a:gridCol w="411480"/>
                <a:gridCol w="2743200"/>
                <a:gridCol w="3931920"/>
                <a:gridCol w="4187952"/>
              </a:tblGrid>
              <a:tr h="347472">
                <a:tc>
                  <a:txBody>
                    <a:bodyPr wrap="square"/>
                    <a:lstStyle/>
                    <a:p>
                      <a:pPr algn="ctr"/>
                      <a:r>
                        <a:rPr sz="1050" b="1" i="0" lang="ja-JP" altLang="en-US">
                          <a:solidFill>
                            <a:srgbClr val="FFFFFF"/>
                          </a:solidFill>
                          <a:latin typeface="BIZ UDゴシック"/>
                          <a:ea typeface="BIZ UDゴシック"/>
                          <a:cs typeface="BIZ UDゴシック"/>
                        </a:rPr>
                        <a:t>#</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41A45"/>
                    </a:solidFill>
                  </a:tcPr>
                </a:tc>
                <a:tc>
                  <a:txBody>
                    <a:bodyPr wrap="square"/>
                    <a:lstStyle/>
                    <a:p>
                      <a:pPr algn="l"/>
                      <a:r>
                        <a:rPr sz="1050" b="1" i="0" lang="ja-JP" altLang="en-US">
                          <a:solidFill>
                            <a:srgbClr val="FFFFFF"/>
                          </a:solidFill>
                          <a:latin typeface="BIZ UDゴシック"/>
                          <a:ea typeface="BIZ UDゴシック"/>
                          <a:cs typeface="BIZ UDゴシック"/>
                        </a:rPr>
                        <a:t>資料</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41A45"/>
                    </a:solidFill>
                  </a:tcPr>
                </a:tc>
                <a:tc>
                  <a:txBody>
                    <a:bodyPr wrap="square"/>
                    <a:lstStyle/>
                    <a:p>
                      <a:pPr algn="l"/>
                      <a:r>
                        <a:rPr sz="1050" b="1" i="0" lang="ja-JP" altLang="en-US">
                          <a:solidFill>
                            <a:srgbClr val="FFFFFF"/>
                          </a:solidFill>
                          <a:latin typeface="BIZ UDゴシック"/>
                          <a:ea typeface="BIZ UDゴシック"/>
                          <a:cs typeface="BIZ UDゴシック"/>
                        </a:rPr>
                        <a:t>URL</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41A45"/>
                    </a:solidFill>
                  </a:tcPr>
                </a:tc>
                <a:tc>
                  <a:txBody>
                    <a:bodyPr wrap="square"/>
                    <a:lstStyle/>
                    <a:p>
                      <a:pPr algn="l"/>
                      <a:r>
                        <a:rPr sz="1050" b="1" i="0" lang="ja-JP" altLang="en-US">
                          <a:solidFill>
                            <a:srgbClr val="FFFFFF"/>
                          </a:solidFill>
                          <a:latin typeface="BIZ UDゴシック"/>
                          <a:ea typeface="BIZ UDゴシック"/>
                          <a:cs typeface="BIZ UDゴシック"/>
                        </a:rPr>
                        <a:t>確認した内容</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141A45"/>
                    </a:solidFill>
                  </a:tcPr>
                </a:tc>
              </a:tr>
              <a:tr h="502920">
                <a:tc>
                  <a:txBody>
                    <a:bodyPr wrap="square"/>
                    <a:lstStyle/>
                    <a:p>
                      <a:pPr algn="ctr"/>
                      <a:r>
                        <a:rPr sz="1050" b="1" i="0" lang="ja-JP" altLang="en-US">
                          <a:solidFill>
                            <a:srgbClr val="1E2761"/>
                          </a:solidFill>
                          <a:latin typeface="BIZ UDゴシック"/>
                          <a:ea typeface="BIZ UDゴシック"/>
                          <a:cs typeface="BIZ UDゴシック"/>
                        </a:rPr>
                        <a:t>1</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050" b="1" i="0" lang="ja-JP" altLang="en-US">
                          <a:solidFill>
                            <a:srgbClr val="1E2761"/>
                          </a:solidFill>
                          <a:latin typeface="BIZ UDゴシック"/>
                          <a:ea typeface="BIZ UDゴシック"/>
                          <a:cs typeface="BIZ UDゴシック"/>
                        </a:rPr>
                        <a:t>OpenAI Developers — Skills</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950" b="0" i="0" lang="ja-JP" altLang="en-US">
                          <a:solidFill>
                            <a:srgbClr val="1F5FAD"/>
                          </a:solidFill>
                          <a:latin typeface="BIZ UDゴシック"/>
                          <a:ea typeface="BIZ UDゴシック"/>
                          <a:cs typeface="BIZ UDゴシック"/>
                          <a:hlinkClick r:id="rId2"/>
                        </a:rPr>
                        <a:t>https://developers.openai.com/plugins/concepts/skills</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000" b="0" i="0" lang="ja-JP" altLang="en-US">
                          <a:solidFill>
                            <a:srgbClr val="222222"/>
                          </a:solidFill>
                          <a:latin typeface="BIZ UDゴシック"/>
                          <a:ea typeface="BIZ UDゴシック"/>
                          <a:cs typeface="BIZ UDゴシック"/>
                        </a:rPr>
                        <a:t>Skillsは再利用可能なワークフローを定義するフォルダー。MCPサーバーはライブデータと制御された操作を提供</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r h="502920">
                <a:tc>
                  <a:txBody>
                    <a:bodyPr wrap="square"/>
                    <a:lstStyle/>
                    <a:p>
                      <a:pPr algn="ctr"/>
                      <a:r>
                        <a:rPr sz="1050" b="1" i="0" lang="ja-JP" altLang="en-US">
                          <a:solidFill>
                            <a:srgbClr val="1E2761"/>
                          </a:solidFill>
                          <a:latin typeface="BIZ UDゴシック"/>
                          <a:ea typeface="BIZ UDゴシック"/>
                          <a:cs typeface="BIZ UDゴシック"/>
                        </a:rPr>
                        <a:t>2</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050" b="1" i="0" lang="ja-JP" altLang="en-US">
                          <a:solidFill>
                            <a:srgbClr val="1E2761"/>
                          </a:solidFill>
                          <a:latin typeface="BIZ UDゴシック"/>
                          <a:ea typeface="BIZ UDゴシック"/>
                          <a:cs typeface="BIZ UDゴシック"/>
                        </a:rPr>
                        <a:t>OpenAI Developers — Plugin architecture</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950" b="0" i="0" lang="ja-JP" altLang="en-US">
                          <a:solidFill>
                            <a:srgbClr val="1F5FAD"/>
                          </a:solidFill>
                          <a:latin typeface="BIZ UDゴシック"/>
                          <a:ea typeface="BIZ UDゴシック"/>
                          <a:cs typeface="BIZ UDゴシック"/>
                          <a:hlinkClick r:id="rId3"/>
                        </a:rPr>
                        <a:t>https://developers.openai.com/plugins/concepts/plugins</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000" b="0" i="0" lang="ja-JP" altLang="en-US">
                          <a:solidFill>
                            <a:srgbClr val="222222"/>
                          </a:solidFill>
                          <a:latin typeface="BIZ UDゴシック"/>
                          <a:ea typeface="BIZ UDゴシック"/>
                          <a:cs typeface="BIZ UDゴシック"/>
                        </a:rPr>
                        <a:t>PluginにSkills、MCP、または両方を含められる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r>
              <a:tr h="502920">
                <a:tc>
                  <a:txBody>
                    <a:bodyPr wrap="square"/>
                    <a:lstStyle/>
                    <a:p>
                      <a:pPr algn="ctr"/>
                      <a:r>
                        <a:rPr sz="1050" b="1" i="0" lang="ja-JP" altLang="en-US">
                          <a:solidFill>
                            <a:srgbClr val="1E2761"/>
                          </a:solidFill>
                          <a:latin typeface="BIZ UDゴシック"/>
                          <a:ea typeface="BIZ UDゴシック"/>
                          <a:cs typeface="BIZ UDゴシック"/>
                        </a:rPr>
                        <a:t>3</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050" b="1" i="0" lang="ja-JP" altLang="en-US">
                          <a:solidFill>
                            <a:srgbClr val="1E2761"/>
                          </a:solidFill>
                          <a:latin typeface="BIZ UDゴシック"/>
                          <a:ea typeface="BIZ UDゴシック"/>
                          <a:cs typeface="BIZ UDゴシック"/>
                        </a:rPr>
                        <a:t>OpenAI Developers — MCP server</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950" b="0" i="0" lang="ja-JP" altLang="en-US">
                          <a:solidFill>
                            <a:srgbClr val="1F5FAD"/>
                          </a:solidFill>
                          <a:latin typeface="BIZ UDゴシック"/>
                          <a:ea typeface="BIZ UDゴシック"/>
                          <a:cs typeface="BIZ UDゴシック"/>
                          <a:hlinkClick r:id="rId4"/>
                        </a:rPr>
                        <a:t>https://developers.openai.com/plugins/concepts/mcp-server</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000" b="0" i="0" lang="ja-JP" altLang="en-US">
                          <a:solidFill>
                            <a:srgbClr val="222222"/>
                          </a:solidFill>
                          <a:latin typeface="BIZ UDゴシック"/>
                          <a:ea typeface="BIZ UDゴシック"/>
                          <a:cs typeface="BIZ UDゴシック"/>
                        </a:rPr>
                        <a:t>MCPはツールのほかResources、Prompts、Instructionsを提供し得る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r h="502920">
                <a:tc>
                  <a:txBody>
                    <a:bodyPr wrap="square"/>
                    <a:lstStyle/>
                    <a:p>
                      <a:pPr algn="ctr"/>
                      <a:r>
                        <a:rPr sz="1050" b="1" i="0" lang="ja-JP" altLang="en-US">
                          <a:solidFill>
                            <a:srgbClr val="1E2761"/>
                          </a:solidFill>
                          <a:latin typeface="BIZ UDゴシック"/>
                          <a:ea typeface="BIZ UDゴシック"/>
                          <a:cs typeface="BIZ UDゴシック"/>
                        </a:rPr>
                        <a:t>4</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050" b="1" i="0" lang="ja-JP" altLang="en-US">
                          <a:solidFill>
                            <a:srgbClr val="1E2761"/>
                          </a:solidFill>
                          <a:latin typeface="BIZ UDゴシック"/>
                          <a:ea typeface="BIZ UDゴシック"/>
                          <a:cs typeface="BIZ UDゴシック"/>
                        </a:rPr>
                        <a:t>OpenAI Developers — Build skills</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950" b="0" i="0" lang="ja-JP" altLang="en-US">
                          <a:solidFill>
                            <a:srgbClr val="1F5FAD"/>
                          </a:solidFill>
                          <a:latin typeface="BIZ UDゴシック"/>
                          <a:ea typeface="BIZ UDゴシック"/>
                          <a:cs typeface="BIZ UDゴシック"/>
                          <a:hlinkClick r:id="rId5"/>
                        </a:rPr>
                        <a:t>https://developers.openai.com/plugins/build/skills</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000" b="0" i="0" lang="ja-JP" altLang="en-US">
                          <a:solidFill>
                            <a:srgbClr val="222222"/>
                          </a:solidFill>
                          <a:latin typeface="BIZ UDゴシック"/>
                          <a:ea typeface="BIZ UDゴシック"/>
                          <a:cs typeface="BIZ UDゴシック"/>
                        </a:rPr>
                        <a:t>Skillはツール呼び出し順序、判断点、出力形式、例、テンプレート等を定義できる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r>
              <a:tr h="502920">
                <a:tc>
                  <a:txBody>
                    <a:bodyPr wrap="square"/>
                    <a:lstStyle/>
                    <a:p>
                      <a:pPr algn="ctr"/>
                      <a:r>
                        <a:rPr sz="1050" b="1" i="0" lang="ja-JP" altLang="en-US">
                          <a:solidFill>
                            <a:srgbClr val="1E2761"/>
                          </a:solidFill>
                          <a:latin typeface="BIZ UDゴシック"/>
                          <a:ea typeface="BIZ UDゴシック"/>
                          <a:cs typeface="BIZ UDゴシック"/>
                        </a:rPr>
                        <a:t>5</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050" b="1" i="0" lang="ja-JP" altLang="en-US">
                          <a:solidFill>
                            <a:srgbClr val="1E2761"/>
                          </a:solidFill>
                          <a:latin typeface="BIZ UDゴシック"/>
                          <a:ea typeface="BIZ UDゴシック"/>
                          <a:cs typeface="BIZ UDゴシック"/>
                        </a:rPr>
                        <a:t>OpenAI Developers — Upload and submit your plugin</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950" b="0" i="0" lang="ja-JP" altLang="en-US">
                          <a:solidFill>
                            <a:srgbClr val="1F5FAD"/>
                          </a:solidFill>
                          <a:latin typeface="BIZ UDゴシック"/>
                          <a:ea typeface="BIZ UDゴシック"/>
                          <a:cs typeface="BIZ UDゴシック"/>
                          <a:hlinkClick r:id="rId6"/>
                        </a:rPr>
                        <a:t>https://developers.openai.com/plugins/deploy/submission</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c>
                  <a:txBody>
                    <a:bodyPr wrap="square"/>
                    <a:lstStyle/>
                    <a:p>
                      <a:pPr algn="l"/>
                      <a:r>
                        <a:rPr sz="1000" b="0" i="0" lang="ja-JP" altLang="en-US">
                          <a:solidFill>
                            <a:srgbClr val="222222"/>
                          </a:solidFill>
                          <a:latin typeface="BIZ UDゴシック"/>
                          <a:ea typeface="BIZ UDゴシック"/>
                          <a:cs typeface="BIZ UDゴシック"/>
                        </a:rPr>
                        <a:t>Plugin公開と更新、Skills内容の更新はパッケージ更新を伴う</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FFFFFF"/>
                    </a:solidFill>
                  </a:tcPr>
                </a:tc>
              </a:tr>
              <a:tr h="502920">
                <a:tc>
                  <a:txBody>
                    <a:bodyPr wrap="square"/>
                    <a:lstStyle/>
                    <a:p>
                      <a:pPr algn="ctr"/>
                      <a:r>
                        <a:rPr sz="1050" b="1" i="0" lang="ja-JP" altLang="en-US">
                          <a:solidFill>
                            <a:srgbClr val="1E2761"/>
                          </a:solidFill>
                          <a:latin typeface="BIZ UDゴシック"/>
                          <a:ea typeface="BIZ UDゴシック"/>
                          <a:cs typeface="BIZ UDゴシック"/>
                        </a:rPr>
                        <a:t>6</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050" b="1" i="0" lang="ja-JP" altLang="en-US">
                          <a:solidFill>
                            <a:srgbClr val="1E2761"/>
                          </a:solidFill>
                          <a:latin typeface="BIZ UDゴシック"/>
                          <a:ea typeface="BIZ UDゴシック"/>
                          <a:cs typeface="BIZ UDゴシック"/>
                        </a:rPr>
                        <a:t>OpenAI Developers — Plugin guidelines</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950" b="0" i="0" lang="ja-JP" altLang="en-US">
                          <a:solidFill>
                            <a:srgbClr val="1F5FAD"/>
                          </a:solidFill>
                          <a:latin typeface="BIZ UDゴシック"/>
                          <a:ea typeface="BIZ UDゴシック"/>
                          <a:cs typeface="BIZ UDゴシック"/>
                          <a:hlinkClick r:id="rId7"/>
                        </a:rPr>
                        <a:t>https://developers.openai.com/plugins/plugin-guidelines</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c>
                  <a:txBody>
                    <a:bodyPr wrap="square"/>
                    <a:lstStyle/>
                    <a:p>
                      <a:pPr algn="l"/>
                      <a:r>
                        <a:rPr sz="1000" b="0" i="0" lang="ja-JP" altLang="en-US">
                          <a:solidFill>
                            <a:srgbClr val="222222"/>
                          </a:solidFill>
                          <a:latin typeface="BIZ UDゴシック"/>
                          <a:ea typeface="BIZ UDゴシック"/>
                          <a:cs typeface="BIZ UDゴシック"/>
                        </a:rPr>
                        <a:t>公開Pluginには品質・セキュリティ・プライバシー要件がある</a:t>
                      </a:r>
                    </a:p>
                  </a:txBody>
                  <a:tcPr marL="91440" marR="91440" marT="36576" marB="36576" anchor="ctr">
                    <a:lnL w="9525">
                      <a:solidFill>
                        <a:srgbClr val="D8E0F0"/>
                      </a:solidFill>
                    </a:lnL>
                    <a:lnR w="9525">
                      <a:solidFill>
                        <a:srgbClr val="D8E0F0"/>
                      </a:solidFill>
                    </a:lnR>
                    <a:lnT w="9525">
                      <a:solidFill>
                        <a:srgbClr val="D8E0F0"/>
                      </a:solidFill>
                    </a:lnT>
                    <a:lnB w="9525">
                      <a:solidFill>
                        <a:srgbClr val="D8E0F0"/>
                      </a:solidFill>
                    </a:lnB>
                    <a:solidFill>
                      <a:srgbClr val="EEF3FD"/>
                    </a:solidFill>
                  </a:tcPr>
                </a:tc>
              </a:tr>
            </a:tbl>
          </a:graphicData>
        </a:graphic>
      </p:graphicFrame>
      <p:sp>
        <p:nvSpPr>
          <p:cNvPr id="8" name="Rounded Rectangle 7"/>
          <p:cNvSpPr/>
          <p:nvPr/>
        </p:nvSpPr>
        <p:spPr>
          <a:xfrm>
            <a:off x="457200" y="5486400"/>
            <a:ext cx="5486400" cy="777240"/>
          </a:xfrm>
          <a:prstGeom prst="roundRect">
            <a:avLst>
              <a:gd name="adj" fmla="val 9411"/>
            </a:avLst>
          </a:prstGeom>
          <a:solidFill>
            <a:srgbClr val="EEF3FD"/>
          </a:solidFill>
          <a:ln w="12700">
            <a:solidFill>
              <a:srgbClr val="D8E0F0"/>
            </a:solidFill>
          </a:ln>
        </p:spPr>
        <p:style>
          <a:lnRef idx="1">
            <a:schemeClr val="accent1"/>
          </a:lnRef>
          <a:fillRef idx="3">
            <a:schemeClr val="accent1"/>
          </a:fillRef>
          <a:effectRef idx="2">
            <a:schemeClr val="accent1"/>
          </a:effectRef>
          <a:fontRef idx="minor">
            <a:schemeClr val="lt1"/>
          </a:fontRef>
        </p:style>
        <p:txBody>
          <a:bodyPr rtlCol="0" anchor="ctr" lIns="228600" rIns="228600" tIns="0" bIns="0" wrap="square"/>
          <a:lstStyle/>
          <a:p>
            <a:pPr algn="l"/>
            <a:r>
              <a:rPr sz="1150" b="1" i="0" lang="ja-JP" altLang="en-US">
                <a:solidFill>
                  <a:srgbClr val="1E2761"/>
                </a:solidFill>
                <a:latin typeface="BIZ UDゴシック"/>
                <a:ea typeface="BIZ UDゴシック"/>
                <a:cs typeface="BIZ UDゴシック"/>
              </a:rPr>
              <a:t>ファクト</a:t>
            </a:r>
          </a:p>
          <a:p>
            <a:pPr algn="l"/>
            <a:r>
              <a:rPr sz="1050" b="0" i="0" lang="ja-JP" altLang="en-US">
                <a:solidFill>
                  <a:srgbClr val="222222"/>
                </a:solidFill>
                <a:latin typeface="BIZ UDゴシック"/>
                <a:ea typeface="BIZ UDゴシック"/>
                <a:cs typeface="BIZ UDゴシック"/>
              </a:rPr>
              <a:t>MCP / Skills / Pluginの役割・構成・配布要件は、上記の公式資料に基づく。</a:t>
            </a:r>
          </a:p>
        </p:txBody>
      </p:sp>
      <p:sp>
        <p:nvSpPr>
          <p:cNvPr id="9" name="Rounded Rectangle 8"/>
          <p:cNvSpPr/>
          <p:nvPr/>
        </p:nvSpPr>
        <p:spPr>
          <a:xfrm>
            <a:off x="6245352" y="5486400"/>
            <a:ext cx="5486400" cy="777240"/>
          </a:xfrm>
          <a:prstGeom prst="roundRect">
            <a:avLst>
              <a:gd name="adj" fmla="val 9411"/>
            </a:avLst>
          </a:prstGeom>
          <a:solidFill>
            <a:srgbClr val="FFF3DE"/>
          </a:solidFill>
          <a:ln>
            <a:noFill/>
          </a:ln>
        </p:spPr>
        <p:style>
          <a:lnRef idx="1">
            <a:schemeClr val="accent1"/>
          </a:lnRef>
          <a:fillRef idx="3">
            <a:schemeClr val="accent1"/>
          </a:fillRef>
          <a:effectRef idx="2">
            <a:schemeClr val="accent1"/>
          </a:effectRef>
          <a:fontRef idx="minor">
            <a:schemeClr val="lt1"/>
          </a:fontRef>
        </p:style>
        <p:txBody>
          <a:bodyPr rtlCol="0" anchor="ctr" lIns="228600" rIns="228600" tIns="0" bIns="0" wrap="square"/>
          <a:lstStyle/>
          <a:p>
            <a:pPr algn="l"/>
            <a:r>
              <a:rPr sz="1150" b="1" i="0" lang="ja-JP" altLang="en-US">
                <a:solidFill>
                  <a:srgbClr val="B87A1E"/>
                </a:solidFill>
                <a:latin typeface="BIZ UDゴシック"/>
                <a:ea typeface="BIZ UDゴシック"/>
                <a:cs typeface="BIZ UDゴシック"/>
              </a:rPr>
              <a:t>分析・提案</a:t>
            </a:r>
          </a:p>
          <a:p>
            <a:pPr algn="l"/>
            <a:r>
              <a:rPr sz="1050" b="0" i="0" lang="ja-JP" altLang="en-US">
                <a:solidFill>
                  <a:srgbClr val="222222"/>
                </a:solidFill>
                <a:latin typeface="BIZ UDゴシック"/>
                <a:ea typeface="BIZ UDゴシック"/>
                <a:cs typeface="BIZ UDゴシック"/>
              </a:rPr>
              <a:t>業務改善・組織改革・事業価値・導入適性・KPIは資料作成者による分析・提案であり、OpenAIが成果を保証した事実ではない。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165</TotalTime>
  <Words>5604</Words>
  <PresentationFormat>ワイド画面</PresentationFormat>
  <Paragraphs>833</Paragraphs>
  <Slides>17</Slides>
  <Notes>17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17</vt:i4>
      </vt:variant>
    </vt:vector>
  </HeadingPairs>
  <TitlesOfParts>
    <vt:vector size="22" baseType="lpstr">
      <vt:lpstr>BIZ UDPゴシック</vt:lpstr>
      <vt:lpstr>BIZ UDゴシック</vt:lpstr>
      <vt:lpstr>游ゴシック</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2026-06-25T05:41:16Z</dcterms:created>
  <dcterms:modified xsi:type="dcterms:W3CDTF">2026-09-14T23:48:40Z</dcterms:modified>
</cp:coreProperties>
</file>